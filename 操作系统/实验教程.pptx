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4960" r:id="rId5"/>
    <p:sldId id="4975" r:id="rId6"/>
    <p:sldId id="4976" r:id="rId7"/>
    <p:sldId id="4977" r:id="rId8"/>
    <p:sldId id="4978" r:id="rId9"/>
    <p:sldId id="4979" r:id="rId10"/>
    <p:sldId id="4980" r:id="rId11"/>
    <p:sldId id="4981" r:id="rId12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8" y="36"/>
      </p:cViewPr>
      <p:guideLst>
        <p:guide orient="horz" pos="2226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8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操作系统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实验（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16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66595" y="4857750"/>
            <a:ext cx="243840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359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</a:t>
                      </a: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总则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进程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控制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 线程与管道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通信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 进程综合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进程同步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进程互斥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死锁问题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8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存储管理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2023.04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总则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实验目的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每个实验都包括示例和独立实验两个部分。在示例中，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理解实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验运行的具体原理和技术手段</a:t>
            </a:r>
            <a:r>
              <a:rPr lang="zh-CN" altLang="en-US" sz="2000">
                <a:sym typeface="+mn-ea"/>
              </a:rPr>
              <a:t>，并在独立实验中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完成运用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要求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详细阅读示例材料中的知识点，并将其中</a:t>
            </a:r>
            <a:r>
              <a:rPr lang="zh-CN" altLang="en-US" sz="2000">
                <a:solidFill>
                  <a:schemeClr val="tx1"/>
                </a:solidFill>
              </a:rPr>
              <a:t>给出的代码</a:t>
            </a:r>
            <a:r>
              <a:rPr lang="zh-CN" altLang="en-US" sz="2000">
                <a:solidFill>
                  <a:srgbClr val="C00000"/>
                </a:solidFill>
              </a:rPr>
              <a:t>亲手原样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C00000"/>
                </a:solidFill>
              </a:rPr>
              <a:t>抄到计算机上</a:t>
            </a:r>
            <a:r>
              <a:rPr lang="zh-CN" altLang="en-US" sz="2000">
                <a:solidFill>
                  <a:schemeClr val="tx1"/>
                </a:solidFill>
              </a:rPr>
              <a:t>，并且成功运行、得出结果。</a:t>
            </a:r>
            <a:r>
              <a:rPr lang="zh-CN" altLang="en-US" sz="2000"/>
              <a:t>抄写代码时需要同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步抄写注释。然后，在独立实验中</a:t>
            </a:r>
            <a:r>
              <a:rPr lang="zh-CN" altLang="en-US" sz="2000">
                <a:solidFill>
                  <a:srgbClr val="C00000"/>
                </a:solidFill>
              </a:rPr>
              <a:t>自行完成代码的运用</a:t>
            </a:r>
            <a:r>
              <a:rPr lang="zh-CN" altLang="en-US" sz="2000"/>
              <a:t>。</a:t>
            </a:r>
            <a:endParaRPr lang="zh-CN" altLang="en-US" sz="2000">
              <a:solidFill>
                <a:srgbClr val="C00000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</a:rPr>
              <a:t>		</a:t>
            </a:r>
            <a:r>
              <a:rPr lang="zh-CN" altLang="en-US" sz="2000">
                <a:solidFill>
                  <a:schemeClr val="tx1"/>
                </a:solidFill>
              </a:rPr>
              <a:t>可以携带自己的计算机完成上机实验，</a:t>
            </a:r>
            <a:r>
              <a:rPr lang="zh-CN" altLang="en-US" sz="2000">
                <a:solidFill>
                  <a:srgbClr val="C00000"/>
                </a:solidFill>
              </a:rPr>
              <a:t>没做完的实验可以回去</a:t>
            </a:r>
            <a:r>
              <a:rPr lang="en-US" altLang="zh-CN" sz="2000">
                <a:solidFill>
                  <a:srgbClr val="C00000"/>
                </a:solidFill>
              </a:rPr>
              <a:t>		</a:t>
            </a:r>
            <a:r>
              <a:rPr lang="zh-CN" altLang="en-US" sz="2000">
                <a:solidFill>
                  <a:srgbClr val="C00000"/>
                </a:solidFill>
              </a:rPr>
              <a:t>自行完成</a:t>
            </a:r>
            <a:r>
              <a:rPr lang="zh-CN" altLang="en-US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报告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要求写明每个案例的实验步骤与现象，以及从现象中能够学到</a:t>
            </a:r>
            <a:r>
              <a:rPr lang="en-US" altLang="zh-CN" sz="2000"/>
              <a:t>		</a:t>
            </a:r>
            <a:r>
              <a:rPr lang="zh-CN" altLang="en-US" sz="2000"/>
              <a:t>什么。具体参见各个实验的</a:t>
            </a:r>
            <a:r>
              <a:rPr lang="en-US" altLang="zh-CN" sz="2000"/>
              <a:t>“</a:t>
            </a:r>
            <a:r>
              <a:rPr lang="zh-CN" altLang="en-US" sz="2000"/>
              <a:t>实验内容</a:t>
            </a:r>
            <a:r>
              <a:rPr lang="en-US" altLang="zh-CN" sz="2000"/>
              <a:t>”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		不要求在实验报告中附全部的代码（可附关键段），但要求把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olidFill>
                  <a:srgbClr val="C00000"/>
                </a:solidFill>
              </a:rPr>
              <a:t>每个实验的*.</a:t>
            </a:r>
            <a:r>
              <a:rPr lang="en-US" altLang="zh-CN" sz="2000">
                <a:solidFill>
                  <a:srgbClr val="C00000"/>
                </a:solidFill>
              </a:rPr>
              <a:t>C</a:t>
            </a:r>
            <a:r>
              <a:rPr lang="zh-CN" altLang="en-US" sz="2000">
                <a:solidFill>
                  <a:srgbClr val="C00000"/>
                </a:solidFill>
              </a:rPr>
              <a:t>源文件，以及其对应的*.</a:t>
            </a:r>
            <a:r>
              <a:rPr lang="en-US" altLang="zh-CN" sz="2000">
                <a:solidFill>
                  <a:srgbClr val="C00000"/>
                </a:solidFill>
              </a:rPr>
              <a:t>out</a:t>
            </a:r>
            <a:r>
              <a:rPr lang="zh-CN" altLang="en-US" sz="2000">
                <a:solidFill>
                  <a:srgbClr val="C00000"/>
                </a:solidFill>
              </a:rPr>
              <a:t>文件</a:t>
            </a:r>
            <a:r>
              <a:rPr lang="zh-CN" altLang="en-US" sz="2000"/>
              <a:t>一起发给</a:t>
            </a:r>
            <a:r>
              <a:rPr lang="zh-CN" altLang="en-US" sz="2000"/>
              <a:t>助教。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/>
              <a:t>		</a:t>
            </a:r>
            <a:r>
              <a:rPr lang="zh-CN" altLang="en-US" sz="2000"/>
              <a:t>实验报告提交的截止日期是实验结束后的</a:t>
            </a:r>
            <a:r>
              <a:rPr lang="en-US" altLang="zh-CN" sz="2000">
                <a:solidFill>
                  <a:srgbClr val="C00000"/>
                </a:solidFill>
              </a:rPr>
              <a:t>7</a:t>
            </a:r>
            <a:r>
              <a:rPr lang="zh-CN" altLang="en-US" sz="2000">
                <a:solidFill>
                  <a:srgbClr val="C00000"/>
                </a:solidFill>
              </a:rPr>
              <a:t>天，也即一周</a:t>
            </a:r>
            <a:r>
              <a:rPr lang="zh-CN" altLang="en-US" sz="2000"/>
              <a:t>以内。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晚交一周只有</a:t>
            </a:r>
            <a:r>
              <a:rPr lang="en-US" altLang="zh-CN" sz="2000"/>
              <a:t>50%</a:t>
            </a:r>
            <a:r>
              <a:rPr lang="zh-CN" altLang="en-US" sz="2000"/>
              <a:t>分数；晚交两周</a:t>
            </a:r>
            <a:r>
              <a:rPr lang="zh-CN" altLang="en-US" sz="2000"/>
              <a:t>及以上不得分。</a:t>
            </a:r>
            <a:endParaRPr lang="zh-CN" altLang="en-US" sz="2000"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-106680" y="5960745"/>
          <a:ext cx="2527935" cy="71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486410" imgH="137795" progId="Package">
                  <p:embed/>
                </p:oleObj>
              </mc:Choice>
              <mc:Fallback>
                <p:oleObj name="" r:id="rId2" imgW="486410" imgH="137795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06680" y="5960745"/>
                        <a:ext cx="2527935" cy="716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495" y="2468245"/>
          <a:ext cx="2162175" cy="784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4" imgW="379730" imgH="137795" progId="Package">
                  <p:embed/>
                </p:oleObj>
              </mc:Choice>
              <mc:Fallback>
                <p:oleObj name="" r:id="rId4" imgW="379730" imgH="137795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495" y="2468245"/>
                        <a:ext cx="2162175" cy="784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 进程控制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 线程与管道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通信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 进程综合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进程同步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进程互斥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死锁问题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8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存储管理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2023.04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实验一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进程控制</a:t>
            </a:r>
            <a:r>
              <a:rPr lang="zh-CN" altLang="en-US" sz="2000" b="1">
                <a:solidFill>
                  <a:srgbClr val="9C0B15"/>
                </a:solidFill>
              </a:rPr>
              <a:t>（2学时）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4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10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</a:t>
            </a:r>
            <a:r>
              <a:rPr lang="zh-CN" altLang="en-US" sz="2000">
                <a:solidFill>
                  <a:schemeClr val="tx1"/>
                </a:solidFill>
              </a:rPr>
              <a:t>一</a:t>
            </a:r>
            <a:r>
              <a:rPr lang="en-US" altLang="zh-CN" sz="2000">
                <a:solidFill>
                  <a:schemeClr val="tx1"/>
                </a:solidFill>
              </a:rPr>
              <a:t>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zh-CN" altLang="en-US" sz="2000"/>
              <a:t>实验一</a:t>
            </a:r>
            <a:r>
              <a:rPr lang="en-US" altLang="zh-CN" sz="2000"/>
              <a:t> </a:t>
            </a:r>
            <a:r>
              <a:rPr lang="zh-CN" altLang="en-US" sz="2000"/>
              <a:t>进程控制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加深对于进程并发执行概念的理解。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实践并发进/线程的创建和控制方法。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观察和体验进程的动态特性。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进一步理解进程生命期期间创建、变换、撤销状态变换的过程。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掌握进程控制的方法，了解父子进程间的控制和协作关系。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练习Linux中有关的系统调用的编程和调试技术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备注</a:t>
            </a:r>
            <a:r>
              <a:rPr lang="en-US" altLang="zh-CN" sz="2000"/>
              <a:t>		Linux</a:t>
            </a:r>
            <a:r>
              <a:rPr lang="zh-CN" altLang="en-US" sz="2000"/>
              <a:t>下最常见的是单线程进程。因此，对于这种情况，也可以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说进程在执行，</a:t>
            </a:r>
            <a:r>
              <a:rPr lang="zh-CN" altLang="en-US" sz="2000"/>
              <a:t>后同。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 进程控制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 线程与管道通信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 进程综合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进程同步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进程互斥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死锁问题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8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存储管理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2023.04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实验二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线程和管道通信</a:t>
            </a:r>
            <a:r>
              <a:rPr lang="zh-CN" altLang="en-US" sz="2000" b="1">
                <a:solidFill>
                  <a:srgbClr val="9C0B15"/>
                </a:solidFill>
              </a:rPr>
              <a:t>（2学时）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4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17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</a:t>
            </a:r>
            <a:r>
              <a:rPr lang="zh-CN" altLang="en-US" sz="2000">
                <a:solidFill>
                  <a:schemeClr val="tx1"/>
                </a:solidFill>
              </a:rPr>
              <a:t>一</a:t>
            </a:r>
            <a:r>
              <a:rPr lang="en-US" altLang="zh-CN" sz="2000">
                <a:solidFill>
                  <a:schemeClr val="tx1"/>
                </a:solidFill>
              </a:rPr>
              <a:t>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zh-CN" altLang="en-US" sz="2000"/>
              <a:t>实验二</a:t>
            </a:r>
            <a:r>
              <a:rPr lang="en-US" altLang="zh-CN" sz="2000"/>
              <a:t> </a:t>
            </a:r>
            <a:r>
              <a:rPr lang="zh-CN" altLang="en-US" sz="2000"/>
              <a:t>进程和管道通信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通过 Linux 系统中线程和管道通信机制的实验，熟悉 pthread 线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程库的使用。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加深对于线程控制和管道通信概念的理解，观察和体验并发线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程间的通信和协作的效果 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练习基于</a:t>
            </a:r>
            <a:r>
              <a:rPr lang="en-US" altLang="zh-CN" sz="2000"/>
              <a:t>p</a:t>
            </a:r>
            <a:r>
              <a:rPr lang="zh-CN" altLang="en-US" sz="2000"/>
              <a:t>thread线程库、利用无名管道进行线程通信的编程和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调试技术。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 进程控制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 线程与管道通信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 进程综合实验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进程同步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进程互斥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死锁问题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8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存储管理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2023.04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实验三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进程综合实验</a:t>
            </a:r>
            <a:r>
              <a:rPr lang="zh-CN" altLang="en-US" sz="2000" b="1">
                <a:solidFill>
                  <a:srgbClr val="9C0B15"/>
                </a:solidFill>
              </a:rPr>
              <a:t>（2学时）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4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24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</a:t>
            </a:r>
            <a:r>
              <a:rPr lang="zh-CN" altLang="en-US" sz="2000">
                <a:solidFill>
                  <a:schemeClr val="tx1"/>
                </a:solidFill>
              </a:rPr>
              <a:t>一</a:t>
            </a:r>
            <a:r>
              <a:rPr lang="en-US" altLang="zh-CN" sz="2000">
                <a:solidFill>
                  <a:schemeClr val="tx1"/>
                </a:solidFill>
              </a:rPr>
              <a:t>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zh-CN" altLang="en-US" sz="2000"/>
              <a:t>实验三</a:t>
            </a:r>
            <a:r>
              <a:rPr lang="en-US" altLang="zh-CN" sz="2000"/>
              <a:t> </a:t>
            </a:r>
            <a:r>
              <a:rPr lang="zh-CN" altLang="en-US" sz="2000"/>
              <a:t>进程综合实验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掌握操作系统 shell 的工作机制与实现过程，练习 Linux 系统中进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程创建与控制有关的编程和调试技术。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 进程控制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 线程与管道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通信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 进程综合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 进程同步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进程互斥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死锁问题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8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存储管理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2023.04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实验四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进程同步</a:t>
            </a:r>
            <a:r>
              <a:rPr lang="zh-CN" altLang="en-US" sz="2000" b="1">
                <a:solidFill>
                  <a:srgbClr val="9C0B15"/>
                </a:solidFill>
              </a:rPr>
              <a:t>（2学时）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5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8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</a:t>
            </a:r>
            <a:r>
              <a:rPr lang="zh-CN" altLang="en-US" sz="2000">
                <a:solidFill>
                  <a:schemeClr val="tx1"/>
                </a:solidFill>
              </a:rPr>
              <a:t>一</a:t>
            </a:r>
            <a:r>
              <a:rPr lang="en-US" altLang="zh-CN" sz="2000">
                <a:solidFill>
                  <a:schemeClr val="tx1"/>
                </a:solidFill>
              </a:rPr>
              <a:t>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zh-CN" altLang="en-US" sz="2000"/>
              <a:t>实验四</a:t>
            </a:r>
            <a:r>
              <a:rPr lang="en-US" altLang="zh-CN" sz="2000"/>
              <a:t> </a:t>
            </a:r>
            <a:r>
              <a:rPr lang="zh-CN" altLang="en-US" sz="2000"/>
              <a:t>进程同步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加深对并发协作进程同步与互斥概念的理解。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观察和体验并发进程同步与互斥操作的效果。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分析与研究经典进程同步与互斥问题的实际解决方案。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了解 Linux 系统中 IPC 进程同步工具的用法，练习并发协作进程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的同步与互斥操作的编程与调试技术。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 进程控制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 线程与管道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通信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 进程综合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进程同步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 进程互斥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死锁问题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8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存储管理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2023.04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实验五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进程互斥</a:t>
            </a:r>
            <a:r>
              <a:rPr lang="zh-CN" altLang="en-US" sz="2000" b="1">
                <a:solidFill>
                  <a:srgbClr val="9C0B15"/>
                </a:solidFill>
              </a:rPr>
              <a:t>（2学时）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5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15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</a:t>
            </a:r>
            <a:r>
              <a:rPr lang="zh-CN" altLang="en-US" sz="2000">
                <a:solidFill>
                  <a:schemeClr val="tx1"/>
                </a:solidFill>
              </a:rPr>
              <a:t>一</a:t>
            </a:r>
            <a:r>
              <a:rPr lang="en-US" altLang="zh-CN" sz="2000">
                <a:solidFill>
                  <a:schemeClr val="tx1"/>
                </a:solidFill>
              </a:rPr>
              <a:t>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zh-CN" altLang="en-US" sz="2000"/>
              <a:t>实验五</a:t>
            </a:r>
            <a:r>
              <a:rPr lang="en-US" altLang="zh-CN" sz="2000"/>
              <a:t> </a:t>
            </a:r>
            <a:r>
              <a:rPr lang="zh-CN" altLang="en-US" sz="2000"/>
              <a:t>进程互斥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进一步研究和实践操作系统中关于并发进程同步与互斥操作的</a:t>
            </a:r>
            <a:r>
              <a:rPr lang="zh-CN" altLang="en-US" sz="2000">
                <a:sym typeface="+mn-ea"/>
              </a:rPr>
              <a:t>		</a:t>
            </a:r>
            <a:r>
              <a:rPr lang="zh-CN" altLang="en-US" sz="2000"/>
              <a:t>一些经典问题的</a:t>
            </a:r>
            <a:r>
              <a:rPr lang="zh-CN" altLang="en-US" sz="2000">
                <a:sym typeface="+mn-ea"/>
              </a:rPr>
              <a:t>解法。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加深对于非对称性互斥问题有关概念的理解。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观察和体验非对称性互斥问题的并发控制方法。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进一步了解 Linux 系统中 IPC 进程同步工具的用法，训练解决对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该类问题的实际编程、调试和分析问题的能力。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 进程控制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 线程与管道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通信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 进程综合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进程同步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进程互斥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 死锁问题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8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存储管理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2023.04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实验六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死锁问题</a:t>
            </a:r>
            <a:r>
              <a:rPr lang="zh-CN" altLang="en-US" sz="2000" b="1">
                <a:solidFill>
                  <a:srgbClr val="9C0B15"/>
                </a:solidFill>
              </a:rPr>
              <a:t>（2学时）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5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22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</a:t>
            </a:r>
            <a:r>
              <a:rPr lang="zh-CN" altLang="en-US" sz="2000">
                <a:solidFill>
                  <a:schemeClr val="tx1"/>
                </a:solidFill>
              </a:rPr>
              <a:t>一</a:t>
            </a:r>
            <a:r>
              <a:rPr lang="en-US" altLang="zh-CN" sz="2000">
                <a:solidFill>
                  <a:schemeClr val="tx1"/>
                </a:solidFill>
              </a:rPr>
              <a:t>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zh-CN" altLang="en-US" sz="2000"/>
              <a:t>实验六</a:t>
            </a:r>
            <a:r>
              <a:rPr lang="en-US" altLang="zh-CN" sz="2000"/>
              <a:t> </a:t>
            </a:r>
            <a:r>
              <a:rPr lang="zh-CN" altLang="en-US" sz="2000"/>
              <a:t>死锁问题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通过本实验观察死锁产生的现象，考虑解决死锁问题的方法。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进一步加深对于死锁问题的理解。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掌握解决死锁问题的几种算法的编程和调试技术。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练习怎样构造管程和条件变量，利用管程机制来避免死锁和饥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饿问题的发生。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实验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 总则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2 进程控制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 线程与管道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通信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4 进程综合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实验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5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进程同步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6 </a:t>
                      </a: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进程互斥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7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死锁问题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8 存储管理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2023.04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实验七 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存储管理</a:t>
            </a:r>
            <a:r>
              <a:rPr lang="zh-CN" altLang="en-US" sz="2000" b="1">
                <a:solidFill>
                  <a:srgbClr val="9C0B15"/>
                </a:solidFill>
              </a:rPr>
              <a:t>（2学时）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实验时间	</a:t>
            </a:r>
            <a:r>
              <a:rPr lang="en-US" altLang="zh-CN" sz="2000">
                <a:solidFill>
                  <a:schemeClr val="tx1"/>
                </a:solidFill>
              </a:rPr>
              <a:t>5</a:t>
            </a:r>
            <a:r>
              <a:rPr lang="zh-CN" altLang="en-US" sz="2000">
                <a:solidFill>
                  <a:schemeClr val="tx1"/>
                </a:solidFill>
              </a:rPr>
              <a:t>月</a:t>
            </a:r>
            <a:r>
              <a:rPr lang="en-US" altLang="zh-CN" sz="2000">
                <a:solidFill>
                  <a:schemeClr val="tx1"/>
                </a:solidFill>
              </a:rPr>
              <a:t>29</a:t>
            </a:r>
            <a:r>
              <a:rPr lang="zh-CN" altLang="en-US" sz="2000">
                <a:solidFill>
                  <a:schemeClr val="tx1"/>
                </a:solidFill>
              </a:rPr>
              <a:t>日</a:t>
            </a:r>
            <a:r>
              <a:rPr lang="en-US" altLang="zh-CN" sz="2000">
                <a:solidFill>
                  <a:schemeClr val="tx1"/>
                </a:solidFill>
              </a:rPr>
              <a:t> 周</a:t>
            </a:r>
            <a:r>
              <a:rPr lang="zh-CN" altLang="en-US" sz="2000">
                <a:solidFill>
                  <a:schemeClr val="tx1"/>
                </a:solidFill>
              </a:rPr>
              <a:t>一</a:t>
            </a:r>
            <a:r>
              <a:rPr lang="en-US" altLang="zh-CN" sz="2000">
                <a:solidFill>
                  <a:schemeClr val="tx1"/>
                </a:solidFill>
              </a:rPr>
              <a:t>，7-8节</a:t>
            </a:r>
            <a:endParaRPr lang="en-US" altLang="zh-CN" sz="20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实验标题	</a:t>
            </a:r>
            <a:r>
              <a:rPr lang="zh-CN" altLang="en-US" sz="2000"/>
              <a:t>实验七</a:t>
            </a:r>
            <a:r>
              <a:rPr lang="en-US" altLang="zh-CN" sz="2000"/>
              <a:t> </a:t>
            </a:r>
            <a:r>
              <a:rPr lang="zh-CN" altLang="en-US" sz="2000"/>
              <a:t>存储管理</a:t>
            </a:r>
            <a:endParaRPr lang="en-US" alt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</a:rPr>
              <a:t>实验</a:t>
            </a:r>
            <a:r>
              <a:rPr lang="zh-CN" altLang="en-US" sz="2000" b="1">
                <a:solidFill>
                  <a:srgbClr val="9C0B15"/>
                </a:solidFill>
              </a:rPr>
              <a:t>目的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通过获取进程空间的相关信息，理解 Linux 中进程的存储管理方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式与进程地址空间的组成。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TIMING" val="|0.6|0.8|1.2|0.9|0.6|1.1|0.7|0.6|0.8|0.4|1"/>
</p:tagLst>
</file>

<file path=ppt/tags/tag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5.xml><?xml version="1.0" encoding="utf-8"?>
<p:tagLst xmlns:p="http://schemas.openxmlformats.org/presentationml/2006/main">
  <p:tag name="TIMING" val="|0.6|0.8|1.2|0.9|0.6|1.1|0.7|0.6|0.8|0.4|1"/>
</p:tagLst>
</file>

<file path=ppt/tags/tag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7.xml><?xml version="1.0" encoding="utf-8"?>
<p:tagLst xmlns:p="http://schemas.openxmlformats.org/presentationml/2006/main">
  <p:tag name="TIMING" val="|0.6|0.8|1.2|0.9|0.6|1.1|0.7|0.6|0.8|0.4|1"/>
</p:tagLst>
</file>

<file path=ppt/tags/tag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.xml><?xml version="1.0" encoding="utf-8"?>
<p:tagLst xmlns:p="http://schemas.openxmlformats.org/presentationml/2006/main">
  <p:tag name="TIMING" val="|0.6|0.8|1.2|0.9|0.6|1.1|0.7|0.6|0.8|0.4|1"/>
</p:tagLst>
</file>

<file path=ppt/tags/tag1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1.xml><?xml version="1.0" encoding="utf-8"?>
<p:tagLst xmlns:p="http://schemas.openxmlformats.org/presentationml/2006/main">
  <p:tag name="TIMING" val="|0.6|0.8|1.2|0.9|0.6|1.1|0.7|0.6|0.8|0.4|1"/>
</p:tagLst>
</file>

<file path=ppt/tags/tag1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3.xml><?xml version="1.0" encoding="utf-8"?>
<p:tagLst xmlns:p="http://schemas.openxmlformats.org/presentationml/2006/main">
  <p:tag name="TIMING" val="|0.6|0.8|1.2|0.9|0.6|1.1|0.7|0.6|0.8|0.4|1"/>
</p:tagLst>
</file>

<file path=ppt/tags/tag1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5.xml><?xml version="1.0" encoding="utf-8"?>
<p:tagLst xmlns:p="http://schemas.openxmlformats.org/presentationml/2006/main">
  <p:tag name="TIMING" val="|0.6|0.8|1.2|0.9|0.6|1.1|0.7|0.6|0.8|0.4|1"/>
</p:tagLst>
</file>

<file path=ppt/tags/tag1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7.xml><?xml version="1.0" encoding="utf-8"?>
<p:tagLst xmlns:p="http://schemas.openxmlformats.org/presentationml/2006/main">
  <p:tag name="TIMING" val="|0.6|0.8|1.2|0.9|0.6|1.1|0.7|0.6|0.8|0.4|1"/>
</p:tagLst>
</file>

<file path=ppt/tags/tag18.xml><?xml version="1.0" encoding="utf-8"?>
<p:tagLst xmlns:p="http://schemas.openxmlformats.org/presentationml/2006/main">
  <p:tag name="COMMONDATA" val="eyJoZGlkIjoiNzg5NGI4NjlmNzBmOWY4NDgxOGNiNWVjM2Q5ZTA5ODcifQ=="/>
  <p:tag name="KSO_WPP_MARK_KEY" val="1e35f616-8349-4726-8d53-de912374e87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2054</Words>
  <Application>WPS 演示</Application>
  <PresentationFormat>宽屏</PresentationFormat>
  <Paragraphs>280</Paragraphs>
  <Slides>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等线</vt:lpstr>
      <vt:lpstr>华文楷体</vt:lpstr>
      <vt:lpstr>思源黑体 CN Regular</vt:lpstr>
      <vt:lpstr>纤黑体</vt:lpstr>
      <vt:lpstr>微软雅黑</vt:lpstr>
      <vt:lpstr>Arial Unicode MS</vt:lpstr>
      <vt:lpstr>Office 主题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风暴鸟</cp:lastModifiedBy>
  <cp:revision>1917</cp:revision>
  <dcterms:created xsi:type="dcterms:W3CDTF">2020-07-23T10:11:00Z</dcterms:created>
  <dcterms:modified xsi:type="dcterms:W3CDTF">2023-04-09T12:22:56Z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5A1EE12111F04212A09581045797DBEA</vt:lpwstr>
  </property>
</Properties>
</file>