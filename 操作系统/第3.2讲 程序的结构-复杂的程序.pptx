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2"/>
  </p:handoutMasterIdLst>
  <p:sldIdLst>
    <p:sldId id="256" r:id="rId3"/>
    <p:sldId id="4792" r:id="rId5"/>
    <p:sldId id="4851" r:id="rId6"/>
    <p:sldId id="4841" r:id="rId7"/>
    <p:sldId id="4852" r:id="rId8"/>
    <p:sldId id="4876" r:id="rId9"/>
    <p:sldId id="4842" r:id="rId10"/>
    <p:sldId id="4853" r:id="rId11"/>
    <p:sldId id="4854" r:id="rId12"/>
    <p:sldId id="4856" r:id="rId13"/>
    <p:sldId id="4855" r:id="rId14"/>
    <p:sldId id="4857" r:id="rId15"/>
    <p:sldId id="4858" r:id="rId16"/>
    <p:sldId id="4859" r:id="rId17"/>
    <p:sldId id="4860" r:id="rId18"/>
    <p:sldId id="4864" r:id="rId19"/>
    <p:sldId id="4862" r:id="rId20"/>
    <p:sldId id="4863" r:id="rId21"/>
    <p:sldId id="4861" r:id="rId22"/>
    <p:sldId id="4871" r:id="rId23"/>
    <p:sldId id="4874" r:id="rId24"/>
    <p:sldId id="4875" r:id="rId25"/>
    <p:sldId id="4877" r:id="rId26"/>
    <p:sldId id="4880" r:id="rId27"/>
    <p:sldId id="4881" r:id="rId28"/>
    <p:sldId id="4882" r:id="rId29"/>
    <p:sldId id="4879" r:id="rId30"/>
    <p:sldId id="4883" r:id="rId31"/>
    <p:sldId id="4884" r:id="rId32"/>
    <p:sldId id="4885" r:id="rId33"/>
    <p:sldId id="4886" r:id="rId34"/>
    <p:sldId id="4887" r:id="rId35"/>
    <p:sldId id="4888" r:id="rId36"/>
    <p:sldId id="4890" r:id="rId37"/>
    <p:sldId id="4889" r:id="rId38"/>
    <p:sldId id="4891" r:id="rId39"/>
    <p:sldId id="4892" r:id="rId40"/>
    <p:sldId id="4893" r:id="rId41"/>
    <p:sldId id="4896" r:id="rId42"/>
    <p:sldId id="4895" r:id="rId43"/>
    <p:sldId id="4897" r:id="rId44"/>
    <p:sldId id="4898" r:id="rId45"/>
    <p:sldId id="4899" r:id="rId46"/>
    <p:sldId id="4900" r:id="rId47"/>
    <p:sldId id="4901" r:id="rId48"/>
    <p:sldId id="4904" r:id="rId49"/>
    <p:sldId id="4903" r:id="rId50"/>
    <p:sldId id="4840" r:id="rId51"/>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妍洁" initials="王妍洁" lastIdx="3" clrIdx="0"/>
  <p:cmAuthor id="2" name="Administrator"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C0B15"/>
    <a:srgbClr val="D02F35"/>
    <a:srgbClr val="CD858A"/>
    <a:srgbClr val="8BA8DB"/>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77" d="100"/>
          <a:sy n="77" d="100"/>
        </p:scale>
        <p:origin x="108" y="36"/>
      </p:cViewPr>
      <p:guideLst>
        <p:guide orient="horz" pos="2169"/>
        <p:guide pos="37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602.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12" name="圆: 空心 11"/>
          <p:cNvSpPr/>
          <p:nvPr userDrawn="1"/>
        </p:nvSpPr>
        <p:spPr>
          <a:xfrm>
            <a:off x="11604170" y="6385918"/>
            <a:ext cx="1248229" cy="1248229"/>
          </a:xfrm>
          <a:prstGeom prst="donut">
            <a:avLst>
              <a:gd name="adj" fmla="val 21798"/>
            </a:avLst>
          </a:prstGeom>
          <a:solidFill>
            <a:srgbClr val="9C0B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pPr fontAlgn="base"/>
            <a:r>
              <a:rPr lang="en-US" strike="noStrike" noProof="1"/>
              <a:t>Click to edit Master title style</a:t>
            </a:r>
            <a:endParaRPr lang="en-US" strike="noStrike" noProof="1"/>
          </a:p>
        </p:txBody>
      </p:sp>
      <p:sp>
        <p:nvSpPr>
          <p:cNvPr id="3" name="Text Placeholder 2"/>
          <p:cNvSpPr>
            <a:spLocks noGrp="1"/>
          </p:cNvSpPr>
          <p:nvPr>
            <p:ph type="body" sz="half" idx="1"/>
          </p:nvPr>
        </p:nvSpPr>
        <p:spPr>
          <a:xfrm>
            <a:off x="914400" y="1981200"/>
            <a:ext cx="5080000" cy="4114800"/>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6197600" y="1981200"/>
            <a:ext cx="5080000" cy="4114800"/>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7" name="Date Placeholder 4"/>
          <p:cNvSpPr>
            <a:spLocks noGrp="1"/>
          </p:cNvSpPr>
          <p:nvPr>
            <p:ph type="dt" sz="half" idx="12"/>
          </p:nvPr>
        </p:nvSpPr>
        <p:spPr>
          <a:xfrm>
            <a:off x="914400" y="6248400"/>
            <a:ext cx="2540000" cy="457200"/>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5"/>
          <p:cNvSpPr>
            <a:spLocks noGrp="1"/>
          </p:cNvSpPr>
          <p:nvPr>
            <p:ph type="ftr" sz="quarter" idx="3"/>
          </p:nvPr>
        </p:nvSpPr>
        <p:spPr>
          <a:xfrm>
            <a:off x="4165600" y="6248400"/>
            <a:ext cx="3860800" cy="457200"/>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6"/>
          <p:cNvSpPr>
            <a:spLocks noGrp="1"/>
          </p:cNvSpPr>
          <p:nvPr>
            <p:ph type="sldNum" sz="quarter" idx="4"/>
          </p:nvPr>
        </p:nvSpPr>
        <p:spPr>
          <a:xfrm>
            <a:off x="8737600" y="6248400"/>
            <a:ext cx="2540000" cy="457200"/>
          </a:xfrm>
          <a:prstGeom prst="rect">
            <a:avLst/>
          </a:prstGeom>
        </p:spPr>
        <p:txBody>
          <a:bodyPr vert="horz" lIns="91440" tIns="45720" rIns="91440" bIns="45720" rtlCol="0" anchor="ctr"/>
          <a:p>
            <a:pPr algn="r" eaLnBrk="1" fontAlgn="base" hangingPunct="1">
              <a:buNone/>
            </a:pPr>
            <a:fld id="{9A0DB2DC-4C9A-4742-B13C-FB6460FD3503}" type="slidenum">
              <a:rPr lang="en-US" altLang="zh-CN" strike="noStrike" noProof="1">
                <a:latin typeface="Calibri" panose="020F0502020204030204" charset="0"/>
                <a:ea typeface="等线" panose="02010600030101010101" charset="-122"/>
                <a:cs typeface="+mn-cs"/>
              </a:rPr>
            </a:fld>
            <a:endParaRPr lang="en-US" altLang="zh-CN" strike="noStrike" noProof="1">
              <a:ea typeface="等线" panose="02010600030101010101" charset="-122"/>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8.xml"/><Relationship Id="rId2" Type="http://schemas.openxmlformats.org/officeDocument/2006/relationships/image" Target="../media/image2.png"/><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1.xml"/><Relationship Id="rId3" Type="http://schemas.openxmlformats.org/officeDocument/2006/relationships/image" Target="../media/image3.png"/><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7" Type="http://schemas.openxmlformats.org/officeDocument/2006/relationships/notesSlide" Target="../notesSlides/notesSlide7.xml"/><Relationship Id="rId16" Type="http://schemas.openxmlformats.org/officeDocument/2006/relationships/slideLayout" Target="../slideLayouts/slideLayout2.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7" Type="http://schemas.openxmlformats.org/officeDocument/2006/relationships/notesSlide" Target="../notesSlides/notesSlide8.xml"/><Relationship Id="rId16" Type="http://schemas.openxmlformats.org/officeDocument/2006/relationships/slideLayout" Target="../slideLayouts/slideLayout2.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_rels/slide10.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7" Type="http://schemas.openxmlformats.org/officeDocument/2006/relationships/notesSlide" Target="../notesSlides/notesSlide10.xml"/><Relationship Id="rId16" Type="http://schemas.openxmlformats.org/officeDocument/2006/relationships/slideLayout" Target="../slideLayouts/slideLayout2.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image" Target="../media/image5.png"/><Relationship Id="rId10" Type="http://schemas.openxmlformats.org/officeDocument/2006/relationships/tags" Target="../tags/tag54.xml"/><Relationship Id="rId1" Type="http://schemas.openxmlformats.org/officeDocument/2006/relationships/tags" Target="../tags/tag46.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61.xml"/><Relationship Id="rId3" Type="http://schemas.openxmlformats.org/officeDocument/2006/relationships/image" Target="../media/image6.png"/><Relationship Id="rId2" Type="http://schemas.openxmlformats.org/officeDocument/2006/relationships/tags" Target="../tags/tag60.xml"/><Relationship Id="rId1" Type="http://schemas.openxmlformats.org/officeDocument/2006/relationships/tags" Target="../tags/tag59.xml"/></Relationships>
</file>

<file path=ppt/slides/_rels/slide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3" Type="http://schemas.openxmlformats.org/officeDocument/2006/relationships/notesSlide" Target="../notesSlides/notesSlide12.xml"/><Relationship Id="rId42" Type="http://schemas.openxmlformats.org/officeDocument/2006/relationships/slideLayout" Target="../slideLayouts/slideLayout2.xml"/><Relationship Id="rId41" Type="http://schemas.openxmlformats.org/officeDocument/2006/relationships/tags" Target="../tags/tag102.xml"/><Relationship Id="rId40" Type="http://schemas.openxmlformats.org/officeDocument/2006/relationships/tags" Target="../tags/tag101.xml"/><Relationship Id="rId4" Type="http://schemas.openxmlformats.org/officeDocument/2006/relationships/tags" Target="../tags/tag65.xml"/><Relationship Id="rId39" Type="http://schemas.openxmlformats.org/officeDocument/2006/relationships/tags" Target="../tags/tag100.xml"/><Relationship Id="rId38" Type="http://schemas.openxmlformats.org/officeDocument/2006/relationships/tags" Target="../tags/tag99.xml"/><Relationship Id="rId37" Type="http://schemas.openxmlformats.org/officeDocument/2006/relationships/tags" Target="../tags/tag98.xml"/><Relationship Id="rId36" Type="http://schemas.openxmlformats.org/officeDocument/2006/relationships/tags" Target="../tags/tag97.xml"/><Relationship Id="rId35" Type="http://schemas.openxmlformats.org/officeDocument/2006/relationships/tags" Target="../tags/tag96.xml"/><Relationship Id="rId34" Type="http://schemas.openxmlformats.org/officeDocument/2006/relationships/tags" Target="../tags/tag95.xml"/><Relationship Id="rId33" Type="http://schemas.openxmlformats.org/officeDocument/2006/relationships/tags" Target="../tags/tag94.xml"/><Relationship Id="rId32" Type="http://schemas.openxmlformats.org/officeDocument/2006/relationships/tags" Target="../tags/tag93.xml"/><Relationship Id="rId31" Type="http://schemas.openxmlformats.org/officeDocument/2006/relationships/tags" Target="../tags/tag92.xml"/><Relationship Id="rId30" Type="http://schemas.openxmlformats.org/officeDocument/2006/relationships/tags" Target="../tags/tag91.xml"/><Relationship Id="rId3" Type="http://schemas.openxmlformats.org/officeDocument/2006/relationships/tags" Target="../tags/tag64.xml"/><Relationship Id="rId29" Type="http://schemas.openxmlformats.org/officeDocument/2006/relationships/tags" Target="../tags/tag90.xml"/><Relationship Id="rId28" Type="http://schemas.openxmlformats.org/officeDocument/2006/relationships/tags" Target="../tags/tag89.xml"/><Relationship Id="rId27" Type="http://schemas.openxmlformats.org/officeDocument/2006/relationships/tags" Target="../tags/tag88.xml"/><Relationship Id="rId26" Type="http://schemas.openxmlformats.org/officeDocument/2006/relationships/tags" Target="../tags/tag87.xml"/><Relationship Id="rId25" Type="http://schemas.openxmlformats.org/officeDocument/2006/relationships/tags" Target="../tags/tag86.xml"/><Relationship Id="rId24" Type="http://schemas.openxmlformats.org/officeDocument/2006/relationships/tags" Target="../tags/tag85.xml"/><Relationship Id="rId23" Type="http://schemas.openxmlformats.org/officeDocument/2006/relationships/tags" Target="../tags/tag84.xml"/><Relationship Id="rId22" Type="http://schemas.openxmlformats.org/officeDocument/2006/relationships/tags" Target="../tags/tag83.xml"/><Relationship Id="rId21" Type="http://schemas.openxmlformats.org/officeDocument/2006/relationships/tags" Target="../tags/tag82.xml"/><Relationship Id="rId20" Type="http://schemas.openxmlformats.org/officeDocument/2006/relationships/tags" Target="../tags/tag81.xml"/><Relationship Id="rId2" Type="http://schemas.openxmlformats.org/officeDocument/2006/relationships/tags" Target="../tags/tag63.xml"/><Relationship Id="rId19" Type="http://schemas.openxmlformats.org/officeDocument/2006/relationships/tags" Target="../tags/tag80.xml"/><Relationship Id="rId18" Type="http://schemas.openxmlformats.org/officeDocument/2006/relationships/tags" Target="../tags/tag79.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13.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3" Type="http://schemas.openxmlformats.org/officeDocument/2006/relationships/notesSlide" Target="../notesSlides/notesSlide13.xml"/><Relationship Id="rId42" Type="http://schemas.openxmlformats.org/officeDocument/2006/relationships/slideLayout" Target="../slideLayouts/slideLayout2.xml"/><Relationship Id="rId41" Type="http://schemas.openxmlformats.org/officeDocument/2006/relationships/tags" Target="../tags/tag143.xml"/><Relationship Id="rId40" Type="http://schemas.openxmlformats.org/officeDocument/2006/relationships/tags" Target="../tags/tag142.xml"/><Relationship Id="rId4" Type="http://schemas.openxmlformats.org/officeDocument/2006/relationships/tags" Target="../tags/tag106.xml"/><Relationship Id="rId39" Type="http://schemas.openxmlformats.org/officeDocument/2006/relationships/tags" Target="../tags/tag141.xml"/><Relationship Id="rId38" Type="http://schemas.openxmlformats.org/officeDocument/2006/relationships/tags" Target="../tags/tag140.xml"/><Relationship Id="rId37" Type="http://schemas.openxmlformats.org/officeDocument/2006/relationships/tags" Target="../tags/tag139.xml"/><Relationship Id="rId36" Type="http://schemas.openxmlformats.org/officeDocument/2006/relationships/tags" Target="../tags/tag138.xml"/><Relationship Id="rId35" Type="http://schemas.openxmlformats.org/officeDocument/2006/relationships/tags" Target="../tags/tag137.xml"/><Relationship Id="rId34" Type="http://schemas.openxmlformats.org/officeDocument/2006/relationships/tags" Target="../tags/tag136.xml"/><Relationship Id="rId33" Type="http://schemas.openxmlformats.org/officeDocument/2006/relationships/tags" Target="../tags/tag135.xml"/><Relationship Id="rId32" Type="http://schemas.openxmlformats.org/officeDocument/2006/relationships/tags" Target="../tags/tag134.xml"/><Relationship Id="rId31" Type="http://schemas.openxmlformats.org/officeDocument/2006/relationships/tags" Target="../tags/tag133.xml"/><Relationship Id="rId30" Type="http://schemas.openxmlformats.org/officeDocument/2006/relationships/tags" Target="../tags/tag132.xml"/><Relationship Id="rId3" Type="http://schemas.openxmlformats.org/officeDocument/2006/relationships/tags" Target="../tags/tag105.xml"/><Relationship Id="rId29" Type="http://schemas.openxmlformats.org/officeDocument/2006/relationships/tags" Target="../tags/tag131.xml"/><Relationship Id="rId28" Type="http://schemas.openxmlformats.org/officeDocument/2006/relationships/tags" Target="../tags/tag130.xml"/><Relationship Id="rId27" Type="http://schemas.openxmlformats.org/officeDocument/2006/relationships/tags" Target="../tags/tag129.xml"/><Relationship Id="rId26" Type="http://schemas.openxmlformats.org/officeDocument/2006/relationships/tags" Target="../tags/tag128.xml"/><Relationship Id="rId25" Type="http://schemas.openxmlformats.org/officeDocument/2006/relationships/tags" Target="../tags/tag127.xml"/><Relationship Id="rId24" Type="http://schemas.openxmlformats.org/officeDocument/2006/relationships/tags" Target="../tags/tag126.xml"/><Relationship Id="rId23" Type="http://schemas.openxmlformats.org/officeDocument/2006/relationships/tags" Target="../tags/tag125.xml"/><Relationship Id="rId22" Type="http://schemas.openxmlformats.org/officeDocument/2006/relationships/tags" Target="../tags/tag124.xml"/><Relationship Id="rId21" Type="http://schemas.openxmlformats.org/officeDocument/2006/relationships/tags" Target="../tags/tag123.xml"/><Relationship Id="rId20" Type="http://schemas.openxmlformats.org/officeDocument/2006/relationships/tags" Target="../tags/tag122.xml"/><Relationship Id="rId2" Type="http://schemas.openxmlformats.org/officeDocument/2006/relationships/tags" Target="../tags/tag104.xml"/><Relationship Id="rId19" Type="http://schemas.openxmlformats.org/officeDocument/2006/relationships/tags" Target="../tags/tag121.xml"/><Relationship Id="rId18" Type="http://schemas.openxmlformats.org/officeDocument/2006/relationships/tags" Target="../tags/tag120.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14.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3" Type="http://schemas.openxmlformats.org/officeDocument/2006/relationships/notesSlide" Target="../notesSlides/notesSlide14.xml"/><Relationship Id="rId42" Type="http://schemas.openxmlformats.org/officeDocument/2006/relationships/slideLayout" Target="../slideLayouts/slideLayout2.xml"/><Relationship Id="rId41" Type="http://schemas.openxmlformats.org/officeDocument/2006/relationships/tags" Target="../tags/tag184.xml"/><Relationship Id="rId40" Type="http://schemas.openxmlformats.org/officeDocument/2006/relationships/tags" Target="../tags/tag183.xml"/><Relationship Id="rId4" Type="http://schemas.openxmlformats.org/officeDocument/2006/relationships/tags" Target="../tags/tag147.xml"/><Relationship Id="rId39" Type="http://schemas.openxmlformats.org/officeDocument/2006/relationships/tags" Target="../tags/tag182.xml"/><Relationship Id="rId38" Type="http://schemas.openxmlformats.org/officeDocument/2006/relationships/tags" Target="../tags/tag181.xml"/><Relationship Id="rId37" Type="http://schemas.openxmlformats.org/officeDocument/2006/relationships/tags" Target="../tags/tag180.xml"/><Relationship Id="rId36" Type="http://schemas.openxmlformats.org/officeDocument/2006/relationships/tags" Target="../tags/tag179.xml"/><Relationship Id="rId35" Type="http://schemas.openxmlformats.org/officeDocument/2006/relationships/tags" Target="../tags/tag178.xml"/><Relationship Id="rId34" Type="http://schemas.openxmlformats.org/officeDocument/2006/relationships/tags" Target="../tags/tag177.xml"/><Relationship Id="rId33" Type="http://schemas.openxmlformats.org/officeDocument/2006/relationships/tags" Target="../tags/tag176.xml"/><Relationship Id="rId32" Type="http://schemas.openxmlformats.org/officeDocument/2006/relationships/tags" Target="../tags/tag175.xml"/><Relationship Id="rId31" Type="http://schemas.openxmlformats.org/officeDocument/2006/relationships/tags" Target="../tags/tag174.xml"/><Relationship Id="rId30" Type="http://schemas.openxmlformats.org/officeDocument/2006/relationships/tags" Target="../tags/tag173.xml"/><Relationship Id="rId3" Type="http://schemas.openxmlformats.org/officeDocument/2006/relationships/tags" Target="../tags/tag146.xml"/><Relationship Id="rId29" Type="http://schemas.openxmlformats.org/officeDocument/2006/relationships/tags" Target="../tags/tag172.xml"/><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tags" Target="../tags/tag164.xml"/><Relationship Id="rId20" Type="http://schemas.openxmlformats.org/officeDocument/2006/relationships/tags" Target="../tags/tag163.xml"/><Relationship Id="rId2" Type="http://schemas.openxmlformats.org/officeDocument/2006/relationships/tags" Target="../tags/tag145.xml"/><Relationship Id="rId19" Type="http://schemas.openxmlformats.org/officeDocument/2006/relationships/tags" Target="../tags/tag162.xml"/><Relationship Id="rId18" Type="http://schemas.openxmlformats.org/officeDocument/2006/relationships/tags" Target="../tags/tag161.xml"/><Relationship Id="rId17" Type="http://schemas.openxmlformats.org/officeDocument/2006/relationships/tags" Target="../tags/tag160.xml"/><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tags" Target="../tags/tag144.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s>
</file>

<file path=ppt/slides/_rels/slide16.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9" Type="http://schemas.openxmlformats.org/officeDocument/2006/relationships/notesSlide" Target="../notesSlides/notesSlide16.xml"/><Relationship Id="rId48" Type="http://schemas.openxmlformats.org/officeDocument/2006/relationships/slideLayout" Target="../slideLayouts/slideLayout2.xml"/><Relationship Id="rId47" Type="http://schemas.openxmlformats.org/officeDocument/2006/relationships/tags" Target="../tags/tag231.xml"/><Relationship Id="rId46" Type="http://schemas.openxmlformats.org/officeDocument/2006/relationships/tags" Target="../tags/tag230.xml"/><Relationship Id="rId45" Type="http://schemas.openxmlformats.org/officeDocument/2006/relationships/tags" Target="../tags/tag229.xml"/><Relationship Id="rId44" Type="http://schemas.openxmlformats.org/officeDocument/2006/relationships/tags" Target="../tags/tag228.xml"/><Relationship Id="rId43" Type="http://schemas.openxmlformats.org/officeDocument/2006/relationships/tags" Target="../tags/tag227.xml"/><Relationship Id="rId42" Type="http://schemas.openxmlformats.org/officeDocument/2006/relationships/tags" Target="../tags/tag226.xml"/><Relationship Id="rId41" Type="http://schemas.openxmlformats.org/officeDocument/2006/relationships/tags" Target="../tags/tag225.xml"/><Relationship Id="rId40" Type="http://schemas.openxmlformats.org/officeDocument/2006/relationships/tags" Target="../tags/tag224.xml"/><Relationship Id="rId4" Type="http://schemas.openxmlformats.org/officeDocument/2006/relationships/tags" Target="../tags/tag190.xml"/><Relationship Id="rId39" Type="http://schemas.openxmlformats.org/officeDocument/2006/relationships/tags" Target="../tags/tag223.xml"/><Relationship Id="rId38" Type="http://schemas.openxmlformats.org/officeDocument/2006/relationships/tags" Target="../tags/tag222.xml"/><Relationship Id="rId37" Type="http://schemas.openxmlformats.org/officeDocument/2006/relationships/tags" Target="../tags/tag221.xml"/><Relationship Id="rId36" Type="http://schemas.openxmlformats.org/officeDocument/2006/relationships/tags" Target="../tags/tag220.xml"/><Relationship Id="rId35" Type="http://schemas.openxmlformats.org/officeDocument/2006/relationships/tags" Target="../tags/tag219.xml"/><Relationship Id="rId34" Type="http://schemas.openxmlformats.org/officeDocument/2006/relationships/tags" Target="../tags/tag218.xml"/><Relationship Id="rId33" Type="http://schemas.openxmlformats.org/officeDocument/2006/relationships/tags" Target="../tags/tag217.xml"/><Relationship Id="rId32" Type="http://schemas.openxmlformats.org/officeDocument/2006/relationships/tags" Target="../tags/tag216.xml"/><Relationship Id="rId31" Type="http://schemas.openxmlformats.org/officeDocument/2006/relationships/tags" Target="../tags/tag215.xml"/><Relationship Id="rId30" Type="http://schemas.openxmlformats.org/officeDocument/2006/relationships/tags" Target="../tags/tag214.xml"/><Relationship Id="rId3" Type="http://schemas.openxmlformats.org/officeDocument/2006/relationships/tags" Target="../tags/tag189.xml"/><Relationship Id="rId29" Type="http://schemas.openxmlformats.org/officeDocument/2006/relationships/tags" Target="../tags/tag213.xml"/><Relationship Id="rId28" Type="http://schemas.openxmlformats.org/officeDocument/2006/relationships/tags" Target="../tags/tag212.xml"/><Relationship Id="rId27" Type="http://schemas.openxmlformats.org/officeDocument/2006/relationships/tags" Target="../tags/tag211.xml"/><Relationship Id="rId26" Type="http://schemas.openxmlformats.org/officeDocument/2006/relationships/tags" Target="../tags/tag210.xml"/><Relationship Id="rId25" Type="http://schemas.openxmlformats.org/officeDocument/2006/relationships/tags" Target="../tags/tag209.xml"/><Relationship Id="rId24" Type="http://schemas.openxmlformats.org/officeDocument/2006/relationships/tags" Target="../tags/tag208.xml"/><Relationship Id="rId23" Type="http://schemas.openxmlformats.org/officeDocument/2006/relationships/tags" Target="../tags/tag207.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image" Target="../media/image5.png"/><Relationship Id="rId2" Type="http://schemas.openxmlformats.org/officeDocument/2006/relationships/tags" Target="../tags/tag188.xml"/><Relationship Id="rId19" Type="http://schemas.openxmlformats.org/officeDocument/2006/relationships/tags" Target="../tags/tag204.xml"/><Relationship Id="rId18" Type="http://schemas.openxmlformats.org/officeDocument/2006/relationships/tags" Target="../tags/tag203.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image" Target="../media/image4.png"/><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tags" Target="../tags/tag235.xml"/><Relationship Id="rId5" Type="http://schemas.openxmlformats.org/officeDocument/2006/relationships/image" Target="../media/image8.png"/><Relationship Id="rId4" Type="http://schemas.openxmlformats.org/officeDocument/2006/relationships/tags" Target="../tags/tag234.xml"/><Relationship Id="rId3" Type="http://schemas.openxmlformats.org/officeDocument/2006/relationships/image" Target="../media/image7.png"/><Relationship Id="rId2" Type="http://schemas.openxmlformats.org/officeDocument/2006/relationships/tags" Target="../tags/tag233.xml"/><Relationship Id="rId1" Type="http://schemas.openxmlformats.org/officeDocument/2006/relationships/tags" Target="../tags/tag232.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238.xml"/><Relationship Id="rId3" Type="http://schemas.openxmlformats.org/officeDocument/2006/relationships/image" Target="../media/image9.png"/><Relationship Id="rId2" Type="http://schemas.openxmlformats.org/officeDocument/2006/relationships/tags" Target="../tags/tag237.xml"/><Relationship Id="rId1" Type="http://schemas.openxmlformats.org/officeDocument/2006/relationships/tags" Target="../tags/tag236.xml"/></Relationships>
</file>

<file path=ppt/slides/_rels/slide19.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3" Type="http://schemas.openxmlformats.org/officeDocument/2006/relationships/notesSlide" Target="../notesSlides/notesSlide19.xml"/><Relationship Id="rId42" Type="http://schemas.openxmlformats.org/officeDocument/2006/relationships/slideLayout" Target="../slideLayouts/slideLayout2.xml"/><Relationship Id="rId41" Type="http://schemas.openxmlformats.org/officeDocument/2006/relationships/tags" Target="../tags/tag279.xml"/><Relationship Id="rId40" Type="http://schemas.openxmlformats.org/officeDocument/2006/relationships/tags" Target="../tags/tag278.xml"/><Relationship Id="rId4" Type="http://schemas.openxmlformats.org/officeDocument/2006/relationships/tags" Target="../tags/tag242.xml"/><Relationship Id="rId39" Type="http://schemas.openxmlformats.org/officeDocument/2006/relationships/tags" Target="../tags/tag277.xml"/><Relationship Id="rId38" Type="http://schemas.openxmlformats.org/officeDocument/2006/relationships/tags" Target="../tags/tag276.xml"/><Relationship Id="rId37" Type="http://schemas.openxmlformats.org/officeDocument/2006/relationships/tags" Target="../tags/tag275.xml"/><Relationship Id="rId36" Type="http://schemas.openxmlformats.org/officeDocument/2006/relationships/tags" Target="../tags/tag274.xml"/><Relationship Id="rId35" Type="http://schemas.openxmlformats.org/officeDocument/2006/relationships/tags" Target="../tags/tag273.xml"/><Relationship Id="rId34" Type="http://schemas.openxmlformats.org/officeDocument/2006/relationships/tags" Target="../tags/tag272.xml"/><Relationship Id="rId33" Type="http://schemas.openxmlformats.org/officeDocument/2006/relationships/tags" Target="../tags/tag271.xml"/><Relationship Id="rId32" Type="http://schemas.openxmlformats.org/officeDocument/2006/relationships/tags" Target="../tags/tag270.xml"/><Relationship Id="rId31" Type="http://schemas.openxmlformats.org/officeDocument/2006/relationships/tags" Target="../tags/tag269.xml"/><Relationship Id="rId30" Type="http://schemas.openxmlformats.org/officeDocument/2006/relationships/tags" Target="../tags/tag268.xml"/><Relationship Id="rId3" Type="http://schemas.openxmlformats.org/officeDocument/2006/relationships/tags" Target="../tags/tag241.xml"/><Relationship Id="rId29" Type="http://schemas.openxmlformats.org/officeDocument/2006/relationships/tags" Target="../tags/tag267.xml"/><Relationship Id="rId28" Type="http://schemas.openxmlformats.org/officeDocument/2006/relationships/tags" Target="../tags/tag266.xml"/><Relationship Id="rId27" Type="http://schemas.openxmlformats.org/officeDocument/2006/relationships/tags" Target="../tags/tag265.xml"/><Relationship Id="rId26" Type="http://schemas.openxmlformats.org/officeDocument/2006/relationships/tags" Target="../tags/tag264.xml"/><Relationship Id="rId25" Type="http://schemas.openxmlformats.org/officeDocument/2006/relationships/tags" Target="../tags/tag263.xml"/><Relationship Id="rId24" Type="http://schemas.openxmlformats.org/officeDocument/2006/relationships/tags" Target="../tags/tag262.xml"/><Relationship Id="rId23" Type="http://schemas.openxmlformats.org/officeDocument/2006/relationships/tags" Target="../tags/tag261.xml"/><Relationship Id="rId22" Type="http://schemas.openxmlformats.org/officeDocument/2006/relationships/tags" Target="../tags/tag260.xml"/><Relationship Id="rId21" Type="http://schemas.openxmlformats.org/officeDocument/2006/relationships/tags" Target="../tags/tag259.xml"/><Relationship Id="rId20" Type="http://schemas.openxmlformats.org/officeDocument/2006/relationships/tags" Target="../tags/tag258.xml"/><Relationship Id="rId2" Type="http://schemas.openxmlformats.org/officeDocument/2006/relationships/tags" Target="../tags/tag240.xml"/><Relationship Id="rId19" Type="http://schemas.openxmlformats.org/officeDocument/2006/relationships/tags" Target="../tags/tag257.xml"/><Relationship Id="rId18" Type="http://schemas.openxmlformats.org/officeDocument/2006/relationships/tags" Target="../tags/tag256.xml"/><Relationship Id="rId17" Type="http://schemas.openxmlformats.org/officeDocument/2006/relationships/tags" Target="../tags/tag255.xml"/><Relationship Id="rId16" Type="http://schemas.openxmlformats.org/officeDocument/2006/relationships/tags" Target="../tags/tag254.xml"/><Relationship Id="rId15" Type="http://schemas.openxmlformats.org/officeDocument/2006/relationships/tags" Target="../tags/tag253.xml"/><Relationship Id="rId14" Type="http://schemas.openxmlformats.org/officeDocument/2006/relationships/tags" Target="../tags/tag252.xml"/><Relationship Id="rId13" Type="http://schemas.openxmlformats.org/officeDocument/2006/relationships/tags" Target="../tags/tag251.xml"/><Relationship Id="rId12" Type="http://schemas.openxmlformats.org/officeDocument/2006/relationships/tags" Target="../tags/tag250.xml"/><Relationship Id="rId11" Type="http://schemas.openxmlformats.org/officeDocument/2006/relationships/tags" Target="../tags/tag249.xml"/><Relationship Id="rId10" Type="http://schemas.openxmlformats.org/officeDocument/2006/relationships/tags" Target="../tags/tag248.xml"/><Relationship Id="rId1" Type="http://schemas.openxmlformats.org/officeDocument/2006/relationships/tags" Target="../tags/tag239.xml"/></Relationships>
</file>

<file path=ppt/slides/_rels/slide20.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tags" Target="../tags/tag287.xml"/><Relationship Id="rId7" Type="http://schemas.openxmlformats.org/officeDocument/2006/relationships/tags" Target="../tags/tag286.xml"/><Relationship Id="rId6" Type="http://schemas.openxmlformats.org/officeDocument/2006/relationships/tags" Target="../tags/tag285.xml"/><Relationship Id="rId5" Type="http://schemas.openxmlformats.org/officeDocument/2006/relationships/tags" Target="../tags/tag284.xml"/><Relationship Id="rId43" Type="http://schemas.openxmlformats.org/officeDocument/2006/relationships/notesSlide" Target="../notesSlides/notesSlide20.xml"/><Relationship Id="rId42" Type="http://schemas.openxmlformats.org/officeDocument/2006/relationships/slideLayout" Target="../slideLayouts/slideLayout2.xml"/><Relationship Id="rId41" Type="http://schemas.openxmlformats.org/officeDocument/2006/relationships/tags" Target="../tags/tag318.xml"/><Relationship Id="rId40" Type="http://schemas.openxmlformats.org/officeDocument/2006/relationships/tags" Target="../tags/tag317.xml"/><Relationship Id="rId4" Type="http://schemas.openxmlformats.org/officeDocument/2006/relationships/tags" Target="../tags/tag283.xml"/><Relationship Id="rId39" Type="http://schemas.openxmlformats.org/officeDocument/2006/relationships/tags" Target="../tags/tag316.xml"/><Relationship Id="rId38" Type="http://schemas.openxmlformats.org/officeDocument/2006/relationships/tags" Target="../tags/tag315.xml"/><Relationship Id="rId37" Type="http://schemas.openxmlformats.org/officeDocument/2006/relationships/tags" Target="../tags/tag314.xml"/><Relationship Id="rId36" Type="http://schemas.openxmlformats.org/officeDocument/2006/relationships/tags" Target="../tags/tag313.xml"/><Relationship Id="rId35" Type="http://schemas.openxmlformats.org/officeDocument/2006/relationships/tags" Target="../tags/tag312.xml"/><Relationship Id="rId34" Type="http://schemas.openxmlformats.org/officeDocument/2006/relationships/tags" Target="../tags/tag311.xml"/><Relationship Id="rId33" Type="http://schemas.openxmlformats.org/officeDocument/2006/relationships/tags" Target="../tags/tag310.xml"/><Relationship Id="rId32" Type="http://schemas.openxmlformats.org/officeDocument/2006/relationships/tags" Target="../tags/tag309.xml"/><Relationship Id="rId31" Type="http://schemas.openxmlformats.org/officeDocument/2006/relationships/tags" Target="../tags/tag308.xml"/><Relationship Id="rId30" Type="http://schemas.openxmlformats.org/officeDocument/2006/relationships/tags" Target="../tags/tag307.xml"/><Relationship Id="rId3" Type="http://schemas.openxmlformats.org/officeDocument/2006/relationships/tags" Target="../tags/tag282.xml"/><Relationship Id="rId29" Type="http://schemas.openxmlformats.org/officeDocument/2006/relationships/tags" Target="../tags/tag306.xml"/><Relationship Id="rId28" Type="http://schemas.openxmlformats.org/officeDocument/2006/relationships/tags" Target="../tags/tag305.xml"/><Relationship Id="rId27" Type="http://schemas.openxmlformats.org/officeDocument/2006/relationships/tags" Target="../tags/tag304.xml"/><Relationship Id="rId26" Type="http://schemas.openxmlformats.org/officeDocument/2006/relationships/tags" Target="../tags/tag303.xml"/><Relationship Id="rId25" Type="http://schemas.openxmlformats.org/officeDocument/2006/relationships/tags" Target="../tags/tag302.xml"/><Relationship Id="rId24" Type="http://schemas.openxmlformats.org/officeDocument/2006/relationships/tags" Target="../tags/tag301.xml"/><Relationship Id="rId23" Type="http://schemas.openxmlformats.org/officeDocument/2006/relationships/tags" Target="../tags/tag300.xml"/><Relationship Id="rId22" Type="http://schemas.openxmlformats.org/officeDocument/2006/relationships/tags" Target="../tags/tag299.xml"/><Relationship Id="rId21" Type="http://schemas.openxmlformats.org/officeDocument/2006/relationships/tags" Target="../tags/tag298.xml"/><Relationship Id="rId20" Type="http://schemas.openxmlformats.org/officeDocument/2006/relationships/image" Target="../media/image5.png"/><Relationship Id="rId2" Type="http://schemas.openxmlformats.org/officeDocument/2006/relationships/tags" Target="../tags/tag281.xml"/><Relationship Id="rId19" Type="http://schemas.openxmlformats.org/officeDocument/2006/relationships/tags" Target="../tags/tag297.xml"/><Relationship Id="rId18" Type="http://schemas.openxmlformats.org/officeDocument/2006/relationships/tags" Target="../tags/tag296.xml"/><Relationship Id="rId17" Type="http://schemas.openxmlformats.org/officeDocument/2006/relationships/tags" Target="../tags/tag295.xml"/><Relationship Id="rId16" Type="http://schemas.openxmlformats.org/officeDocument/2006/relationships/tags" Target="../tags/tag294.xml"/><Relationship Id="rId15" Type="http://schemas.openxmlformats.org/officeDocument/2006/relationships/image" Target="../media/image4.png"/><Relationship Id="rId14" Type="http://schemas.openxmlformats.org/officeDocument/2006/relationships/tags" Target="../tags/tag293.xml"/><Relationship Id="rId13" Type="http://schemas.openxmlformats.org/officeDocument/2006/relationships/tags" Target="../tags/tag292.xml"/><Relationship Id="rId12" Type="http://schemas.openxmlformats.org/officeDocument/2006/relationships/tags" Target="../tags/tag291.xml"/><Relationship Id="rId11" Type="http://schemas.openxmlformats.org/officeDocument/2006/relationships/tags" Target="../tags/tag290.xml"/><Relationship Id="rId10" Type="http://schemas.openxmlformats.org/officeDocument/2006/relationships/tags" Target="../tags/tag289.xml"/><Relationship Id="rId1" Type="http://schemas.openxmlformats.org/officeDocument/2006/relationships/tags" Target="../tags/tag280.xml"/></Relationships>
</file>

<file path=ppt/slides/_rels/slide21.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3" Type="http://schemas.openxmlformats.org/officeDocument/2006/relationships/notesSlide" Target="../notesSlides/notesSlide21.xml"/><Relationship Id="rId12" Type="http://schemas.openxmlformats.org/officeDocument/2006/relationships/slideLayout" Target="../slideLayouts/slideLayout2.xml"/><Relationship Id="rId11" Type="http://schemas.openxmlformats.org/officeDocument/2006/relationships/tags" Target="../tags/tag329.xml"/><Relationship Id="rId10" Type="http://schemas.openxmlformats.org/officeDocument/2006/relationships/tags" Target="../tags/tag328.xml"/><Relationship Id="rId1" Type="http://schemas.openxmlformats.org/officeDocument/2006/relationships/tags" Target="../tags/tag319.xml"/></Relationships>
</file>

<file path=ppt/slides/_rels/slide22.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9" Type="http://schemas.openxmlformats.org/officeDocument/2006/relationships/notesSlide" Target="../notesSlides/notesSlide22.xml"/><Relationship Id="rId18" Type="http://schemas.openxmlformats.org/officeDocument/2006/relationships/slideLayout" Target="../slideLayouts/slideLayout2.xml"/><Relationship Id="rId17" Type="http://schemas.openxmlformats.org/officeDocument/2006/relationships/tags" Target="../tags/tag346.xml"/><Relationship Id="rId16" Type="http://schemas.openxmlformats.org/officeDocument/2006/relationships/tags" Target="../tags/tag345.xml"/><Relationship Id="rId15" Type="http://schemas.openxmlformats.org/officeDocument/2006/relationships/tags" Target="../tags/tag344.xml"/><Relationship Id="rId14" Type="http://schemas.openxmlformats.org/officeDocument/2006/relationships/tags" Target="../tags/tag343.xml"/><Relationship Id="rId13" Type="http://schemas.openxmlformats.org/officeDocument/2006/relationships/tags" Target="../tags/tag342.xml"/><Relationship Id="rId12" Type="http://schemas.openxmlformats.org/officeDocument/2006/relationships/tags" Target="../tags/tag341.xml"/><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tags" Target="../tags/tag330.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348.xml"/><Relationship Id="rId1" Type="http://schemas.openxmlformats.org/officeDocument/2006/relationships/tags" Target="../tags/tag347.xml"/></Relationships>
</file>

<file path=ppt/slides/_rels/slide24.xml.rels><?xml version="1.0" encoding="UTF-8" standalone="yes"?>
<Relationships xmlns="http://schemas.openxmlformats.org/package/2006/relationships"><Relationship Id="rId9" Type="http://schemas.openxmlformats.org/officeDocument/2006/relationships/tags" Target="../tags/tag357.xml"/><Relationship Id="rId8" Type="http://schemas.openxmlformats.org/officeDocument/2006/relationships/tags" Target="../tags/tag356.xml"/><Relationship Id="rId7" Type="http://schemas.openxmlformats.org/officeDocument/2006/relationships/tags" Target="../tags/tag355.xml"/><Relationship Id="rId6" Type="http://schemas.openxmlformats.org/officeDocument/2006/relationships/tags" Target="../tags/tag354.xml"/><Relationship Id="rId5" Type="http://schemas.openxmlformats.org/officeDocument/2006/relationships/tags" Target="../tags/tag353.xml"/><Relationship Id="rId4" Type="http://schemas.openxmlformats.org/officeDocument/2006/relationships/tags" Target="../tags/tag352.xml"/><Relationship Id="rId3" Type="http://schemas.openxmlformats.org/officeDocument/2006/relationships/tags" Target="../tags/tag351.xml"/><Relationship Id="rId2" Type="http://schemas.openxmlformats.org/officeDocument/2006/relationships/tags" Target="../tags/tag350.xml"/><Relationship Id="rId11" Type="http://schemas.openxmlformats.org/officeDocument/2006/relationships/notesSlide" Target="../notesSlides/notesSlide24.xml"/><Relationship Id="rId10" Type="http://schemas.openxmlformats.org/officeDocument/2006/relationships/slideLayout" Target="../slideLayouts/slideLayout2.xml"/><Relationship Id="rId1" Type="http://schemas.openxmlformats.org/officeDocument/2006/relationships/tags" Target="../tags/tag349.xml"/></Relationships>
</file>

<file path=ppt/slides/_rels/slide25.xml.rels><?xml version="1.0" encoding="UTF-8" standalone="yes"?>
<Relationships xmlns="http://schemas.openxmlformats.org/package/2006/relationships"><Relationship Id="rId9" Type="http://schemas.openxmlformats.org/officeDocument/2006/relationships/tags" Target="../tags/tag366.xml"/><Relationship Id="rId8" Type="http://schemas.openxmlformats.org/officeDocument/2006/relationships/tags" Target="../tags/tag365.xml"/><Relationship Id="rId7" Type="http://schemas.openxmlformats.org/officeDocument/2006/relationships/tags" Target="../tags/tag364.xml"/><Relationship Id="rId6" Type="http://schemas.openxmlformats.org/officeDocument/2006/relationships/tags" Target="../tags/tag363.xml"/><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 Type="http://schemas.openxmlformats.org/officeDocument/2006/relationships/tags" Target="../tags/tag359.xml"/><Relationship Id="rId18" Type="http://schemas.openxmlformats.org/officeDocument/2006/relationships/notesSlide" Target="../notesSlides/notesSlide25.xml"/><Relationship Id="rId17" Type="http://schemas.openxmlformats.org/officeDocument/2006/relationships/slideLayout" Target="../slideLayouts/slideLayout2.xml"/><Relationship Id="rId16" Type="http://schemas.openxmlformats.org/officeDocument/2006/relationships/tags" Target="../tags/tag373.xml"/><Relationship Id="rId15" Type="http://schemas.openxmlformats.org/officeDocument/2006/relationships/tags" Target="../tags/tag372.xml"/><Relationship Id="rId14" Type="http://schemas.openxmlformats.org/officeDocument/2006/relationships/tags" Target="../tags/tag371.xml"/><Relationship Id="rId13" Type="http://schemas.openxmlformats.org/officeDocument/2006/relationships/tags" Target="../tags/tag370.xml"/><Relationship Id="rId12" Type="http://schemas.openxmlformats.org/officeDocument/2006/relationships/tags" Target="../tags/tag369.xml"/><Relationship Id="rId11" Type="http://schemas.openxmlformats.org/officeDocument/2006/relationships/tags" Target="../tags/tag368.xml"/><Relationship Id="rId10" Type="http://schemas.openxmlformats.org/officeDocument/2006/relationships/tags" Target="../tags/tag367.xml"/><Relationship Id="rId1" Type="http://schemas.openxmlformats.org/officeDocument/2006/relationships/tags" Target="../tags/tag358.xml"/></Relationships>
</file>

<file path=ppt/slides/_rels/slide26.xml.rels><?xml version="1.0" encoding="UTF-8" standalone="yes"?>
<Relationships xmlns="http://schemas.openxmlformats.org/package/2006/relationships"><Relationship Id="rId9" Type="http://schemas.openxmlformats.org/officeDocument/2006/relationships/tags" Target="../tags/tag382.xml"/><Relationship Id="rId8" Type="http://schemas.openxmlformats.org/officeDocument/2006/relationships/tags" Target="../tags/tag381.xml"/><Relationship Id="rId7" Type="http://schemas.openxmlformats.org/officeDocument/2006/relationships/tags" Target="../tags/tag380.xml"/><Relationship Id="rId6" Type="http://schemas.openxmlformats.org/officeDocument/2006/relationships/tags" Target="../tags/tag379.xml"/><Relationship Id="rId5" Type="http://schemas.openxmlformats.org/officeDocument/2006/relationships/tags" Target="../tags/tag378.xml"/><Relationship Id="rId4" Type="http://schemas.openxmlformats.org/officeDocument/2006/relationships/tags" Target="../tags/tag377.xml"/><Relationship Id="rId3" Type="http://schemas.openxmlformats.org/officeDocument/2006/relationships/tags" Target="../tags/tag376.xml"/><Relationship Id="rId2" Type="http://schemas.openxmlformats.org/officeDocument/2006/relationships/tags" Target="../tags/tag375.xml"/><Relationship Id="rId13" Type="http://schemas.openxmlformats.org/officeDocument/2006/relationships/notesSlide" Target="../notesSlides/notesSlide26.xml"/><Relationship Id="rId12" Type="http://schemas.openxmlformats.org/officeDocument/2006/relationships/slideLayout" Target="../slideLayouts/slideLayout2.xml"/><Relationship Id="rId11" Type="http://schemas.openxmlformats.org/officeDocument/2006/relationships/tags" Target="../tags/tag384.xml"/><Relationship Id="rId10" Type="http://schemas.openxmlformats.org/officeDocument/2006/relationships/tags" Target="../tags/tag383.xml"/><Relationship Id="rId1" Type="http://schemas.openxmlformats.org/officeDocument/2006/relationships/tags" Target="../tags/tag374.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tags" Target="../tags/tag386.xml"/><Relationship Id="rId1" Type="http://schemas.openxmlformats.org/officeDocument/2006/relationships/tags" Target="../tags/tag385.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tags" Target="../tags/tag388.xml"/><Relationship Id="rId1" Type="http://schemas.openxmlformats.org/officeDocument/2006/relationships/tags" Target="../tags/tag387.xml"/></Relationships>
</file>

<file path=ppt/slides/_rels/slide29.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1" Type="http://schemas.openxmlformats.org/officeDocument/2006/relationships/notesSlide" Target="../notesSlides/notesSlide29.xml"/><Relationship Id="rId10" Type="http://schemas.openxmlformats.org/officeDocument/2006/relationships/slideLayout" Target="../slideLayouts/slideLayout2.xml"/><Relationship Id="rId1" Type="http://schemas.openxmlformats.org/officeDocument/2006/relationships/tags" Target="../tags/tag389.xml"/></Relationships>
</file>

<file path=ppt/slides/_rels/slide30.xml.rels><?xml version="1.0" encoding="UTF-8" standalone="yes"?>
<Relationships xmlns="http://schemas.openxmlformats.org/package/2006/relationships"><Relationship Id="rId9" Type="http://schemas.openxmlformats.org/officeDocument/2006/relationships/tags" Target="../tags/tag406.xml"/><Relationship Id="rId8" Type="http://schemas.openxmlformats.org/officeDocument/2006/relationships/tags" Target="../tags/tag405.xml"/><Relationship Id="rId7" Type="http://schemas.openxmlformats.org/officeDocument/2006/relationships/tags" Target="../tags/tag404.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3" Type="http://schemas.openxmlformats.org/officeDocument/2006/relationships/notesSlide" Target="../notesSlides/notesSlide30.xml"/><Relationship Id="rId12" Type="http://schemas.openxmlformats.org/officeDocument/2006/relationships/slideLayout" Target="../slideLayouts/slideLayout2.xml"/><Relationship Id="rId11" Type="http://schemas.openxmlformats.org/officeDocument/2006/relationships/tags" Target="../tags/tag408.xml"/><Relationship Id="rId10" Type="http://schemas.openxmlformats.org/officeDocument/2006/relationships/tags" Target="../tags/tag407.xml"/><Relationship Id="rId1" Type="http://schemas.openxmlformats.org/officeDocument/2006/relationships/tags" Target="../tags/tag398.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15.xml"/><Relationship Id="rId7" Type="http://schemas.openxmlformats.org/officeDocument/2006/relationships/image" Target="../media/image10.png"/><Relationship Id="rId6" Type="http://schemas.openxmlformats.org/officeDocument/2006/relationships/tags" Target="../tags/tag414.xml"/><Relationship Id="rId5" Type="http://schemas.openxmlformats.org/officeDocument/2006/relationships/tags" Target="../tags/tag413.xml"/><Relationship Id="rId4" Type="http://schemas.openxmlformats.org/officeDocument/2006/relationships/tags" Target="../tags/tag412.xml"/><Relationship Id="rId3" Type="http://schemas.openxmlformats.org/officeDocument/2006/relationships/tags" Target="../tags/tag411.xml"/><Relationship Id="rId2" Type="http://schemas.openxmlformats.org/officeDocument/2006/relationships/tags" Target="../tags/tag410.xml"/><Relationship Id="rId10" Type="http://schemas.openxmlformats.org/officeDocument/2006/relationships/notesSlide" Target="../notesSlides/notesSlide31.xml"/><Relationship Id="rId1" Type="http://schemas.openxmlformats.org/officeDocument/2006/relationships/tags" Target="../tags/tag409.xml"/></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slideLayout" Target="../slideLayouts/slideLayout2.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3" Type="http://schemas.openxmlformats.org/officeDocument/2006/relationships/tags" Target="../tags/tag418.xml"/><Relationship Id="rId2" Type="http://schemas.openxmlformats.org/officeDocument/2006/relationships/tags" Target="../tags/tag417.xml"/><Relationship Id="rId1" Type="http://schemas.openxmlformats.org/officeDocument/2006/relationships/tags" Target="../tags/tag416.xml"/></Relationships>
</file>

<file path=ppt/slides/_rels/slide33.xml.rels><?xml version="1.0" encoding="UTF-8" standalone="yes"?>
<Relationships xmlns="http://schemas.openxmlformats.org/package/2006/relationships"><Relationship Id="rId9" Type="http://schemas.openxmlformats.org/officeDocument/2006/relationships/tags" Target="../tags/tag431.xml"/><Relationship Id="rId8" Type="http://schemas.openxmlformats.org/officeDocument/2006/relationships/tags" Target="../tags/tag430.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0" Type="http://schemas.openxmlformats.org/officeDocument/2006/relationships/notesSlide" Target="../notesSlides/notesSlide33.xml"/><Relationship Id="rId2" Type="http://schemas.openxmlformats.org/officeDocument/2006/relationships/tags" Target="../tags/tag424.xml"/><Relationship Id="rId19" Type="http://schemas.openxmlformats.org/officeDocument/2006/relationships/slideLayout" Target="../slideLayouts/slideLayout2.xml"/><Relationship Id="rId18" Type="http://schemas.openxmlformats.org/officeDocument/2006/relationships/tags" Target="../tags/tag440.xml"/><Relationship Id="rId17" Type="http://schemas.openxmlformats.org/officeDocument/2006/relationships/tags" Target="../tags/tag439.xml"/><Relationship Id="rId16" Type="http://schemas.openxmlformats.org/officeDocument/2006/relationships/tags" Target="../tags/tag438.xml"/><Relationship Id="rId15" Type="http://schemas.openxmlformats.org/officeDocument/2006/relationships/tags" Target="../tags/tag437.xml"/><Relationship Id="rId14" Type="http://schemas.openxmlformats.org/officeDocument/2006/relationships/tags" Target="../tags/tag436.xml"/><Relationship Id="rId13" Type="http://schemas.openxmlformats.org/officeDocument/2006/relationships/tags" Target="../tags/tag435.xml"/><Relationship Id="rId12" Type="http://schemas.openxmlformats.org/officeDocument/2006/relationships/tags" Target="../tags/tag434.xml"/><Relationship Id="rId11" Type="http://schemas.openxmlformats.org/officeDocument/2006/relationships/tags" Target="../tags/tag433.xml"/><Relationship Id="rId10" Type="http://schemas.openxmlformats.org/officeDocument/2006/relationships/tags" Target="../tags/tag432.xml"/><Relationship Id="rId1" Type="http://schemas.openxmlformats.org/officeDocument/2006/relationships/tags" Target="../tags/tag423.xml"/></Relationships>
</file>

<file path=ppt/slides/_rels/slide34.xml.rels><?xml version="1.0" encoding="UTF-8" standalone="yes"?>
<Relationships xmlns="http://schemas.openxmlformats.org/package/2006/relationships"><Relationship Id="rId9" Type="http://schemas.openxmlformats.org/officeDocument/2006/relationships/tags" Target="../tags/tag449.xml"/><Relationship Id="rId8" Type="http://schemas.openxmlformats.org/officeDocument/2006/relationships/tags" Target="../tags/tag448.xml"/><Relationship Id="rId7" Type="http://schemas.openxmlformats.org/officeDocument/2006/relationships/tags" Target="../tags/tag447.xml"/><Relationship Id="rId6" Type="http://schemas.openxmlformats.org/officeDocument/2006/relationships/tags" Target="../tags/tag446.xml"/><Relationship Id="rId5" Type="http://schemas.openxmlformats.org/officeDocument/2006/relationships/tags" Target="../tags/tag445.xml"/><Relationship Id="rId4" Type="http://schemas.openxmlformats.org/officeDocument/2006/relationships/tags" Target="../tags/tag444.xml"/><Relationship Id="rId3" Type="http://schemas.openxmlformats.org/officeDocument/2006/relationships/tags" Target="../tags/tag443.xml"/><Relationship Id="rId2" Type="http://schemas.openxmlformats.org/officeDocument/2006/relationships/tags" Target="../tags/tag442.xml"/><Relationship Id="rId16" Type="http://schemas.openxmlformats.org/officeDocument/2006/relationships/notesSlide" Target="../notesSlides/notesSlide34.xml"/><Relationship Id="rId15" Type="http://schemas.openxmlformats.org/officeDocument/2006/relationships/slideLayout" Target="../slideLayouts/slideLayout2.xml"/><Relationship Id="rId14" Type="http://schemas.openxmlformats.org/officeDocument/2006/relationships/tags" Target="../tags/tag453.xml"/><Relationship Id="rId13" Type="http://schemas.openxmlformats.org/officeDocument/2006/relationships/image" Target="../media/image10.png"/><Relationship Id="rId12" Type="http://schemas.openxmlformats.org/officeDocument/2006/relationships/tags" Target="../tags/tag452.xml"/><Relationship Id="rId11" Type="http://schemas.openxmlformats.org/officeDocument/2006/relationships/tags" Target="../tags/tag451.xml"/><Relationship Id="rId10" Type="http://schemas.openxmlformats.org/officeDocument/2006/relationships/tags" Target="../tags/tag450.xml"/><Relationship Id="rId1" Type="http://schemas.openxmlformats.org/officeDocument/2006/relationships/tags" Target="../tags/tag441.xml"/></Relationships>
</file>

<file path=ppt/slides/_rels/slide35.xml.rels><?xml version="1.0" encoding="UTF-8" standalone="yes"?>
<Relationships xmlns="http://schemas.openxmlformats.org/package/2006/relationships"><Relationship Id="rId9" Type="http://schemas.openxmlformats.org/officeDocument/2006/relationships/tags" Target="../tags/tag462.xml"/><Relationship Id="rId8" Type="http://schemas.openxmlformats.org/officeDocument/2006/relationships/tags" Target="../tags/tag461.xml"/><Relationship Id="rId7" Type="http://schemas.openxmlformats.org/officeDocument/2006/relationships/tags" Target="../tags/tag460.xml"/><Relationship Id="rId6" Type="http://schemas.openxmlformats.org/officeDocument/2006/relationships/tags" Target="../tags/tag459.xml"/><Relationship Id="rId5" Type="http://schemas.openxmlformats.org/officeDocument/2006/relationships/tags" Target="../tags/tag458.xml"/><Relationship Id="rId4" Type="http://schemas.openxmlformats.org/officeDocument/2006/relationships/tags" Target="../tags/tag457.xml"/><Relationship Id="rId3" Type="http://schemas.openxmlformats.org/officeDocument/2006/relationships/tags" Target="../tags/tag456.xml"/><Relationship Id="rId23" Type="http://schemas.openxmlformats.org/officeDocument/2006/relationships/notesSlide" Target="../notesSlides/notesSlide35.xml"/><Relationship Id="rId22" Type="http://schemas.openxmlformats.org/officeDocument/2006/relationships/slideLayout" Target="../slideLayouts/slideLayout2.xml"/><Relationship Id="rId21" Type="http://schemas.openxmlformats.org/officeDocument/2006/relationships/tags" Target="../tags/tag474.xml"/><Relationship Id="rId20" Type="http://schemas.openxmlformats.org/officeDocument/2006/relationships/tags" Target="../tags/tag473.xml"/><Relationship Id="rId2" Type="http://schemas.openxmlformats.org/officeDocument/2006/relationships/tags" Target="../tags/tag455.xml"/><Relationship Id="rId19" Type="http://schemas.openxmlformats.org/officeDocument/2006/relationships/tags" Target="../tags/tag472.xml"/><Relationship Id="rId18" Type="http://schemas.openxmlformats.org/officeDocument/2006/relationships/tags" Target="../tags/tag471.xml"/><Relationship Id="rId17" Type="http://schemas.openxmlformats.org/officeDocument/2006/relationships/tags" Target="../tags/tag470.xml"/><Relationship Id="rId16" Type="http://schemas.openxmlformats.org/officeDocument/2006/relationships/tags" Target="../tags/tag469.xml"/><Relationship Id="rId15" Type="http://schemas.openxmlformats.org/officeDocument/2006/relationships/tags" Target="../tags/tag468.xml"/><Relationship Id="rId14" Type="http://schemas.openxmlformats.org/officeDocument/2006/relationships/tags" Target="../tags/tag467.xml"/><Relationship Id="rId13" Type="http://schemas.openxmlformats.org/officeDocument/2006/relationships/tags" Target="../tags/tag466.xml"/><Relationship Id="rId12" Type="http://schemas.openxmlformats.org/officeDocument/2006/relationships/tags" Target="../tags/tag465.xml"/><Relationship Id="rId11" Type="http://schemas.openxmlformats.org/officeDocument/2006/relationships/tags" Target="../tags/tag464.xml"/><Relationship Id="rId10" Type="http://schemas.openxmlformats.org/officeDocument/2006/relationships/tags" Target="../tags/tag463.xml"/><Relationship Id="rId1" Type="http://schemas.openxmlformats.org/officeDocument/2006/relationships/tags" Target="../tags/tag454.xml"/></Relationships>
</file>

<file path=ppt/slides/_rels/slide36.xml.rels><?xml version="1.0" encoding="UTF-8" standalone="yes"?>
<Relationships xmlns="http://schemas.openxmlformats.org/package/2006/relationships"><Relationship Id="rId9" Type="http://schemas.openxmlformats.org/officeDocument/2006/relationships/tags" Target="../tags/tag483.xml"/><Relationship Id="rId8" Type="http://schemas.openxmlformats.org/officeDocument/2006/relationships/tags" Target="../tags/tag482.xml"/><Relationship Id="rId7" Type="http://schemas.openxmlformats.org/officeDocument/2006/relationships/tags" Target="../tags/tag481.xml"/><Relationship Id="rId6" Type="http://schemas.openxmlformats.org/officeDocument/2006/relationships/tags" Target="../tags/tag480.xml"/><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2" Type="http://schemas.openxmlformats.org/officeDocument/2006/relationships/notesSlide" Target="../notesSlides/notesSlide36.xml"/><Relationship Id="rId21" Type="http://schemas.openxmlformats.org/officeDocument/2006/relationships/slideLayout" Target="../slideLayouts/slideLayout2.xml"/><Relationship Id="rId20" Type="http://schemas.openxmlformats.org/officeDocument/2006/relationships/tags" Target="../tags/tag494.xml"/><Relationship Id="rId2" Type="http://schemas.openxmlformats.org/officeDocument/2006/relationships/tags" Target="../tags/tag476.xml"/><Relationship Id="rId19" Type="http://schemas.openxmlformats.org/officeDocument/2006/relationships/tags" Target="../tags/tag493.xml"/><Relationship Id="rId18" Type="http://schemas.openxmlformats.org/officeDocument/2006/relationships/tags" Target="../tags/tag492.xml"/><Relationship Id="rId17" Type="http://schemas.openxmlformats.org/officeDocument/2006/relationships/tags" Target="../tags/tag491.xml"/><Relationship Id="rId16" Type="http://schemas.openxmlformats.org/officeDocument/2006/relationships/tags" Target="../tags/tag490.xml"/><Relationship Id="rId15" Type="http://schemas.openxmlformats.org/officeDocument/2006/relationships/tags" Target="../tags/tag489.xml"/><Relationship Id="rId14" Type="http://schemas.openxmlformats.org/officeDocument/2006/relationships/tags" Target="../tags/tag488.xml"/><Relationship Id="rId13" Type="http://schemas.openxmlformats.org/officeDocument/2006/relationships/tags" Target="../tags/tag487.xml"/><Relationship Id="rId12" Type="http://schemas.openxmlformats.org/officeDocument/2006/relationships/tags" Target="../tags/tag486.xml"/><Relationship Id="rId11" Type="http://schemas.openxmlformats.org/officeDocument/2006/relationships/tags" Target="../tags/tag485.xml"/><Relationship Id="rId10" Type="http://schemas.openxmlformats.org/officeDocument/2006/relationships/tags" Target="../tags/tag484.xml"/><Relationship Id="rId1" Type="http://schemas.openxmlformats.org/officeDocument/2006/relationships/tags" Target="../tags/tag475.xml"/></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37.xml"/><Relationship Id="rId8" Type="http://schemas.openxmlformats.org/officeDocument/2006/relationships/slideLayout" Target="../slideLayouts/slideLayout2.xml"/><Relationship Id="rId7" Type="http://schemas.openxmlformats.org/officeDocument/2006/relationships/tags" Target="../tags/tag501.xml"/><Relationship Id="rId6" Type="http://schemas.openxmlformats.org/officeDocument/2006/relationships/tags" Target="../tags/tag500.xml"/><Relationship Id="rId5" Type="http://schemas.openxmlformats.org/officeDocument/2006/relationships/tags" Target="../tags/tag499.xml"/><Relationship Id="rId4" Type="http://schemas.openxmlformats.org/officeDocument/2006/relationships/tags" Target="../tags/tag498.xml"/><Relationship Id="rId3" Type="http://schemas.openxmlformats.org/officeDocument/2006/relationships/tags" Target="../tags/tag497.xml"/><Relationship Id="rId2" Type="http://schemas.openxmlformats.org/officeDocument/2006/relationships/tags" Target="../tags/tag496.xml"/><Relationship Id="rId1" Type="http://schemas.openxmlformats.org/officeDocument/2006/relationships/tags" Target="../tags/tag495.xml"/></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38.xml"/><Relationship Id="rId8" Type="http://schemas.openxmlformats.org/officeDocument/2006/relationships/slideLayout" Target="../slideLayouts/slideLayout2.xml"/><Relationship Id="rId7" Type="http://schemas.openxmlformats.org/officeDocument/2006/relationships/tags" Target="../tags/tag508.xml"/><Relationship Id="rId6" Type="http://schemas.openxmlformats.org/officeDocument/2006/relationships/tags" Target="../tags/tag507.xml"/><Relationship Id="rId5" Type="http://schemas.openxmlformats.org/officeDocument/2006/relationships/tags" Target="../tags/tag506.xml"/><Relationship Id="rId4" Type="http://schemas.openxmlformats.org/officeDocument/2006/relationships/tags" Target="../tags/tag505.xml"/><Relationship Id="rId3" Type="http://schemas.openxmlformats.org/officeDocument/2006/relationships/tags" Target="../tags/tag504.xml"/><Relationship Id="rId2" Type="http://schemas.openxmlformats.org/officeDocument/2006/relationships/tags" Target="../tags/tag503.xml"/><Relationship Id="rId1" Type="http://schemas.openxmlformats.org/officeDocument/2006/relationships/tags" Target="../tags/tag502.xml"/></Relationships>
</file>

<file path=ppt/slides/_rels/slide39.xml.rels><?xml version="1.0" encoding="UTF-8" standalone="yes"?>
<Relationships xmlns="http://schemas.openxmlformats.org/package/2006/relationships"><Relationship Id="rId9" Type="http://schemas.openxmlformats.org/officeDocument/2006/relationships/tags" Target="../tags/tag517.xml"/><Relationship Id="rId8" Type="http://schemas.openxmlformats.org/officeDocument/2006/relationships/tags" Target="../tags/tag516.xml"/><Relationship Id="rId7" Type="http://schemas.openxmlformats.org/officeDocument/2006/relationships/tags" Target="../tags/tag515.xml"/><Relationship Id="rId6" Type="http://schemas.openxmlformats.org/officeDocument/2006/relationships/tags" Target="../tags/tag514.xml"/><Relationship Id="rId5" Type="http://schemas.openxmlformats.org/officeDocument/2006/relationships/tags" Target="../tags/tag513.xml"/><Relationship Id="rId4" Type="http://schemas.openxmlformats.org/officeDocument/2006/relationships/tags" Target="../tags/tag512.xml"/><Relationship Id="rId3" Type="http://schemas.openxmlformats.org/officeDocument/2006/relationships/tags" Target="../tags/tag511.xml"/><Relationship Id="rId21" Type="http://schemas.openxmlformats.org/officeDocument/2006/relationships/notesSlide" Target="../notesSlides/notesSlide39.xml"/><Relationship Id="rId20" Type="http://schemas.openxmlformats.org/officeDocument/2006/relationships/slideLayout" Target="../slideLayouts/slideLayout2.xml"/><Relationship Id="rId2" Type="http://schemas.openxmlformats.org/officeDocument/2006/relationships/tags" Target="../tags/tag510.xml"/><Relationship Id="rId19" Type="http://schemas.openxmlformats.org/officeDocument/2006/relationships/tags" Target="../tags/tag527.xml"/><Relationship Id="rId18" Type="http://schemas.openxmlformats.org/officeDocument/2006/relationships/tags" Target="../tags/tag526.xml"/><Relationship Id="rId17" Type="http://schemas.openxmlformats.org/officeDocument/2006/relationships/tags" Target="../tags/tag525.xml"/><Relationship Id="rId16" Type="http://schemas.openxmlformats.org/officeDocument/2006/relationships/tags" Target="../tags/tag524.xml"/><Relationship Id="rId15" Type="http://schemas.openxmlformats.org/officeDocument/2006/relationships/tags" Target="../tags/tag523.xml"/><Relationship Id="rId14" Type="http://schemas.openxmlformats.org/officeDocument/2006/relationships/tags" Target="../tags/tag522.xml"/><Relationship Id="rId13" Type="http://schemas.openxmlformats.org/officeDocument/2006/relationships/tags" Target="../tags/tag521.xml"/><Relationship Id="rId12" Type="http://schemas.openxmlformats.org/officeDocument/2006/relationships/tags" Target="../tags/tag520.xml"/><Relationship Id="rId11" Type="http://schemas.openxmlformats.org/officeDocument/2006/relationships/tags" Target="../tags/tag519.xml"/><Relationship Id="rId10" Type="http://schemas.openxmlformats.org/officeDocument/2006/relationships/tags" Target="../tags/tag518.xml"/><Relationship Id="rId1" Type="http://schemas.openxmlformats.org/officeDocument/2006/relationships/tags" Target="../tags/tag509.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tags" Target="../tags/tag529.xml"/><Relationship Id="rId1" Type="http://schemas.openxmlformats.org/officeDocument/2006/relationships/tags" Target="../tags/tag528.xml"/></Relationships>
</file>

<file path=ppt/slides/_rels/slide41.xml.rels><?xml version="1.0" encoding="UTF-8" standalone="yes"?>
<Relationships xmlns="http://schemas.openxmlformats.org/package/2006/relationships"><Relationship Id="rId9" Type="http://schemas.openxmlformats.org/officeDocument/2006/relationships/tags" Target="../tags/tag538.xml"/><Relationship Id="rId8" Type="http://schemas.openxmlformats.org/officeDocument/2006/relationships/tags" Target="../tags/tag537.xml"/><Relationship Id="rId7" Type="http://schemas.openxmlformats.org/officeDocument/2006/relationships/tags" Target="../tags/tag536.xml"/><Relationship Id="rId6" Type="http://schemas.openxmlformats.org/officeDocument/2006/relationships/tags" Target="../tags/tag535.xml"/><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2" Type="http://schemas.openxmlformats.org/officeDocument/2006/relationships/notesSlide" Target="../notesSlides/notesSlide41.xml"/><Relationship Id="rId21" Type="http://schemas.openxmlformats.org/officeDocument/2006/relationships/slideLayout" Target="../slideLayouts/slideLayout2.xml"/><Relationship Id="rId20" Type="http://schemas.openxmlformats.org/officeDocument/2006/relationships/tags" Target="../tags/tag549.xml"/><Relationship Id="rId2" Type="http://schemas.openxmlformats.org/officeDocument/2006/relationships/tags" Target="../tags/tag531.xml"/><Relationship Id="rId19" Type="http://schemas.openxmlformats.org/officeDocument/2006/relationships/tags" Target="../tags/tag548.xml"/><Relationship Id="rId18" Type="http://schemas.openxmlformats.org/officeDocument/2006/relationships/tags" Target="../tags/tag547.xml"/><Relationship Id="rId17" Type="http://schemas.openxmlformats.org/officeDocument/2006/relationships/tags" Target="../tags/tag546.xml"/><Relationship Id="rId16" Type="http://schemas.openxmlformats.org/officeDocument/2006/relationships/tags" Target="../tags/tag545.xml"/><Relationship Id="rId15" Type="http://schemas.openxmlformats.org/officeDocument/2006/relationships/tags" Target="../tags/tag544.xml"/><Relationship Id="rId14" Type="http://schemas.openxmlformats.org/officeDocument/2006/relationships/tags" Target="../tags/tag543.xml"/><Relationship Id="rId13" Type="http://schemas.openxmlformats.org/officeDocument/2006/relationships/tags" Target="../tags/tag542.xml"/><Relationship Id="rId12" Type="http://schemas.openxmlformats.org/officeDocument/2006/relationships/tags" Target="../tags/tag541.xml"/><Relationship Id="rId11" Type="http://schemas.openxmlformats.org/officeDocument/2006/relationships/tags" Target="../tags/tag540.xml"/><Relationship Id="rId10" Type="http://schemas.openxmlformats.org/officeDocument/2006/relationships/tags" Target="../tags/tag539.xml"/><Relationship Id="rId1" Type="http://schemas.openxmlformats.org/officeDocument/2006/relationships/tags" Target="../tags/tag530.xml"/></Relationships>
</file>

<file path=ppt/slides/_rels/slide42.xml.rels><?xml version="1.0" encoding="UTF-8" standalone="yes"?>
<Relationships xmlns="http://schemas.openxmlformats.org/package/2006/relationships"><Relationship Id="rId9" Type="http://schemas.openxmlformats.org/officeDocument/2006/relationships/tags" Target="../tags/tag558.xml"/><Relationship Id="rId8" Type="http://schemas.openxmlformats.org/officeDocument/2006/relationships/tags" Target="../tags/tag557.xml"/><Relationship Id="rId7" Type="http://schemas.openxmlformats.org/officeDocument/2006/relationships/tags" Target="../tags/tag556.xml"/><Relationship Id="rId6" Type="http://schemas.openxmlformats.org/officeDocument/2006/relationships/tags" Target="../tags/tag555.xml"/><Relationship Id="rId5" Type="http://schemas.openxmlformats.org/officeDocument/2006/relationships/tags" Target="../tags/tag554.xml"/><Relationship Id="rId4" Type="http://schemas.openxmlformats.org/officeDocument/2006/relationships/tags" Target="../tags/tag553.xml"/><Relationship Id="rId3" Type="http://schemas.openxmlformats.org/officeDocument/2006/relationships/tags" Target="../tags/tag552.xml"/><Relationship Id="rId22" Type="http://schemas.openxmlformats.org/officeDocument/2006/relationships/notesSlide" Target="../notesSlides/notesSlide42.xml"/><Relationship Id="rId21" Type="http://schemas.openxmlformats.org/officeDocument/2006/relationships/slideLayout" Target="../slideLayouts/slideLayout2.xml"/><Relationship Id="rId20" Type="http://schemas.openxmlformats.org/officeDocument/2006/relationships/tags" Target="../tags/tag569.xml"/><Relationship Id="rId2" Type="http://schemas.openxmlformats.org/officeDocument/2006/relationships/tags" Target="../tags/tag551.xml"/><Relationship Id="rId19" Type="http://schemas.openxmlformats.org/officeDocument/2006/relationships/tags" Target="../tags/tag568.xml"/><Relationship Id="rId18" Type="http://schemas.openxmlformats.org/officeDocument/2006/relationships/tags" Target="../tags/tag567.xml"/><Relationship Id="rId17" Type="http://schemas.openxmlformats.org/officeDocument/2006/relationships/tags" Target="../tags/tag566.xml"/><Relationship Id="rId16" Type="http://schemas.openxmlformats.org/officeDocument/2006/relationships/tags" Target="../tags/tag565.xml"/><Relationship Id="rId15" Type="http://schemas.openxmlformats.org/officeDocument/2006/relationships/tags" Target="../tags/tag564.xml"/><Relationship Id="rId14" Type="http://schemas.openxmlformats.org/officeDocument/2006/relationships/tags" Target="../tags/tag563.xml"/><Relationship Id="rId13" Type="http://schemas.openxmlformats.org/officeDocument/2006/relationships/tags" Target="../tags/tag562.xml"/><Relationship Id="rId12" Type="http://schemas.openxmlformats.org/officeDocument/2006/relationships/tags" Target="../tags/tag561.xml"/><Relationship Id="rId11" Type="http://schemas.openxmlformats.org/officeDocument/2006/relationships/tags" Target="../tags/tag560.xml"/><Relationship Id="rId10" Type="http://schemas.openxmlformats.org/officeDocument/2006/relationships/tags" Target="../tags/tag559.xml"/><Relationship Id="rId1" Type="http://schemas.openxmlformats.org/officeDocument/2006/relationships/tags" Target="../tags/tag550.xml"/></Relationships>
</file>

<file path=ppt/slides/_rels/slide43.xml.rels><?xml version="1.0" encoding="UTF-8" standalone="yes"?>
<Relationships xmlns="http://schemas.openxmlformats.org/package/2006/relationships"><Relationship Id="rId9" Type="http://schemas.openxmlformats.org/officeDocument/2006/relationships/tags" Target="../tags/tag578.xml"/><Relationship Id="rId8" Type="http://schemas.openxmlformats.org/officeDocument/2006/relationships/tags" Target="../tags/tag577.xml"/><Relationship Id="rId7" Type="http://schemas.openxmlformats.org/officeDocument/2006/relationships/tags" Target="../tags/tag576.xml"/><Relationship Id="rId6" Type="http://schemas.openxmlformats.org/officeDocument/2006/relationships/tags" Target="../tags/tag575.xml"/><Relationship Id="rId5" Type="http://schemas.openxmlformats.org/officeDocument/2006/relationships/tags" Target="../tags/tag574.xml"/><Relationship Id="rId4" Type="http://schemas.openxmlformats.org/officeDocument/2006/relationships/tags" Target="../tags/tag573.xml"/><Relationship Id="rId3" Type="http://schemas.openxmlformats.org/officeDocument/2006/relationships/tags" Target="../tags/tag572.xml"/><Relationship Id="rId22" Type="http://schemas.openxmlformats.org/officeDocument/2006/relationships/notesSlide" Target="../notesSlides/notesSlide43.xml"/><Relationship Id="rId21" Type="http://schemas.openxmlformats.org/officeDocument/2006/relationships/slideLayout" Target="../slideLayouts/slideLayout2.xml"/><Relationship Id="rId20" Type="http://schemas.openxmlformats.org/officeDocument/2006/relationships/tags" Target="../tags/tag589.xml"/><Relationship Id="rId2" Type="http://schemas.openxmlformats.org/officeDocument/2006/relationships/tags" Target="../tags/tag571.xml"/><Relationship Id="rId19" Type="http://schemas.openxmlformats.org/officeDocument/2006/relationships/tags" Target="../tags/tag588.xml"/><Relationship Id="rId18" Type="http://schemas.openxmlformats.org/officeDocument/2006/relationships/tags" Target="../tags/tag587.xml"/><Relationship Id="rId17" Type="http://schemas.openxmlformats.org/officeDocument/2006/relationships/tags" Target="../tags/tag586.xml"/><Relationship Id="rId16" Type="http://schemas.openxmlformats.org/officeDocument/2006/relationships/tags" Target="../tags/tag585.xml"/><Relationship Id="rId15" Type="http://schemas.openxmlformats.org/officeDocument/2006/relationships/tags" Target="../tags/tag584.xml"/><Relationship Id="rId14" Type="http://schemas.openxmlformats.org/officeDocument/2006/relationships/tags" Target="../tags/tag583.xml"/><Relationship Id="rId13" Type="http://schemas.openxmlformats.org/officeDocument/2006/relationships/tags" Target="../tags/tag582.xml"/><Relationship Id="rId12" Type="http://schemas.openxmlformats.org/officeDocument/2006/relationships/tags" Target="../tags/tag581.xml"/><Relationship Id="rId11" Type="http://schemas.openxmlformats.org/officeDocument/2006/relationships/tags" Target="../tags/tag580.xml"/><Relationship Id="rId10" Type="http://schemas.openxmlformats.org/officeDocument/2006/relationships/tags" Target="../tags/tag579.xml"/><Relationship Id="rId1" Type="http://schemas.openxmlformats.org/officeDocument/2006/relationships/tags" Target="../tags/tag570.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tags" Target="../tags/tag591.xml"/><Relationship Id="rId1" Type="http://schemas.openxmlformats.org/officeDocument/2006/relationships/tags" Target="../tags/tag590.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tags" Target="../tags/tag593.xml"/><Relationship Id="rId1" Type="http://schemas.openxmlformats.org/officeDocument/2006/relationships/tags" Target="../tags/tag59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2.xml"/><Relationship Id="rId3" Type="http://schemas.openxmlformats.org/officeDocument/2006/relationships/tags" Target="../tags/tag596.xml"/><Relationship Id="rId2" Type="http://schemas.openxmlformats.org/officeDocument/2006/relationships/tags" Target="../tags/tag595.xml"/><Relationship Id="rId1" Type="http://schemas.openxmlformats.org/officeDocument/2006/relationships/tags" Target="../tags/tag594.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tags" Target="../tags/tag599.xml"/><Relationship Id="rId2" Type="http://schemas.openxmlformats.org/officeDocument/2006/relationships/tags" Target="../tags/tag598.xml"/><Relationship Id="rId1" Type="http://schemas.openxmlformats.org/officeDocument/2006/relationships/tags" Target="../tags/tag597.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tags" Target="../tags/tag601.xml"/><Relationship Id="rId1" Type="http://schemas.openxmlformats.org/officeDocument/2006/relationships/tags" Target="../tags/tag6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9712960" y="-2204720"/>
            <a:ext cx="11268075" cy="11268075"/>
          </a:xfrm>
          <a:prstGeom prst="ellipse">
            <a:avLst/>
          </a:prstGeom>
          <a:solidFill>
            <a:srgbClr val="9C0B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 空心 9"/>
          <p:cNvSpPr/>
          <p:nvPr/>
        </p:nvSpPr>
        <p:spPr>
          <a:xfrm>
            <a:off x="571500" y="6216650"/>
            <a:ext cx="1282700" cy="1282700"/>
          </a:xfrm>
          <a:prstGeom prst="donut">
            <a:avLst>
              <a:gd name="adj" fmla="val 17079"/>
            </a:avLst>
          </a:prstGeom>
          <a:solidFill>
            <a:srgbClr val="9C0B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4533368" y="-314812"/>
            <a:ext cx="584775" cy="58477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036" y="2450322"/>
            <a:ext cx="8754538" cy="1567815"/>
          </a:xfrm>
          <a:prstGeom prst="rect">
            <a:avLst/>
          </a:prstGeom>
          <a:noFill/>
        </p:spPr>
        <p:txBody>
          <a:bodyPr wrap="square" rtlCol="0">
            <a:spAutoFit/>
          </a:bodyPr>
          <a:lstStyle/>
          <a:p>
            <a:pPr algn="ctr">
              <a:lnSpc>
                <a:spcPct val="120000"/>
              </a:lnSpc>
            </a:pPr>
            <a:r>
              <a:rPr lang="zh-CN" altLang="en-US" sz="4800" b="1" spc="300" dirty="0">
                <a:solidFill>
                  <a:schemeClr val="tx1"/>
                </a:solidFill>
                <a:latin typeface="华文楷体" panose="02010600040101010101" charset="-122"/>
                <a:ea typeface="华文楷体" panose="02010600040101010101" charset="-122"/>
              </a:rPr>
              <a:t>操作系统</a:t>
            </a:r>
            <a:endParaRPr lang="zh-CN" altLang="en-US" sz="4800" b="1" spc="300" dirty="0">
              <a:solidFill>
                <a:schemeClr val="tx1"/>
              </a:solidFill>
              <a:latin typeface="华文楷体" panose="02010600040101010101" charset="-122"/>
              <a:ea typeface="华文楷体" panose="02010600040101010101" charset="-122"/>
            </a:endParaRPr>
          </a:p>
          <a:p>
            <a:pPr algn="ctr">
              <a:lnSpc>
                <a:spcPct val="120000"/>
              </a:lnSpc>
            </a:pPr>
            <a:r>
              <a:rPr lang="zh-CN" altLang="en-US" sz="3200" b="1" spc="300" dirty="0">
                <a:solidFill>
                  <a:schemeClr val="tx1"/>
                </a:solidFill>
                <a:latin typeface="华文楷体" panose="02010600040101010101" charset="-122"/>
                <a:ea typeface="华文楷体" panose="02010600040101010101" charset="-122"/>
              </a:rPr>
              <a:t>复杂程序的</a:t>
            </a:r>
            <a:r>
              <a:rPr lang="zh-CN" altLang="en-US" sz="3200" b="1" spc="300" dirty="0">
                <a:solidFill>
                  <a:schemeClr val="tx1"/>
                </a:solidFill>
                <a:latin typeface="华文楷体" panose="02010600040101010101" charset="-122"/>
                <a:ea typeface="华文楷体" panose="02010600040101010101" charset="-122"/>
              </a:rPr>
              <a:t>结构（</a:t>
            </a:r>
            <a:r>
              <a:rPr lang="en-US" altLang="zh-CN" sz="3200" b="1" spc="300" dirty="0">
                <a:solidFill>
                  <a:schemeClr val="tx1"/>
                </a:solidFill>
                <a:latin typeface="华文楷体" panose="02010600040101010101" charset="-122"/>
                <a:ea typeface="华文楷体" panose="02010600040101010101" charset="-122"/>
              </a:rPr>
              <a:t>2</a:t>
            </a:r>
            <a:r>
              <a:rPr lang="zh-CN" altLang="en-US" sz="3200" b="1" spc="300" dirty="0">
                <a:solidFill>
                  <a:schemeClr val="tx1"/>
                </a:solidFill>
                <a:latin typeface="华文楷体" panose="02010600040101010101" charset="-122"/>
                <a:ea typeface="华文楷体" panose="02010600040101010101" charset="-122"/>
              </a:rPr>
              <a:t>学时）</a:t>
            </a:r>
            <a:endParaRPr lang="zh-CN" altLang="en-US" sz="3200" b="1" spc="300" dirty="0">
              <a:solidFill>
                <a:schemeClr val="tx1"/>
              </a:solidFill>
              <a:latin typeface="华文楷体" panose="02010600040101010101" charset="-122"/>
              <a:ea typeface="华文楷体" panose="02010600040101010101" charset="-122"/>
            </a:endParaRPr>
          </a:p>
        </p:txBody>
      </p:sp>
      <p:sp>
        <p:nvSpPr>
          <p:cNvPr id="56" name="矩形: 圆角 55"/>
          <p:cNvSpPr/>
          <p:nvPr/>
        </p:nvSpPr>
        <p:spPr>
          <a:xfrm>
            <a:off x="5125085" y="4857750"/>
            <a:ext cx="3055620" cy="405130"/>
          </a:xfrm>
          <a:prstGeom prst="roundRect">
            <a:avLst>
              <a:gd name="adj" fmla="val 50000"/>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时间：</a:t>
            </a:r>
            <a:r>
              <a:rPr sz="2000" b="1" dirty="0">
                <a:solidFill>
                  <a:schemeClr val="tx1"/>
                </a:solidFill>
                <a:latin typeface="华文楷体" panose="02010600040101010101" charset="-122"/>
                <a:ea typeface="华文楷体" panose="02010600040101010101" charset="-122"/>
                <a:cs typeface="华文楷体" panose="02010600040101010101" charset="-122"/>
                <a:sym typeface="+mn-ea"/>
              </a:rPr>
              <a:t>202</a:t>
            </a:r>
            <a:r>
              <a:rPr lang="en-US" sz="2000" b="1" dirty="0">
                <a:solidFill>
                  <a:schemeClr val="tx1"/>
                </a:solidFill>
                <a:latin typeface="华文楷体" panose="02010600040101010101" charset="-122"/>
                <a:ea typeface="华文楷体" panose="02010600040101010101" charset="-122"/>
                <a:cs typeface="华文楷体" panose="02010600040101010101" charset="-122"/>
                <a:sym typeface="+mn-ea"/>
              </a:rPr>
              <a:t>4</a:t>
            </a:r>
            <a:r>
              <a:rPr sz="2000" b="1" dirty="0">
                <a:solidFill>
                  <a:schemeClr val="tx1"/>
                </a:solidFill>
                <a:latin typeface="华文楷体" panose="02010600040101010101" charset="-122"/>
                <a:ea typeface="华文楷体" panose="02010600040101010101" charset="-122"/>
                <a:cs typeface="华文楷体" panose="02010600040101010101" charset="-122"/>
                <a:sym typeface="+mn-ea"/>
              </a:rPr>
              <a:t>年</a:t>
            </a:r>
            <a:r>
              <a:rPr 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春</a:t>
            </a:r>
            <a:r>
              <a:rPr lang="zh-CN" altLang="en-US" sz="2000" b="1" dirty="0">
                <a:solidFill>
                  <a:schemeClr val="tx1"/>
                </a:solidFill>
                <a:latin typeface="华文楷体" panose="02010600040101010101" charset="-122"/>
                <a:ea typeface="华文楷体" panose="02010600040101010101" charset="-122"/>
                <a:cs typeface="华文楷体" panose="02010600040101010101" charset="-122"/>
                <a:sym typeface="+mn-ea"/>
              </a:rPr>
              <a:t>季</a:t>
            </a:r>
            <a:r>
              <a:rPr lang="zh-CN" altLang="en-US" sz="2000" b="1" dirty="0">
                <a:solidFill>
                  <a:schemeClr val="tx1"/>
                </a:solidFill>
                <a:latin typeface="华文楷体" panose="02010600040101010101" charset="-122"/>
                <a:ea typeface="华文楷体" panose="02010600040101010101" charset="-122"/>
                <a:cs typeface="华文楷体" panose="02010600040101010101" charset="-122"/>
                <a:sym typeface="+mn-ea"/>
              </a:rPr>
              <a:t>学期</a:t>
            </a:r>
            <a:endParaRPr lang="zh-CN" altLang="en-US" sz="2000" b="1"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p:grpSp>
        <p:nvGrpSpPr>
          <p:cNvPr id="3" name="组合 19"/>
          <p:cNvGrpSpPr>
            <a:grpSpLocks noChangeAspect="1"/>
          </p:cNvGrpSpPr>
          <p:nvPr/>
        </p:nvGrpSpPr>
        <p:grpSpPr>
          <a:xfrm>
            <a:off x="276860" y="429895"/>
            <a:ext cx="3893820" cy="102870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5"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7"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1"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2" name="组合 28"/>
            <p:cNvGrpSpPr/>
            <p:nvPr/>
          </p:nvGrpSpPr>
          <p:grpSpPr>
            <a:xfrm>
              <a:off x="232331" y="500672"/>
              <a:ext cx="476896" cy="481212"/>
              <a:chOff x="232331" y="500672"/>
              <a:chExt cx="476896" cy="481212"/>
            </a:xfrm>
            <a:grpFill/>
          </p:grpSpPr>
          <p:sp>
            <p:nvSpPr>
              <p:cNvPr id="5"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6"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7"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6"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8"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8"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sp>
        <p:nvSpPr>
          <p:cNvPr id="57" name="文本框 56"/>
          <p:cNvSpPr txBox="1"/>
          <p:nvPr/>
        </p:nvSpPr>
        <p:spPr>
          <a:xfrm>
            <a:off x="1367155" y="4196715"/>
            <a:ext cx="6668135" cy="368300"/>
          </a:xfrm>
          <a:prstGeom prst="rect">
            <a:avLst/>
          </a:prstGeom>
          <a:noFill/>
        </p:spPr>
        <p:txBody>
          <a:bodyPr wrap="square" rtlCol="0" anchor="t">
            <a:spAutoFit/>
          </a:bodyPr>
          <a:lstStyle/>
          <a:p>
            <a:pPr algn="ctr"/>
            <a:r>
              <a:rPr lang="zh-CN" altLang="en-US" b="1">
                <a:solidFill>
                  <a:srgbClr val="9C0B15"/>
                </a:solidFill>
                <a:latin typeface="华文楷体" panose="02010600040101010101" charset="-122"/>
                <a:ea typeface="华文楷体" panose="02010600040101010101" charset="-122"/>
              </a:rPr>
              <a:t>千载文脉凝风骨，根植山大盛芳华</a:t>
            </a:r>
            <a:endParaRPr lang="zh-CN" altLang="en-US" b="1">
              <a:solidFill>
                <a:srgbClr val="9C0B15"/>
              </a:solidFill>
              <a:latin typeface="华文楷体" panose="02010600040101010101" charset="-122"/>
              <a:ea typeface="华文楷体" panose="02010600040101010101" charset="-122"/>
            </a:endParaRPr>
          </a:p>
        </p:txBody>
      </p:sp>
      <p:pic>
        <p:nvPicPr>
          <p:cNvPr id="2" name="图片 1"/>
          <p:cNvPicPr>
            <a:picLocks noChangeAspect="1"/>
          </p:cNvPicPr>
          <p:nvPr/>
        </p:nvPicPr>
        <p:blipFill>
          <a:blip r:embed="rId1"/>
          <a:srcRect l="15454" t="16281" r="18136" b="20815"/>
          <a:stretch>
            <a:fillRect/>
          </a:stretch>
        </p:blipFill>
        <p:spPr>
          <a:xfrm>
            <a:off x="7983855" y="0"/>
            <a:ext cx="1918335" cy="1744345"/>
          </a:xfrm>
          <a:prstGeom prst="ellipse">
            <a:avLst/>
          </a:prstGeom>
        </p:spPr>
      </p:pic>
      <p:sp>
        <p:nvSpPr>
          <p:cNvPr id="9" name="矩形: 圆角 52"/>
          <p:cNvSpPr/>
          <p:nvPr/>
        </p:nvSpPr>
        <p:spPr>
          <a:xfrm>
            <a:off x="1278890" y="4857750"/>
            <a:ext cx="3497580" cy="405130"/>
          </a:xfrm>
          <a:prstGeom prst="roundRect">
            <a:avLst>
              <a:gd name="adj" fmla="val 50000"/>
            </a:avLst>
          </a:prstGeom>
          <a:solidFill>
            <a:srgbClr val="9C0B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2000" b="1" dirty="0">
                <a:solidFill>
                  <a:schemeClr val="bg1"/>
                </a:solidFill>
                <a:latin typeface="华文楷体" panose="02010600040101010101" charset="-122"/>
                <a:ea typeface="华文楷体" panose="02010600040101010101" charset="-122"/>
                <a:cs typeface="华文楷体" panose="02010600040101010101" charset="-122"/>
                <a:sym typeface="+mn-ea"/>
              </a:rPr>
              <a:t>主讲人</a:t>
            </a:r>
            <a:r>
              <a:rPr sz="2000" b="1" dirty="0">
                <a:solidFill>
                  <a:schemeClr val="bg1"/>
                </a:solidFill>
                <a:latin typeface="华文楷体" panose="02010600040101010101" charset="-122"/>
                <a:ea typeface="华文楷体" panose="02010600040101010101" charset="-122"/>
                <a:cs typeface="华文楷体" panose="02010600040101010101" charset="-122"/>
                <a:sym typeface="+mn-ea"/>
              </a:rPr>
              <a:t>：</a:t>
            </a:r>
            <a:r>
              <a:rPr lang="zh-CN" sz="2000" b="1" dirty="0">
                <a:solidFill>
                  <a:schemeClr val="bg1"/>
                </a:solidFill>
                <a:latin typeface="华文楷体" panose="02010600040101010101" charset="-122"/>
                <a:ea typeface="华文楷体" panose="02010600040101010101" charset="-122"/>
                <a:cs typeface="华文楷体" panose="02010600040101010101" charset="-122"/>
                <a:sym typeface="+mn-ea"/>
              </a:rPr>
              <a:t>章宦乐</a:t>
            </a:r>
            <a:r>
              <a:rPr lang="en-US" altLang="zh-CN" sz="2000" b="1" dirty="0">
                <a:solidFill>
                  <a:schemeClr val="bg1"/>
                </a:solidFill>
                <a:latin typeface="华文楷体" panose="02010600040101010101" charset="-122"/>
                <a:ea typeface="华文楷体" panose="02010600040101010101" charset="-122"/>
                <a:cs typeface="华文楷体" panose="02010600040101010101" charset="-122"/>
                <a:sym typeface="+mn-ea"/>
              </a:rPr>
              <a:t> &amp; </a:t>
            </a:r>
            <a:r>
              <a:rPr lang="zh-CN" sz="2000" b="1" dirty="0">
                <a:solidFill>
                  <a:schemeClr val="bg1"/>
                </a:solidFill>
                <a:latin typeface="华文楷体" panose="02010600040101010101" charset="-122"/>
                <a:ea typeface="华文楷体" panose="02010600040101010101" charset="-122"/>
                <a:cs typeface="华文楷体" panose="02010600040101010101" charset="-122"/>
                <a:sym typeface="+mn-ea"/>
              </a:rPr>
              <a:t>潘润宇</a:t>
            </a:r>
            <a:endParaRPr lang="zh-CN" sz="2000" b="1" dirty="0">
              <a:solidFill>
                <a:schemeClr val="bg1"/>
              </a:solidFill>
              <a:latin typeface="华文楷体" panose="02010600040101010101" charset="-122"/>
              <a:ea typeface="华文楷体" panose="02010600040101010101" charset="-122"/>
              <a:cs typeface="华文楷体" panose="02010600040101010101" charset="-122"/>
              <a:sym typeface="+mn-ea"/>
            </a:endParaRPr>
          </a:p>
        </p:txBody>
      </p:sp>
      <p:sp>
        <p:nvSpPr>
          <p:cNvPr id="23" name="矩形: 圆角 52"/>
          <p:cNvSpPr/>
          <p:nvPr/>
        </p:nvSpPr>
        <p:spPr>
          <a:xfrm>
            <a:off x="1278890" y="5528945"/>
            <a:ext cx="3497580" cy="405130"/>
          </a:xfrm>
          <a:prstGeom prst="roundRect">
            <a:avLst>
              <a:gd name="adj" fmla="val 50000"/>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Slides credit to </a:t>
            </a:r>
            <a:r>
              <a:rPr 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潘润宇</a:t>
            </a:r>
            <a:endParaRPr lang="zh-CN" sz="2000" b="1"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p:spTree>
    <p:custDataLst>
      <p:tags r:id="rId2"/>
    </p:custData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1.1 </a:t>
                      </a: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语言运行时库</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2861310"/>
          </a:xfrm>
          <a:prstGeom prst="rect">
            <a:avLst/>
          </a:prstGeom>
          <a:noFill/>
        </p:spPr>
        <p:txBody>
          <a:bodyPr wrap="square" rtlCol="0">
            <a:spAutoFit/>
          </a:bodyPr>
          <a:p>
            <a:pPr algn="ctr"/>
            <a:r>
              <a:rPr lang="zh-CN" altLang="en-US" sz="2000" b="1">
                <a:solidFill>
                  <a:srgbClr val="9C0B15"/>
                </a:solidFill>
              </a:rPr>
              <a:t>语言运行时库</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编程语言的库文件</a:t>
            </a:r>
            <a:r>
              <a:rPr lang="en-US" altLang="zh-CN" sz="2000" b="1">
                <a:solidFill>
                  <a:srgbClr val="9C0B15"/>
                </a:solidFill>
              </a:rPr>
              <a:t>	</a:t>
            </a:r>
            <a:r>
              <a:rPr lang="zh-CN" altLang="en-US" sz="2000"/>
              <a:t>编程语言的作者逐渐发现，在一门高级语言中，有大量</a:t>
            </a:r>
            <a:r>
              <a:rPr lang="en-US" altLang="zh-CN" sz="2000" b="1">
                <a:solidFill>
                  <a:srgbClr val="9C0B15"/>
                </a:solidFill>
                <a:sym typeface="+mn-ea"/>
              </a:rPr>
              <a:t>			</a:t>
            </a:r>
            <a:r>
              <a:rPr lang="zh-CN" altLang="en-US" sz="2000"/>
              <a:t>基础功能是必备的，</a:t>
            </a:r>
            <a:r>
              <a:rPr lang="zh-CN" altLang="en-US" sz="2000">
                <a:solidFill>
                  <a:srgbClr val="9C0B15"/>
                </a:solidFill>
              </a:rPr>
              <a:t>在所有程序中都很常用</a:t>
            </a:r>
            <a:r>
              <a:rPr lang="zh-CN" altLang="en-US" sz="2000"/>
              <a:t>。于是他们</a:t>
            </a:r>
            <a:r>
              <a:rPr lang="en-US" altLang="zh-CN" sz="2000" b="1">
                <a:solidFill>
                  <a:srgbClr val="9C0B15"/>
                </a:solidFill>
                <a:sym typeface="+mn-ea"/>
              </a:rPr>
              <a:t>			</a:t>
            </a:r>
            <a:r>
              <a:rPr lang="zh-CN" altLang="en-US" sz="2000"/>
              <a:t>将含有这些基础功能的文件</a:t>
            </a:r>
            <a:r>
              <a:rPr lang="zh-CN" altLang="en-US" sz="2000">
                <a:solidFill>
                  <a:srgbClr val="9C0B15"/>
                </a:solidFill>
              </a:rPr>
              <a:t>预先编译好</a:t>
            </a:r>
            <a:r>
              <a:rPr lang="zh-CN" altLang="en-US" sz="2000"/>
              <a:t>，形成大量的目</a:t>
            </a:r>
            <a:r>
              <a:rPr lang="en-US" altLang="zh-CN" sz="2000" b="1">
                <a:solidFill>
                  <a:srgbClr val="9C0B15"/>
                </a:solidFill>
                <a:sym typeface="+mn-ea"/>
              </a:rPr>
              <a:t>			</a:t>
            </a:r>
            <a:r>
              <a:rPr lang="zh-CN" altLang="en-US" sz="2000"/>
              <a:t>标文件，程序员只要在生成程序的时候链接他们就可以</a:t>
            </a:r>
            <a:r>
              <a:rPr lang="en-US" altLang="zh-CN" sz="2000" b="1">
                <a:solidFill>
                  <a:srgbClr val="9C0B15"/>
                </a:solidFill>
                <a:sym typeface="+mn-ea"/>
              </a:rPr>
              <a:t>			</a:t>
            </a:r>
            <a:r>
              <a:rPr lang="zh-CN" altLang="en-US" sz="2000"/>
              <a:t>了，可以</a:t>
            </a:r>
            <a:r>
              <a:rPr lang="zh-CN" altLang="en-US" sz="2000">
                <a:solidFill>
                  <a:srgbClr val="9C0B15"/>
                </a:solidFill>
              </a:rPr>
              <a:t>省去自己的时间，也方便</a:t>
            </a:r>
            <a:r>
              <a:rPr lang="zh-CN" altLang="en-US" sz="2000">
                <a:solidFill>
                  <a:srgbClr val="9C0B15"/>
                </a:solidFill>
                <a:sym typeface="+mn-ea"/>
              </a:rPr>
              <a:t>程序的</a:t>
            </a:r>
            <a:r>
              <a:rPr lang="zh-CN" altLang="en-US" sz="2000">
                <a:solidFill>
                  <a:srgbClr val="9C0B15"/>
                </a:solidFill>
              </a:rPr>
              <a:t>移植</a:t>
            </a:r>
            <a:r>
              <a:rPr lang="zh-CN" altLang="en-US" sz="2000"/>
              <a:t>。</a:t>
            </a:r>
            <a:endParaRPr lang="zh-CN" altLang="en-US" sz="2000"/>
          </a:p>
          <a:p>
            <a:pPr algn="l">
              <a:buClrTx/>
              <a:buSzTx/>
              <a:buFontTx/>
            </a:pPr>
            <a:endParaRPr lang="zh-CN" altLang="en-US" sz="2000"/>
          </a:p>
          <a:p>
            <a:pPr algn="l">
              <a:buClrTx/>
              <a:buSzTx/>
              <a:buFontTx/>
            </a:pPr>
            <a:r>
              <a:rPr lang="zh-CN" altLang="en-US" sz="2000" b="1">
                <a:solidFill>
                  <a:srgbClr val="9C0B15"/>
                </a:solidFill>
              </a:rPr>
              <a:t>C语言标准库</a:t>
            </a:r>
            <a:r>
              <a:rPr lang="en-US" altLang="zh-CN" sz="2000"/>
              <a:t>		C</a:t>
            </a:r>
            <a:r>
              <a:rPr lang="zh-CN" altLang="en-US" sz="2000"/>
              <a:t>语言提供的标准库。具备如下几个头文件：</a:t>
            </a:r>
            <a:endParaRPr lang="zh-CN" altLang="en-US" sz="2000"/>
          </a:p>
        </p:txBody>
      </p:sp>
      <p:graphicFrame>
        <p:nvGraphicFramePr>
          <p:cNvPr id="2" name="表格 1"/>
          <p:cNvGraphicFramePr/>
          <p:nvPr>
            <p:custDataLst>
              <p:tags r:id="rId2"/>
            </p:custDataLst>
          </p:nvPr>
        </p:nvGraphicFramePr>
        <p:xfrm>
          <a:off x="220345" y="3097530"/>
          <a:ext cx="9346565" cy="3566160"/>
        </p:xfrm>
        <a:graphic>
          <a:graphicData uri="http://schemas.openxmlformats.org/drawingml/2006/table">
            <a:tbl>
              <a:tblPr firstRow="1" bandRow="1">
                <a:tableStyleId>{21E4AEA4-8DFA-4A89-87EB-49C32662AFE0}</a:tableStyleId>
              </a:tblPr>
              <a:tblGrid>
                <a:gridCol w="1997710"/>
                <a:gridCol w="2670810"/>
                <a:gridCol w="1967865"/>
                <a:gridCol w="2710180"/>
              </a:tblGrid>
              <a:tr h="396240">
                <a:tc>
                  <a:txBody>
                    <a:bodyPr/>
                    <a:p>
                      <a:pPr algn="ctr">
                        <a:buNone/>
                      </a:pPr>
                      <a:r>
                        <a:rPr lang="zh-CN" altLang="en-US" sz="2000">
                          <a:latin typeface="思源黑体 CN Regular" panose="020B0500000000000000" charset="-122"/>
                          <a:ea typeface="思源黑体 CN Regular" panose="020B0500000000000000" charset="-122"/>
                        </a:rPr>
                        <a:t>头文件</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a:txBody>
                    <a:bodyPr/>
                    <a:p>
                      <a:pPr algn="ctr">
                        <a:buNone/>
                      </a:pPr>
                      <a:r>
                        <a:rPr lang="zh-CN" altLang="en-US" sz="2000">
                          <a:latin typeface="思源黑体 CN Regular" panose="020B0500000000000000" charset="-122"/>
                          <a:ea typeface="思源黑体 CN Regular" panose="020B0500000000000000" charset="-122"/>
                        </a:rPr>
                        <a:t>作用</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a:txBody>
                    <a:bodyPr/>
                    <a:p>
                      <a:pPr algn="ctr">
                        <a:buNone/>
                      </a:pPr>
                      <a:r>
                        <a:rPr lang="zh-CN" altLang="en-US" sz="2000">
                          <a:latin typeface="思源黑体 CN Regular" panose="020B0500000000000000" charset="-122"/>
                          <a:ea typeface="思源黑体 CN Regular" panose="020B0500000000000000" charset="-122"/>
                        </a:rPr>
                        <a:t>头文件</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a:txBody>
                    <a:bodyPr/>
                    <a:p>
                      <a:pPr algn="ctr">
                        <a:buNone/>
                      </a:pPr>
                      <a:r>
                        <a:rPr lang="zh-CN" altLang="en-US" sz="2000">
                          <a:latin typeface="思源黑体 CN Regular" panose="020B0500000000000000" charset="-122"/>
                          <a:ea typeface="思源黑体 CN Regular" panose="020B0500000000000000" charset="-122"/>
                        </a:rPr>
                        <a:t>作用</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stdio.h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输入输出</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sz="2000">
                          <a:latin typeface="思源黑体 CN Regular" panose="020B0500000000000000" charset="-122"/>
                          <a:ea typeface="思源黑体 CN Regular" panose="020B0500000000000000" charset="-122"/>
                          <a:cs typeface="思源黑体 CN Regular" panose="020B0500000000000000" charset="-122"/>
                        </a:rPr>
                        <a:t>float.h</a:t>
                      </a:r>
                      <a:endParaRPr 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描述浮点数特性</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string.h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字符串处理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limits.h</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描述整形数特性</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memory.h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内存管理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assert.h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诊断程序出错</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math.h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数学函数</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locale.h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程序的本地化</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stddef.h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常用定义</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setjmp.h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异常处理与返回</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sz="2000">
                          <a:latin typeface="思源黑体 CN Regular" panose="020B0500000000000000" charset="-122"/>
                          <a:ea typeface="思源黑体 CN Regular" panose="020B0500000000000000" charset="-122"/>
                          <a:cs typeface="思源黑体 CN Regular" panose="020B0500000000000000" charset="-122"/>
                        </a:rPr>
                        <a:t>ctype.h</a:t>
                      </a:r>
                      <a:endParaRPr 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字符处理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signal.h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信号处理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stdlib.h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实用函数</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time.h</a:t>
                      </a:r>
                      <a:endParaRPr lang="en-US" altLang="zh-CN"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日期和时间处理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r h="396240">
                <a:tc>
                  <a:txBody>
                    <a:bodyPr/>
                    <a:p>
                      <a:pPr algn="ctr">
                        <a:buClrTx/>
                        <a:buSzTx/>
                        <a:buFontTx/>
                        <a:buNone/>
                      </a:pPr>
                      <a:r>
                        <a:rPr lang="en-US" altLang="zh-CN" sz="2000">
                          <a:latin typeface="思源黑体 CN Regular" panose="020B0500000000000000" charset="-122"/>
                          <a:ea typeface="思源黑体 CN Regular" panose="020B0500000000000000" charset="-122"/>
                          <a:cs typeface="思源黑体 CN Regular" panose="020B0500000000000000" charset="-122"/>
                        </a:rPr>
                        <a:t>errno.h</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错误号定义</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complex.h</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复数处理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r>
            </a:tbl>
          </a:graphicData>
        </a:graphic>
      </p:graphicFrame>
    </p:spTree>
    <p:custDataLst>
      <p:tags r:id="rId3"/>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1.1 </a:t>
                      </a: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语言运行时库</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554470"/>
          </a:xfrm>
          <a:prstGeom prst="rect">
            <a:avLst/>
          </a:prstGeom>
          <a:noFill/>
        </p:spPr>
        <p:txBody>
          <a:bodyPr wrap="square" rtlCol="0">
            <a:spAutoFit/>
          </a:bodyPr>
          <a:p>
            <a:pPr algn="ctr"/>
            <a:r>
              <a:rPr lang="zh-CN" altLang="en-US" sz="2000" b="1">
                <a:solidFill>
                  <a:srgbClr val="9C0B15"/>
                </a:solidFill>
              </a:rPr>
              <a:t>后话：从运行时库到运行时环境</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运行时环境</a:t>
            </a:r>
            <a:r>
              <a:rPr lang="en-US" altLang="zh-CN" sz="2000" b="1">
                <a:solidFill>
                  <a:srgbClr val="9C0B15"/>
                </a:solidFill>
              </a:rPr>
              <a:t>	</a:t>
            </a:r>
            <a:r>
              <a:rPr lang="zh-CN" altLang="en-US" sz="2000"/>
              <a:t>随着高级语言的发展，部分编程语言如Java等还要求</a:t>
            </a:r>
            <a:r>
              <a:rPr lang="zh-CN" altLang="en-US" sz="2000">
                <a:solidFill>
                  <a:srgbClr val="9C0B15"/>
                </a:solidFill>
              </a:rPr>
              <a:t>垃圾回收、</a:t>
            </a:r>
            <a:r>
              <a:rPr lang="zh-CN" altLang="en-US" sz="2000">
                <a:solidFill>
                  <a:srgbClr val="9C0B15"/>
                </a:solidFill>
                <a:sym typeface="+mn-ea"/>
              </a:rPr>
              <a:t>		</a:t>
            </a:r>
            <a:r>
              <a:rPr lang="zh-CN" altLang="en-US" sz="2000">
                <a:solidFill>
                  <a:srgbClr val="9C0B15"/>
                </a:solidFill>
              </a:rPr>
              <a:t>虚拟机管理、即时编译</a:t>
            </a:r>
            <a:r>
              <a:rPr lang="zh-CN" altLang="en-US" sz="2000"/>
              <a:t>等功能，这些功能已经不由用户直接进</a:t>
            </a:r>
            <a:r>
              <a:rPr lang="en-US" altLang="zh-CN" sz="2000" b="1">
                <a:solidFill>
                  <a:srgbClr val="9C0B15"/>
                </a:solidFill>
                <a:sym typeface="+mn-ea"/>
              </a:rPr>
              <a:t>		</a:t>
            </a:r>
            <a:r>
              <a:rPr lang="zh-CN" altLang="en-US" sz="2000"/>
              <a:t>行调用了，但它们仍然为语言运行提供</a:t>
            </a:r>
            <a:r>
              <a:rPr lang="zh-CN" altLang="en-US" sz="2000">
                <a:solidFill>
                  <a:srgbClr val="9C0B15"/>
                </a:solidFill>
              </a:rPr>
              <a:t>基础的、关键的</a:t>
            </a:r>
            <a:r>
              <a:rPr lang="zh-CN" altLang="en-US" sz="2000"/>
              <a:t>支持，</a:t>
            </a:r>
            <a:r>
              <a:rPr lang="en-US" altLang="zh-CN" sz="2000" b="1">
                <a:solidFill>
                  <a:srgbClr val="9C0B15"/>
                </a:solidFill>
                <a:sym typeface="+mn-ea"/>
              </a:rPr>
              <a:t>		</a:t>
            </a:r>
            <a:r>
              <a:rPr lang="zh-CN" altLang="en-US" sz="2000"/>
              <a:t>必须</a:t>
            </a:r>
            <a:r>
              <a:rPr lang="zh-CN" altLang="en-US" sz="2000">
                <a:solidFill>
                  <a:srgbClr val="9C0B15"/>
                </a:solidFill>
              </a:rPr>
              <a:t>随着程序的加载而被加载</a:t>
            </a:r>
            <a:r>
              <a:rPr lang="zh-CN" altLang="en-US" sz="2000"/>
              <a:t>。因此，现代高级语言的运行时</a:t>
            </a:r>
            <a:r>
              <a:rPr lang="en-US" altLang="zh-CN" sz="2000" b="1">
                <a:solidFill>
                  <a:srgbClr val="9C0B15"/>
                </a:solidFill>
                <a:sym typeface="+mn-ea"/>
              </a:rPr>
              <a:t>		</a:t>
            </a:r>
            <a:r>
              <a:rPr lang="zh-CN" altLang="en-US" sz="2000"/>
              <a:t>实际上是一种</a:t>
            </a:r>
            <a:r>
              <a:rPr lang="zh-CN" altLang="en-US" sz="2000">
                <a:solidFill>
                  <a:srgbClr val="9C0B15"/>
                </a:solidFill>
              </a:rPr>
              <a:t>环境</a:t>
            </a:r>
            <a:r>
              <a:rPr lang="zh-CN" altLang="en-US" sz="2000"/>
              <a:t>，不仅仅是库本身。</a:t>
            </a:r>
            <a:endParaRPr lang="zh-CN" altLang="en-US" sz="2000"/>
          </a:p>
          <a:p>
            <a:pPr algn="l">
              <a:buClrTx/>
              <a:buSzTx/>
              <a:buFontTx/>
            </a:pPr>
            <a:r>
              <a:rPr lang="en-US" altLang="zh-CN" sz="2000" b="1">
                <a:solidFill>
                  <a:srgbClr val="9C0B15"/>
                </a:solidFill>
                <a:sym typeface="+mn-ea"/>
              </a:rPr>
              <a:t>		</a:t>
            </a:r>
            <a:r>
              <a:rPr lang="zh-CN" altLang="en-US" sz="2000"/>
              <a:t>运行时环境</a:t>
            </a:r>
            <a:r>
              <a:rPr lang="zh-CN" altLang="en-US" sz="2000">
                <a:sym typeface="+mn-ea"/>
              </a:rPr>
              <a:t>运行在</a:t>
            </a:r>
            <a:r>
              <a:rPr lang="zh-CN" altLang="en-US" sz="2000">
                <a:solidFill>
                  <a:srgbClr val="9C0B15"/>
                </a:solidFill>
                <a:sym typeface="+mn-ea"/>
              </a:rPr>
              <a:t>用户态</a:t>
            </a:r>
            <a:r>
              <a:rPr lang="zh-CN" altLang="en-US" sz="2000">
                <a:sym typeface="+mn-ea"/>
              </a:rPr>
              <a:t>，它们</a:t>
            </a:r>
            <a:r>
              <a:rPr lang="zh-CN" altLang="en-US" sz="2000">
                <a:solidFill>
                  <a:srgbClr val="9C0B15"/>
                </a:solidFill>
                <a:sym typeface="+mn-ea"/>
              </a:rPr>
              <a:t>也会使</a:t>
            </a:r>
            <a:r>
              <a:rPr lang="zh-CN" altLang="en-US" sz="2000">
                <a:solidFill>
                  <a:srgbClr val="9C0B15"/>
                </a:solidFill>
              </a:rPr>
              <a:t>用系统调用</a:t>
            </a:r>
            <a:r>
              <a:rPr lang="zh-CN" altLang="en-US" sz="2000"/>
              <a:t>。</a:t>
            </a:r>
            <a:endParaRPr lang="zh-CN" altLang="en-US" sz="2000"/>
          </a:p>
          <a:p>
            <a:pPr algn="l">
              <a:buClrTx/>
              <a:buSzTx/>
              <a:buFontTx/>
            </a:pPr>
            <a:endParaRPr lang="zh-CN" altLang="en-US" sz="2000"/>
          </a:p>
          <a:p>
            <a:pPr algn="l">
              <a:buClrTx/>
              <a:buSzTx/>
              <a:buFontTx/>
            </a:pPr>
            <a:r>
              <a:rPr lang="zh-CN" altLang="en-US" sz="2000" b="1">
                <a:solidFill>
                  <a:srgbClr val="9C0B15"/>
                </a:solidFill>
              </a:rPr>
              <a:t>垃圾回收</a:t>
            </a:r>
            <a:r>
              <a:rPr lang="en-US" altLang="zh-CN" sz="2000"/>
              <a:t>	</a:t>
            </a:r>
            <a:r>
              <a:rPr lang="zh-CN" altLang="en-US" sz="2000"/>
              <a:t>在</a:t>
            </a:r>
            <a:r>
              <a:rPr lang="en-US" altLang="zh-CN" sz="2000"/>
              <a:t>C</a:t>
            </a:r>
            <a:r>
              <a:rPr lang="zh-CN" altLang="en-US" sz="2000"/>
              <a:t>与</a:t>
            </a:r>
            <a:r>
              <a:rPr lang="en-US" altLang="zh-CN" sz="2000"/>
              <a:t>C++</a:t>
            </a:r>
            <a:r>
              <a:rPr lang="zh-CN" altLang="en-US" sz="2000"/>
              <a:t>语言中，分配给任何对象的内存都要程序员手动释放</a:t>
            </a:r>
            <a:r>
              <a:rPr lang="zh-CN" altLang="en-US" sz="2000">
                <a:sym typeface="+mn-ea"/>
              </a:rPr>
              <a:t>，</a:t>
            </a:r>
            <a:r>
              <a:rPr lang="en-US" altLang="zh-CN" sz="2000" b="1">
                <a:solidFill>
                  <a:srgbClr val="9C0B15"/>
                </a:solidFill>
                <a:sym typeface="+mn-ea"/>
              </a:rPr>
              <a:t>		</a:t>
            </a:r>
            <a:r>
              <a:rPr lang="zh-CN" altLang="en-US" sz="2000">
                <a:sym typeface="+mn-ea"/>
              </a:rPr>
              <a:t>程序员的</a:t>
            </a:r>
            <a:r>
              <a:rPr lang="zh-CN" altLang="en-US" sz="2000">
                <a:solidFill>
                  <a:srgbClr val="9C0B15"/>
                </a:solidFill>
                <a:sym typeface="+mn-ea"/>
              </a:rPr>
              <a:t>心智负担太高</a:t>
            </a:r>
            <a:r>
              <a:rPr lang="zh-CN" altLang="en-US" sz="2000"/>
              <a:t>，容易造成内存泄露。因此，</a:t>
            </a:r>
            <a:r>
              <a:rPr lang="en-US" altLang="zh-CN" sz="2000"/>
              <a:t>Java</a:t>
            </a:r>
            <a:r>
              <a:rPr lang="zh-CN" altLang="en-US" sz="2000"/>
              <a:t>等语</a:t>
            </a:r>
            <a:r>
              <a:rPr lang="zh-CN" altLang="en-US" sz="2000">
                <a:sym typeface="+mn-ea"/>
              </a:rPr>
              <a:t>言</a:t>
            </a:r>
            <a:r>
              <a:rPr lang="en-US" altLang="zh-CN" sz="2000" b="1">
                <a:solidFill>
                  <a:srgbClr val="9C0B15"/>
                </a:solidFill>
                <a:sym typeface="+mn-ea"/>
              </a:rPr>
              <a:t>		</a:t>
            </a:r>
            <a:r>
              <a:rPr lang="zh-CN" altLang="en-US" sz="2000"/>
              <a:t>的运行时</a:t>
            </a:r>
            <a:r>
              <a:rPr lang="zh-CN" altLang="en-US" sz="2000"/>
              <a:t>环境会</a:t>
            </a:r>
            <a:r>
              <a:rPr lang="zh-CN" altLang="en-US" sz="2000">
                <a:solidFill>
                  <a:srgbClr val="9C0B15"/>
                </a:solidFill>
              </a:rPr>
              <a:t>自动探测哪些对象已经被废弃</a:t>
            </a:r>
            <a:r>
              <a:rPr lang="zh-CN" altLang="en-US" sz="2000"/>
              <a:t>并释放它们。</a:t>
            </a:r>
            <a:endParaRPr lang="zh-CN" altLang="en-US" sz="2000"/>
          </a:p>
          <a:p>
            <a:pPr algn="l">
              <a:buClrTx/>
              <a:buSzTx/>
              <a:buFontTx/>
            </a:pPr>
            <a:endParaRPr lang="zh-CN" altLang="en-US" sz="2000"/>
          </a:p>
          <a:p>
            <a:pPr algn="l">
              <a:buClrTx/>
              <a:buSzTx/>
              <a:buFontTx/>
            </a:pPr>
            <a:r>
              <a:rPr lang="zh-CN" altLang="en-US" sz="2000" b="1">
                <a:solidFill>
                  <a:srgbClr val="9C0B15"/>
                </a:solidFill>
              </a:rPr>
              <a:t>虚拟机管理</a:t>
            </a:r>
            <a:r>
              <a:rPr lang="en-US" altLang="zh-CN" sz="2000"/>
              <a:t>	Java</a:t>
            </a:r>
            <a:r>
              <a:rPr lang="zh-CN" altLang="en-US" sz="2000"/>
              <a:t>等语言的可执行文件是字节码，无法直接交给处理器进行执</a:t>
            </a:r>
            <a:r>
              <a:rPr lang="en-US" altLang="zh-CN" sz="2000" b="1">
                <a:solidFill>
                  <a:srgbClr val="9C0B15"/>
                </a:solidFill>
                <a:sym typeface="+mn-ea"/>
              </a:rPr>
              <a:t>		</a:t>
            </a:r>
            <a:r>
              <a:rPr lang="zh-CN" altLang="en-US" sz="2000"/>
              <a:t>行，必须</a:t>
            </a:r>
            <a:r>
              <a:rPr lang="zh-CN" altLang="en-US" sz="2000">
                <a:solidFill>
                  <a:srgbClr val="9C0B15"/>
                </a:solidFill>
              </a:rPr>
              <a:t>由虚拟机代为解析执行</a:t>
            </a:r>
            <a:r>
              <a:rPr lang="zh-CN" altLang="en-US" sz="2000"/>
              <a:t>。</a:t>
            </a:r>
            <a:endParaRPr lang="zh-CN" altLang="en-US" sz="2000"/>
          </a:p>
          <a:p>
            <a:pPr algn="l">
              <a:buClrTx/>
              <a:buSzTx/>
              <a:buFontTx/>
            </a:pPr>
            <a:endParaRPr lang="zh-CN" altLang="en-US" sz="2000"/>
          </a:p>
          <a:p>
            <a:pPr algn="l">
              <a:buClrTx/>
              <a:buSzTx/>
              <a:buFontTx/>
            </a:pPr>
            <a:r>
              <a:rPr lang="zh-CN" altLang="en-US" sz="2000" b="1">
                <a:solidFill>
                  <a:srgbClr val="9C0B15"/>
                </a:solidFill>
              </a:rPr>
              <a:t>即时编译</a:t>
            </a:r>
            <a:r>
              <a:rPr lang="en-US" altLang="zh-CN" sz="2000"/>
              <a:t>	</a:t>
            </a:r>
            <a:r>
              <a:rPr lang="zh-CN" altLang="en-US" sz="2000"/>
              <a:t>虚拟机字节码的解释执行效率是很低的。此时，即时编译器可</a:t>
            </a:r>
            <a:r>
              <a:rPr lang="en-US" altLang="zh-CN" sz="2000">
                <a:sym typeface="+mn-ea"/>
              </a:rPr>
              <a:t>		</a:t>
            </a:r>
            <a:r>
              <a:rPr lang="zh-CN" altLang="en-US" sz="2000"/>
              <a:t>以针对当前架构，</a:t>
            </a:r>
            <a:r>
              <a:rPr lang="zh-CN" altLang="en-US" sz="2000">
                <a:solidFill>
                  <a:srgbClr val="9C0B15"/>
                </a:solidFill>
              </a:rPr>
              <a:t>将热点部分的字节码临场转译成原生二进制</a:t>
            </a:r>
            <a:r>
              <a:rPr lang="zh-CN" altLang="en-US" sz="2000">
                <a:solidFill>
                  <a:srgbClr val="9C0B15"/>
                </a:solidFill>
                <a:sym typeface="+mn-ea"/>
              </a:rPr>
              <a:t>		</a:t>
            </a:r>
            <a:r>
              <a:rPr lang="zh-CN" altLang="en-US" sz="2000">
                <a:solidFill>
                  <a:srgbClr val="9C0B15"/>
                </a:solidFill>
              </a:rPr>
              <a:t>代码，在CPU上直接执行</a:t>
            </a:r>
            <a:r>
              <a:rPr lang="zh-CN" altLang="en-US" sz="2000"/>
              <a:t>。</a:t>
            </a:r>
            <a:endParaRPr lang="zh-CN" altLang="en-US" sz="2000"/>
          </a:p>
          <a:p>
            <a:pPr algn="l">
              <a:buClrTx/>
              <a:buSzTx/>
              <a:buFontTx/>
            </a:pPr>
            <a:endParaRPr lang="zh-CN" altLang="en-US" sz="2000"/>
          </a:p>
          <a:p>
            <a:pPr algn="l">
              <a:buClrTx/>
              <a:buSzTx/>
              <a:buFontTx/>
            </a:pPr>
            <a:r>
              <a:rPr lang="zh-CN" altLang="en-US" sz="2000" b="1">
                <a:solidFill>
                  <a:srgbClr val="9C0B15"/>
                </a:solidFill>
              </a:rPr>
              <a:t>问题</a:t>
            </a:r>
            <a:r>
              <a:rPr lang="en-US" altLang="zh-CN" sz="2000"/>
              <a:t>		</a:t>
            </a:r>
            <a:r>
              <a:rPr lang="zh-CN" altLang="en-US" sz="2000"/>
              <a:t>解释型语言的性能和编译型语言的性能哪个好？</a:t>
            </a:r>
            <a:endParaRPr lang="zh-CN" altLang="en-US" sz="2000"/>
          </a:p>
        </p:txBody>
      </p:sp>
    </p:spTree>
    <p:custDataLst>
      <p:tags r:id="rId2"/>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1.2 静态链接库</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247130"/>
          </a:xfrm>
          <a:prstGeom prst="rect">
            <a:avLst/>
          </a:prstGeom>
          <a:noFill/>
        </p:spPr>
        <p:txBody>
          <a:bodyPr wrap="square" rtlCol="0">
            <a:spAutoFit/>
          </a:bodyPr>
          <a:p>
            <a:pPr algn="ctr"/>
            <a:r>
              <a:rPr lang="zh-CN" altLang="en-US" sz="2000" b="1">
                <a:solidFill>
                  <a:srgbClr val="9C0B15"/>
                </a:solidFill>
              </a:rPr>
              <a:t>静态</a:t>
            </a:r>
            <a:r>
              <a:rPr lang="zh-CN" altLang="en-US" sz="2000" b="1">
                <a:solidFill>
                  <a:srgbClr val="9C0B15"/>
                </a:solidFill>
              </a:rPr>
              <a:t>链接库</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目标文件的使用</a:t>
            </a:r>
            <a:r>
              <a:rPr lang="en-US" altLang="zh-CN" sz="2000" b="1">
                <a:solidFill>
                  <a:srgbClr val="9C0B15"/>
                </a:solidFill>
              </a:rPr>
              <a:t>		</a:t>
            </a:r>
            <a:r>
              <a:rPr lang="zh-CN" altLang="en-US" sz="2000"/>
              <a:t>每次都要交给程序员一大把*.OBJ文件，告诉程序员自己</a:t>
            </a:r>
            <a:r>
              <a:rPr lang="zh-CN" altLang="en-US" sz="2000">
                <a:sym typeface="+mn-ea"/>
              </a:rPr>
              <a:t>			</a:t>
            </a:r>
            <a:r>
              <a:rPr lang="zh-CN" altLang="en-US" sz="2000"/>
              <a:t>去链接吧。调用哪个头文件里面的功能，就自己去把那</a:t>
            </a:r>
            <a:r>
              <a:rPr lang="zh-CN" altLang="en-US" sz="2000">
                <a:sym typeface="+mn-ea"/>
              </a:rPr>
              <a:t>			</a:t>
            </a:r>
            <a:r>
              <a:rPr lang="zh-CN" altLang="en-US" sz="2000"/>
              <a:t>个*.O</a:t>
            </a:r>
            <a:r>
              <a:rPr lang="en-US" altLang="zh-CN" sz="2000">
                <a:sym typeface="+mn-ea"/>
              </a:rPr>
              <a:t>BJ</a:t>
            </a:r>
            <a:r>
              <a:rPr lang="zh-CN" altLang="en-US" sz="2000"/>
              <a:t>文件加入工程，然后参与最终生成的程序的链接。</a:t>
            </a:r>
            <a:endParaRPr lang="zh-CN" altLang="en-US" sz="2000"/>
          </a:p>
          <a:p>
            <a:pPr algn="l">
              <a:buClrTx/>
              <a:buSzTx/>
              <a:buFontTx/>
            </a:pPr>
            <a:endParaRPr lang="zh-CN" altLang="en-US" sz="2000"/>
          </a:p>
          <a:p>
            <a:pPr algn="l">
              <a:buClrTx/>
              <a:buSzTx/>
              <a:buFontTx/>
            </a:pPr>
            <a:r>
              <a:rPr lang="zh-CN" altLang="en-US" sz="2000" b="1">
                <a:solidFill>
                  <a:srgbClr val="9C0B15"/>
                </a:solidFill>
              </a:rPr>
              <a:t>使用麻烦</a:t>
            </a:r>
            <a:r>
              <a:rPr lang="en-US" altLang="zh-CN" sz="2000"/>
              <a:t>		</a:t>
            </a:r>
            <a:r>
              <a:rPr lang="zh-CN" altLang="en-US" sz="2000"/>
              <a:t>去找对应的</a:t>
            </a:r>
            <a:r>
              <a:rPr lang="en-US" altLang="zh-CN" sz="2000"/>
              <a:t>*.OBJ</a:t>
            </a:r>
            <a:r>
              <a:rPr lang="zh-CN" altLang="en-US" sz="2000"/>
              <a:t>文件是非常烦的一个过程。因为</a:t>
            </a:r>
            <a:r>
              <a:rPr lang="en-US" altLang="zh-CN" sz="2000"/>
              <a:t>*.OBJ</a:t>
            </a:r>
            <a:r>
              <a:rPr lang="en-US" altLang="zh-CN" sz="2000">
                <a:sym typeface="+mn-ea"/>
              </a:rPr>
              <a:t>			</a:t>
            </a:r>
            <a:r>
              <a:rPr lang="zh-CN" altLang="en-US" sz="2000"/>
              <a:t>实在是太多。</a:t>
            </a:r>
            <a:endParaRPr lang="zh-CN" altLang="en-US" sz="2000"/>
          </a:p>
          <a:p>
            <a:pPr algn="l">
              <a:buClrTx/>
              <a:buSzTx/>
              <a:buFontTx/>
            </a:pPr>
            <a:endParaRPr lang="zh-CN" altLang="en-US" sz="2000"/>
          </a:p>
          <a:p>
            <a:pPr algn="l">
              <a:buClrTx/>
              <a:buSzTx/>
              <a:buFontTx/>
            </a:pPr>
            <a:r>
              <a:rPr lang="zh-CN" altLang="en-US" sz="2000" b="1">
                <a:solidFill>
                  <a:srgbClr val="9C0B15"/>
                </a:solidFill>
              </a:rPr>
              <a:t>存储不便</a:t>
            </a:r>
            <a:r>
              <a:rPr lang="en-US" altLang="zh-CN" sz="2000"/>
              <a:t>		</a:t>
            </a:r>
            <a:r>
              <a:rPr lang="zh-CN" altLang="en-US" sz="2000"/>
              <a:t>大量文件对计算机系统也造成压力。每次引入第三方库</a:t>
            </a:r>
            <a:r>
              <a:rPr lang="en-US" altLang="zh-CN" sz="2000">
                <a:sym typeface="+mn-ea"/>
              </a:rPr>
              <a:t>			</a:t>
            </a:r>
            <a:r>
              <a:rPr lang="zh-CN" altLang="en-US" sz="2000"/>
              <a:t>就又会多一把</a:t>
            </a:r>
            <a:r>
              <a:rPr lang="en-US" altLang="zh-CN" sz="2000">
                <a:sym typeface="+mn-ea"/>
              </a:rPr>
              <a:t>*.OBJ</a:t>
            </a:r>
            <a:r>
              <a:rPr lang="zh-CN" altLang="en-US" sz="2000">
                <a:sym typeface="+mn-ea"/>
              </a:rPr>
              <a:t>文件，这些文件都很小，又容易丢失</a:t>
            </a:r>
            <a:r>
              <a:rPr lang="en-US" altLang="zh-CN" sz="2000">
                <a:sym typeface="+mn-ea"/>
              </a:rPr>
              <a:t>			</a:t>
            </a:r>
            <a:r>
              <a:rPr lang="zh-CN" altLang="en-US" sz="2000">
                <a:sym typeface="+mn-ea"/>
              </a:rPr>
              <a:t>和损坏。事实上这个问题在汇编语言时代就有，但那时</a:t>
            </a:r>
            <a:endParaRPr lang="zh-CN" altLang="en-US" sz="2000">
              <a:sym typeface="+mn-ea"/>
            </a:endParaRPr>
          </a:p>
          <a:p>
            <a:pPr algn="l">
              <a:buClrTx/>
              <a:buSzTx/>
              <a:buFontTx/>
            </a:pPr>
            <a:r>
              <a:rPr lang="en-US" altLang="zh-CN" sz="2000">
                <a:sym typeface="+mn-ea"/>
              </a:rPr>
              <a:t>			</a:t>
            </a:r>
            <a:r>
              <a:rPr lang="zh-CN" altLang="en-US" sz="2000">
                <a:sym typeface="+mn-ea"/>
              </a:rPr>
              <a:t>程序库不大、文件不多，尚且好处理。</a:t>
            </a:r>
            <a:endParaRPr lang="zh-CN" altLang="en-US" sz="2000">
              <a:sym typeface="+mn-ea"/>
            </a:endParaRPr>
          </a:p>
          <a:p>
            <a:pPr algn="l">
              <a:buClrTx/>
              <a:buSzTx/>
              <a:buFontTx/>
            </a:pPr>
            <a:endParaRPr lang="zh-CN" altLang="en-US" sz="2000"/>
          </a:p>
          <a:p>
            <a:pPr algn="l">
              <a:buClrTx/>
              <a:buSzTx/>
              <a:buFontTx/>
            </a:pPr>
            <a:endParaRPr lang="zh-CN" altLang="en-US" sz="2000" b="1">
              <a:solidFill>
                <a:srgbClr val="9C0B15"/>
              </a:solidFill>
            </a:endParaRPr>
          </a:p>
          <a:p>
            <a:pPr algn="l">
              <a:buClrTx/>
              <a:buSzTx/>
              <a:buFontTx/>
            </a:pPr>
            <a:endParaRPr lang="zh-CN" altLang="en-US" sz="2000" b="1">
              <a:solidFill>
                <a:srgbClr val="9C0B15"/>
              </a:solidFill>
            </a:endParaRPr>
          </a:p>
          <a:p>
            <a:pPr algn="l">
              <a:buClrTx/>
              <a:buSzTx/>
              <a:buFontTx/>
            </a:pPr>
            <a:endParaRPr lang="zh-CN" altLang="en-US" sz="2000" b="1">
              <a:solidFill>
                <a:srgbClr val="9C0B15"/>
              </a:solidFill>
            </a:endParaRPr>
          </a:p>
          <a:p>
            <a:pPr algn="l">
              <a:buClrTx/>
              <a:buSzTx/>
              <a:buFontTx/>
            </a:pPr>
            <a:endParaRPr lang="zh-CN" altLang="en-US" sz="2000" b="1">
              <a:solidFill>
                <a:srgbClr val="9C0B15"/>
              </a:solidFill>
            </a:endParaRPr>
          </a:p>
          <a:p>
            <a:pPr algn="l">
              <a:buClrTx/>
              <a:buSzTx/>
              <a:buFontTx/>
            </a:pPr>
            <a:r>
              <a:rPr lang="zh-CN" altLang="en-US" sz="2000" b="1">
                <a:solidFill>
                  <a:srgbClr val="9C0B15"/>
                </a:solidFill>
              </a:rPr>
              <a:t>解决方案</a:t>
            </a:r>
            <a:r>
              <a:rPr lang="en-US" altLang="zh-CN" sz="2000"/>
              <a:t>		</a:t>
            </a:r>
            <a:r>
              <a:rPr lang="zh-CN" altLang="en-US" sz="2000"/>
              <a:t>用什么方法解决这个问题呢？</a:t>
            </a:r>
            <a:endParaRPr lang="zh-CN" altLang="en-US" sz="2000"/>
          </a:p>
          <a:p>
            <a:pPr algn="l">
              <a:buClrTx/>
              <a:buSzTx/>
              <a:buFontTx/>
            </a:pPr>
            <a:r>
              <a:rPr lang="en-US" altLang="zh-CN" sz="2000">
                <a:sym typeface="+mn-ea"/>
              </a:rPr>
              <a:t>			</a:t>
            </a:r>
            <a:r>
              <a:rPr lang="zh-CN" altLang="en-US" sz="2000"/>
              <a:t>提示：压缩文件</a:t>
            </a:r>
            <a:endParaRPr lang="zh-CN" altLang="en-US" sz="2000"/>
          </a:p>
        </p:txBody>
      </p:sp>
      <p:pic>
        <p:nvPicPr>
          <p:cNvPr id="2" name="图片 1"/>
          <p:cNvPicPr>
            <a:picLocks noChangeAspect="1"/>
          </p:cNvPicPr>
          <p:nvPr/>
        </p:nvPicPr>
        <p:blipFill>
          <a:blip r:embed="rId2"/>
          <a:stretch>
            <a:fillRect/>
          </a:stretch>
        </p:blipFill>
        <p:spPr>
          <a:xfrm>
            <a:off x="445770" y="812165"/>
            <a:ext cx="8896985" cy="4468495"/>
          </a:xfrm>
          <a:prstGeom prst="rect">
            <a:avLst/>
          </a:prstGeom>
        </p:spPr>
      </p:pic>
    </p:spTree>
    <p:custDataLst>
      <p:tags r:id="rId3"/>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1.2 静态链接库</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247130"/>
          </a:xfrm>
          <a:prstGeom prst="rect">
            <a:avLst/>
          </a:prstGeom>
          <a:noFill/>
        </p:spPr>
        <p:txBody>
          <a:bodyPr wrap="square" rtlCol="0">
            <a:spAutoFit/>
          </a:bodyPr>
          <a:p>
            <a:pPr algn="ctr"/>
            <a:r>
              <a:rPr lang="zh-CN" altLang="en-US" sz="2000" b="1">
                <a:solidFill>
                  <a:srgbClr val="9C0B15"/>
                </a:solidFill>
              </a:rPr>
              <a:t>静态</a:t>
            </a:r>
            <a:r>
              <a:rPr lang="zh-CN" altLang="en-US" sz="2000" b="1">
                <a:solidFill>
                  <a:srgbClr val="9C0B15"/>
                </a:solidFill>
              </a:rPr>
              <a:t>链接库</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静态链接库</a:t>
            </a:r>
            <a:r>
              <a:rPr lang="en-US" altLang="zh-CN" sz="2000" b="1">
                <a:solidFill>
                  <a:srgbClr val="9C0B15"/>
                </a:solidFill>
              </a:rPr>
              <a:t>	</a:t>
            </a:r>
            <a:r>
              <a:rPr lang="zh-CN" altLang="en-US" sz="2000"/>
              <a:t>*.OBJ文件</a:t>
            </a:r>
            <a:r>
              <a:rPr lang="zh-CN" sz="2000"/>
              <a:t>的简单合集</a:t>
            </a:r>
            <a:r>
              <a:rPr lang="zh-CN" altLang="en-US" sz="2000"/>
              <a:t>。它通常是将一堆</a:t>
            </a:r>
            <a:r>
              <a:rPr lang="en-US" altLang="zh-CN" sz="2000"/>
              <a:t>*.OBJ</a:t>
            </a:r>
            <a:r>
              <a:rPr lang="zh-CN" altLang="en-US" sz="2000"/>
              <a:t>文件的</a:t>
            </a:r>
            <a:r>
              <a:rPr lang="zh-CN" altLang="en-US" sz="2000">
                <a:solidFill>
                  <a:srgbClr val="9C0B15"/>
                </a:solidFill>
              </a:rPr>
              <a:t>内容合并在</a:t>
            </a:r>
            <a:r>
              <a:rPr lang="zh-CN" altLang="en-US" sz="2000">
                <a:solidFill>
                  <a:srgbClr val="9C0B15"/>
                </a:solidFill>
                <a:sym typeface="+mn-ea"/>
              </a:rPr>
              <a:t>		</a:t>
            </a:r>
            <a:r>
              <a:rPr lang="zh-CN" altLang="en-US" sz="2000">
                <a:solidFill>
                  <a:srgbClr val="9C0B15"/>
                </a:solidFill>
              </a:rPr>
              <a:t>一起成为一个文件</a:t>
            </a:r>
            <a:r>
              <a:rPr lang="zh-CN" altLang="en-US" sz="2000"/>
              <a:t>，包括这些</a:t>
            </a:r>
            <a:r>
              <a:rPr lang="zh-CN" altLang="en-US" sz="2000">
                <a:sym typeface="+mn-ea"/>
              </a:rPr>
              <a:t>*.OBJ文件中包含的</a:t>
            </a:r>
            <a:r>
              <a:rPr lang="zh-CN" altLang="en-US" sz="2000">
                <a:solidFill>
                  <a:srgbClr val="9C0B15"/>
                </a:solidFill>
                <a:sym typeface="+mn-ea"/>
              </a:rPr>
              <a:t>各个符号，以</a:t>
            </a:r>
            <a:r>
              <a:rPr lang="zh-CN" altLang="en-US" sz="2000">
                <a:solidFill>
                  <a:srgbClr val="9C0B15"/>
                </a:solidFill>
                <a:sym typeface="+mn-ea"/>
              </a:rPr>
              <a:t>		</a:t>
            </a:r>
            <a:r>
              <a:rPr lang="zh-CN" altLang="en-US" sz="2000">
                <a:solidFill>
                  <a:srgbClr val="9C0B15"/>
                </a:solidFill>
                <a:sym typeface="+mn-ea"/>
              </a:rPr>
              <a:t>及各个符号的内容</a:t>
            </a:r>
            <a:r>
              <a:rPr lang="zh-CN" altLang="en-US" sz="2000">
                <a:sym typeface="+mn-ea"/>
              </a:rPr>
              <a:t>。静态链接库的后缀名一般是</a:t>
            </a:r>
            <a:r>
              <a:rPr lang="zh-CN" altLang="en-US" sz="2000">
                <a:solidFill>
                  <a:srgbClr val="9C0B15"/>
                </a:solidFill>
                <a:sym typeface="+mn-ea"/>
              </a:rPr>
              <a:t>*.A或*.LIB</a:t>
            </a:r>
            <a:r>
              <a:rPr lang="zh-CN" altLang="en-US" sz="2000">
                <a:sym typeface="+mn-ea"/>
              </a:rPr>
              <a:t>。</a:t>
            </a:r>
            <a:endParaRPr lang="zh-CN" altLang="en-US" sz="2000">
              <a:sym typeface="+mn-ea"/>
            </a:endParaRPr>
          </a:p>
          <a:p>
            <a:pPr algn="l">
              <a:buClrTx/>
              <a:buSzTx/>
              <a:buFontTx/>
            </a:pPr>
            <a:r>
              <a:rPr lang="en-US" altLang="zh-CN" sz="2000">
                <a:sym typeface="+mn-ea"/>
              </a:rPr>
              <a:t>		</a:t>
            </a:r>
            <a:r>
              <a:rPr lang="zh-CN" altLang="en-US" sz="2000">
                <a:sym typeface="+mn-ea"/>
              </a:rPr>
              <a:t>这样，在引用运行时库或第三方程序库时就可以直接引用这个</a:t>
            </a:r>
            <a:r>
              <a:rPr lang="en-US" altLang="zh-CN" sz="2000">
                <a:sym typeface="+mn-ea"/>
              </a:rPr>
              <a:t>		</a:t>
            </a:r>
            <a:r>
              <a:rPr lang="zh-CN" altLang="en-US" sz="2000">
                <a:sym typeface="+mn-ea"/>
              </a:rPr>
              <a:t>链接库本身，由链接器去解析这个库，来得省事。</a:t>
            </a:r>
            <a:endParaRPr lang="zh-CN" altLang="en-US" sz="2000"/>
          </a:p>
          <a:p>
            <a:pPr algn="l">
              <a:buClrTx/>
              <a:buSzTx/>
              <a:buFontTx/>
            </a:pPr>
            <a:endParaRPr lang="zh-CN" altLang="en-US" sz="2000"/>
          </a:p>
          <a:p>
            <a:pPr algn="l">
              <a:buClrTx/>
              <a:buSzTx/>
              <a:buFontTx/>
            </a:pPr>
            <a:r>
              <a:rPr lang="zh-CN" altLang="en-US" sz="2000" b="1">
                <a:solidFill>
                  <a:srgbClr val="9C0B15"/>
                </a:solidFill>
                <a:sym typeface="+mn-ea"/>
              </a:rPr>
              <a:t>对比</a:t>
            </a:r>
            <a:r>
              <a:rPr lang="en-US" altLang="zh-CN" sz="2000">
                <a:sym typeface="+mn-ea"/>
              </a:rPr>
              <a:t>		</a:t>
            </a:r>
            <a:r>
              <a:rPr lang="zh-CN" altLang="en-US" sz="2000">
                <a:sym typeface="+mn-ea"/>
              </a:rPr>
              <a:t>与可执行文件相比，静态链接库相当于将各个</a:t>
            </a:r>
            <a:r>
              <a:rPr lang="en-US" altLang="zh-CN" sz="2000">
                <a:sym typeface="+mn-ea"/>
              </a:rPr>
              <a:t>*.OBJ</a:t>
            </a:r>
            <a:r>
              <a:rPr lang="zh-CN" altLang="en-US" sz="2000">
                <a:sym typeface="+mn-ea"/>
              </a:rPr>
              <a:t>文件直接打</a:t>
            </a:r>
            <a:r>
              <a:rPr lang="en-US" altLang="zh-CN" sz="2000">
                <a:sym typeface="+mn-ea"/>
              </a:rPr>
              <a:t>		</a:t>
            </a:r>
            <a:r>
              <a:rPr lang="zh-CN" altLang="en-US" sz="2000">
                <a:sym typeface="+mn-ea"/>
              </a:rPr>
              <a:t>了个包，并没有进行符号引用的链接。</a:t>
            </a:r>
            <a:endParaRPr lang="zh-CN" altLang="en-US" sz="2000"/>
          </a:p>
          <a:p>
            <a:pPr algn="l">
              <a:buClrTx/>
              <a:buSzTx/>
              <a:buFontTx/>
            </a:pPr>
            <a:endParaRPr lang="zh-CN" altLang="en-US" sz="2000" b="1">
              <a:solidFill>
                <a:srgbClr val="9C0B15"/>
              </a:solidFill>
            </a:endParaRPr>
          </a:p>
          <a:p>
            <a:pPr algn="l">
              <a:buClrTx/>
              <a:buSzTx/>
              <a:buFontTx/>
            </a:pPr>
            <a:r>
              <a:rPr lang="zh-CN" altLang="en-US" sz="2000" b="1">
                <a:solidFill>
                  <a:srgbClr val="9C0B15"/>
                </a:solidFill>
              </a:rPr>
              <a:t>存储压缩</a:t>
            </a:r>
            <a:r>
              <a:rPr lang="en-US" altLang="zh-CN" sz="2000"/>
              <a:t>	</a:t>
            </a:r>
            <a:r>
              <a:rPr lang="zh-CN" altLang="en-US" sz="2000"/>
              <a:t>除了将</a:t>
            </a:r>
            <a:r>
              <a:rPr lang="en-US" altLang="zh-CN" sz="2000"/>
              <a:t>*.OBJ</a:t>
            </a:r>
            <a:r>
              <a:rPr lang="zh-CN" altLang="en-US" sz="2000"/>
              <a:t>做简单合集之外，</a:t>
            </a:r>
            <a:r>
              <a:rPr lang="en-US" altLang="zh-CN" sz="2000"/>
              <a:t>*.A</a:t>
            </a:r>
            <a:r>
              <a:rPr lang="zh-CN" altLang="en-US" sz="2000"/>
              <a:t>文件往往还会使用一定的压缩</a:t>
            </a:r>
            <a:r>
              <a:rPr lang="en-US" altLang="zh-CN" sz="2000">
                <a:sym typeface="+mn-ea"/>
              </a:rPr>
              <a:t>		</a:t>
            </a:r>
            <a:r>
              <a:rPr lang="zh-CN" altLang="en-US" sz="2000"/>
              <a:t>算法。这是因为现代库（尤其是</a:t>
            </a:r>
            <a:r>
              <a:rPr lang="en-US" altLang="zh-CN" sz="2000"/>
              <a:t>wxWidgets</a:t>
            </a:r>
            <a:r>
              <a:rPr lang="zh-CN" altLang="en-US" sz="2000"/>
              <a:t>、</a:t>
            </a:r>
            <a:r>
              <a:rPr lang="en-US" altLang="zh-CN" sz="2000"/>
              <a:t>Qt</a:t>
            </a:r>
            <a:r>
              <a:rPr lang="zh-CN" altLang="en-US" sz="2000"/>
              <a:t>等图形界面库）</a:t>
            </a:r>
            <a:r>
              <a:rPr lang="en-US" altLang="zh-CN" sz="2000">
                <a:sym typeface="+mn-ea"/>
              </a:rPr>
              <a:t>		</a:t>
            </a:r>
            <a:r>
              <a:rPr lang="zh-CN" altLang="en-US" sz="2000"/>
              <a:t>的</a:t>
            </a:r>
            <a:r>
              <a:rPr lang="en-US" altLang="zh-CN" sz="2000">
                <a:sym typeface="+mn-ea"/>
              </a:rPr>
              <a:t>*.OBJ</a:t>
            </a:r>
            <a:r>
              <a:rPr lang="zh-CN" altLang="en-US" sz="2000">
                <a:sym typeface="+mn-ea"/>
              </a:rPr>
              <a:t>总量实在是太大了，单库</a:t>
            </a:r>
            <a:r>
              <a:rPr lang="zh-CN" altLang="en-US" sz="2000">
                <a:solidFill>
                  <a:srgbClr val="9C0B15"/>
                </a:solidFill>
                <a:sym typeface="+mn-ea"/>
              </a:rPr>
              <a:t>动辄几十甚至几百MB</a:t>
            </a:r>
            <a:r>
              <a:rPr lang="zh-CN" altLang="en-US" sz="2000">
                <a:sym typeface="+mn-ea"/>
              </a:rPr>
              <a:t>，占用存</a:t>
            </a:r>
            <a:r>
              <a:rPr lang="en-US" altLang="zh-CN" sz="2000">
                <a:sym typeface="+mn-ea"/>
              </a:rPr>
              <a:t>		</a:t>
            </a:r>
            <a:r>
              <a:rPr lang="zh-CN" altLang="en-US" sz="2000">
                <a:sym typeface="+mn-ea"/>
              </a:rPr>
              <a:t>储空间实在太多，因此干脆像真正的压缩文件那样</a:t>
            </a:r>
            <a:r>
              <a:rPr lang="zh-CN" altLang="en-US" sz="2000">
                <a:solidFill>
                  <a:srgbClr val="9C0B15"/>
                </a:solidFill>
                <a:sym typeface="+mn-ea"/>
              </a:rPr>
              <a:t>使用压缩算</a:t>
            </a:r>
            <a:r>
              <a:rPr lang="zh-CN" altLang="en-US" sz="2000">
                <a:solidFill>
                  <a:srgbClr val="9C0B15"/>
                </a:solidFill>
                <a:sym typeface="+mn-ea"/>
              </a:rPr>
              <a:t>		</a:t>
            </a:r>
            <a:r>
              <a:rPr lang="zh-CN" altLang="en-US" sz="2000">
                <a:solidFill>
                  <a:srgbClr val="9C0B15"/>
                </a:solidFill>
                <a:sym typeface="+mn-ea"/>
              </a:rPr>
              <a:t>法</a:t>
            </a:r>
            <a:r>
              <a:rPr lang="zh-CN" altLang="en-US" sz="2000">
                <a:sym typeface="+mn-ea"/>
              </a:rPr>
              <a:t>来保存它们</a:t>
            </a:r>
            <a:r>
              <a:rPr lang="zh-CN" altLang="en-US" sz="2000"/>
              <a:t>。</a:t>
            </a:r>
            <a:endParaRPr lang="zh-CN" altLang="en-US" sz="2000"/>
          </a:p>
          <a:p>
            <a:pPr algn="l">
              <a:buClrTx/>
              <a:buSzTx/>
              <a:buFontTx/>
            </a:pPr>
            <a:r>
              <a:rPr lang="zh-CN" altLang="en-US" sz="2000">
                <a:solidFill>
                  <a:srgbClr val="9C0B15"/>
                </a:solidFill>
                <a:sym typeface="+mn-ea"/>
              </a:rPr>
              <a:t>		</a:t>
            </a:r>
            <a:r>
              <a:rPr lang="zh-CN" altLang="en-US" sz="2000"/>
              <a:t>正因如此，你甚至可以</a:t>
            </a:r>
            <a:r>
              <a:rPr lang="zh-CN" altLang="en-US" sz="2000">
                <a:solidFill>
                  <a:srgbClr val="9C0B15"/>
                </a:solidFill>
              </a:rPr>
              <a:t>用</a:t>
            </a:r>
            <a:endParaRPr lang="zh-CN" altLang="en-US" sz="2000"/>
          </a:p>
          <a:p>
            <a:pPr algn="l">
              <a:buClrTx/>
              <a:buSzTx/>
              <a:buFontTx/>
            </a:pPr>
            <a:r>
              <a:rPr lang="zh-CN" altLang="en-US" sz="2000">
                <a:solidFill>
                  <a:srgbClr val="9C0B15"/>
                </a:solidFill>
                <a:sym typeface="+mn-ea"/>
              </a:rPr>
              <a:t>		</a:t>
            </a:r>
            <a:r>
              <a:rPr lang="zh-CN" altLang="en-US" sz="2000">
                <a:solidFill>
                  <a:srgbClr val="9C0B15"/>
                </a:solidFill>
              </a:rPr>
              <a:t>7z</a:t>
            </a:r>
            <a:r>
              <a:rPr lang="zh-CN" altLang="en-US" sz="2000">
                <a:solidFill>
                  <a:srgbClr val="9C0B15"/>
                </a:solidFill>
                <a:sym typeface="+mn-ea"/>
              </a:rPr>
              <a:t>等解压缩软件来解</a:t>
            </a:r>
            <a:r>
              <a:rPr lang="zh-CN" altLang="en-US" sz="2000">
                <a:solidFill>
                  <a:srgbClr val="9C0B15"/>
                </a:solidFill>
              </a:rPr>
              <a:t>压静</a:t>
            </a:r>
            <a:endParaRPr lang="zh-CN" altLang="en-US" sz="2000">
              <a:solidFill>
                <a:srgbClr val="9C0B15"/>
              </a:solidFill>
            </a:endParaRPr>
          </a:p>
          <a:p>
            <a:pPr algn="l">
              <a:buClrTx/>
              <a:buSzTx/>
              <a:buFontTx/>
            </a:pPr>
            <a:r>
              <a:rPr lang="zh-CN" altLang="en-US" sz="2000">
                <a:solidFill>
                  <a:srgbClr val="9C0B15"/>
                </a:solidFill>
                <a:sym typeface="+mn-ea"/>
              </a:rPr>
              <a:t>		</a:t>
            </a:r>
            <a:r>
              <a:rPr lang="zh-CN" altLang="en-US" sz="2000">
                <a:solidFill>
                  <a:srgbClr val="9C0B15"/>
                </a:solidFill>
              </a:rPr>
              <a:t>态链接库</a:t>
            </a:r>
            <a:r>
              <a:rPr lang="zh-CN" altLang="en-US" sz="2000"/>
              <a:t>。猜猜看你会得</a:t>
            </a:r>
            <a:endParaRPr lang="zh-CN" altLang="en-US" sz="2000"/>
          </a:p>
          <a:p>
            <a:pPr algn="l">
              <a:buClrTx/>
              <a:buSzTx/>
              <a:buFontTx/>
            </a:pPr>
            <a:r>
              <a:rPr lang="zh-CN" altLang="en-US" sz="2000">
                <a:solidFill>
                  <a:srgbClr val="9C0B15"/>
                </a:solidFill>
                <a:sym typeface="+mn-ea"/>
              </a:rPr>
              <a:t>		</a:t>
            </a:r>
            <a:r>
              <a:rPr lang="zh-CN" altLang="en-US" sz="2000"/>
              <a:t>到什么？</a:t>
            </a:r>
            <a:endParaRPr lang="zh-CN" altLang="en-US" sz="2000"/>
          </a:p>
        </p:txBody>
      </p:sp>
      <p:pic>
        <p:nvPicPr>
          <p:cNvPr id="4" name="图片 3"/>
          <p:cNvPicPr>
            <a:picLocks noChangeAspect="1"/>
          </p:cNvPicPr>
          <p:nvPr>
            <p:custDataLst>
              <p:tags r:id="rId2"/>
            </p:custDataLst>
          </p:nvPr>
        </p:nvPicPr>
        <p:blipFill>
          <a:blip r:embed="rId3"/>
          <a:srcRect r="23832"/>
          <a:stretch>
            <a:fillRect/>
          </a:stretch>
        </p:blipFill>
        <p:spPr>
          <a:xfrm>
            <a:off x="5441950" y="4928870"/>
            <a:ext cx="3890645" cy="1484630"/>
          </a:xfrm>
          <a:prstGeom prst="rect">
            <a:avLst/>
          </a:prstGeom>
        </p:spPr>
      </p:pic>
    </p:spTree>
    <p:custDataLst>
      <p:tags r:id="rId4"/>
    </p:custData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1.2 静态链接库</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554470"/>
          </a:xfrm>
          <a:prstGeom prst="rect">
            <a:avLst/>
          </a:prstGeom>
          <a:noFill/>
        </p:spPr>
        <p:txBody>
          <a:bodyPr wrap="square" rtlCol="0">
            <a:spAutoFit/>
          </a:bodyPr>
          <a:p>
            <a:pPr algn="ctr"/>
            <a:r>
              <a:rPr lang="zh-CN" altLang="en-US" sz="2000" b="1">
                <a:solidFill>
                  <a:srgbClr val="9C0B15"/>
                </a:solidFill>
              </a:rPr>
              <a:t>静态</a:t>
            </a:r>
            <a:r>
              <a:rPr lang="zh-CN" altLang="en-US" sz="2000" b="1">
                <a:solidFill>
                  <a:srgbClr val="9C0B15"/>
                </a:solidFill>
              </a:rPr>
              <a:t>链接库</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细节暴露</a:t>
            </a:r>
            <a:r>
              <a:rPr lang="en-US" altLang="zh-CN" sz="2000" b="1">
                <a:solidFill>
                  <a:srgbClr val="9C0B15"/>
                </a:solidFill>
              </a:rPr>
              <a:t>	</a:t>
            </a:r>
            <a:r>
              <a:rPr lang="zh-CN" altLang="en-US" sz="2000"/>
              <a:t>常见的静态链接库将</a:t>
            </a:r>
            <a:r>
              <a:rPr lang="zh-CN" altLang="en-US" sz="2000">
                <a:solidFill>
                  <a:srgbClr val="9C0B15"/>
                </a:solidFill>
              </a:rPr>
              <a:t>大量*.OBJ及其符号信息</a:t>
            </a:r>
            <a:r>
              <a:rPr lang="zh-CN" altLang="en-US" sz="2000"/>
              <a:t>直接暴露给了用户</a:t>
            </a:r>
            <a:r>
              <a:rPr lang="zh-CN" altLang="en-US" sz="2000">
                <a:sym typeface="+mn-ea"/>
              </a:rPr>
              <a:t>。</a:t>
            </a:r>
            <a:r>
              <a:rPr lang="en-US" altLang="zh-CN" sz="2000" b="1">
                <a:solidFill>
                  <a:srgbClr val="9C0B15"/>
                </a:solidFill>
                <a:sym typeface="+mn-ea"/>
              </a:rPr>
              <a:t>		</a:t>
            </a:r>
            <a:r>
              <a:rPr lang="zh-CN" altLang="en-US" sz="2000">
                <a:sym typeface="+mn-ea"/>
              </a:rPr>
              <a:t>但静态链接库内部并非所有符号都是需要暴露给用户的，还有</a:t>
            </a:r>
            <a:r>
              <a:rPr lang="en-US" altLang="zh-CN" sz="2000" b="1">
                <a:solidFill>
                  <a:srgbClr val="9C0B15"/>
                </a:solidFill>
                <a:sym typeface="+mn-ea"/>
              </a:rPr>
              <a:t>		</a:t>
            </a:r>
            <a:r>
              <a:rPr lang="zh-CN" altLang="en-US" sz="2000">
                <a:sym typeface="+mn-ea"/>
              </a:rPr>
              <a:t>一部分符号其实是</a:t>
            </a:r>
            <a:r>
              <a:rPr lang="zh-CN" altLang="en-US" sz="2000">
                <a:solidFill>
                  <a:srgbClr val="9C0B15"/>
                </a:solidFill>
                <a:sym typeface="+mn-ea"/>
              </a:rPr>
              <a:t>库内使用的，并不作为外部接口</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en-US" altLang="zh-CN" sz="2000" b="1">
                <a:solidFill>
                  <a:srgbClr val="9C0B15"/>
                </a:solidFill>
                <a:sym typeface="+mn-ea"/>
              </a:rPr>
              <a:t>		</a:t>
            </a:r>
            <a:r>
              <a:rPr lang="zh-CN" altLang="en-US" sz="2000">
                <a:sym typeface="+mn-ea"/>
              </a:rPr>
              <a:t>这可以类比于</a:t>
            </a:r>
            <a:r>
              <a:rPr lang="en-US" altLang="zh-CN" sz="2000">
                <a:sym typeface="+mn-ea"/>
              </a:rPr>
              <a:t>C++</a:t>
            </a:r>
            <a:r>
              <a:rPr lang="zh-CN" altLang="en-US" sz="2000">
                <a:sym typeface="+mn-ea"/>
              </a:rPr>
              <a:t>的</a:t>
            </a:r>
            <a:r>
              <a:rPr lang="en-US" altLang="zh-CN" sz="2000">
                <a:sym typeface="+mn-ea"/>
              </a:rPr>
              <a:t>public</a:t>
            </a:r>
            <a:r>
              <a:rPr lang="zh-CN" altLang="en-US" sz="2000">
                <a:sym typeface="+mn-ea"/>
              </a:rPr>
              <a:t>和</a:t>
            </a:r>
            <a:r>
              <a:rPr lang="en-US" altLang="zh-CN" sz="2000">
                <a:sym typeface="+mn-ea"/>
              </a:rPr>
              <a:t>private</a:t>
            </a:r>
            <a:r>
              <a:rPr lang="zh-CN" altLang="en-US" sz="2000">
                <a:sym typeface="+mn-ea"/>
              </a:rPr>
              <a:t>。很多公司不希望在提供的库</a:t>
            </a:r>
            <a:r>
              <a:rPr lang="en-US" altLang="zh-CN" sz="2000" b="1">
                <a:solidFill>
                  <a:srgbClr val="9C0B15"/>
                </a:solidFill>
                <a:sym typeface="+mn-ea"/>
              </a:rPr>
              <a:t>		</a:t>
            </a:r>
            <a:r>
              <a:rPr lang="zh-CN" altLang="en-US" sz="2000">
                <a:sym typeface="+mn-ea"/>
              </a:rPr>
              <a:t>产品中将</a:t>
            </a:r>
            <a:r>
              <a:rPr lang="zh-CN" altLang="en-US" sz="2000">
                <a:solidFill>
                  <a:srgbClr val="9C0B15"/>
                </a:solidFill>
                <a:sym typeface="+mn-ea"/>
              </a:rPr>
              <a:t>内部符号暴露给客户</a:t>
            </a:r>
            <a:r>
              <a:rPr lang="zh-CN" altLang="en-US" sz="2000">
                <a:sym typeface="+mn-ea"/>
              </a:rPr>
              <a:t>，这一来让库导出的符号变得很</a:t>
            </a:r>
            <a:r>
              <a:rPr lang="en-US" altLang="zh-CN" sz="2000" b="1">
                <a:solidFill>
                  <a:srgbClr val="9C0B15"/>
                </a:solidFill>
                <a:sym typeface="+mn-ea"/>
              </a:rPr>
              <a:t>		</a:t>
            </a:r>
            <a:r>
              <a:rPr lang="zh-CN" altLang="en-US" sz="2000">
                <a:sym typeface="+mn-ea"/>
              </a:rPr>
              <a:t>乱，二来让竞争对手（友商）可以轻易看到库的设计。软件专</a:t>
            </a:r>
            <a:r>
              <a:rPr lang="en-US" altLang="zh-CN" sz="2000" b="1">
                <a:solidFill>
                  <a:srgbClr val="9C0B15"/>
                </a:solidFill>
                <a:sym typeface="+mn-ea"/>
              </a:rPr>
              <a:t>		</a:t>
            </a:r>
            <a:r>
              <a:rPr lang="zh-CN" altLang="en-US" sz="2000">
                <a:sym typeface="+mn-ea"/>
              </a:rPr>
              <a:t>利并不好申请，</a:t>
            </a:r>
            <a:r>
              <a:rPr lang="zh-CN" altLang="en-US" sz="2000">
                <a:solidFill>
                  <a:srgbClr val="9C0B15"/>
                </a:solidFill>
                <a:sym typeface="+mn-ea"/>
              </a:rPr>
              <a:t>因此在技术上隐藏这些细节</a:t>
            </a:r>
            <a:r>
              <a:rPr lang="zh-CN" altLang="en-US" sz="2000">
                <a:sym typeface="+mn-ea"/>
              </a:rPr>
              <a:t>十分重要。</a:t>
            </a:r>
            <a:endParaRPr lang="zh-CN" altLang="en-US" sz="2000"/>
          </a:p>
          <a:p>
            <a:pPr algn="l">
              <a:buClrTx/>
              <a:buSzTx/>
              <a:buFontTx/>
            </a:pPr>
            <a:endParaRPr lang="zh-CN" altLang="en-US" sz="2000"/>
          </a:p>
          <a:p>
            <a:pPr algn="l">
              <a:buClrTx/>
              <a:buSzTx/>
              <a:buFontTx/>
            </a:pPr>
            <a:r>
              <a:rPr lang="zh-CN" altLang="en-US" sz="2000" b="1">
                <a:solidFill>
                  <a:srgbClr val="9C0B15"/>
                </a:solidFill>
                <a:sym typeface="+mn-ea"/>
              </a:rPr>
              <a:t>部分链接</a:t>
            </a:r>
            <a:r>
              <a:rPr lang="en-US" altLang="zh-CN" sz="2000">
                <a:sym typeface="+mn-ea"/>
              </a:rPr>
              <a:t>	</a:t>
            </a:r>
            <a:r>
              <a:rPr lang="zh-CN" altLang="en-US" sz="2000">
                <a:sym typeface="+mn-ea"/>
              </a:rPr>
              <a:t>一种静态链接库技术，将静态链接库中的</a:t>
            </a:r>
            <a:r>
              <a:rPr lang="en-US" altLang="zh-CN" sz="2000">
                <a:sym typeface="+mn-ea"/>
              </a:rPr>
              <a:t>*.OBJ</a:t>
            </a:r>
            <a:r>
              <a:rPr lang="zh-CN" altLang="en-US" sz="2000">
                <a:sym typeface="+mn-ea"/>
              </a:rPr>
              <a:t>进行</a:t>
            </a:r>
            <a:r>
              <a:rPr lang="zh-CN" altLang="en-US" sz="2000">
                <a:solidFill>
                  <a:srgbClr val="9C0B15"/>
                </a:solidFill>
                <a:sym typeface="+mn-ea"/>
              </a:rPr>
              <a:t>预链接</a:t>
            </a:r>
            <a:r>
              <a:rPr lang="zh-CN" altLang="en-US" sz="2000">
                <a:sym typeface="+mn-ea"/>
              </a:rPr>
              <a:t>，并</a:t>
            </a:r>
            <a:r>
              <a:rPr lang="en-US" altLang="zh-CN" sz="2000">
                <a:sym typeface="+mn-ea"/>
              </a:rPr>
              <a:t>		</a:t>
            </a:r>
            <a:r>
              <a:rPr lang="zh-CN" altLang="en-US" sz="2000">
                <a:sym typeface="+mn-ea"/>
              </a:rPr>
              <a:t>且</a:t>
            </a:r>
            <a:r>
              <a:rPr lang="zh-CN" altLang="en-US" sz="2000">
                <a:solidFill>
                  <a:srgbClr val="9C0B15"/>
                </a:solidFill>
                <a:sym typeface="+mn-ea"/>
              </a:rPr>
              <a:t>除去（或混淆）</a:t>
            </a:r>
            <a:r>
              <a:rPr lang="zh-CN" altLang="en-US" sz="2000">
                <a:sym typeface="+mn-ea"/>
              </a:rPr>
              <a:t>所有的内部引用符号。</a:t>
            </a:r>
            <a:endParaRPr lang="zh-CN" altLang="en-US" sz="2000">
              <a:sym typeface="+mn-ea"/>
            </a:endParaRPr>
          </a:p>
          <a:p>
            <a:pPr algn="l">
              <a:buClrTx/>
              <a:buSzTx/>
              <a:buFontTx/>
            </a:pPr>
            <a:endParaRPr lang="zh-CN" altLang="en-US" sz="2000">
              <a:sym typeface="+mn-ea"/>
            </a:endParaRPr>
          </a:p>
          <a:p>
            <a:pPr algn="l">
              <a:buClrTx/>
              <a:buSzTx/>
              <a:buFontTx/>
            </a:pPr>
            <a:r>
              <a:rPr lang="en-US" altLang="zh-CN" sz="2000">
                <a:sym typeface="+mn-ea"/>
              </a:rPr>
              <a:t>		</a:t>
            </a:r>
            <a:r>
              <a:rPr lang="zh-CN" altLang="en-US" sz="2000" b="1">
                <a:solidFill>
                  <a:srgbClr val="9C0B15"/>
                </a:solidFill>
                <a:sym typeface="+mn-ea"/>
              </a:rPr>
              <a:t>符号除去</a:t>
            </a:r>
            <a:r>
              <a:rPr lang="en-US" altLang="zh-CN" sz="2000">
                <a:sym typeface="+mn-ea"/>
              </a:rPr>
              <a:t>	</a:t>
            </a:r>
            <a:r>
              <a:rPr lang="zh-CN" altLang="en-US" sz="2000">
                <a:sym typeface="+mn-ea"/>
              </a:rPr>
              <a:t>将所有的库代码编译成一整个</a:t>
            </a:r>
            <a:r>
              <a:rPr lang="zh-CN" altLang="en-US" sz="2000">
                <a:solidFill>
                  <a:srgbClr val="9C0B15"/>
                </a:solidFill>
                <a:sym typeface="+mn-ea"/>
              </a:rPr>
              <a:t>二进制映像</a:t>
            </a:r>
            <a:r>
              <a:rPr lang="zh-CN" altLang="en-US" sz="2000">
                <a:sym typeface="+mn-ea"/>
              </a:rPr>
              <a:t>，其</a:t>
            </a:r>
            <a:r>
              <a:rPr lang="en-US" altLang="zh-CN" sz="2000">
                <a:sym typeface="+mn-ea"/>
              </a:rPr>
              <a:t>		</a:t>
            </a:r>
            <a:r>
              <a:rPr lang="zh-CN" altLang="en-US" sz="2000" b="1">
                <a:solidFill>
                  <a:srgbClr val="9C0B15"/>
                </a:solidFill>
                <a:sym typeface="+mn-ea"/>
              </a:rPr>
              <a:t>（Strip）</a:t>
            </a:r>
            <a:r>
              <a:rPr lang="en-US" altLang="zh-CN" sz="2000">
                <a:sym typeface="+mn-ea"/>
              </a:rPr>
              <a:t>	</a:t>
            </a:r>
            <a:r>
              <a:rPr lang="zh-CN" altLang="en-US" sz="2000">
                <a:sym typeface="+mn-ea"/>
              </a:rPr>
              <a:t>中代码和数据都使用</a:t>
            </a:r>
            <a:r>
              <a:rPr lang="zh-CN" altLang="en-US" sz="2000">
                <a:solidFill>
                  <a:srgbClr val="9C0B15"/>
                </a:solidFill>
                <a:sym typeface="+mn-ea"/>
              </a:rPr>
              <a:t>位置无关方式</a:t>
            </a:r>
            <a:r>
              <a:rPr lang="zh-CN" altLang="en-US" sz="2000">
                <a:sym typeface="+mn-ea"/>
              </a:rPr>
              <a:t>，并且除去</a:t>
            </a:r>
            <a:r>
              <a:rPr lang="en-US" altLang="zh-CN" sz="2000">
                <a:sym typeface="+mn-ea"/>
              </a:rPr>
              <a:t>				</a:t>
            </a:r>
            <a:r>
              <a:rPr lang="zh-CN" altLang="en-US" sz="2000">
                <a:sym typeface="+mn-ea"/>
              </a:rPr>
              <a:t>内部符号（后面详讲；</a:t>
            </a:r>
            <a:r>
              <a:rPr lang="zh-CN" altLang="en-US" sz="2000">
                <a:solidFill>
                  <a:srgbClr val="9C0B15"/>
                </a:solidFill>
                <a:sym typeface="+mn-ea"/>
              </a:rPr>
              <a:t>类似动态链接库</a:t>
            </a:r>
            <a:r>
              <a:rPr lang="zh-CN" altLang="en-US" sz="2000">
                <a:sym typeface="+mn-ea"/>
              </a:rPr>
              <a:t>，只是</a:t>
            </a:r>
            <a:r>
              <a:rPr lang="en-US" altLang="zh-CN" sz="2000">
                <a:sym typeface="+mn-ea"/>
              </a:rPr>
              <a:t>				</a:t>
            </a:r>
            <a:r>
              <a:rPr lang="zh-CN" altLang="en-US" sz="2000">
                <a:sym typeface="+mn-ea"/>
              </a:rPr>
              <a:t>链接</a:t>
            </a:r>
            <a:r>
              <a:rPr lang="zh-CN" altLang="en-US" sz="2000">
                <a:sym typeface="+mn-ea"/>
              </a:rPr>
              <a:t>时与最终可执行文件</a:t>
            </a:r>
            <a:r>
              <a:rPr lang="zh-CN" altLang="en-US" sz="2000">
                <a:sym typeface="+mn-ea"/>
              </a:rPr>
              <a:t>封装在</a:t>
            </a:r>
            <a:r>
              <a:rPr lang="zh-CN" altLang="en-US" sz="2000">
                <a:sym typeface="+mn-ea"/>
              </a:rPr>
              <a:t>一起</a:t>
            </a:r>
            <a:r>
              <a:rPr lang="zh-CN" altLang="en-US" sz="2000">
                <a:sym typeface="+mn-ea"/>
              </a:rPr>
              <a:t>）</a:t>
            </a:r>
            <a:r>
              <a:rPr lang="zh-CN" altLang="en-US" sz="2000">
                <a:sym typeface="+mn-ea"/>
              </a:rPr>
              <a:t>。</a:t>
            </a:r>
            <a:endParaRPr lang="zh-CN" altLang="en-US" sz="2000">
              <a:sym typeface="+mn-ea"/>
            </a:endParaRPr>
          </a:p>
          <a:p>
            <a:pPr algn="l">
              <a:buClrTx/>
              <a:buSzTx/>
              <a:buFontTx/>
            </a:pPr>
            <a:r>
              <a:rPr lang="en-US" altLang="zh-CN" sz="2000">
                <a:sym typeface="+mn-ea"/>
              </a:rPr>
              <a:t>		</a:t>
            </a:r>
            <a:r>
              <a:rPr lang="zh-CN" altLang="en-US" sz="2000" b="1">
                <a:solidFill>
                  <a:srgbClr val="9C0B15"/>
                </a:solidFill>
                <a:sym typeface="+mn-ea"/>
              </a:rPr>
              <a:t>符号混淆</a:t>
            </a:r>
            <a:r>
              <a:rPr lang="en-US" altLang="zh-CN" sz="2000">
                <a:sym typeface="+mn-ea"/>
              </a:rPr>
              <a:t>	</a:t>
            </a:r>
            <a:r>
              <a:rPr lang="zh-CN" altLang="en-US" sz="2000">
                <a:sym typeface="+mn-ea"/>
              </a:rPr>
              <a:t>将所有的内部符号以及对其的引用全部修改为</a:t>
            </a:r>
            <a:r>
              <a:rPr lang="en-US" altLang="zh-CN" sz="2000">
                <a:sym typeface="+mn-ea"/>
              </a:rPr>
              <a:t>		</a:t>
            </a:r>
            <a:r>
              <a:rPr lang="zh-CN" altLang="en-US" sz="2000" b="1">
                <a:solidFill>
                  <a:srgbClr val="9C0B15"/>
                </a:solidFill>
                <a:sym typeface="+mn-ea"/>
              </a:rPr>
              <a:t>（Obfuscate）</a:t>
            </a:r>
            <a:r>
              <a:rPr lang="en-US" altLang="zh-CN" sz="2000">
                <a:sym typeface="+mn-ea"/>
              </a:rPr>
              <a:t>	</a:t>
            </a:r>
            <a:r>
              <a:rPr lang="zh-CN" altLang="en-US" sz="2000">
                <a:solidFill>
                  <a:srgbClr val="9C0B15"/>
                </a:solidFill>
                <a:sym typeface="+mn-ea"/>
              </a:rPr>
              <a:t>无意义的随机字符串</a:t>
            </a:r>
            <a:r>
              <a:rPr lang="zh-CN" altLang="en-US" sz="2000">
                <a:sym typeface="+mn-ea"/>
              </a:rPr>
              <a:t>。这可以让窥探者看不懂</a:t>
            </a:r>
            <a:r>
              <a:rPr lang="en-US" altLang="zh-CN" sz="2000">
                <a:sym typeface="+mn-ea"/>
              </a:rPr>
              <a:t>				</a:t>
            </a:r>
            <a:r>
              <a:rPr lang="zh-CN" altLang="en-US" sz="2000">
                <a:sym typeface="+mn-ea"/>
              </a:rPr>
              <a:t>符号的</a:t>
            </a:r>
            <a:r>
              <a:rPr lang="zh-CN" altLang="en-US" sz="2000">
                <a:sym typeface="+mn-ea"/>
              </a:rPr>
              <a:t>含义。</a:t>
            </a:r>
            <a:endParaRPr lang="zh-CN" altLang="en-US" sz="2000">
              <a:sym typeface="+mn-ea"/>
            </a:endParaRPr>
          </a:p>
        </p:txBody>
      </p:sp>
    </p:spTree>
    <p:custDataLst>
      <p:tags r:id="rId2"/>
    </p:custData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2.1 简单分区</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322070"/>
          </a:xfrm>
          <a:prstGeom prst="rect">
            <a:avLst/>
          </a:prstGeom>
          <a:noFill/>
        </p:spPr>
        <p:txBody>
          <a:bodyPr wrap="square" rtlCol="0">
            <a:spAutoFit/>
          </a:bodyPr>
          <a:p>
            <a:pPr algn="ctr"/>
            <a:r>
              <a:rPr lang="zh-CN" altLang="en-US" sz="2000" b="1">
                <a:solidFill>
                  <a:srgbClr val="9C0B15"/>
                </a:solidFill>
              </a:rPr>
              <a:t>程序地址空间冲突</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多道程序共存</a:t>
            </a:r>
            <a:r>
              <a:rPr lang="en-US" altLang="zh-CN" sz="2000" b="1">
                <a:solidFill>
                  <a:srgbClr val="9C0B15"/>
                </a:solidFill>
              </a:rPr>
              <a:t>	</a:t>
            </a:r>
            <a:r>
              <a:rPr lang="zh-CN" altLang="en-US" sz="2000"/>
              <a:t>多个可执行文件链接到的空间可能是互相冲突的。这样，两个</a:t>
            </a:r>
            <a:r>
              <a:rPr lang="en-US" altLang="zh-CN" sz="2000" b="1">
                <a:solidFill>
                  <a:srgbClr val="9C0B15"/>
                </a:solidFill>
                <a:sym typeface="+mn-ea"/>
              </a:rPr>
              <a:t>		</a:t>
            </a:r>
            <a:r>
              <a:rPr lang="zh-CN" altLang="en-US" sz="2000"/>
              <a:t>程序便无法共存，因为他们都要访问同一片内存。</a:t>
            </a:r>
            <a:endParaRPr lang="zh-CN" altLang="en-US" sz="2000"/>
          </a:p>
        </p:txBody>
      </p:sp>
      <p:grpSp>
        <p:nvGrpSpPr>
          <p:cNvPr id="63" name="组合 62"/>
          <p:cNvGrpSpPr/>
          <p:nvPr/>
        </p:nvGrpSpPr>
        <p:grpSpPr>
          <a:xfrm>
            <a:off x="3929380" y="1887855"/>
            <a:ext cx="1930400" cy="2395855"/>
            <a:chOff x="4350" y="2980"/>
            <a:chExt cx="3040" cy="6475"/>
          </a:xfrm>
        </p:grpSpPr>
        <p:sp>
          <p:nvSpPr>
            <p:cNvPr id="2" name="矩形 1"/>
            <p:cNvSpPr/>
            <p:nvPr>
              <p:custDataLst>
                <p:tags r:id="rId2"/>
              </p:custDataLst>
            </p:nvPr>
          </p:nvSpPr>
          <p:spPr>
            <a:xfrm>
              <a:off x="4350" y="2980"/>
              <a:ext cx="3040" cy="853"/>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4" name="矩形 3"/>
            <p:cNvSpPr/>
            <p:nvPr>
              <p:custDataLst>
                <p:tags r:id="rId3"/>
              </p:custDataLst>
            </p:nvPr>
          </p:nvSpPr>
          <p:spPr>
            <a:xfrm>
              <a:off x="4350" y="3833"/>
              <a:ext cx="3040" cy="5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5" name="矩形 4"/>
            <p:cNvSpPr/>
            <p:nvPr>
              <p:custDataLst>
                <p:tags r:id="rId4"/>
              </p:custDataLst>
            </p:nvPr>
          </p:nvSpPr>
          <p:spPr>
            <a:xfrm>
              <a:off x="4350" y="6059"/>
              <a:ext cx="3040" cy="968"/>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6" name="矩形 5"/>
            <p:cNvSpPr/>
            <p:nvPr>
              <p:custDataLst>
                <p:tags r:id="rId5"/>
              </p:custDataLst>
            </p:nvPr>
          </p:nvSpPr>
          <p:spPr>
            <a:xfrm>
              <a:off x="4350" y="7027"/>
              <a:ext cx="3040" cy="725"/>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7" name="矩形 6"/>
            <p:cNvSpPr/>
            <p:nvPr>
              <p:custDataLst>
                <p:tags r:id="rId6"/>
              </p:custDataLst>
            </p:nvPr>
          </p:nvSpPr>
          <p:spPr>
            <a:xfrm>
              <a:off x="4350" y="7752"/>
              <a:ext cx="3040" cy="85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8" name="矩形 7"/>
            <p:cNvSpPr/>
            <p:nvPr>
              <p:custDataLst>
                <p:tags r:id="rId7"/>
              </p:custDataLst>
            </p:nvPr>
          </p:nvSpPr>
          <p:spPr>
            <a:xfrm>
              <a:off x="4350" y="8603"/>
              <a:ext cx="3040" cy="85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grpSp>
      <p:grpSp>
        <p:nvGrpSpPr>
          <p:cNvPr id="64" name="组合 63"/>
          <p:cNvGrpSpPr/>
          <p:nvPr/>
        </p:nvGrpSpPr>
        <p:grpSpPr>
          <a:xfrm>
            <a:off x="6287135" y="3320415"/>
            <a:ext cx="1930400" cy="2395220"/>
            <a:chOff x="8743" y="3739"/>
            <a:chExt cx="3040" cy="6017"/>
          </a:xfrm>
        </p:grpSpPr>
        <p:sp>
          <p:nvSpPr>
            <p:cNvPr id="17" name="矩形 16"/>
            <p:cNvSpPr/>
            <p:nvPr>
              <p:custDataLst>
                <p:tags r:id="rId8"/>
              </p:custDataLst>
            </p:nvPr>
          </p:nvSpPr>
          <p:spPr>
            <a:xfrm>
              <a:off x="8743" y="3739"/>
              <a:ext cx="3040" cy="849"/>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25" name="矩形 24"/>
            <p:cNvSpPr/>
            <p:nvPr>
              <p:custDataLst>
                <p:tags r:id="rId9"/>
              </p:custDataLst>
            </p:nvPr>
          </p:nvSpPr>
          <p:spPr>
            <a:xfrm>
              <a:off x="8743" y="4588"/>
              <a:ext cx="3040" cy="53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26" name="矩形 25"/>
            <p:cNvSpPr/>
            <p:nvPr>
              <p:custDataLst>
                <p:tags r:id="rId10"/>
              </p:custDataLst>
            </p:nvPr>
          </p:nvSpPr>
          <p:spPr>
            <a:xfrm>
              <a:off x="8743" y="5671"/>
              <a:ext cx="3040" cy="98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28" name="矩形 27"/>
            <p:cNvSpPr/>
            <p:nvPr>
              <p:custDataLst>
                <p:tags r:id="rId11"/>
              </p:custDataLst>
            </p:nvPr>
          </p:nvSpPr>
          <p:spPr>
            <a:xfrm>
              <a:off x="8743" y="6655"/>
              <a:ext cx="3040" cy="668"/>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60" name="矩形 59"/>
            <p:cNvSpPr/>
            <p:nvPr>
              <p:custDataLst>
                <p:tags r:id="rId12"/>
              </p:custDataLst>
            </p:nvPr>
          </p:nvSpPr>
          <p:spPr>
            <a:xfrm>
              <a:off x="8743" y="8187"/>
              <a:ext cx="3040" cy="785"/>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61" name="矩形 60"/>
            <p:cNvSpPr/>
            <p:nvPr>
              <p:custDataLst>
                <p:tags r:id="rId13"/>
              </p:custDataLst>
            </p:nvPr>
          </p:nvSpPr>
          <p:spPr>
            <a:xfrm>
              <a:off x="8743" y="8972"/>
              <a:ext cx="3040" cy="78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grpSp>
      <p:sp>
        <p:nvSpPr>
          <p:cNvPr id="65" name="矩形 64"/>
          <p:cNvSpPr/>
          <p:nvPr>
            <p:custDataLst>
              <p:tags r:id="rId14"/>
            </p:custDataLst>
          </p:nvPr>
        </p:nvSpPr>
        <p:spPr>
          <a:xfrm>
            <a:off x="1588135" y="1887855"/>
            <a:ext cx="1930400" cy="437832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物理内存</a:t>
            </a:r>
            <a:endParaRPr lang="zh-CN" altLang="en-US">
              <a:solidFill>
                <a:schemeClr val="tx1"/>
              </a:solidFill>
            </a:endParaRPr>
          </a:p>
        </p:txBody>
      </p:sp>
    </p:spTree>
    <p:custDataLst>
      <p:tags r:id="rId1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2.1 简单分区</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630045"/>
          </a:xfrm>
          <a:prstGeom prst="rect">
            <a:avLst/>
          </a:prstGeom>
          <a:noFill/>
        </p:spPr>
        <p:txBody>
          <a:bodyPr wrap="square" rtlCol="0">
            <a:spAutoFit/>
          </a:bodyPr>
          <a:p>
            <a:pPr algn="ctr"/>
            <a:r>
              <a:rPr lang="zh-CN" altLang="en-US" sz="2000" b="1">
                <a:solidFill>
                  <a:srgbClr val="9C0B15"/>
                </a:solidFill>
              </a:rPr>
              <a:t>简单的解决方法</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简单分区</a:t>
            </a:r>
            <a:r>
              <a:rPr lang="en-US" altLang="zh-CN" sz="2000" b="1">
                <a:solidFill>
                  <a:srgbClr val="9C0B15"/>
                </a:solidFill>
              </a:rPr>
              <a:t>	</a:t>
            </a:r>
            <a:r>
              <a:rPr lang="zh-CN" sz="2000"/>
              <a:t>将</a:t>
            </a:r>
            <a:r>
              <a:rPr lang="zh-CN" altLang="en-US" sz="2000">
                <a:solidFill>
                  <a:srgbClr val="9C0B15"/>
                </a:solidFill>
              </a:rPr>
              <a:t>物理内存</a:t>
            </a:r>
            <a:r>
              <a:rPr lang="zh-CN" sz="2000"/>
              <a:t>切割成几个块，一个块运行一个应用程序，或者放</a:t>
            </a:r>
            <a:r>
              <a:rPr lang="en-US" altLang="zh-CN" sz="2000" b="1">
                <a:solidFill>
                  <a:srgbClr val="9C0B15"/>
                </a:solidFill>
                <a:sym typeface="+mn-ea"/>
              </a:rPr>
              <a:t>		</a:t>
            </a:r>
            <a:r>
              <a:rPr lang="zh-CN" sz="2000"/>
              <a:t>置一个应用程序的某个段。各个应用程序的各个段在</a:t>
            </a:r>
            <a:r>
              <a:rPr lang="zh-CN" altLang="en-US" sz="2000">
                <a:solidFill>
                  <a:srgbClr val="9C0B15"/>
                </a:solidFill>
              </a:rPr>
              <a:t>链接时就</a:t>
            </a:r>
            <a:r>
              <a:rPr lang="zh-CN" altLang="en-US" sz="2000">
                <a:solidFill>
                  <a:srgbClr val="9C0B15"/>
                </a:solidFill>
                <a:sym typeface="+mn-ea"/>
              </a:rPr>
              <a:t>		</a:t>
            </a:r>
            <a:r>
              <a:rPr lang="zh-CN" altLang="en-US" sz="2000">
                <a:solidFill>
                  <a:srgbClr val="9C0B15"/>
                </a:solidFill>
              </a:rPr>
              <a:t>决定好要放置在什么地方</a:t>
            </a:r>
            <a:r>
              <a:rPr lang="zh-CN" sz="2000"/>
              <a:t>。</a:t>
            </a:r>
            <a:endParaRPr lang="zh-CN" altLang="en-US" sz="2000"/>
          </a:p>
        </p:txBody>
      </p:sp>
      <p:sp>
        <p:nvSpPr>
          <p:cNvPr id="15" name="矩形 14"/>
          <p:cNvSpPr/>
          <p:nvPr>
            <p:custDataLst>
              <p:tags r:id="rId2"/>
            </p:custDataLst>
          </p:nvPr>
        </p:nvSpPr>
        <p:spPr>
          <a:xfrm>
            <a:off x="3929380" y="1887855"/>
            <a:ext cx="1930400" cy="31559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62" name="矩形 61"/>
          <p:cNvSpPr/>
          <p:nvPr>
            <p:custDataLst>
              <p:tags r:id="rId3"/>
            </p:custDataLst>
          </p:nvPr>
        </p:nvSpPr>
        <p:spPr>
          <a:xfrm>
            <a:off x="3929380" y="2203450"/>
            <a:ext cx="1930400" cy="213360"/>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64" name="矩形 63"/>
          <p:cNvSpPr/>
          <p:nvPr>
            <p:custDataLst>
              <p:tags r:id="rId4"/>
            </p:custDataLst>
          </p:nvPr>
        </p:nvSpPr>
        <p:spPr>
          <a:xfrm>
            <a:off x="3929380" y="3295015"/>
            <a:ext cx="1930400" cy="358140"/>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65" name="矩形 64"/>
          <p:cNvSpPr/>
          <p:nvPr>
            <p:custDataLst>
              <p:tags r:id="rId5"/>
            </p:custDataLst>
          </p:nvPr>
        </p:nvSpPr>
        <p:spPr>
          <a:xfrm>
            <a:off x="3929380" y="3653155"/>
            <a:ext cx="1930400" cy="267970"/>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66" name="矩形 65"/>
          <p:cNvSpPr/>
          <p:nvPr>
            <p:custDataLst>
              <p:tags r:id="rId6"/>
            </p:custDataLst>
          </p:nvPr>
        </p:nvSpPr>
        <p:spPr>
          <a:xfrm>
            <a:off x="3929380" y="3921760"/>
            <a:ext cx="1930400" cy="314960"/>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67" name="矩形 66"/>
          <p:cNvSpPr/>
          <p:nvPr>
            <p:custDataLst>
              <p:tags r:id="rId7"/>
            </p:custDataLst>
          </p:nvPr>
        </p:nvSpPr>
        <p:spPr>
          <a:xfrm>
            <a:off x="3929380" y="4236720"/>
            <a:ext cx="1930400" cy="314960"/>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sp>
        <p:nvSpPr>
          <p:cNvPr id="69" name="矩形 68"/>
          <p:cNvSpPr/>
          <p:nvPr>
            <p:custDataLst>
              <p:tags r:id="rId8"/>
            </p:custDataLst>
          </p:nvPr>
        </p:nvSpPr>
        <p:spPr>
          <a:xfrm>
            <a:off x="6287135" y="2583815"/>
            <a:ext cx="1930400" cy="337820"/>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70" name="矩形 69"/>
          <p:cNvSpPr/>
          <p:nvPr>
            <p:custDataLst>
              <p:tags r:id="rId9"/>
            </p:custDataLst>
          </p:nvPr>
        </p:nvSpPr>
        <p:spPr>
          <a:xfrm>
            <a:off x="6287135" y="2921635"/>
            <a:ext cx="1930400" cy="212090"/>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71" name="矩形 70"/>
          <p:cNvSpPr/>
          <p:nvPr>
            <p:custDataLst>
              <p:tags r:id="rId10"/>
            </p:custDataLst>
          </p:nvPr>
        </p:nvSpPr>
        <p:spPr>
          <a:xfrm>
            <a:off x="6287135" y="4747260"/>
            <a:ext cx="1930400" cy="39179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72" name="矩形 71"/>
          <p:cNvSpPr/>
          <p:nvPr>
            <p:custDataLst>
              <p:tags r:id="rId11"/>
            </p:custDataLst>
          </p:nvPr>
        </p:nvSpPr>
        <p:spPr>
          <a:xfrm>
            <a:off x="6287135" y="5139055"/>
            <a:ext cx="1930400" cy="266065"/>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73" name="矩形 72"/>
          <p:cNvSpPr/>
          <p:nvPr>
            <p:custDataLst>
              <p:tags r:id="rId12"/>
            </p:custDataLst>
          </p:nvPr>
        </p:nvSpPr>
        <p:spPr>
          <a:xfrm>
            <a:off x="6287135" y="5640705"/>
            <a:ext cx="1930400" cy="312420"/>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74" name="矩形 73"/>
          <p:cNvSpPr/>
          <p:nvPr>
            <p:custDataLst>
              <p:tags r:id="rId13"/>
            </p:custDataLst>
          </p:nvPr>
        </p:nvSpPr>
        <p:spPr>
          <a:xfrm>
            <a:off x="6287135" y="5953760"/>
            <a:ext cx="1930400" cy="312420"/>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sp>
        <p:nvSpPr>
          <p:cNvPr id="75" name="矩形 74"/>
          <p:cNvSpPr/>
          <p:nvPr>
            <p:custDataLst>
              <p:tags r:id="rId14"/>
            </p:custDataLst>
          </p:nvPr>
        </p:nvSpPr>
        <p:spPr>
          <a:xfrm>
            <a:off x="1588135" y="1888490"/>
            <a:ext cx="1930400" cy="4377690"/>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物理内存</a:t>
            </a:r>
            <a:endParaRPr lang="zh-CN" altLang="en-US">
              <a:solidFill>
                <a:schemeClr val="tx1"/>
              </a:solidFill>
            </a:endParaRPr>
          </a:p>
        </p:txBody>
      </p:sp>
    </p:spTree>
    <p:custDataLst>
      <p:tags r:id="rId1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2.1 简单分区</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554470"/>
          </a:xfrm>
          <a:prstGeom prst="rect">
            <a:avLst/>
          </a:prstGeom>
          <a:noFill/>
        </p:spPr>
        <p:txBody>
          <a:bodyPr wrap="square" rtlCol="0">
            <a:spAutoFit/>
          </a:bodyPr>
          <a:p>
            <a:pPr algn="ctr"/>
            <a:r>
              <a:rPr lang="zh-CN" altLang="en-US" sz="2000" b="1">
                <a:solidFill>
                  <a:srgbClr val="9C0B15"/>
                </a:solidFill>
              </a:rPr>
              <a:t>简单分区的优点</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配置容易</a:t>
            </a:r>
            <a:r>
              <a:rPr lang="en-US" altLang="zh-CN" sz="2000" b="1">
                <a:solidFill>
                  <a:srgbClr val="9C0B15"/>
                </a:solidFill>
              </a:rPr>
              <a:t>	</a:t>
            </a:r>
            <a:r>
              <a:rPr lang="zh-CN" sz="2000"/>
              <a:t>不需要额外的硬件就可以实现。尤其在那些物联网嵌入式应用</a:t>
            </a:r>
            <a:r>
              <a:rPr lang="en-US" altLang="zh-CN" sz="2000" b="1">
                <a:solidFill>
                  <a:srgbClr val="9C0B15"/>
                </a:solidFill>
                <a:sym typeface="+mn-ea"/>
              </a:rPr>
              <a:t>		</a:t>
            </a:r>
            <a:r>
              <a:rPr lang="zh-CN" sz="2000"/>
              <a:t>中，硬件成本是很关键的。如果应用程序的*.OBJ都在手，可以</a:t>
            </a:r>
            <a:r>
              <a:rPr lang="en-US" altLang="zh-CN" sz="2000" b="1">
                <a:solidFill>
                  <a:srgbClr val="9C0B15"/>
                </a:solidFill>
                <a:sym typeface="+mn-ea"/>
              </a:rPr>
              <a:t>		</a:t>
            </a:r>
            <a:r>
              <a:rPr lang="zh-CN" sz="2000"/>
              <a:t>随意链接到任何位置，</a:t>
            </a:r>
            <a:r>
              <a:rPr lang="zh-CN" altLang="en-US" sz="2000">
                <a:solidFill>
                  <a:srgbClr val="9C0B15"/>
                </a:solidFill>
              </a:rPr>
              <a:t>直接编写链接器脚本指导链接器做出此</a:t>
            </a:r>
            <a:r>
              <a:rPr lang="zh-CN" altLang="en-US" sz="2000">
                <a:solidFill>
                  <a:srgbClr val="9C0B15"/>
                </a:solidFill>
                <a:sym typeface="+mn-ea"/>
              </a:rPr>
              <a:t>		</a:t>
            </a:r>
            <a:r>
              <a:rPr lang="zh-CN" altLang="en-US" sz="2000">
                <a:solidFill>
                  <a:srgbClr val="9C0B15"/>
                </a:solidFill>
              </a:rPr>
              <a:t>种链接行为</a:t>
            </a:r>
            <a:r>
              <a:rPr lang="zh-CN" altLang="en-US" sz="2000"/>
              <a:t>即可。</a:t>
            </a:r>
            <a:endParaRPr lang="zh-CN" altLang="en-US" sz="2000"/>
          </a:p>
          <a:p>
            <a:pPr algn="l">
              <a:buClrTx/>
              <a:buSzTx/>
              <a:buFontTx/>
            </a:pPr>
            <a:endParaRPr lang="zh-CN" altLang="en-US" sz="2000"/>
          </a:p>
          <a:p>
            <a:pPr algn="l">
              <a:buClrTx/>
              <a:buSzTx/>
              <a:buFontTx/>
            </a:pPr>
            <a:r>
              <a:rPr lang="zh-CN" altLang="en-US" sz="2000" b="1">
                <a:solidFill>
                  <a:srgbClr val="9C0B15"/>
                </a:solidFill>
              </a:rPr>
              <a:t>权限控制简单	</a:t>
            </a:r>
            <a:r>
              <a:rPr lang="zh-CN" altLang="en-US" sz="2000"/>
              <a:t>想要应用程序之间不能随意互相访问（空间隔离）也很容易。</a:t>
            </a:r>
            <a:r>
              <a:rPr lang="en-US" altLang="zh-CN" sz="2000" b="1">
                <a:solidFill>
                  <a:srgbClr val="9C0B15"/>
                </a:solidFill>
                <a:sym typeface="+mn-ea"/>
              </a:rPr>
              <a:t>		</a:t>
            </a:r>
            <a:r>
              <a:rPr lang="zh-CN" altLang="en-US" sz="2000">
                <a:sym typeface="+mn-ea"/>
              </a:rPr>
              <a:t>每个程序能够合法访问的物理内存范围组成</a:t>
            </a:r>
            <a:r>
              <a:rPr lang="zh-CN" altLang="en-US" sz="2000">
                <a:solidFill>
                  <a:srgbClr val="9C0B15"/>
                </a:solidFill>
                <a:sym typeface="+mn-ea"/>
              </a:rPr>
              <a:t>内存保护</a:t>
            </a:r>
            <a:r>
              <a:rPr lang="zh-CN" altLang="en-US" sz="2000">
                <a:solidFill>
                  <a:srgbClr val="9C0B15"/>
                </a:solidFill>
                <a:sym typeface="+mn-ea"/>
              </a:rPr>
              <a:t>表。</a:t>
            </a:r>
            <a:endParaRPr lang="zh-CN" altLang="en-US" sz="2000">
              <a:solidFill>
                <a:srgbClr val="9C0B15"/>
              </a:solidFill>
              <a:sym typeface="+mn-ea"/>
            </a:endParaRPr>
          </a:p>
          <a:p>
            <a:pPr algn="l">
              <a:buClrTx/>
              <a:buSzTx/>
              <a:buFontTx/>
            </a:pPr>
            <a:r>
              <a:rPr lang="en-US" altLang="zh-CN" sz="2000" b="1">
                <a:solidFill>
                  <a:srgbClr val="9C0B15"/>
                </a:solidFill>
                <a:sym typeface="+mn-ea"/>
              </a:rPr>
              <a:t>		</a:t>
            </a:r>
            <a:r>
              <a:rPr lang="zh-CN" altLang="en-US" sz="2000">
                <a:solidFill>
                  <a:srgbClr val="9C0B15"/>
                </a:solidFill>
                <a:sym typeface="+mn-ea"/>
              </a:rPr>
              <a:t>设计硬件，针对每一次内存访问进行合法性检查，就可以防止</a:t>
            </a:r>
            <a:r>
              <a:rPr lang="en-US" altLang="zh-CN" sz="2000" b="1">
                <a:solidFill>
                  <a:srgbClr val="9C0B15"/>
                </a:solidFill>
                <a:sym typeface="+mn-ea"/>
              </a:rPr>
              <a:t>		</a:t>
            </a:r>
            <a:r>
              <a:rPr lang="zh-CN" altLang="en-US" sz="2000">
                <a:solidFill>
                  <a:srgbClr val="9C0B15"/>
                </a:solidFill>
                <a:sym typeface="+mn-ea"/>
              </a:rPr>
              <a:t>访问越界。</a:t>
            </a:r>
            <a:endParaRPr lang="zh-CN" altLang="en-US" sz="2000"/>
          </a:p>
          <a:p>
            <a:pPr algn="l">
              <a:buClrTx/>
              <a:buSzTx/>
              <a:buFontTx/>
            </a:pPr>
            <a:endParaRPr lang="zh-CN" altLang="en-US" sz="2000"/>
          </a:p>
          <a:p>
            <a:pPr algn="l">
              <a:buClrTx/>
              <a:buSzTx/>
              <a:buFontTx/>
            </a:pPr>
            <a:r>
              <a:rPr lang="zh-CN" altLang="en-US" sz="2000" b="1">
                <a:solidFill>
                  <a:srgbClr val="9C0B15"/>
                </a:solidFill>
              </a:rPr>
              <a:t>内存保护单元	</a:t>
            </a:r>
            <a:r>
              <a:rPr lang="zh-CN" altLang="en-US" sz="2000"/>
              <a:t>常用于简单分区布局的存储器权限控制工具。内存保护单元使</a:t>
            </a:r>
            <a:r>
              <a:rPr lang="en-US" altLang="zh-CN" sz="2000" b="1">
                <a:solidFill>
                  <a:srgbClr val="9C0B15"/>
                </a:solidFill>
              </a:rPr>
              <a:t>Memory</a:t>
            </a:r>
            <a:r>
              <a:rPr lang="en-US" altLang="zh-CN" sz="2000" b="1">
                <a:solidFill>
                  <a:srgbClr val="9C0B15"/>
                </a:solidFill>
                <a:sym typeface="+mn-ea"/>
              </a:rPr>
              <a:t>		</a:t>
            </a:r>
            <a:r>
              <a:rPr lang="zh-CN" altLang="en-US" sz="2000"/>
              <a:t>用一个</a:t>
            </a:r>
            <a:r>
              <a:rPr lang="zh-CN" altLang="en-US" sz="2000">
                <a:solidFill>
                  <a:srgbClr val="9C0B15"/>
                </a:solidFill>
              </a:rPr>
              <a:t>内存保护表</a:t>
            </a:r>
            <a:r>
              <a:rPr lang="zh-CN" altLang="en-US" sz="2000"/>
              <a:t>，表中每一项都包括</a:t>
            </a:r>
            <a:r>
              <a:rPr lang="en-US" altLang="zh-CN" sz="2000"/>
              <a:t>“</a:t>
            </a:r>
            <a:r>
              <a:rPr lang="zh-CN" altLang="en-US" sz="2000">
                <a:solidFill>
                  <a:srgbClr val="9C0B15"/>
                </a:solidFill>
              </a:rPr>
              <a:t>区间范围</a:t>
            </a:r>
            <a:r>
              <a:rPr lang="en-US" altLang="zh-CN" sz="2000"/>
              <a:t>”</a:t>
            </a:r>
            <a:r>
              <a:rPr lang="zh-CN" altLang="en-US" sz="2000"/>
              <a:t>和</a:t>
            </a:r>
            <a:r>
              <a:rPr lang="en-US" altLang="zh-CN" sz="2000"/>
              <a:t>“</a:t>
            </a:r>
            <a:r>
              <a:rPr lang="zh-CN" altLang="en-US" sz="2000">
                <a:solidFill>
                  <a:srgbClr val="9C0B15"/>
                </a:solidFill>
              </a:rPr>
              <a:t>区间权限</a:t>
            </a:r>
            <a:r>
              <a:rPr lang="en-US" altLang="zh-CN" sz="2000" b="1">
                <a:solidFill>
                  <a:srgbClr val="9C0B15"/>
                </a:solidFill>
              </a:rPr>
              <a:t>Protection</a:t>
            </a:r>
            <a:r>
              <a:rPr lang="en-US" altLang="zh-CN" sz="2000" b="1">
                <a:solidFill>
                  <a:srgbClr val="9C0B15"/>
                </a:solidFill>
                <a:sym typeface="+mn-ea"/>
              </a:rPr>
              <a:t>	</a:t>
            </a:r>
            <a:r>
              <a:rPr lang="en-US" altLang="zh-CN" sz="2000"/>
              <a:t>”</a:t>
            </a:r>
            <a:r>
              <a:rPr lang="zh-CN" altLang="en-US" sz="2000"/>
              <a:t>一对信息。由应用程序发起的每一次内存访问都需要</a:t>
            </a:r>
            <a:r>
              <a:rPr lang="zh-CN" altLang="en-US" sz="2000">
                <a:sym typeface="+mn-ea"/>
              </a:rPr>
              <a:t>经过内存</a:t>
            </a:r>
            <a:r>
              <a:rPr lang="en-US" altLang="zh-CN" sz="2000" b="1">
                <a:solidFill>
                  <a:srgbClr val="9C0B15"/>
                </a:solidFill>
              </a:rPr>
              <a:t>Unit</a:t>
            </a:r>
            <a:r>
              <a:rPr lang="en-US" altLang="zh-CN" sz="2000" b="1">
                <a:solidFill>
                  <a:srgbClr val="9C0B15"/>
                </a:solidFill>
                <a:sym typeface="+mn-ea"/>
              </a:rPr>
              <a:t>		</a:t>
            </a:r>
            <a:r>
              <a:rPr lang="zh-CN" altLang="en-US" sz="2000"/>
              <a:t>保护表指定</a:t>
            </a:r>
            <a:r>
              <a:rPr lang="zh-CN" altLang="en-US" sz="2000"/>
              <a:t>的权限检查：</a:t>
            </a:r>
            <a:endParaRPr lang="zh-CN" altLang="en-US" sz="2000"/>
          </a:p>
          <a:p>
            <a:pPr algn="l">
              <a:buClrTx/>
              <a:buSzTx/>
              <a:buFontTx/>
            </a:pPr>
            <a:r>
              <a:rPr lang="zh-CN" altLang="en-US" sz="2000" b="1">
                <a:solidFill>
                  <a:srgbClr val="9C0B15"/>
                </a:solidFill>
                <a:sym typeface="+mn-ea"/>
              </a:rPr>
              <a:t>（</a:t>
            </a:r>
            <a:r>
              <a:rPr lang="en-US" altLang="zh-CN" sz="2000" b="1">
                <a:solidFill>
                  <a:srgbClr val="9C0B15"/>
                </a:solidFill>
                <a:sym typeface="+mn-ea"/>
              </a:rPr>
              <a:t>MPU</a:t>
            </a:r>
            <a:r>
              <a:rPr lang="zh-CN" altLang="en-US" sz="2000" b="1">
                <a:solidFill>
                  <a:srgbClr val="9C0B15"/>
                </a:solidFill>
                <a:sym typeface="+mn-ea"/>
              </a:rPr>
              <a:t>）</a:t>
            </a:r>
            <a:r>
              <a:rPr lang="en-US" altLang="zh-CN" sz="2000" b="1">
                <a:solidFill>
                  <a:srgbClr val="9C0B15"/>
                </a:solidFill>
                <a:sym typeface="+mn-ea"/>
              </a:rPr>
              <a:t>	</a:t>
            </a:r>
            <a:r>
              <a:rPr lang="zh-CN" altLang="en-US" sz="2000"/>
              <a:t>（</a:t>
            </a:r>
            <a:r>
              <a:rPr lang="en-US" altLang="zh-CN" sz="2000"/>
              <a:t>1</a:t>
            </a:r>
            <a:r>
              <a:rPr lang="zh-CN" altLang="en-US" sz="2000"/>
              <a:t>）访问的地址必须</a:t>
            </a:r>
            <a:r>
              <a:rPr lang="zh-CN" altLang="en-US" sz="2000">
                <a:solidFill>
                  <a:srgbClr val="9C0B15"/>
                </a:solidFill>
              </a:rPr>
              <a:t>落在某分区的</a:t>
            </a:r>
            <a:r>
              <a:rPr lang="zh-CN" altLang="en-US" sz="2000">
                <a:solidFill>
                  <a:srgbClr val="9C0B15"/>
                </a:solidFill>
                <a:sym typeface="+mn-ea"/>
              </a:rPr>
              <a:t>地址范围</a:t>
            </a:r>
            <a:r>
              <a:rPr lang="zh-CN" altLang="en-US" sz="2000">
                <a:solidFill>
                  <a:srgbClr val="9C0B15"/>
                </a:solidFill>
              </a:rPr>
              <a:t>之中</a:t>
            </a:r>
            <a:r>
              <a:rPr lang="zh-CN" altLang="en-US" sz="2000"/>
              <a:t>。</a:t>
            </a:r>
            <a:endParaRPr lang="zh-CN" altLang="en-US" sz="2000"/>
          </a:p>
          <a:p>
            <a:pPr algn="l">
              <a:buClrTx/>
              <a:buSzTx/>
              <a:buFontTx/>
            </a:pPr>
            <a:r>
              <a:rPr lang="en-US" altLang="zh-CN" sz="2000" b="1">
                <a:solidFill>
                  <a:srgbClr val="9C0B15"/>
                </a:solidFill>
                <a:sym typeface="+mn-ea"/>
              </a:rPr>
              <a:t>		</a:t>
            </a:r>
            <a:r>
              <a:rPr lang="zh-CN" altLang="en-US" sz="2000"/>
              <a:t>（</a:t>
            </a:r>
            <a:r>
              <a:rPr lang="en-US" altLang="zh-CN" sz="2000"/>
              <a:t>2</a:t>
            </a:r>
            <a:r>
              <a:rPr lang="zh-CN" altLang="en-US" sz="2000"/>
              <a:t>）发起的访问的性质（读，写，执行）必须是</a:t>
            </a:r>
            <a:r>
              <a:rPr lang="zh-CN" altLang="en-US" sz="2000">
                <a:solidFill>
                  <a:srgbClr val="9C0B15"/>
                </a:solidFill>
              </a:rPr>
              <a:t>该分区的权限</a:t>
            </a:r>
            <a:r>
              <a:rPr lang="zh-CN" altLang="en-US" sz="2000">
                <a:solidFill>
                  <a:srgbClr val="9C0B15"/>
                </a:solidFill>
                <a:sym typeface="+mn-ea"/>
              </a:rPr>
              <a:t>		</a:t>
            </a:r>
            <a:r>
              <a:rPr lang="zh-CN" altLang="en-US" sz="2000">
                <a:solidFill>
                  <a:srgbClr val="9C0B15"/>
                </a:solidFill>
              </a:rPr>
              <a:t>允许的</a:t>
            </a:r>
            <a:r>
              <a:rPr lang="zh-CN" altLang="en-US" sz="2000"/>
              <a:t>。</a:t>
            </a:r>
            <a:endParaRPr lang="zh-CN" altLang="en-US" sz="2000"/>
          </a:p>
          <a:p>
            <a:pPr algn="l">
              <a:buClrTx/>
              <a:buSzTx/>
              <a:buFontTx/>
            </a:pPr>
            <a:r>
              <a:rPr lang="zh-CN" altLang="en-US" sz="2000">
                <a:solidFill>
                  <a:srgbClr val="9C0B15"/>
                </a:solidFill>
                <a:sym typeface="+mn-ea"/>
              </a:rPr>
              <a:t>		</a:t>
            </a:r>
            <a:r>
              <a:rPr lang="zh-CN" altLang="en-US" sz="2000"/>
              <a:t>此种方法在硬件上仅需要一组比较器电路就可以实现，</a:t>
            </a:r>
            <a:r>
              <a:rPr lang="zh-CN" altLang="en-US" sz="2000">
                <a:solidFill>
                  <a:srgbClr val="9C0B15"/>
                </a:solidFill>
              </a:rPr>
              <a:t>价格低</a:t>
            </a:r>
            <a:r>
              <a:rPr lang="zh-CN" altLang="en-US" sz="2000">
                <a:solidFill>
                  <a:srgbClr val="9C0B15"/>
                </a:solidFill>
                <a:sym typeface="+mn-ea"/>
              </a:rPr>
              <a:t>		</a:t>
            </a:r>
            <a:r>
              <a:rPr lang="zh-CN" altLang="en-US" sz="2000">
                <a:solidFill>
                  <a:srgbClr val="9C0B15"/>
                </a:solidFill>
              </a:rPr>
              <a:t>廉，实时性好</a:t>
            </a:r>
            <a:r>
              <a:rPr lang="zh-CN" altLang="en-US" sz="2000"/>
              <a:t>，在工控、航空航天、装备制造领域应用广泛。</a:t>
            </a:r>
            <a:endParaRPr lang="zh-CN" altLang="en-US" sz="2000"/>
          </a:p>
        </p:txBody>
      </p:sp>
    </p:spTree>
    <p:custDataLst>
      <p:tags r:id="rId2"/>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2.1 简单分区</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a:t>
                      </a:r>
                      <a:r>
                        <a:rPr lang="en-US" altLang="zh-CN" sz="1800">
                          <a:latin typeface="思源黑体 CN Regular" panose="020B0500000000000000" charset="-122"/>
                          <a:ea typeface="思源黑体 CN Regular" panose="020B0500000000000000" charset="-122"/>
                          <a:sym typeface="+mn-ea"/>
                        </a:rPr>
                        <a:t>2</a:t>
                      </a:r>
                      <a:r>
                        <a:rPr lang="zh-CN" altLang="en-US" sz="1800">
                          <a:latin typeface="思源黑体 CN Regular" panose="020B0500000000000000" charset="-122"/>
                          <a:ea typeface="思源黑体 CN Regular" panose="020B0500000000000000" charset="-122"/>
                          <a:sym typeface="+mn-ea"/>
                        </a:rPr>
                        <a:t>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398780"/>
          </a:xfrm>
          <a:prstGeom prst="rect">
            <a:avLst/>
          </a:prstGeom>
          <a:noFill/>
        </p:spPr>
        <p:txBody>
          <a:bodyPr wrap="square" rtlCol="0">
            <a:spAutoFit/>
          </a:bodyPr>
          <a:p>
            <a:pPr algn="ctr"/>
            <a:r>
              <a:rPr lang="zh-CN" altLang="en-US" sz="2000" b="1">
                <a:solidFill>
                  <a:srgbClr val="9C0B15"/>
                </a:solidFill>
              </a:rPr>
              <a:t>内存保护单元示例</a:t>
            </a:r>
            <a:endParaRPr lang="zh-CN" altLang="en-US" sz="2000"/>
          </a:p>
        </p:txBody>
      </p:sp>
      <p:grpSp>
        <p:nvGrpSpPr>
          <p:cNvPr id="28" name="组合 27"/>
          <p:cNvGrpSpPr/>
          <p:nvPr/>
        </p:nvGrpSpPr>
        <p:grpSpPr>
          <a:xfrm>
            <a:off x="2804795" y="1111250"/>
            <a:ext cx="4881245" cy="1269365"/>
            <a:chOff x="2420" y="6093"/>
            <a:chExt cx="7687" cy="1490"/>
          </a:xfrm>
        </p:grpSpPr>
        <p:sp>
          <p:nvSpPr>
            <p:cNvPr id="15" name="矩形 14"/>
            <p:cNvSpPr/>
            <p:nvPr>
              <p:custDataLst>
                <p:tags r:id="rId2"/>
              </p:custDataLst>
            </p:nvPr>
          </p:nvSpPr>
          <p:spPr>
            <a:xfrm>
              <a:off x="2420" y="6093"/>
              <a:ext cx="4553"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0x08000000 - 0x08010000</a:t>
              </a:r>
              <a:endParaRPr lang="en-US" altLang="zh-CN"/>
            </a:p>
          </p:txBody>
        </p:sp>
        <p:sp>
          <p:nvSpPr>
            <p:cNvPr id="4" name="矩形 3"/>
            <p:cNvSpPr/>
            <p:nvPr>
              <p:custDataLst>
                <p:tags r:id="rId3"/>
              </p:custDataLst>
            </p:nvPr>
          </p:nvSpPr>
          <p:spPr>
            <a:xfrm>
              <a:off x="6973" y="6093"/>
              <a:ext cx="3135"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7" name="矩形 6"/>
            <p:cNvSpPr/>
            <p:nvPr>
              <p:custDataLst>
                <p:tags r:id="rId4"/>
              </p:custDataLst>
            </p:nvPr>
          </p:nvSpPr>
          <p:spPr>
            <a:xfrm>
              <a:off x="2420" y="6590"/>
              <a:ext cx="4553"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0x08010000 - 0x08040000</a:t>
              </a:r>
              <a:endParaRPr lang="en-US" altLang="zh-CN">
                <a:sym typeface="+mn-ea"/>
              </a:endParaRPr>
            </a:p>
          </p:txBody>
        </p:sp>
        <p:sp>
          <p:nvSpPr>
            <p:cNvPr id="8" name="矩形 7"/>
            <p:cNvSpPr/>
            <p:nvPr>
              <p:custDataLst>
                <p:tags r:id="rId5"/>
              </p:custDataLst>
            </p:nvPr>
          </p:nvSpPr>
          <p:spPr>
            <a:xfrm>
              <a:off x="6973" y="6590"/>
              <a:ext cx="3135"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9" name="矩形 8"/>
            <p:cNvSpPr/>
            <p:nvPr>
              <p:custDataLst>
                <p:tags r:id="rId6"/>
              </p:custDataLst>
            </p:nvPr>
          </p:nvSpPr>
          <p:spPr>
            <a:xfrm>
              <a:off x="2420" y="7087"/>
              <a:ext cx="4553"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0x20000000 - 0x20040000</a:t>
              </a:r>
              <a:endParaRPr lang="en-US" altLang="zh-CN">
                <a:sym typeface="+mn-ea"/>
              </a:endParaRPr>
            </a:p>
          </p:txBody>
        </p:sp>
        <p:sp>
          <p:nvSpPr>
            <p:cNvPr id="17" name="矩形 16"/>
            <p:cNvSpPr/>
            <p:nvPr>
              <p:custDataLst>
                <p:tags r:id="rId7"/>
              </p:custDataLst>
            </p:nvPr>
          </p:nvSpPr>
          <p:spPr>
            <a:xfrm>
              <a:off x="6973" y="7087"/>
              <a:ext cx="3134"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 Write</a:t>
              </a:r>
              <a:endParaRPr lang="en-US" altLang="zh-CN">
                <a:sym typeface="+mn-ea"/>
              </a:endParaRPr>
            </a:p>
          </p:txBody>
        </p:sp>
      </p:grpSp>
      <p:sp>
        <p:nvSpPr>
          <p:cNvPr id="60" name="右箭头标注 59"/>
          <p:cNvSpPr/>
          <p:nvPr/>
        </p:nvSpPr>
        <p:spPr>
          <a:xfrm>
            <a:off x="336550" y="3294380"/>
            <a:ext cx="3491230" cy="670560"/>
          </a:xfrm>
          <a:prstGeom prst="rightArrow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endParaRPr lang="en-US" altLang="zh-CN"/>
          </a:p>
          <a:p>
            <a:pPr algn="ctr"/>
            <a:r>
              <a:rPr lang="en-US" altLang="zh-CN"/>
              <a:t>0x08020400</a:t>
            </a:r>
            <a:endParaRPr lang="en-US" altLang="zh-CN"/>
          </a:p>
        </p:txBody>
      </p:sp>
      <p:sp>
        <p:nvSpPr>
          <p:cNvPr id="61" name="椭圆 60"/>
          <p:cNvSpPr/>
          <p:nvPr/>
        </p:nvSpPr>
        <p:spPr>
          <a:xfrm>
            <a:off x="3827780" y="3294380"/>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62" name="椭圆 61"/>
          <p:cNvSpPr/>
          <p:nvPr/>
        </p:nvSpPr>
        <p:spPr>
          <a:xfrm>
            <a:off x="6228715" y="3294380"/>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sp>
        <p:nvSpPr>
          <p:cNvPr id="75" name="矩形 74"/>
          <p:cNvSpPr/>
          <p:nvPr>
            <p:custDataLst>
              <p:tags r:id="rId8"/>
            </p:custDataLst>
          </p:nvPr>
        </p:nvSpPr>
        <p:spPr>
          <a:xfrm>
            <a:off x="7956550" y="2930525"/>
            <a:ext cx="1322705" cy="3020060"/>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物理内存</a:t>
            </a:r>
            <a:endParaRPr lang="zh-CN" altLang="en-US">
              <a:solidFill>
                <a:schemeClr val="tx1"/>
              </a:solidFill>
            </a:endParaRPr>
          </a:p>
        </p:txBody>
      </p:sp>
      <p:sp>
        <p:nvSpPr>
          <p:cNvPr id="63" name="右箭头 62"/>
          <p:cNvSpPr/>
          <p:nvPr/>
        </p:nvSpPr>
        <p:spPr>
          <a:xfrm>
            <a:off x="4752975" y="3455035"/>
            <a:ext cx="1475740"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右箭头 63"/>
          <p:cNvSpPr/>
          <p:nvPr/>
        </p:nvSpPr>
        <p:spPr>
          <a:xfrm>
            <a:off x="7153910" y="3455035"/>
            <a:ext cx="802640"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5" name="图片 64" descr="ok-check-check-mark-correct-png-files-93990"/>
          <p:cNvPicPr>
            <a:picLocks noChangeAspect="1"/>
          </p:cNvPicPr>
          <p:nvPr/>
        </p:nvPicPr>
        <p:blipFill>
          <a:blip r:embed="rId9"/>
          <a:stretch>
            <a:fillRect/>
          </a:stretch>
        </p:blipFill>
        <p:spPr>
          <a:xfrm>
            <a:off x="4855210" y="3294380"/>
            <a:ext cx="841375" cy="681355"/>
          </a:xfrm>
          <a:prstGeom prst="rect">
            <a:avLst/>
          </a:prstGeom>
          <a:noFill/>
          <a:ln w="9525">
            <a:noFill/>
          </a:ln>
        </p:spPr>
      </p:pic>
      <p:pic>
        <p:nvPicPr>
          <p:cNvPr id="66" name="图片 65" descr="ok-check-check-mark-correct-png-files-93990"/>
          <p:cNvPicPr>
            <a:picLocks noChangeAspect="1"/>
          </p:cNvPicPr>
          <p:nvPr/>
        </p:nvPicPr>
        <p:blipFill>
          <a:blip r:embed="rId9"/>
          <a:stretch>
            <a:fillRect/>
          </a:stretch>
        </p:blipFill>
        <p:spPr>
          <a:xfrm>
            <a:off x="7153910" y="3294380"/>
            <a:ext cx="836295" cy="677545"/>
          </a:xfrm>
          <a:prstGeom prst="rect">
            <a:avLst/>
          </a:prstGeom>
          <a:noFill/>
          <a:ln w="9525">
            <a:noFill/>
          </a:ln>
        </p:spPr>
      </p:pic>
      <p:sp>
        <p:nvSpPr>
          <p:cNvPr id="67" name="右箭头标注 66"/>
          <p:cNvSpPr/>
          <p:nvPr>
            <p:custDataLst>
              <p:tags r:id="rId10"/>
            </p:custDataLst>
          </p:nvPr>
        </p:nvSpPr>
        <p:spPr>
          <a:xfrm>
            <a:off x="336550" y="4102735"/>
            <a:ext cx="3491230" cy="670560"/>
          </a:xfrm>
          <a:prstGeom prst="rightArrowCallo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Write</a:t>
            </a:r>
            <a:endParaRPr lang="en-US" altLang="zh-CN"/>
          </a:p>
          <a:p>
            <a:pPr algn="ctr"/>
            <a:r>
              <a:rPr lang="en-US" altLang="zh-CN"/>
              <a:t>0x081207F0</a:t>
            </a:r>
            <a:endParaRPr lang="en-US" altLang="zh-CN"/>
          </a:p>
        </p:txBody>
      </p:sp>
      <p:sp>
        <p:nvSpPr>
          <p:cNvPr id="68" name="椭圆 67"/>
          <p:cNvSpPr/>
          <p:nvPr/>
        </p:nvSpPr>
        <p:spPr>
          <a:xfrm>
            <a:off x="3827780" y="4102735"/>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pic>
        <p:nvPicPr>
          <p:cNvPr id="74" name="图片 73" descr="red-40144_960_720"/>
          <p:cNvPicPr>
            <a:picLocks noChangeAspect="1"/>
          </p:cNvPicPr>
          <p:nvPr/>
        </p:nvPicPr>
        <p:blipFill>
          <a:blip r:embed="rId11"/>
          <a:stretch>
            <a:fillRect/>
          </a:stretch>
        </p:blipFill>
        <p:spPr>
          <a:xfrm>
            <a:off x="4855210" y="4102735"/>
            <a:ext cx="681355" cy="681355"/>
          </a:xfrm>
          <a:prstGeom prst="rect">
            <a:avLst/>
          </a:prstGeom>
          <a:noFill/>
          <a:ln w="9525">
            <a:noFill/>
          </a:ln>
        </p:spPr>
      </p:pic>
      <p:sp>
        <p:nvSpPr>
          <p:cNvPr id="80" name="右箭头标注 79"/>
          <p:cNvSpPr/>
          <p:nvPr>
            <p:custDataLst>
              <p:tags r:id="rId12"/>
            </p:custDataLst>
          </p:nvPr>
        </p:nvSpPr>
        <p:spPr>
          <a:xfrm>
            <a:off x="336550" y="4911090"/>
            <a:ext cx="3491230" cy="670560"/>
          </a:xfrm>
          <a:prstGeom prst="rightArrowCallout">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eXecute</a:t>
            </a:r>
            <a:endParaRPr lang="en-US" altLang="zh-CN"/>
          </a:p>
          <a:p>
            <a:pPr algn="ctr"/>
            <a:r>
              <a:rPr lang="en-US" altLang="zh-CN"/>
              <a:t>0x20019850</a:t>
            </a:r>
            <a:endParaRPr lang="en-US" altLang="zh-CN"/>
          </a:p>
        </p:txBody>
      </p:sp>
      <p:sp>
        <p:nvSpPr>
          <p:cNvPr id="81" name="椭圆 80"/>
          <p:cNvSpPr/>
          <p:nvPr/>
        </p:nvSpPr>
        <p:spPr>
          <a:xfrm>
            <a:off x="3827780" y="4911090"/>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83" name="椭圆 82"/>
          <p:cNvSpPr/>
          <p:nvPr/>
        </p:nvSpPr>
        <p:spPr>
          <a:xfrm>
            <a:off x="6228715" y="4899660"/>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sp>
        <p:nvSpPr>
          <p:cNvPr id="84" name="右箭头 83"/>
          <p:cNvSpPr/>
          <p:nvPr/>
        </p:nvSpPr>
        <p:spPr>
          <a:xfrm>
            <a:off x="4752975" y="5060315"/>
            <a:ext cx="1475740" cy="347980"/>
          </a:xfrm>
          <a:prstGeom prst="rightArrow">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5" name="图片 84" descr="ok-check-check-mark-correct-png-files-93990"/>
          <p:cNvPicPr>
            <a:picLocks noChangeAspect="1"/>
          </p:cNvPicPr>
          <p:nvPr/>
        </p:nvPicPr>
        <p:blipFill>
          <a:blip r:embed="rId9"/>
          <a:stretch>
            <a:fillRect/>
          </a:stretch>
        </p:blipFill>
        <p:spPr>
          <a:xfrm>
            <a:off x="4855210" y="4899660"/>
            <a:ext cx="841375" cy="681355"/>
          </a:xfrm>
          <a:prstGeom prst="rect">
            <a:avLst/>
          </a:prstGeom>
          <a:noFill/>
          <a:ln w="9525">
            <a:noFill/>
          </a:ln>
        </p:spPr>
      </p:pic>
      <p:pic>
        <p:nvPicPr>
          <p:cNvPr id="86" name="图片 85" descr="red-40144_960_720"/>
          <p:cNvPicPr>
            <a:picLocks noChangeAspect="1"/>
          </p:cNvPicPr>
          <p:nvPr/>
        </p:nvPicPr>
        <p:blipFill>
          <a:blip r:embed="rId11"/>
          <a:stretch>
            <a:fillRect/>
          </a:stretch>
        </p:blipFill>
        <p:spPr>
          <a:xfrm>
            <a:off x="7153910" y="4911090"/>
            <a:ext cx="681355" cy="681355"/>
          </a:xfrm>
          <a:prstGeom prst="rect">
            <a:avLst/>
          </a:prstGeom>
          <a:noFill/>
          <a:ln w="9525">
            <a:noFill/>
          </a:ln>
        </p:spPr>
      </p:pic>
      <p:sp>
        <p:nvSpPr>
          <p:cNvPr id="87" name="矩形 86"/>
          <p:cNvSpPr/>
          <p:nvPr>
            <p:custDataLst>
              <p:tags r:id="rId13"/>
            </p:custDataLst>
          </p:nvPr>
        </p:nvSpPr>
        <p:spPr>
          <a:xfrm>
            <a:off x="2804795" y="687566"/>
            <a:ext cx="2891155" cy="423406"/>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区间</a:t>
            </a:r>
            <a:r>
              <a:rPr lang="zh-CN" altLang="en-US">
                <a:solidFill>
                  <a:schemeClr val="tx1"/>
                </a:solidFill>
                <a:sym typeface="+mn-ea"/>
              </a:rPr>
              <a:t>范围</a:t>
            </a:r>
            <a:endParaRPr lang="zh-CN" altLang="en-US">
              <a:solidFill>
                <a:schemeClr val="tx1"/>
              </a:solidFill>
              <a:sym typeface="+mn-ea"/>
            </a:endParaRPr>
          </a:p>
        </p:txBody>
      </p:sp>
      <p:sp>
        <p:nvSpPr>
          <p:cNvPr id="88" name="矩形 87"/>
          <p:cNvSpPr/>
          <p:nvPr>
            <p:custDataLst>
              <p:tags r:id="rId14"/>
            </p:custDataLst>
          </p:nvPr>
        </p:nvSpPr>
        <p:spPr>
          <a:xfrm>
            <a:off x="5696585" y="687705"/>
            <a:ext cx="19900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区间权限</a:t>
            </a:r>
            <a:endParaRPr lang="zh-CN" altLang="en-US">
              <a:solidFill>
                <a:schemeClr val="tx1"/>
              </a:solidFill>
              <a:sym typeface="+mn-ea"/>
            </a:endParaRPr>
          </a:p>
        </p:txBody>
      </p:sp>
    </p:spTree>
    <p:custDataLst>
      <p:tags r:id="rId15"/>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ipe(left)">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wipe(left)">
                                      <p:cBhvr>
                                        <p:cTn id="25" dur="500"/>
                                        <p:tgtEl>
                                          <p:spTgt spid="6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wipe(left)">
                                      <p:cBhvr>
                                        <p:cTn id="30" dur="500"/>
                                        <p:tgtEl>
                                          <p:spTgt spid="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wipe(left)">
                                      <p:cBhvr>
                                        <p:cTn id="35" dur="500"/>
                                        <p:tgtEl>
                                          <p:spTgt spid="6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wipe(left)">
                                      <p:cBhvr>
                                        <p:cTn id="40" dur="500"/>
                                        <p:tgtEl>
                                          <p:spTgt spid="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1"/>
                                        </p:tgtEl>
                                        <p:attrNameLst>
                                          <p:attrName>style.visibility</p:attrName>
                                        </p:attrNameLst>
                                      </p:cBhvr>
                                      <p:to>
                                        <p:strVal val="visible"/>
                                      </p:to>
                                    </p:set>
                                    <p:animEffect transition="in" filter="wipe(left)">
                                      <p:cBhvr>
                                        <p:cTn id="45" dur="500"/>
                                        <p:tgtEl>
                                          <p:spTgt spid="8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85"/>
                                        </p:tgtEl>
                                        <p:attrNameLst>
                                          <p:attrName>style.visibility</p:attrName>
                                        </p:attrNameLst>
                                      </p:cBhvr>
                                      <p:to>
                                        <p:strVal val="visible"/>
                                      </p:to>
                                    </p:set>
                                    <p:animEffect transition="in" filter="wipe(left)">
                                      <p:cBhvr>
                                        <p:cTn id="50" dur="500"/>
                                        <p:tgtEl>
                                          <p:spTgt spid="8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3"/>
                                        </p:tgtEl>
                                        <p:attrNameLst>
                                          <p:attrName>style.visibility</p:attrName>
                                        </p:attrNameLst>
                                      </p:cBhvr>
                                      <p:to>
                                        <p:strVal val="visible"/>
                                      </p:to>
                                    </p:set>
                                    <p:animEffect transition="in" filter="wipe(left)">
                                      <p:cBhvr>
                                        <p:cTn id="55" dur="500"/>
                                        <p:tgtEl>
                                          <p:spTgt spid="83"/>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84"/>
                                        </p:tgtEl>
                                        <p:attrNameLst>
                                          <p:attrName>style.visibility</p:attrName>
                                        </p:attrNameLst>
                                      </p:cBhvr>
                                      <p:to>
                                        <p:strVal val="visible"/>
                                      </p:to>
                                    </p:set>
                                    <p:animEffect transition="in" filter="wipe(left)">
                                      <p:cBhvr>
                                        <p:cTn id="58" dur="500"/>
                                        <p:tgtEl>
                                          <p:spTgt spid="8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6"/>
                                        </p:tgtEl>
                                        <p:attrNameLst>
                                          <p:attrName>style.visibility</p:attrName>
                                        </p:attrNameLst>
                                      </p:cBhvr>
                                      <p:to>
                                        <p:strVal val="visible"/>
                                      </p:to>
                                    </p:set>
                                    <p:animEffect transition="in" filter="wipe(left)">
                                      <p:cBhvr>
                                        <p:cTn id="63"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2" grpId="0" animBg="1"/>
      <p:bldP spid="64" grpId="0" animBg="1"/>
      <p:bldP spid="61" grpId="0" animBg="1"/>
      <p:bldP spid="68" grpId="0" animBg="1"/>
      <p:bldP spid="81" grpId="0" bldLvl="0" animBg="1"/>
      <p:bldP spid="83" grpId="0" bldLvl="0" animBg="1"/>
      <p:bldP spid="8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2.1 简单分区</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5939155"/>
          </a:xfrm>
          <a:prstGeom prst="rect">
            <a:avLst/>
          </a:prstGeom>
          <a:noFill/>
        </p:spPr>
        <p:txBody>
          <a:bodyPr wrap="square" rtlCol="0">
            <a:spAutoFit/>
          </a:bodyPr>
          <a:p>
            <a:pPr algn="ctr"/>
            <a:r>
              <a:rPr lang="zh-CN" altLang="en-US" sz="2000" b="1">
                <a:solidFill>
                  <a:srgbClr val="9C0B15"/>
                </a:solidFill>
              </a:rPr>
              <a:t>简单分区的问题</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二进制</a:t>
            </a:r>
            <a:r>
              <a:rPr lang="en-US" altLang="zh-CN" sz="2000" b="1">
                <a:solidFill>
                  <a:srgbClr val="9C0B15"/>
                </a:solidFill>
              </a:rPr>
              <a:t>“</a:t>
            </a:r>
            <a:r>
              <a:rPr lang="zh-CN" altLang="en-US" sz="2000" b="1">
                <a:solidFill>
                  <a:srgbClr val="9C0B15"/>
                </a:solidFill>
              </a:rPr>
              <a:t>球</a:t>
            </a:r>
            <a:r>
              <a:rPr lang="en-US" altLang="zh-CN" sz="2000" b="1">
                <a:solidFill>
                  <a:srgbClr val="9C0B15"/>
                </a:solidFill>
              </a:rPr>
              <a:t>”</a:t>
            </a:r>
            <a:r>
              <a:rPr lang="zh-CN" altLang="en-US" sz="2000" b="1">
                <a:solidFill>
                  <a:srgbClr val="9C0B15"/>
                </a:solidFill>
              </a:rPr>
              <a:t>	</a:t>
            </a:r>
            <a:r>
              <a:rPr lang="zh-CN" altLang="en-US" sz="2000"/>
              <a:t>很多应用程序厂商出于种种考虑（保护知识产权、减少程序体</a:t>
            </a:r>
            <a:r>
              <a:rPr lang="zh-CN" altLang="en-US" sz="2000">
                <a:sym typeface="+mn-ea"/>
              </a:rPr>
              <a:t>		</a:t>
            </a:r>
            <a:r>
              <a:rPr lang="zh-CN" altLang="en-US" sz="2000"/>
              <a:t>积，等等）</a:t>
            </a:r>
            <a:r>
              <a:rPr lang="zh-CN" altLang="en-US" sz="2000">
                <a:solidFill>
                  <a:srgbClr val="9C0B15"/>
                </a:solidFill>
              </a:rPr>
              <a:t>往往不会放出可二次链接的*.OBJ文件</a:t>
            </a:r>
            <a:r>
              <a:rPr lang="zh-CN" altLang="en-US" sz="2000"/>
              <a:t>。它们往往会</a:t>
            </a:r>
            <a:r>
              <a:rPr lang="zh-CN" altLang="en-US" sz="2000">
                <a:sym typeface="+mn-ea"/>
              </a:rPr>
              <a:t>		</a:t>
            </a:r>
            <a:r>
              <a:rPr lang="zh-CN" altLang="en-US" sz="2000"/>
              <a:t>放出</a:t>
            </a:r>
            <a:r>
              <a:rPr lang="zh-CN" altLang="en-US" sz="2000">
                <a:solidFill>
                  <a:srgbClr val="9C0B15"/>
                </a:solidFill>
              </a:rPr>
              <a:t>*.BIN、*.HEX</a:t>
            </a:r>
            <a:r>
              <a:rPr lang="zh-CN" altLang="en-US" sz="2000">
                <a:solidFill>
                  <a:srgbClr val="9C0B15"/>
                </a:solidFill>
                <a:sym typeface="+mn-ea"/>
              </a:rPr>
              <a:t>、*.EXE</a:t>
            </a:r>
            <a:r>
              <a:rPr lang="zh-CN" altLang="en-US" sz="2000"/>
              <a:t>或其他格式的可执行文件，这些文件已</a:t>
            </a:r>
            <a:r>
              <a:rPr lang="zh-CN" altLang="en-US" sz="2000">
                <a:sym typeface="+mn-ea"/>
              </a:rPr>
              <a:t>		</a:t>
            </a:r>
            <a:r>
              <a:rPr lang="zh-CN" altLang="en-US" sz="2000"/>
              <a:t>经采用</a:t>
            </a:r>
            <a:r>
              <a:rPr lang="zh-CN" altLang="en-US" sz="2000">
                <a:solidFill>
                  <a:srgbClr val="9C0B15"/>
                </a:solidFill>
              </a:rPr>
              <a:t>直接回填法</a:t>
            </a:r>
            <a:r>
              <a:rPr lang="zh-CN" altLang="en-US" sz="2000"/>
              <a:t>将其链接在了一个</a:t>
            </a:r>
            <a:r>
              <a:rPr lang="zh-CN" altLang="en-US" sz="2000">
                <a:solidFill>
                  <a:srgbClr val="9C0B15"/>
                </a:solidFill>
              </a:rPr>
              <a:t>固定的地址</a:t>
            </a:r>
            <a:r>
              <a:rPr lang="zh-CN" altLang="en-US" sz="2000"/>
              <a:t>，而且应用程</a:t>
            </a:r>
            <a:r>
              <a:rPr lang="zh-CN" altLang="en-US" sz="2000">
                <a:sym typeface="+mn-ea"/>
              </a:rPr>
              <a:t>		</a:t>
            </a:r>
            <a:r>
              <a:rPr lang="zh-CN" altLang="en-US" sz="2000"/>
              <a:t>序的</a:t>
            </a:r>
            <a:r>
              <a:rPr lang="zh-CN" altLang="en-US" sz="2000">
                <a:solidFill>
                  <a:srgbClr val="9C0B15"/>
                </a:solidFill>
              </a:rPr>
              <a:t>符号信息也都丢失了，无法进行二次链接</a:t>
            </a:r>
            <a:r>
              <a:rPr lang="zh-CN" altLang="en-US" sz="2000"/>
              <a:t>。</a:t>
            </a:r>
            <a:endParaRPr lang="zh-CN" altLang="en-US" sz="2000"/>
          </a:p>
          <a:p>
            <a:pPr algn="l">
              <a:buClrTx/>
              <a:buSzTx/>
              <a:buFontTx/>
            </a:pPr>
            <a:r>
              <a:rPr lang="zh-CN" altLang="en-US" sz="2000">
                <a:sym typeface="+mn-ea"/>
              </a:rPr>
              <a:t>		</a:t>
            </a:r>
            <a:r>
              <a:rPr lang="zh-CN" altLang="en-US" sz="2000"/>
              <a:t>这种文件俗称“二进制球（</a:t>
            </a:r>
            <a:r>
              <a:rPr lang="en-US" altLang="zh-CN" sz="2000"/>
              <a:t>ball/blob</a:t>
            </a:r>
            <a:r>
              <a:rPr lang="zh-CN" altLang="en-US" sz="2000"/>
              <a:t>）”。它好像一个黑箱、一</a:t>
            </a:r>
            <a:r>
              <a:rPr lang="zh-CN" altLang="en-US" sz="2000">
                <a:sym typeface="+mn-ea"/>
              </a:rPr>
              <a:t>		</a:t>
            </a:r>
            <a:r>
              <a:rPr lang="zh-CN" altLang="en-US" sz="2000"/>
              <a:t>个水晶球，</a:t>
            </a:r>
            <a:r>
              <a:rPr lang="zh-CN" altLang="en-US" sz="2000">
                <a:solidFill>
                  <a:srgbClr val="9C0B15"/>
                </a:solidFill>
              </a:rPr>
              <a:t>拒绝外界修改</a:t>
            </a:r>
            <a:r>
              <a:rPr lang="zh-CN" altLang="en-US" sz="2000"/>
              <a:t>，只能原样运行。</a:t>
            </a:r>
            <a:endParaRPr lang="zh-CN" altLang="en-US" sz="2000"/>
          </a:p>
          <a:p>
            <a:pPr algn="l">
              <a:buClrTx/>
              <a:buSzTx/>
              <a:buFontTx/>
            </a:pPr>
            <a:endParaRPr lang="zh-CN" altLang="en-US" sz="2000"/>
          </a:p>
          <a:p>
            <a:pPr algn="l">
              <a:buClrTx/>
              <a:buSzTx/>
              <a:buFontTx/>
            </a:pPr>
            <a:r>
              <a:rPr lang="zh-CN" altLang="en-US" sz="2000" b="1">
                <a:solidFill>
                  <a:srgbClr val="9C0B15"/>
                </a:solidFill>
              </a:rPr>
              <a:t>问题</a:t>
            </a:r>
            <a:r>
              <a:rPr lang="en-US" altLang="zh-CN" sz="2000"/>
              <a:t>		</a:t>
            </a:r>
            <a:r>
              <a:rPr lang="zh-CN" altLang="en-US" sz="2000"/>
              <a:t>此时再发生地址冲突，怎么办？必须想办法重定位一些段。但</a:t>
            </a:r>
            <a:r>
              <a:rPr lang="en-US" altLang="zh-CN" sz="2000">
                <a:sym typeface="+mn-ea"/>
              </a:rPr>
              <a:t>		</a:t>
            </a:r>
            <a:r>
              <a:rPr lang="zh-CN" altLang="en-US" sz="2000"/>
              <a:t>是</a:t>
            </a:r>
            <a:r>
              <a:rPr lang="zh-CN" altLang="en-US" sz="2000">
                <a:solidFill>
                  <a:srgbClr val="9C0B15"/>
                </a:solidFill>
              </a:rPr>
              <a:t>软件的方法已经封死了</a:t>
            </a:r>
            <a:r>
              <a:rPr lang="zh-CN" altLang="en-US" sz="2000"/>
              <a:t>。</a:t>
            </a:r>
            <a:endParaRPr lang="zh-CN" altLang="en-US" sz="2000"/>
          </a:p>
          <a:p>
            <a:pPr algn="l">
              <a:buClrTx/>
              <a:buSzTx/>
              <a:buFontTx/>
            </a:pPr>
            <a:endParaRPr lang="zh-CN" altLang="en-US" sz="2000">
              <a:sym typeface="+mn-ea"/>
            </a:endParaRPr>
          </a:p>
          <a:p>
            <a:pPr algn="l">
              <a:buClrTx/>
              <a:buSzTx/>
              <a:buFontTx/>
            </a:pPr>
            <a:r>
              <a:rPr lang="en-US" altLang="zh-CN" sz="2000">
                <a:sym typeface="+mn-ea"/>
              </a:rPr>
              <a:t>		</a:t>
            </a:r>
            <a:r>
              <a:rPr lang="zh-CN" altLang="en-US" sz="2000">
                <a:sym typeface="+mn-ea"/>
              </a:rPr>
              <a:t>另外，向系统中</a:t>
            </a:r>
            <a:r>
              <a:rPr lang="zh-CN" altLang="en-US" sz="2000">
                <a:solidFill>
                  <a:srgbClr val="9C0B15"/>
                </a:solidFill>
                <a:sym typeface="+mn-ea"/>
              </a:rPr>
              <a:t>动态添加程序</a:t>
            </a:r>
            <a:r>
              <a:rPr lang="zh-CN" altLang="en-US" sz="2000">
                <a:sym typeface="+mn-ea"/>
              </a:rPr>
              <a:t>困难重重。</a:t>
            </a:r>
            <a:endParaRPr lang="zh-CN" altLang="en-US" sz="2000">
              <a:sym typeface="+mn-ea"/>
            </a:endParaRPr>
          </a:p>
          <a:p>
            <a:pPr algn="l">
              <a:buClrTx/>
              <a:buSzTx/>
              <a:buFontTx/>
            </a:pPr>
            <a:r>
              <a:rPr lang="en-US" altLang="zh-CN" sz="2000">
                <a:sym typeface="+mn-ea"/>
              </a:rPr>
              <a:t>		</a:t>
            </a:r>
            <a:r>
              <a:rPr lang="zh-CN" altLang="en-US" sz="2000">
                <a:sym typeface="+mn-ea"/>
              </a:rPr>
              <a:t>程序退出后，留下的</a:t>
            </a:r>
            <a:r>
              <a:rPr lang="zh-CN" altLang="en-US" sz="2000">
                <a:solidFill>
                  <a:srgbClr val="9C0B15"/>
                </a:solidFill>
                <a:sym typeface="+mn-ea"/>
              </a:rPr>
              <a:t>空洞的</a:t>
            </a:r>
            <a:r>
              <a:rPr lang="zh-CN" altLang="en-US" sz="2000">
                <a:solidFill>
                  <a:srgbClr val="9C0B15"/>
                </a:solidFill>
                <a:sym typeface="+mn-ea"/>
              </a:rPr>
              <a:t>地址</a:t>
            </a:r>
            <a:r>
              <a:rPr lang="zh-CN" altLang="en-US" sz="2000">
                <a:solidFill>
                  <a:srgbClr val="9C0B15"/>
                </a:solidFill>
                <a:sym typeface="+mn-ea"/>
              </a:rPr>
              <a:t>和</a:t>
            </a:r>
            <a:r>
              <a:rPr lang="zh-CN" altLang="en-US" sz="2000">
                <a:solidFill>
                  <a:srgbClr val="9C0B15"/>
                </a:solidFill>
                <a:sym typeface="+mn-ea"/>
              </a:rPr>
              <a:t>大小</a:t>
            </a:r>
            <a:r>
              <a:rPr lang="zh-CN" altLang="en-US" sz="2000">
                <a:sym typeface="+mn-ea"/>
              </a:rPr>
              <a:t>是</a:t>
            </a:r>
            <a:endParaRPr lang="zh-CN" altLang="en-US" sz="2000">
              <a:sym typeface="+mn-ea"/>
            </a:endParaRPr>
          </a:p>
          <a:p>
            <a:pPr algn="l">
              <a:buClrTx/>
              <a:buSzTx/>
              <a:buFontTx/>
            </a:pPr>
            <a:r>
              <a:rPr lang="en-US" altLang="zh-CN" sz="2000">
                <a:sym typeface="+mn-ea"/>
              </a:rPr>
              <a:t>		</a:t>
            </a:r>
            <a:r>
              <a:rPr lang="zh-CN" altLang="en-US" sz="2000">
                <a:sym typeface="+mn-ea"/>
              </a:rPr>
              <a:t>不规则的，新的程序必须正好能适合这个</a:t>
            </a:r>
            <a:endParaRPr lang="zh-CN" altLang="en-US" sz="2000">
              <a:sym typeface="+mn-ea"/>
            </a:endParaRPr>
          </a:p>
          <a:p>
            <a:pPr algn="l">
              <a:buClrTx/>
              <a:buSzTx/>
              <a:buFontTx/>
            </a:pPr>
            <a:r>
              <a:rPr lang="en-US" altLang="zh-CN" sz="2000">
                <a:sym typeface="+mn-ea"/>
              </a:rPr>
              <a:t>		</a:t>
            </a:r>
            <a:r>
              <a:rPr lang="zh-CN" altLang="en-US" sz="2000">
                <a:sym typeface="+mn-ea"/>
              </a:rPr>
              <a:t>空洞才行，这造成了很大困难。因为这个</a:t>
            </a:r>
            <a:endParaRPr lang="zh-CN" altLang="en-US" sz="2000">
              <a:sym typeface="+mn-ea"/>
            </a:endParaRPr>
          </a:p>
          <a:p>
            <a:pPr algn="l">
              <a:buClrTx/>
              <a:buSzTx/>
              <a:buFontTx/>
            </a:pPr>
            <a:r>
              <a:rPr lang="en-US" altLang="zh-CN" sz="2000">
                <a:sym typeface="+mn-ea"/>
              </a:rPr>
              <a:t>		</a:t>
            </a:r>
            <a:r>
              <a:rPr lang="zh-CN" altLang="en-US" sz="2000">
                <a:sym typeface="+mn-ea"/>
              </a:rPr>
              <a:t>原因，简单分区往往只适合那些</a:t>
            </a:r>
            <a:r>
              <a:rPr lang="zh-CN" altLang="en-US" sz="2000">
                <a:solidFill>
                  <a:srgbClr val="9C0B15"/>
                </a:solidFill>
                <a:sym typeface="+mn-ea"/>
              </a:rPr>
              <a:t>应用程序</a:t>
            </a:r>
            <a:endParaRPr lang="zh-CN" altLang="en-US" sz="2000">
              <a:solidFill>
                <a:srgbClr val="9C0B15"/>
              </a:solidFill>
              <a:sym typeface="+mn-ea"/>
            </a:endParaRPr>
          </a:p>
          <a:p>
            <a:pPr algn="l">
              <a:buClrTx/>
              <a:buSzTx/>
              <a:buFontTx/>
            </a:pPr>
            <a:r>
              <a:rPr lang="zh-CN" altLang="en-US" sz="2000">
                <a:solidFill>
                  <a:srgbClr val="9C0B15"/>
                </a:solidFill>
                <a:sym typeface="+mn-ea"/>
              </a:rPr>
              <a:t>		大小固定、数量已知的场合</a:t>
            </a:r>
            <a:r>
              <a:rPr lang="zh-CN" altLang="en-US" sz="2000">
                <a:sym typeface="+mn-ea"/>
              </a:rPr>
              <a:t>。</a:t>
            </a:r>
            <a:endParaRPr lang="zh-CN" altLang="en-US" sz="2000">
              <a:sym typeface="+mn-ea"/>
            </a:endParaRPr>
          </a:p>
        </p:txBody>
      </p:sp>
      <p:pic>
        <p:nvPicPr>
          <p:cNvPr id="2" name="图片 1"/>
          <p:cNvPicPr>
            <a:picLocks noChangeAspect="1"/>
          </p:cNvPicPr>
          <p:nvPr>
            <p:custDataLst>
              <p:tags r:id="rId2"/>
            </p:custDataLst>
          </p:nvPr>
        </p:nvPicPr>
        <p:blipFill>
          <a:blip r:embed="rId3"/>
          <a:stretch>
            <a:fillRect/>
          </a:stretch>
        </p:blipFill>
        <p:spPr>
          <a:xfrm>
            <a:off x="7049135" y="3950970"/>
            <a:ext cx="2240915" cy="2657475"/>
          </a:xfrm>
          <a:prstGeom prst="rect">
            <a:avLst/>
          </a:prstGeom>
        </p:spPr>
      </p:pic>
    </p:spTree>
    <p:custDataLst>
      <p:tags r:id="rId4"/>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630045"/>
          </a:xfrm>
          <a:prstGeom prst="rect">
            <a:avLst/>
          </a:prstGeom>
          <a:noFill/>
        </p:spPr>
        <p:txBody>
          <a:bodyPr wrap="square" rtlCol="0">
            <a:spAutoFit/>
          </a:bodyPr>
          <a:p>
            <a:pPr algn="ctr"/>
            <a:r>
              <a:rPr lang="zh-CN" altLang="en-US" sz="2000" b="1">
                <a:solidFill>
                  <a:srgbClr val="9C0B15"/>
                </a:solidFill>
              </a:rPr>
              <a:t>虚拟地址空间</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硬件地址翻译	</a:t>
            </a:r>
            <a:r>
              <a:rPr lang="zh-CN" altLang="en-US" sz="2000"/>
              <a:t>采用添加额外硬件的方法，将应用程序发起的存储器访问的地</a:t>
            </a:r>
            <a:r>
              <a:rPr lang="zh-CN" altLang="en-US" sz="2000" b="1">
                <a:solidFill>
                  <a:srgbClr val="9C0B15"/>
                </a:solidFill>
                <a:sym typeface="+mn-ea"/>
              </a:rPr>
              <a:t>		</a:t>
            </a:r>
            <a:r>
              <a:rPr lang="zh-CN" altLang="en-US" sz="2000"/>
              <a:t>址做系统性翻译，使得</a:t>
            </a:r>
            <a:r>
              <a:rPr lang="zh-CN" altLang="en-US" sz="2000">
                <a:solidFill>
                  <a:srgbClr val="9C0B15"/>
                </a:solidFill>
              </a:rPr>
              <a:t>不同应用程序中对一个地址发起的访问</a:t>
            </a:r>
            <a:r>
              <a:rPr lang="zh-CN" altLang="en-US" sz="2000">
                <a:solidFill>
                  <a:srgbClr val="9C0B15"/>
                </a:solidFill>
                <a:sym typeface="+mn-ea"/>
              </a:rPr>
              <a:t>		</a:t>
            </a:r>
            <a:r>
              <a:rPr lang="zh-CN" altLang="en-US" sz="2000">
                <a:solidFill>
                  <a:srgbClr val="9C0B15"/>
                </a:solidFill>
              </a:rPr>
              <a:t>实际对应内存总线上的不同地址</a:t>
            </a:r>
            <a:r>
              <a:rPr lang="zh-CN" altLang="en-US" sz="2000"/>
              <a:t>。</a:t>
            </a:r>
            <a:endParaRPr lang="zh-CN" altLang="en-US" sz="2000"/>
          </a:p>
        </p:txBody>
      </p:sp>
      <p:grpSp>
        <p:nvGrpSpPr>
          <p:cNvPr id="89" name="组合 88"/>
          <p:cNvGrpSpPr/>
          <p:nvPr/>
        </p:nvGrpSpPr>
        <p:grpSpPr>
          <a:xfrm>
            <a:off x="333375" y="1932940"/>
            <a:ext cx="9026525" cy="4719320"/>
            <a:chOff x="525" y="3044"/>
            <a:chExt cx="14215" cy="7432"/>
          </a:xfrm>
        </p:grpSpPr>
        <p:grpSp>
          <p:nvGrpSpPr>
            <p:cNvPr id="71" name="组合 70"/>
            <p:cNvGrpSpPr/>
            <p:nvPr/>
          </p:nvGrpSpPr>
          <p:grpSpPr>
            <a:xfrm>
              <a:off x="859" y="4235"/>
              <a:ext cx="3040" cy="3773"/>
              <a:chOff x="4350" y="2980"/>
              <a:chExt cx="3040" cy="6475"/>
            </a:xfrm>
          </p:grpSpPr>
          <p:sp>
            <p:nvSpPr>
              <p:cNvPr id="72" name="矩形 71"/>
              <p:cNvSpPr/>
              <p:nvPr>
                <p:custDataLst>
                  <p:tags r:id="rId2"/>
                </p:custDataLst>
              </p:nvPr>
            </p:nvSpPr>
            <p:spPr>
              <a:xfrm>
                <a:off x="4350" y="2980"/>
                <a:ext cx="3040" cy="853"/>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73" name="矩形 72"/>
              <p:cNvSpPr/>
              <p:nvPr>
                <p:custDataLst>
                  <p:tags r:id="rId3"/>
                </p:custDataLst>
              </p:nvPr>
            </p:nvSpPr>
            <p:spPr>
              <a:xfrm>
                <a:off x="4350" y="3833"/>
                <a:ext cx="3040" cy="5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74" name="矩形 73"/>
              <p:cNvSpPr/>
              <p:nvPr>
                <p:custDataLst>
                  <p:tags r:id="rId4"/>
                </p:custDataLst>
              </p:nvPr>
            </p:nvSpPr>
            <p:spPr>
              <a:xfrm>
                <a:off x="4350" y="6059"/>
                <a:ext cx="3040" cy="968"/>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76" name="矩形 75"/>
              <p:cNvSpPr/>
              <p:nvPr>
                <p:custDataLst>
                  <p:tags r:id="rId5"/>
                </p:custDataLst>
              </p:nvPr>
            </p:nvSpPr>
            <p:spPr>
              <a:xfrm>
                <a:off x="4350" y="7027"/>
                <a:ext cx="3040" cy="725"/>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77" name="矩形 76"/>
              <p:cNvSpPr/>
              <p:nvPr>
                <p:custDataLst>
                  <p:tags r:id="rId6"/>
                </p:custDataLst>
              </p:nvPr>
            </p:nvSpPr>
            <p:spPr>
              <a:xfrm>
                <a:off x="4350" y="7752"/>
                <a:ext cx="3040" cy="85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78" name="矩形 77"/>
              <p:cNvSpPr/>
              <p:nvPr>
                <p:custDataLst>
                  <p:tags r:id="rId7"/>
                </p:custDataLst>
              </p:nvPr>
            </p:nvSpPr>
            <p:spPr>
              <a:xfrm>
                <a:off x="4350" y="8603"/>
                <a:ext cx="3040" cy="85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grpSp>
        <p:grpSp>
          <p:nvGrpSpPr>
            <p:cNvPr id="79" name="组合 78"/>
            <p:cNvGrpSpPr/>
            <p:nvPr/>
          </p:nvGrpSpPr>
          <p:grpSpPr>
            <a:xfrm>
              <a:off x="11339" y="4732"/>
              <a:ext cx="3040" cy="3772"/>
              <a:chOff x="8743" y="3739"/>
              <a:chExt cx="3040" cy="6017"/>
            </a:xfrm>
          </p:grpSpPr>
          <p:sp>
            <p:nvSpPr>
              <p:cNvPr id="80" name="矩形 79"/>
              <p:cNvSpPr/>
              <p:nvPr>
                <p:custDataLst>
                  <p:tags r:id="rId8"/>
                </p:custDataLst>
              </p:nvPr>
            </p:nvSpPr>
            <p:spPr>
              <a:xfrm>
                <a:off x="8743" y="3739"/>
                <a:ext cx="3040" cy="849"/>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81" name="矩形 80"/>
              <p:cNvSpPr/>
              <p:nvPr>
                <p:custDataLst>
                  <p:tags r:id="rId9"/>
                </p:custDataLst>
              </p:nvPr>
            </p:nvSpPr>
            <p:spPr>
              <a:xfrm>
                <a:off x="8743" y="4588"/>
                <a:ext cx="3040" cy="53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82" name="矩形 81"/>
              <p:cNvSpPr/>
              <p:nvPr>
                <p:custDataLst>
                  <p:tags r:id="rId10"/>
                </p:custDataLst>
              </p:nvPr>
            </p:nvSpPr>
            <p:spPr>
              <a:xfrm>
                <a:off x="8743" y="5671"/>
                <a:ext cx="3040" cy="98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83" name="矩形 82"/>
              <p:cNvSpPr/>
              <p:nvPr>
                <p:custDataLst>
                  <p:tags r:id="rId11"/>
                </p:custDataLst>
              </p:nvPr>
            </p:nvSpPr>
            <p:spPr>
              <a:xfrm>
                <a:off x="8743" y="6655"/>
                <a:ext cx="3040" cy="668"/>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84" name="矩形 83"/>
              <p:cNvSpPr/>
              <p:nvPr>
                <p:custDataLst>
                  <p:tags r:id="rId12"/>
                </p:custDataLst>
              </p:nvPr>
            </p:nvSpPr>
            <p:spPr>
              <a:xfrm>
                <a:off x="8743" y="8187"/>
                <a:ext cx="3040" cy="785"/>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85" name="矩形 84"/>
              <p:cNvSpPr/>
              <p:nvPr>
                <p:custDataLst>
                  <p:tags r:id="rId13"/>
                </p:custDataLst>
              </p:nvPr>
            </p:nvSpPr>
            <p:spPr>
              <a:xfrm>
                <a:off x="8743" y="8972"/>
                <a:ext cx="3040" cy="78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grpSp>
        <p:sp>
          <p:nvSpPr>
            <p:cNvPr id="86" name="矩形 85"/>
            <p:cNvSpPr/>
            <p:nvPr>
              <p:custDataLst>
                <p:tags r:id="rId14"/>
              </p:custDataLst>
            </p:nvPr>
          </p:nvSpPr>
          <p:spPr>
            <a:xfrm>
              <a:off x="5946"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7" name="矩形 86"/>
            <p:cNvSpPr/>
            <p:nvPr>
              <p:custDataLst>
                <p:tags r:id="rId15"/>
              </p:custDataLst>
            </p:nvPr>
          </p:nvSpPr>
          <p:spPr>
            <a:xfrm>
              <a:off x="6347" y="4208"/>
              <a:ext cx="3040"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88" name="矩形 87"/>
            <p:cNvSpPr/>
            <p:nvPr>
              <p:custDataLst>
                <p:tags r:id="rId16"/>
              </p:custDataLst>
            </p:nvPr>
          </p:nvSpPr>
          <p:spPr>
            <a:xfrm>
              <a:off x="6347" y="4705"/>
              <a:ext cx="3040" cy="33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90" name="矩形 89"/>
            <p:cNvSpPr/>
            <p:nvPr>
              <p:custDataLst>
                <p:tags r:id="rId17"/>
              </p:custDataLst>
            </p:nvPr>
          </p:nvSpPr>
          <p:spPr>
            <a:xfrm>
              <a:off x="6347" y="5228"/>
              <a:ext cx="3040" cy="532"/>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91" name="矩形 90"/>
            <p:cNvSpPr/>
            <p:nvPr>
              <p:custDataLst>
                <p:tags r:id="rId18"/>
              </p:custDataLst>
            </p:nvPr>
          </p:nvSpPr>
          <p:spPr>
            <a:xfrm>
              <a:off x="6347" y="5760"/>
              <a:ext cx="3040" cy="334"/>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92" name="矩形 91"/>
            <p:cNvSpPr/>
            <p:nvPr>
              <p:custDataLst>
                <p:tags r:id="rId19"/>
              </p:custDataLst>
            </p:nvPr>
          </p:nvSpPr>
          <p:spPr>
            <a:xfrm>
              <a:off x="6347" y="7521"/>
              <a:ext cx="3040" cy="56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93" name="矩形 92"/>
            <p:cNvSpPr/>
            <p:nvPr>
              <p:custDataLst>
                <p:tags r:id="rId20"/>
              </p:custDataLst>
            </p:nvPr>
          </p:nvSpPr>
          <p:spPr>
            <a:xfrm>
              <a:off x="6347" y="8085"/>
              <a:ext cx="3040" cy="42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94" name="矩形 93"/>
            <p:cNvSpPr/>
            <p:nvPr>
              <p:custDataLst>
                <p:tags r:id="rId21"/>
              </p:custDataLst>
            </p:nvPr>
          </p:nvSpPr>
          <p:spPr>
            <a:xfrm>
              <a:off x="6347" y="8598"/>
              <a:ext cx="3040" cy="61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95" name="矩形 94"/>
            <p:cNvSpPr/>
            <p:nvPr>
              <p:custDataLst>
                <p:tags r:id="rId22"/>
              </p:custDataLst>
            </p:nvPr>
          </p:nvSpPr>
          <p:spPr>
            <a:xfrm>
              <a:off x="6347" y="9215"/>
              <a:ext cx="3040" cy="419"/>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96" name="矩形 95"/>
            <p:cNvSpPr/>
            <p:nvPr>
              <p:custDataLst>
                <p:tags r:id="rId23"/>
              </p:custDataLst>
            </p:nvPr>
          </p:nvSpPr>
          <p:spPr>
            <a:xfrm>
              <a:off x="6347" y="6201"/>
              <a:ext cx="3040" cy="49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97" name="矩形 96"/>
            <p:cNvSpPr/>
            <p:nvPr>
              <p:custDataLst>
                <p:tags r:id="rId24"/>
              </p:custDataLst>
            </p:nvPr>
          </p:nvSpPr>
          <p:spPr>
            <a:xfrm>
              <a:off x="6347" y="9779"/>
              <a:ext cx="3040" cy="49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sp>
          <p:nvSpPr>
            <p:cNvPr id="98" name="矩形 97"/>
            <p:cNvSpPr/>
            <p:nvPr>
              <p:custDataLst>
                <p:tags r:id="rId25"/>
              </p:custDataLst>
            </p:nvPr>
          </p:nvSpPr>
          <p:spPr>
            <a:xfrm>
              <a:off x="6347" y="3619"/>
              <a:ext cx="3040" cy="496"/>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99" name="矩形 98"/>
            <p:cNvSpPr/>
            <p:nvPr>
              <p:custDataLst>
                <p:tags r:id="rId26"/>
              </p:custDataLst>
            </p:nvPr>
          </p:nvSpPr>
          <p:spPr>
            <a:xfrm>
              <a:off x="6347" y="6872"/>
              <a:ext cx="3040" cy="49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cxnSp>
          <p:nvCxnSpPr>
            <p:cNvPr id="102" name="直接连接符 101"/>
            <p:cNvCxnSpPr>
              <a:stCxn id="72" idx="3"/>
              <a:endCxn id="87" idx="1"/>
            </p:cNvCxnSpPr>
            <p:nvPr>
              <p:custDataLst>
                <p:tags r:id="rId27"/>
              </p:custDataLst>
            </p:nvPr>
          </p:nvCxnSpPr>
          <p:spPr>
            <a:xfrm flipV="1">
              <a:off x="3899" y="4457"/>
              <a:ext cx="2448" cy="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73" idx="3"/>
              <a:endCxn id="91" idx="1"/>
            </p:cNvCxnSpPr>
            <p:nvPr>
              <p:custDataLst>
                <p:tags r:id="rId28"/>
              </p:custDataLst>
            </p:nvPr>
          </p:nvCxnSpPr>
          <p:spPr>
            <a:xfrm>
              <a:off x="3899" y="4900"/>
              <a:ext cx="2448" cy="10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endCxn id="92" idx="1"/>
            </p:cNvCxnSpPr>
            <p:nvPr>
              <p:custDataLst>
                <p:tags r:id="rId29"/>
              </p:custDataLst>
            </p:nvPr>
          </p:nvCxnSpPr>
          <p:spPr>
            <a:xfrm>
              <a:off x="3899" y="6353"/>
              <a:ext cx="2448" cy="145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endCxn id="93" idx="1"/>
            </p:cNvCxnSpPr>
            <p:nvPr>
              <p:custDataLst>
                <p:tags r:id="rId30"/>
              </p:custDataLst>
            </p:nvPr>
          </p:nvCxnSpPr>
          <p:spPr>
            <a:xfrm>
              <a:off x="3907" y="6801"/>
              <a:ext cx="2440" cy="149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77" idx="3"/>
              <a:endCxn id="98" idx="1"/>
            </p:cNvCxnSpPr>
            <p:nvPr>
              <p:custDataLst>
                <p:tags r:id="rId31"/>
              </p:custDataLst>
            </p:nvPr>
          </p:nvCxnSpPr>
          <p:spPr>
            <a:xfrm flipV="1">
              <a:off x="3899" y="3867"/>
              <a:ext cx="2448" cy="339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78" idx="3"/>
              <a:endCxn id="99" idx="1"/>
            </p:cNvCxnSpPr>
            <p:nvPr>
              <p:custDataLst>
                <p:tags r:id="rId32"/>
              </p:custDataLst>
            </p:nvPr>
          </p:nvCxnSpPr>
          <p:spPr>
            <a:xfrm flipV="1">
              <a:off x="3899" y="7120"/>
              <a:ext cx="2448" cy="64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80" idx="1"/>
              <a:endCxn id="90" idx="3"/>
            </p:cNvCxnSpPr>
            <p:nvPr>
              <p:custDataLst>
                <p:tags r:id="rId33"/>
              </p:custDataLst>
            </p:nvPr>
          </p:nvCxnSpPr>
          <p:spPr>
            <a:xfrm flipH="1">
              <a:off x="9387" y="4998"/>
              <a:ext cx="1952" cy="49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81" idx="1"/>
              <a:endCxn id="88" idx="3"/>
            </p:cNvCxnSpPr>
            <p:nvPr>
              <p:custDataLst>
                <p:tags r:id="rId34"/>
              </p:custDataLst>
            </p:nvPr>
          </p:nvCxnSpPr>
          <p:spPr>
            <a:xfrm flipH="1" flipV="1">
              <a:off x="9387" y="4873"/>
              <a:ext cx="1952" cy="558"/>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82" idx="1"/>
              <a:endCxn id="94" idx="3"/>
            </p:cNvCxnSpPr>
            <p:nvPr>
              <p:custDataLst>
                <p:tags r:id="rId35"/>
              </p:custDataLst>
            </p:nvPr>
          </p:nvCxnSpPr>
          <p:spPr>
            <a:xfrm flipH="1">
              <a:off x="9387" y="6252"/>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83" idx="1"/>
              <a:endCxn id="95" idx="3"/>
            </p:cNvCxnSpPr>
            <p:nvPr>
              <p:custDataLst>
                <p:tags r:id="rId36"/>
              </p:custDataLst>
            </p:nvPr>
          </p:nvCxnSpPr>
          <p:spPr>
            <a:xfrm flipH="1">
              <a:off x="9387" y="6770"/>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85" idx="1"/>
              <a:endCxn id="97" idx="3"/>
            </p:cNvCxnSpPr>
            <p:nvPr>
              <p:custDataLst>
                <p:tags r:id="rId37"/>
              </p:custDataLst>
            </p:nvPr>
          </p:nvCxnSpPr>
          <p:spPr>
            <a:xfrm flipH="1">
              <a:off x="9387" y="8259"/>
              <a:ext cx="1952" cy="176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84" idx="1"/>
              <a:endCxn id="96" idx="3"/>
            </p:cNvCxnSpPr>
            <p:nvPr>
              <p:custDataLst>
                <p:tags r:id="rId38"/>
              </p:custDataLst>
            </p:nvPr>
          </p:nvCxnSpPr>
          <p:spPr>
            <a:xfrm flipH="1" flipV="1">
              <a:off x="9387" y="6447"/>
              <a:ext cx="1952" cy="1319"/>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112" name="矩形 111"/>
            <p:cNvSpPr/>
            <p:nvPr>
              <p:custDataLst>
                <p:tags r:id="rId39"/>
              </p:custDataLst>
            </p:nvPr>
          </p:nvSpPr>
          <p:spPr>
            <a:xfrm>
              <a:off x="525"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1</a:t>
              </a:r>
              <a:endParaRPr lang="en-US" altLang="zh-CN">
                <a:solidFill>
                  <a:schemeClr val="tx1"/>
                </a:solidFill>
              </a:endParaRPr>
            </a:p>
          </p:txBody>
        </p:sp>
        <p:sp>
          <p:nvSpPr>
            <p:cNvPr id="113" name="矩形 112"/>
            <p:cNvSpPr/>
            <p:nvPr>
              <p:custDataLst>
                <p:tags r:id="rId40"/>
              </p:custDataLst>
            </p:nvPr>
          </p:nvSpPr>
          <p:spPr>
            <a:xfrm>
              <a:off x="10977"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2</a:t>
              </a:r>
              <a:endParaRPr lang="en-US" altLang="zh-CN">
                <a:solidFill>
                  <a:schemeClr val="tx1"/>
                </a:solidFill>
              </a:endParaRPr>
            </a:p>
          </p:txBody>
        </p:sp>
      </p:grpSp>
    </p:spTree>
    <p:custDataLst>
      <p:tags r:id="rId41"/>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630045"/>
          </a:xfrm>
          <a:prstGeom prst="rect">
            <a:avLst/>
          </a:prstGeom>
          <a:noFill/>
        </p:spPr>
        <p:txBody>
          <a:bodyPr wrap="square" rtlCol="0">
            <a:spAutoFit/>
          </a:bodyPr>
          <a:p>
            <a:pPr algn="ctr"/>
            <a:r>
              <a:rPr lang="zh-CN" altLang="en-US" sz="2000" b="1">
                <a:solidFill>
                  <a:srgbClr val="9C0B15"/>
                </a:solidFill>
              </a:rPr>
              <a:t>虚拟地址空间</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虚拟地址</a:t>
            </a:r>
            <a:r>
              <a:rPr lang="en-US" altLang="zh-CN" sz="2000"/>
              <a:t>	</a:t>
            </a:r>
            <a:r>
              <a:rPr lang="zh-CN" altLang="en-US" sz="2000"/>
              <a:t>应用程序认为它自己在访问的地址。也叫</a:t>
            </a:r>
            <a:r>
              <a:rPr lang="zh-CN" altLang="en-US" sz="2000">
                <a:solidFill>
                  <a:srgbClr val="9C0B15"/>
                </a:solidFill>
              </a:rPr>
              <a:t>逻辑地址</a:t>
            </a:r>
            <a:r>
              <a:rPr lang="zh-CN" altLang="en-US" sz="2000"/>
              <a:t>。</a:t>
            </a:r>
            <a:endParaRPr lang="zh-CN" altLang="en-US" sz="2000"/>
          </a:p>
          <a:p>
            <a:pPr algn="l">
              <a:buClrTx/>
              <a:buSzTx/>
              <a:buFontTx/>
            </a:pPr>
            <a:r>
              <a:rPr lang="zh-CN" altLang="en-US" sz="2000" b="1">
                <a:solidFill>
                  <a:srgbClr val="9C0B15"/>
                </a:solidFill>
              </a:rPr>
              <a:t>物理地址</a:t>
            </a:r>
            <a:r>
              <a:rPr lang="en-US" altLang="zh-CN" sz="2000"/>
              <a:t>	CPU</a:t>
            </a:r>
            <a:r>
              <a:rPr lang="zh-CN" altLang="en-US" sz="2000"/>
              <a:t>实际送出到内存总线上的物理存储单元地址。也叫</a:t>
            </a:r>
            <a:r>
              <a:rPr lang="zh-CN" altLang="en-US" sz="2000">
                <a:solidFill>
                  <a:srgbClr val="9C0B15"/>
                </a:solidFill>
              </a:rPr>
              <a:t>实地址</a:t>
            </a:r>
            <a:r>
              <a:rPr lang="zh-CN" altLang="en-US" sz="2000"/>
              <a:t>。</a:t>
            </a:r>
            <a:endParaRPr lang="zh-CN" altLang="en-US" sz="2000"/>
          </a:p>
          <a:p>
            <a:pPr algn="l">
              <a:buClrTx/>
              <a:buSzTx/>
              <a:buFontTx/>
            </a:pPr>
            <a:r>
              <a:rPr lang="zh-CN" altLang="en-US" sz="2000" b="1">
                <a:solidFill>
                  <a:srgbClr val="9C0B15"/>
                </a:solidFill>
              </a:rPr>
              <a:t>XX地址空间</a:t>
            </a:r>
            <a:r>
              <a:rPr lang="en-US" altLang="zh-CN" sz="2000"/>
              <a:t>	</a:t>
            </a:r>
            <a:r>
              <a:rPr lang="zh-CN" altLang="en-US" sz="2000"/>
              <a:t>由</a:t>
            </a:r>
            <a:r>
              <a:rPr lang="en-US" altLang="zh-CN" sz="2000"/>
              <a:t>XX</a:t>
            </a:r>
            <a:r>
              <a:rPr lang="zh-CN" altLang="en-US" sz="2000"/>
              <a:t>地址组成的</a:t>
            </a:r>
            <a:r>
              <a:rPr lang="zh-CN" altLang="en-US" sz="2000">
                <a:solidFill>
                  <a:srgbClr val="9C0B15"/>
                </a:solidFill>
              </a:rPr>
              <a:t>地址集合</a:t>
            </a:r>
            <a:r>
              <a:rPr lang="zh-CN" altLang="en-US" sz="2000"/>
              <a:t>就叫做</a:t>
            </a:r>
            <a:r>
              <a:rPr lang="en-US" altLang="zh-CN" sz="2000"/>
              <a:t>XX</a:t>
            </a:r>
            <a:r>
              <a:rPr lang="zh-CN" altLang="en-US" sz="2000"/>
              <a:t>地址空间。</a:t>
            </a:r>
            <a:endParaRPr lang="zh-CN" altLang="en-US" sz="2000"/>
          </a:p>
        </p:txBody>
      </p:sp>
      <p:grpSp>
        <p:nvGrpSpPr>
          <p:cNvPr id="89" name="组合 88"/>
          <p:cNvGrpSpPr/>
          <p:nvPr/>
        </p:nvGrpSpPr>
        <p:grpSpPr>
          <a:xfrm>
            <a:off x="333375" y="1932940"/>
            <a:ext cx="9026525" cy="4719320"/>
            <a:chOff x="525" y="3044"/>
            <a:chExt cx="14215" cy="7432"/>
          </a:xfrm>
        </p:grpSpPr>
        <p:grpSp>
          <p:nvGrpSpPr>
            <p:cNvPr id="63" name="组合 62"/>
            <p:cNvGrpSpPr/>
            <p:nvPr/>
          </p:nvGrpSpPr>
          <p:grpSpPr>
            <a:xfrm>
              <a:off x="859" y="4235"/>
              <a:ext cx="3040" cy="3773"/>
              <a:chOff x="4350" y="2980"/>
              <a:chExt cx="3040" cy="6475"/>
            </a:xfrm>
          </p:grpSpPr>
          <p:sp>
            <p:nvSpPr>
              <p:cNvPr id="4" name="矩形 3"/>
              <p:cNvSpPr/>
              <p:nvPr>
                <p:custDataLst>
                  <p:tags r:id="rId2"/>
                </p:custDataLst>
              </p:nvPr>
            </p:nvSpPr>
            <p:spPr>
              <a:xfrm>
                <a:off x="4350" y="2980"/>
                <a:ext cx="3040" cy="853"/>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5" name="矩形 4"/>
              <p:cNvSpPr/>
              <p:nvPr>
                <p:custDataLst>
                  <p:tags r:id="rId3"/>
                </p:custDataLst>
              </p:nvPr>
            </p:nvSpPr>
            <p:spPr>
              <a:xfrm>
                <a:off x="4350" y="3833"/>
                <a:ext cx="3040" cy="5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6" name="矩形 5"/>
              <p:cNvSpPr/>
              <p:nvPr>
                <p:custDataLst>
                  <p:tags r:id="rId4"/>
                </p:custDataLst>
              </p:nvPr>
            </p:nvSpPr>
            <p:spPr>
              <a:xfrm>
                <a:off x="4350" y="6059"/>
                <a:ext cx="3040" cy="968"/>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7" name="矩形 6"/>
              <p:cNvSpPr/>
              <p:nvPr>
                <p:custDataLst>
                  <p:tags r:id="rId5"/>
                </p:custDataLst>
              </p:nvPr>
            </p:nvSpPr>
            <p:spPr>
              <a:xfrm>
                <a:off x="4350" y="7027"/>
                <a:ext cx="3040" cy="725"/>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8" name="矩形 7"/>
              <p:cNvSpPr/>
              <p:nvPr>
                <p:custDataLst>
                  <p:tags r:id="rId6"/>
                </p:custDataLst>
              </p:nvPr>
            </p:nvSpPr>
            <p:spPr>
              <a:xfrm>
                <a:off x="4350" y="7752"/>
                <a:ext cx="3040" cy="85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9" name="矩形 8"/>
              <p:cNvSpPr/>
              <p:nvPr>
                <p:custDataLst>
                  <p:tags r:id="rId7"/>
                </p:custDataLst>
              </p:nvPr>
            </p:nvSpPr>
            <p:spPr>
              <a:xfrm>
                <a:off x="4350" y="8603"/>
                <a:ext cx="3040" cy="85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grpSp>
        <p:grpSp>
          <p:nvGrpSpPr>
            <p:cNvPr id="64" name="组合 63"/>
            <p:cNvGrpSpPr/>
            <p:nvPr/>
          </p:nvGrpSpPr>
          <p:grpSpPr>
            <a:xfrm>
              <a:off x="11339" y="4732"/>
              <a:ext cx="3040" cy="3772"/>
              <a:chOff x="8743" y="3739"/>
              <a:chExt cx="3040" cy="6017"/>
            </a:xfrm>
          </p:grpSpPr>
          <p:sp>
            <p:nvSpPr>
              <p:cNvPr id="17" name="矩形 16"/>
              <p:cNvSpPr/>
              <p:nvPr>
                <p:custDataLst>
                  <p:tags r:id="rId8"/>
                </p:custDataLst>
              </p:nvPr>
            </p:nvSpPr>
            <p:spPr>
              <a:xfrm>
                <a:off x="8743" y="3739"/>
                <a:ext cx="3040" cy="849"/>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25" name="矩形 24"/>
              <p:cNvSpPr/>
              <p:nvPr>
                <p:custDataLst>
                  <p:tags r:id="rId9"/>
                </p:custDataLst>
              </p:nvPr>
            </p:nvSpPr>
            <p:spPr>
              <a:xfrm>
                <a:off x="8743" y="4588"/>
                <a:ext cx="3040" cy="53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26" name="矩形 25"/>
              <p:cNvSpPr/>
              <p:nvPr>
                <p:custDataLst>
                  <p:tags r:id="rId10"/>
                </p:custDataLst>
              </p:nvPr>
            </p:nvSpPr>
            <p:spPr>
              <a:xfrm>
                <a:off x="8743" y="5671"/>
                <a:ext cx="3040" cy="98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28" name="矩形 27"/>
              <p:cNvSpPr/>
              <p:nvPr>
                <p:custDataLst>
                  <p:tags r:id="rId11"/>
                </p:custDataLst>
              </p:nvPr>
            </p:nvSpPr>
            <p:spPr>
              <a:xfrm>
                <a:off x="8743" y="6655"/>
                <a:ext cx="3040" cy="668"/>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60" name="矩形 59"/>
              <p:cNvSpPr/>
              <p:nvPr>
                <p:custDataLst>
                  <p:tags r:id="rId12"/>
                </p:custDataLst>
              </p:nvPr>
            </p:nvSpPr>
            <p:spPr>
              <a:xfrm>
                <a:off x="8743" y="8187"/>
                <a:ext cx="3040" cy="785"/>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61" name="矩形 60"/>
              <p:cNvSpPr/>
              <p:nvPr>
                <p:custDataLst>
                  <p:tags r:id="rId13"/>
                </p:custDataLst>
              </p:nvPr>
            </p:nvSpPr>
            <p:spPr>
              <a:xfrm>
                <a:off x="8743" y="8972"/>
                <a:ext cx="3040" cy="78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grpSp>
        <p:sp>
          <p:nvSpPr>
            <p:cNvPr id="75" name="矩形 74"/>
            <p:cNvSpPr/>
            <p:nvPr>
              <p:custDataLst>
                <p:tags r:id="rId14"/>
              </p:custDataLst>
            </p:nvPr>
          </p:nvSpPr>
          <p:spPr>
            <a:xfrm>
              <a:off x="5946"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15" name="矩形 14"/>
            <p:cNvSpPr/>
            <p:nvPr>
              <p:custDataLst>
                <p:tags r:id="rId15"/>
              </p:custDataLst>
            </p:nvPr>
          </p:nvSpPr>
          <p:spPr>
            <a:xfrm>
              <a:off x="6347" y="4208"/>
              <a:ext cx="3040"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62" name="矩形 61"/>
            <p:cNvSpPr/>
            <p:nvPr>
              <p:custDataLst>
                <p:tags r:id="rId16"/>
              </p:custDataLst>
            </p:nvPr>
          </p:nvSpPr>
          <p:spPr>
            <a:xfrm>
              <a:off x="6347" y="4705"/>
              <a:ext cx="3040" cy="33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65" name="矩形 64"/>
            <p:cNvSpPr/>
            <p:nvPr>
              <p:custDataLst>
                <p:tags r:id="rId17"/>
              </p:custDataLst>
            </p:nvPr>
          </p:nvSpPr>
          <p:spPr>
            <a:xfrm>
              <a:off x="6347" y="5228"/>
              <a:ext cx="3040" cy="532"/>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66" name="矩形 65"/>
            <p:cNvSpPr/>
            <p:nvPr>
              <p:custDataLst>
                <p:tags r:id="rId18"/>
              </p:custDataLst>
            </p:nvPr>
          </p:nvSpPr>
          <p:spPr>
            <a:xfrm>
              <a:off x="6347" y="5760"/>
              <a:ext cx="3040" cy="334"/>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67" name="矩形 66"/>
            <p:cNvSpPr/>
            <p:nvPr>
              <p:custDataLst>
                <p:tags r:id="rId19"/>
              </p:custDataLst>
            </p:nvPr>
          </p:nvSpPr>
          <p:spPr>
            <a:xfrm>
              <a:off x="6347" y="7521"/>
              <a:ext cx="3040" cy="56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68" name="矩形 67"/>
            <p:cNvSpPr/>
            <p:nvPr>
              <p:custDataLst>
                <p:tags r:id="rId20"/>
              </p:custDataLst>
            </p:nvPr>
          </p:nvSpPr>
          <p:spPr>
            <a:xfrm>
              <a:off x="6347" y="8085"/>
              <a:ext cx="3040" cy="42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69" name="矩形 68"/>
            <p:cNvSpPr/>
            <p:nvPr>
              <p:custDataLst>
                <p:tags r:id="rId21"/>
              </p:custDataLst>
            </p:nvPr>
          </p:nvSpPr>
          <p:spPr>
            <a:xfrm>
              <a:off x="6347" y="8598"/>
              <a:ext cx="3040" cy="61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70" name="矩形 69"/>
            <p:cNvSpPr/>
            <p:nvPr>
              <p:custDataLst>
                <p:tags r:id="rId22"/>
              </p:custDataLst>
            </p:nvPr>
          </p:nvSpPr>
          <p:spPr>
            <a:xfrm>
              <a:off x="6347" y="9215"/>
              <a:ext cx="3040" cy="419"/>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71" name="矩形 70"/>
            <p:cNvSpPr/>
            <p:nvPr>
              <p:custDataLst>
                <p:tags r:id="rId23"/>
              </p:custDataLst>
            </p:nvPr>
          </p:nvSpPr>
          <p:spPr>
            <a:xfrm>
              <a:off x="6347" y="6201"/>
              <a:ext cx="3040" cy="49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72" name="矩形 71"/>
            <p:cNvSpPr/>
            <p:nvPr>
              <p:custDataLst>
                <p:tags r:id="rId24"/>
              </p:custDataLst>
            </p:nvPr>
          </p:nvSpPr>
          <p:spPr>
            <a:xfrm>
              <a:off x="6347" y="9779"/>
              <a:ext cx="3040" cy="49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sp>
          <p:nvSpPr>
            <p:cNvPr id="73" name="矩形 72"/>
            <p:cNvSpPr/>
            <p:nvPr>
              <p:custDataLst>
                <p:tags r:id="rId25"/>
              </p:custDataLst>
            </p:nvPr>
          </p:nvSpPr>
          <p:spPr>
            <a:xfrm>
              <a:off x="6347" y="3619"/>
              <a:ext cx="3040" cy="496"/>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74" name="矩形 73"/>
            <p:cNvSpPr/>
            <p:nvPr>
              <p:custDataLst>
                <p:tags r:id="rId26"/>
              </p:custDataLst>
            </p:nvPr>
          </p:nvSpPr>
          <p:spPr>
            <a:xfrm>
              <a:off x="6347" y="6872"/>
              <a:ext cx="3040" cy="49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cxnSp>
          <p:nvCxnSpPr>
            <p:cNvPr id="102" name="直接连接符 101"/>
            <p:cNvCxnSpPr>
              <a:stCxn id="4" idx="3"/>
              <a:endCxn id="15" idx="1"/>
            </p:cNvCxnSpPr>
            <p:nvPr>
              <p:custDataLst>
                <p:tags r:id="rId27"/>
              </p:custDataLst>
            </p:nvPr>
          </p:nvCxnSpPr>
          <p:spPr>
            <a:xfrm flipV="1">
              <a:off x="3899" y="4457"/>
              <a:ext cx="2448" cy="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5" idx="3"/>
              <a:endCxn id="66" idx="1"/>
            </p:cNvCxnSpPr>
            <p:nvPr>
              <p:custDataLst>
                <p:tags r:id="rId28"/>
              </p:custDataLst>
            </p:nvPr>
          </p:nvCxnSpPr>
          <p:spPr>
            <a:xfrm>
              <a:off x="3899" y="4900"/>
              <a:ext cx="2448" cy="10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接连接符 76"/>
            <p:cNvCxnSpPr>
              <a:endCxn id="67" idx="1"/>
            </p:cNvCxnSpPr>
            <p:nvPr>
              <p:custDataLst>
                <p:tags r:id="rId29"/>
              </p:custDataLst>
            </p:nvPr>
          </p:nvCxnSpPr>
          <p:spPr>
            <a:xfrm>
              <a:off x="3899" y="6353"/>
              <a:ext cx="2448" cy="145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8" name="直接连接符 77"/>
            <p:cNvCxnSpPr>
              <a:endCxn id="68" idx="1"/>
            </p:cNvCxnSpPr>
            <p:nvPr>
              <p:custDataLst>
                <p:tags r:id="rId30"/>
              </p:custDataLst>
            </p:nvPr>
          </p:nvCxnSpPr>
          <p:spPr>
            <a:xfrm>
              <a:off x="3907" y="6801"/>
              <a:ext cx="2440" cy="149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8" idx="3"/>
              <a:endCxn id="73" idx="1"/>
            </p:cNvCxnSpPr>
            <p:nvPr>
              <p:custDataLst>
                <p:tags r:id="rId31"/>
              </p:custDataLst>
            </p:nvPr>
          </p:nvCxnSpPr>
          <p:spPr>
            <a:xfrm flipV="1">
              <a:off x="3899" y="3867"/>
              <a:ext cx="2448" cy="339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9" idx="3"/>
              <a:endCxn id="74" idx="1"/>
            </p:cNvCxnSpPr>
            <p:nvPr>
              <p:custDataLst>
                <p:tags r:id="rId32"/>
              </p:custDataLst>
            </p:nvPr>
          </p:nvCxnSpPr>
          <p:spPr>
            <a:xfrm flipV="1">
              <a:off x="3899" y="7120"/>
              <a:ext cx="2448" cy="64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17" idx="1"/>
              <a:endCxn id="65" idx="3"/>
            </p:cNvCxnSpPr>
            <p:nvPr>
              <p:custDataLst>
                <p:tags r:id="rId33"/>
              </p:custDataLst>
            </p:nvPr>
          </p:nvCxnSpPr>
          <p:spPr>
            <a:xfrm flipH="1">
              <a:off x="9387" y="4998"/>
              <a:ext cx="1952" cy="49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25" idx="1"/>
              <a:endCxn id="62" idx="3"/>
            </p:cNvCxnSpPr>
            <p:nvPr>
              <p:custDataLst>
                <p:tags r:id="rId34"/>
              </p:custDataLst>
            </p:nvPr>
          </p:nvCxnSpPr>
          <p:spPr>
            <a:xfrm flipH="1" flipV="1">
              <a:off x="9387" y="4873"/>
              <a:ext cx="1952" cy="558"/>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26" idx="1"/>
              <a:endCxn id="69" idx="3"/>
            </p:cNvCxnSpPr>
            <p:nvPr>
              <p:custDataLst>
                <p:tags r:id="rId35"/>
              </p:custDataLst>
            </p:nvPr>
          </p:nvCxnSpPr>
          <p:spPr>
            <a:xfrm flipH="1">
              <a:off x="9387" y="6252"/>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28" idx="1"/>
              <a:endCxn id="70" idx="3"/>
            </p:cNvCxnSpPr>
            <p:nvPr>
              <p:custDataLst>
                <p:tags r:id="rId36"/>
              </p:custDataLst>
            </p:nvPr>
          </p:nvCxnSpPr>
          <p:spPr>
            <a:xfrm flipH="1">
              <a:off x="9387" y="6770"/>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61" idx="1"/>
              <a:endCxn id="72" idx="3"/>
            </p:cNvCxnSpPr>
            <p:nvPr>
              <p:custDataLst>
                <p:tags r:id="rId37"/>
              </p:custDataLst>
            </p:nvPr>
          </p:nvCxnSpPr>
          <p:spPr>
            <a:xfrm flipH="1">
              <a:off x="9387" y="8259"/>
              <a:ext cx="1952" cy="176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60" idx="1"/>
              <a:endCxn id="71" idx="3"/>
            </p:cNvCxnSpPr>
            <p:nvPr>
              <p:custDataLst>
                <p:tags r:id="rId38"/>
              </p:custDataLst>
            </p:nvPr>
          </p:nvCxnSpPr>
          <p:spPr>
            <a:xfrm flipH="1" flipV="1">
              <a:off x="9387" y="6447"/>
              <a:ext cx="1952" cy="1319"/>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87" name="矩形 86"/>
            <p:cNvSpPr/>
            <p:nvPr>
              <p:custDataLst>
                <p:tags r:id="rId39"/>
              </p:custDataLst>
            </p:nvPr>
          </p:nvSpPr>
          <p:spPr>
            <a:xfrm>
              <a:off x="525"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1</a:t>
              </a:r>
              <a:endParaRPr lang="en-US" altLang="zh-CN">
                <a:solidFill>
                  <a:schemeClr val="tx1"/>
                </a:solidFill>
              </a:endParaRPr>
            </a:p>
          </p:txBody>
        </p:sp>
        <p:sp>
          <p:nvSpPr>
            <p:cNvPr id="88" name="矩形 87"/>
            <p:cNvSpPr/>
            <p:nvPr>
              <p:custDataLst>
                <p:tags r:id="rId40"/>
              </p:custDataLst>
            </p:nvPr>
          </p:nvSpPr>
          <p:spPr>
            <a:xfrm>
              <a:off x="10977"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2</a:t>
              </a:r>
              <a:endParaRPr lang="en-US" altLang="zh-CN">
                <a:solidFill>
                  <a:schemeClr val="tx1"/>
                </a:solidFill>
              </a:endParaRPr>
            </a:p>
          </p:txBody>
        </p:sp>
      </p:grpSp>
    </p:spTree>
    <p:custDataLst>
      <p:tags r:id="rId41"/>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322070"/>
          </a:xfrm>
          <a:prstGeom prst="rect">
            <a:avLst/>
          </a:prstGeom>
          <a:noFill/>
        </p:spPr>
        <p:txBody>
          <a:bodyPr wrap="square" rtlCol="0">
            <a:spAutoFit/>
          </a:bodyPr>
          <a:p>
            <a:pPr algn="ctr"/>
            <a:r>
              <a:rPr lang="zh-CN" altLang="en-US" sz="2000" b="1">
                <a:solidFill>
                  <a:srgbClr val="9C0B15"/>
                </a:solidFill>
              </a:rPr>
              <a:t>虚拟地址空间</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内存管理单元</a:t>
            </a:r>
            <a:r>
              <a:rPr lang="en-US" altLang="zh-CN" sz="2000"/>
              <a:t>	</a:t>
            </a:r>
            <a:r>
              <a:rPr lang="zh-CN" altLang="en-US" sz="2000"/>
              <a:t>一种能依照某种规则将对逻辑地址的访问转换成对对应的物理</a:t>
            </a:r>
            <a:r>
              <a:rPr lang="en-US" altLang="zh-CN" sz="2000">
                <a:sym typeface="+mn-ea"/>
              </a:rPr>
              <a:t>		</a:t>
            </a:r>
            <a:r>
              <a:rPr lang="zh-CN" altLang="en-US" sz="2000"/>
              <a:t>地址访问的硬件。（</a:t>
            </a:r>
            <a:r>
              <a:rPr lang="en-US" altLang="zh-CN" sz="2000"/>
              <a:t>Memory Management Unit</a:t>
            </a:r>
            <a:r>
              <a:rPr lang="zh-CN" altLang="en-US" sz="2000"/>
              <a:t>，</a:t>
            </a:r>
            <a:r>
              <a:rPr lang="en-US" altLang="zh-CN" sz="2000"/>
              <a:t>MMU</a:t>
            </a:r>
            <a:r>
              <a:rPr lang="zh-CN" altLang="en-US" sz="2000"/>
              <a:t>）</a:t>
            </a:r>
            <a:endParaRPr lang="zh-CN" altLang="en-US" sz="2000"/>
          </a:p>
        </p:txBody>
      </p:sp>
      <p:grpSp>
        <p:nvGrpSpPr>
          <p:cNvPr id="89" name="组合 88"/>
          <p:cNvGrpSpPr/>
          <p:nvPr/>
        </p:nvGrpSpPr>
        <p:grpSpPr>
          <a:xfrm>
            <a:off x="333375" y="1932940"/>
            <a:ext cx="9026525" cy="4719320"/>
            <a:chOff x="525" y="3044"/>
            <a:chExt cx="14215" cy="7432"/>
          </a:xfrm>
        </p:grpSpPr>
        <p:grpSp>
          <p:nvGrpSpPr>
            <p:cNvPr id="2" name="组合 1"/>
            <p:cNvGrpSpPr/>
            <p:nvPr/>
          </p:nvGrpSpPr>
          <p:grpSpPr>
            <a:xfrm>
              <a:off x="859" y="4235"/>
              <a:ext cx="3040" cy="3773"/>
              <a:chOff x="4350" y="2980"/>
              <a:chExt cx="3040" cy="6475"/>
            </a:xfrm>
          </p:grpSpPr>
          <p:sp>
            <p:nvSpPr>
              <p:cNvPr id="74" name="矩形 73"/>
              <p:cNvSpPr/>
              <p:nvPr>
                <p:custDataLst>
                  <p:tags r:id="rId2"/>
                </p:custDataLst>
              </p:nvPr>
            </p:nvSpPr>
            <p:spPr>
              <a:xfrm>
                <a:off x="4350" y="2980"/>
                <a:ext cx="3040" cy="853"/>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76" name="矩形 75"/>
              <p:cNvSpPr/>
              <p:nvPr>
                <p:custDataLst>
                  <p:tags r:id="rId3"/>
                </p:custDataLst>
              </p:nvPr>
            </p:nvSpPr>
            <p:spPr>
              <a:xfrm>
                <a:off x="4350" y="3833"/>
                <a:ext cx="3040" cy="5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77" name="矩形 76"/>
              <p:cNvSpPr/>
              <p:nvPr>
                <p:custDataLst>
                  <p:tags r:id="rId4"/>
                </p:custDataLst>
              </p:nvPr>
            </p:nvSpPr>
            <p:spPr>
              <a:xfrm>
                <a:off x="4350" y="6059"/>
                <a:ext cx="3040" cy="968"/>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78" name="矩形 77"/>
              <p:cNvSpPr/>
              <p:nvPr>
                <p:custDataLst>
                  <p:tags r:id="rId5"/>
                </p:custDataLst>
              </p:nvPr>
            </p:nvSpPr>
            <p:spPr>
              <a:xfrm>
                <a:off x="4350" y="7027"/>
                <a:ext cx="3040" cy="725"/>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79" name="矩形 78"/>
              <p:cNvSpPr/>
              <p:nvPr>
                <p:custDataLst>
                  <p:tags r:id="rId6"/>
                </p:custDataLst>
              </p:nvPr>
            </p:nvSpPr>
            <p:spPr>
              <a:xfrm>
                <a:off x="4350" y="7752"/>
                <a:ext cx="3040" cy="85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80" name="矩形 79"/>
              <p:cNvSpPr/>
              <p:nvPr>
                <p:custDataLst>
                  <p:tags r:id="rId7"/>
                </p:custDataLst>
              </p:nvPr>
            </p:nvSpPr>
            <p:spPr>
              <a:xfrm>
                <a:off x="4350" y="8603"/>
                <a:ext cx="3040" cy="85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grpSp>
        <p:grpSp>
          <p:nvGrpSpPr>
            <p:cNvPr id="81" name="组合 80"/>
            <p:cNvGrpSpPr/>
            <p:nvPr/>
          </p:nvGrpSpPr>
          <p:grpSpPr>
            <a:xfrm>
              <a:off x="11339" y="4732"/>
              <a:ext cx="3040" cy="3772"/>
              <a:chOff x="8743" y="3739"/>
              <a:chExt cx="3040" cy="6017"/>
            </a:xfrm>
          </p:grpSpPr>
          <p:sp>
            <p:nvSpPr>
              <p:cNvPr id="82" name="矩形 81"/>
              <p:cNvSpPr/>
              <p:nvPr>
                <p:custDataLst>
                  <p:tags r:id="rId8"/>
                </p:custDataLst>
              </p:nvPr>
            </p:nvSpPr>
            <p:spPr>
              <a:xfrm>
                <a:off x="8743" y="3739"/>
                <a:ext cx="3040" cy="849"/>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83" name="矩形 82"/>
              <p:cNvSpPr/>
              <p:nvPr>
                <p:custDataLst>
                  <p:tags r:id="rId9"/>
                </p:custDataLst>
              </p:nvPr>
            </p:nvSpPr>
            <p:spPr>
              <a:xfrm>
                <a:off x="8743" y="4588"/>
                <a:ext cx="3040" cy="53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84" name="矩形 83"/>
              <p:cNvSpPr/>
              <p:nvPr>
                <p:custDataLst>
                  <p:tags r:id="rId10"/>
                </p:custDataLst>
              </p:nvPr>
            </p:nvSpPr>
            <p:spPr>
              <a:xfrm>
                <a:off x="8743" y="5671"/>
                <a:ext cx="3040" cy="98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85" name="矩形 84"/>
              <p:cNvSpPr/>
              <p:nvPr>
                <p:custDataLst>
                  <p:tags r:id="rId11"/>
                </p:custDataLst>
              </p:nvPr>
            </p:nvSpPr>
            <p:spPr>
              <a:xfrm>
                <a:off x="8743" y="6655"/>
                <a:ext cx="3040" cy="668"/>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86" name="矩形 85"/>
              <p:cNvSpPr/>
              <p:nvPr>
                <p:custDataLst>
                  <p:tags r:id="rId12"/>
                </p:custDataLst>
              </p:nvPr>
            </p:nvSpPr>
            <p:spPr>
              <a:xfrm>
                <a:off x="8743" y="8187"/>
                <a:ext cx="3040" cy="785"/>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87" name="矩形 86"/>
              <p:cNvSpPr/>
              <p:nvPr>
                <p:custDataLst>
                  <p:tags r:id="rId13"/>
                </p:custDataLst>
              </p:nvPr>
            </p:nvSpPr>
            <p:spPr>
              <a:xfrm>
                <a:off x="8743" y="8972"/>
                <a:ext cx="3040" cy="78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grpSp>
        <p:sp>
          <p:nvSpPr>
            <p:cNvPr id="88" name="矩形 87"/>
            <p:cNvSpPr/>
            <p:nvPr>
              <p:custDataLst>
                <p:tags r:id="rId14"/>
              </p:custDataLst>
            </p:nvPr>
          </p:nvSpPr>
          <p:spPr>
            <a:xfrm>
              <a:off x="5946"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90" name="矩形 89"/>
            <p:cNvSpPr/>
            <p:nvPr>
              <p:custDataLst>
                <p:tags r:id="rId15"/>
              </p:custDataLst>
            </p:nvPr>
          </p:nvSpPr>
          <p:spPr>
            <a:xfrm>
              <a:off x="6347" y="4208"/>
              <a:ext cx="3040"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.text1</a:t>
              </a:r>
              <a:endParaRPr lang="en-US" altLang="zh-CN"/>
            </a:p>
          </p:txBody>
        </p:sp>
        <p:sp>
          <p:nvSpPr>
            <p:cNvPr id="91" name="矩形 90"/>
            <p:cNvSpPr/>
            <p:nvPr>
              <p:custDataLst>
                <p:tags r:id="rId16"/>
              </p:custDataLst>
            </p:nvPr>
          </p:nvSpPr>
          <p:spPr>
            <a:xfrm>
              <a:off x="6347" y="4705"/>
              <a:ext cx="3040" cy="33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.rodata2</a:t>
              </a:r>
              <a:endParaRPr lang="en-US" altLang="zh-CN"/>
            </a:p>
          </p:txBody>
        </p:sp>
        <p:sp>
          <p:nvSpPr>
            <p:cNvPr id="92" name="矩形 91"/>
            <p:cNvSpPr/>
            <p:nvPr>
              <p:custDataLst>
                <p:tags r:id="rId17"/>
              </p:custDataLst>
            </p:nvPr>
          </p:nvSpPr>
          <p:spPr>
            <a:xfrm>
              <a:off x="6347" y="5228"/>
              <a:ext cx="3040" cy="532"/>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.text2</a:t>
              </a:r>
              <a:endParaRPr lang="en-US" altLang="zh-CN"/>
            </a:p>
          </p:txBody>
        </p:sp>
        <p:sp>
          <p:nvSpPr>
            <p:cNvPr id="93" name="矩形 92"/>
            <p:cNvSpPr/>
            <p:nvPr>
              <p:custDataLst>
                <p:tags r:id="rId18"/>
              </p:custDataLst>
            </p:nvPr>
          </p:nvSpPr>
          <p:spPr>
            <a:xfrm>
              <a:off x="6347" y="5760"/>
              <a:ext cx="3040" cy="334"/>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.rodata1</a:t>
              </a:r>
              <a:endParaRPr lang="en-US" altLang="zh-CN"/>
            </a:p>
          </p:txBody>
        </p:sp>
        <p:sp>
          <p:nvSpPr>
            <p:cNvPr id="94" name="矩形 93"/>
            <p:cNvSpPr/>
            <p:nvPr>
              <p:custDataLst>
                <p:tags r:id="rId19"/>
              </p:custDataLst>
            </p:nvPr>
          </p:nvSpPr>
          <p:spPr>
            <a:xfrm>
              <a:off x="6347" y="7521"/>
              <a:ext cx="3040" cy="564"/>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.rwdata1</a:t>
              </a:r>
              <a:endParaRPr lang="en-US" altLang="zh-CN"/>
            </a:p>
          </p:txBody>
        </p:sp>
        <p:sp>
          <p:nvSpPr>
            <p:cNvPr id="95" name="矩形 94"/>
            <p:cNvSpPr/>
            <p:nvPr>
              <p:custDataLst>
                <p:tags r:id="rId20"/>
              </p:custDataLst>
            </p:nvPr>
          </p:nvSpPr>
          <p:spPr>
            <a:xfrm>
              <a:off x="6347" y="8085"/>
              <a:ext cx="3040" cy="42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.zidata/.bss1</a:t>
              </a:r>
              <a:endParaRPr lang="zh-CN" altLang="en-US"/>
            </a:p>
          </p:txBody>
        </p:sp>
        <p:sp>
          <p:nvSpPr>
            <p:cNvPr id="96" name="矩形 95"/>
            <p:cNvSpPr/>
            <p:nvPr>
              <p:custDataLst>
                <p:tags r:id="rId21"/>
              </p:custDataLst>
            </p:nvPr>
          </p:nvSpPr>
          <p:spPr>
            <a:xfrm>
              <a:off x="6347" y="8598"/>
              <a:ext cx="3040" cy="61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.rwdata2</a:t>
              </a:r>
              <a:endParaRPr lang="en-US" altLang="zh-CN"/>
            </a:p>
          </p:txBody>
        </p:sp>
        <p:sp>
          <p:nvSpPr>
            <p:cNvPr id="97" name="矩形 96"/>
            <p:cNvSpPr/>
            <p:nvPr>
              <p:custDataLst>
                <p:tags r:id="rId22"/>
              </p:custDataLst>
            </p:nvPr>
          </p:nvSpPr>
          <p:spPr>
            <a:xfrm>
              <a:off x="6347" y="9215"/>
              <a:ext cx="3040" cy="419"/>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.zidata/.bss2</a:t>
              </a:r>
              <a:endParaRPr lang="zh-CN" altLang="en-US"/>
            </a:p>
          </p:txBody>
        </p:sp>
        <p:sp>
          <p:nvSpPr>
            <p:cNvPr id="98" name="矩形 97"/>
            <p:cNvSpPr/>
            <p:nvPr>
              <p:custDataLst>
                <p:tags r:id="rId23"/>
              </p:custDataLst>
            </p:nvPr>
          </p:nvSpPr>
          <p:spPr>
            <a:xfrm>
              <a:off x="6347" y="6201"/>
              <a:ext cx="3040" cy="492"/>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.heap2</a:t>
              </a:r>
              <a:endParaRPr lang="en-US" altLang="zh-CN"/>
            </a:p>
          </p:txBody>
        </p:sp>
        <p:sp>
          <p:nvSpPr>
            <p:cNvPr id="99" name="矩形 98"/>
            <p:cNvSpPr/>
            <p:nvPr>
              <p:custDataLst>
                <p:tags r:id="rId24"/>
              </p:custDataLst>
            </p:nvPr>
          </p:nvSpPr>
          <p:spPr>
            <a:xfrm>
              <a:off x="6347" y="9779"/>
              <a:ext cx="3040" cy="492"/>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.stack2</a:t>
              </a:r>
              <a:endParaRPr lang="en-US" altLang="zh-CN"/>
            </a:p>
          </p:txBody>
        </p:sp>
        <p:sp>
          <p:nvSpPr>
            <p:cNvPr id="100" name="矩形 99"/>
            <p:cNvSpPr/>
            <p:nvPr>
              <p:custDataLst>
                <p:tags r:id="rId25"/>
              </p:custDataLst>
            </p:nvPr>
          </p:nvSpPr>
          <p:spPr>
            <a:xfrm>
              <a:off x="6347" y="3619"/>
              <a:ext cx="3040" cy="496"/>
            </a:xfrm>
            <a:prstGeom prst="rect">
              <a:avLst/>
            </a:prstGeom>
            <a:solidFill>
              <a:srgbClr val="002060">
                <a:alpha val="50000"/>
              </a:srgbClr>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.heap1</a:t>
              </a:r>
              <a:endParaRPr lang="en-US" altLang="zh-CN"/>
            </a:p>
          </p:txBody>
        </p:sp>
        <p:sp>
          <p:nvSpPr>
            <p:cNvPr id="101" name="矩形 100"/>
            <p:cNvSpPr/>
            <p:nvPr>
              <p:custDataLst>
                <p:tags r:id="rId26"/>
              </p:custDataLst>
            </p:nvPr>
          </p:nvSpPr>
          <p:spPr>
            <a:xfrm>
              <a:off x="6347" y="6872"/>
              <a:ext cx="3040" cy="49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.stack1</a:t>
              </a:r>
              <a:endParaRPr lang="en-US" altLang="zh-CN"/>
            </a:p>
          </p:txBody>
        </p:sp>
        <p:cxnSp>
          <p:nvCxnSpPr>
            <p:cNvPr id="102" name="直接连接符 101"/>
            <p:cNvCxnSpPr>
              <a:stCxn id="74" idx="3"/>
              <a:endCxn id="90" idx="1"/>
            </p:cNvCxnSpPr>
            <p:nvPr>
              <p:custDataLst>
                <p:tags r:id="rId27"/>
              </p:custDataLst>
            </p:nvPr>
          </p:nvCxnSpPr>
          <p:spPr>
            <a:xfrm flipV="1">
              <a:off x="3899" y="4457"/>
              <a:ext cx="2448" cy="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76" idx="3"/>
              <a:endCxn id="93" idx="1"/>
            </p:cNvCxnSpPr>
            <p:nvPr>
              <p:custDataLst>
                <p:tags r:id="rId28"/>
              </p:custDataLst>
            </p:nvPr>
          </p:nvCxnSpPr>
          <p:spPr>
            <a:xfrm>
              <a:off x="3899" y="4900"/>
              <a:ext cx="2448" cy="102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endCxn id="94" idx="1"/>
            </p:cNvCxnSpPr>
            <p:nvPr>
              <p:custDataLst>
                <p:tags r:id="rId29"/>
              </p:custDataLst>
            </p:nvPr>
          </p:nvCxnSpPr>
          <p:spPr>
            <a:xfrm>
              <a:off x="3899" y="6353"/>
              <a:ext cx="2448" cy="145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endCxn id="95" idx="1"/>
            </p:cNvCxnSpPr>
            <p:nvPr>
              <p:custDataLst>
                <p:tags r:id="rId30"/>
              </p:custDataLst>
            </p:nvPr>
          </p:nvCxnSpPr>
          <p:spPr>
            <a:xfrm>
              <a:off x="3907" y="6801"/>
              <a:ext cx="2440" cy="149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79" idx="3"/>
              <a:endCxn id="100" idx="1"/>
            </p:cNvCxnSpPr>
            <p:nvPr>
              <p:custDataLst>
                <p:tags r:id="rId31"/>
              </p:custDataLst>
            </p:nvPr>
          </p:nvCxnSpPr>
          <p:spPr>
            <a:xfrm flipV="1">
              <a:off x="3899" y="3867"/>
              <a:ext cx="2448" cy="3397"/>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80" idx="3"/>
              <a:endCxn id="101" idx="1"/>
            </p:cNvCxnSpPr>
            <p:nvPr>
              <p:custDataLst>
                <p:tags r:id="rId32"/>
              </p:custDataLst>
            </p:nvPr>
          </p:nvCxnSpPr>
          <p:spPr>
            <a:xfrm flipV="1">
              <a:off x="3899" y="7120"/>
              <a:ext cx="2448" cy="64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82" idx="1"/>
              <a:endCxn id="92" idx="3"/>
            </p:cNvCxnSpPr>
            <p:nvPr>
              <p:custDataLst>
                <p:tags r:id="rId33"/>
              </p:custDataLst>
            </p:nvPr>
          </p:nvCxnSpPr>
          <p:spPr>
            <a:xfrm flipH="1">
              <a:off x="9387" y="4998"/>
              <a:ext cx="1952" cy="49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83" idx="1"/>
              <a:endCxn id="91" idx="3"/>
            </p:cNvCxnSpPr>
            <p:nvPr>
              <p:custDataLst>
                <p:tags r:id="rId34"/>
              </p:custDataLst>
            </p:nvPr>
          </p:nvCxnSpPr>
          <p:spPr>
            <a:xfrm flipH="1" flipV="1">
              <a:off x="9387" y="4873"/>
              <a:ext cx="1952" cy="558"/>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84" idx="1"/>
              <a:endCxn id="96" idx="3"/>
            </p:cNvCxnSpPr>
            <p:nvPr>
              <p:custDataLst>
                <p:tags r:id="rId35"/>
              </p:custDataLst>
            </p:nvPr>
          </p:nvCxnSpPr>
          <p:spPr>
            <a:xfrm flipH="1">
              <a:off x="9387" y="6252"/>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85" idx="1"/>
              <a:endCxn id="97" idx="3"/>
            </p:cNvCxnSpPr>
            <p:nvPr>
              <p:custDataLst>
                <p:tags r:id="rId36"/>
              </p:custDataLst>
            </p:nvPr>
          </p:nvCxnSpPr>
          <p:spPr>
            <a:xfrm flipH="1">
              <a:off x="9387" y="6770"/>
              <a:ext cx="1952" cy="26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87" idx="1"/>
              <a:endCxn id="99" idx="3"/>
            </p:cNvCxnSpPr>
            <p:nvPr>
              <p:custDataLst>
                <p:tags r:id="rId37"/>
              </p:custDataLst>
            </p:nvPr>
          </p:nvCxnSpPr>
          <p:spPr>
            <a:xfrm flipH="1">
              <a:off x="9387" y="8259"/>
              <a:ext cx="1952" cy="1766"/>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86" idx="1"/>
              <a:endCxn id="98" idx="3"/>
            </p:cNvCxnSpPr>
            <p:nvPr>
              <p:custDataLst>
                <p:tags r:id="rId38"/>
              </p:custDataLst>
            </p:nvPr>
          </p:nvCxnSpPr>
          <p:spPr>
            <a:xfrm flipH="1" flipV="1">
              <a:off x="9387" y="6447"/>
              <a:ext cx="1952" cy="1319"/>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114" name="矩形 113"/>
            <p:cNvSpPr/>
            <p:nvPr>
              <p:custDataLst>
                <p:tags r:id="rId39"/>
              </p:custDataLst>
            </p:nvPr>
          </p:nvSpPr>
          <p:spPr>
            <a:xfrm>
              <a:off x="525"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1</a:t>
              </a:r>
              <a:endParaRPr lang="en-US" altLang="zh-CN">
                <a:solidFill>
                  <a:schemeClr val="tx1"/>
                </a:solidFill>
              </a:endParaRPr>
            </a:p>
          </p:txBody>
        </p:sp>
        <p:sp>
          <p:nvSpPr>
            <p:cNvPr id="115" name="矩形 114"/>
            <p:cNvSpPr/>
            <p:nvPr>
              <p:custDataLst>
                <p:tags r:id="rId40"/>
              </p:custDataLst>
            </p:nvPr>
          </p:nvSpPr>
          <p:spPr>
            <a:xfrm>
              <a:off x="10977" y="3044"/>
              <a:ext cx="3763" cy="7432"/>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2</a:t>
              </a:r>
              <a:endParaRPr lang="en-US" altLang="zh-CN">
                <a:solidFill>
                  <a:schemeClr val="tx1"/>
                </a:solidFill>
              </a:endParaRPr>
            </a:p>
          </p:txBody>
        </p:sp>
      </p:grpSp>
    </p:spTree>
    <p:custDataLst>
      <p:tags r:id="rId41"/>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121140" cy="6862445"/>
          </a:xfrm>
          <a:prstGeom prst="rect">
            <a:avLst/>
          </a:prstGeom>
          <a:noFill/>
        </p:spPr>
        <p:txBody>
          <a:bodyPr wrap="square" rtlCol="0">
            <a:spAutoFit/>
          </a:bodyPr>
          <a:p>
            <a:pPr algn="ctr"/>
            <a:r>
              <a:rPr lang="zh-CN" altLang="en-US" sz="2000" b="1">
                <a:solidFill>
                  <a:srgbClr val="9C0B15"/>
                </a:solidFill>
              </a:rPr>
              <a:t>分段</a:t>
            </a:r>
            <a:endParaRPr lang="zh-CN" altLang="en-US" sz="2000" b="1">
              <a:solidFill>
                <a:srgbClr val="9C0B15"/>
              </a:solidFill>
            </a:endParaRPr>
          </a:p>
          <a:p>
            <a:endParaRPr lang="zh-CN" altLang="en-US" sz="2000"/>
          </a:p>
          <a:p>
            <a:pPr algn="l">
              <a:buClrTx/>
              <a:buSzTx/>
              <a:buFontTx/>
            </a:pPr>
            <a:r>
              <a:rPr lang="zh-CN" altLang="en-US" sz="2000" b="1">
                <a:solidFill>
                  <a:srgbClr val="9C0B15"/>
                </a:solidFill>
              </a:rPr>
              <a:t>按段划分虚拟地址</a:t>
            </a:r>
            <a:r>
              <a:rPr lang="en-US" altLang="zh-CN" sz="2000" b="1">
                <a:solidFill>
                  <a:srgbClr val="9C0B15"/>
                </a:solidFill>
              </a:rPr>
              <a:t>	</a:t>
            </a:r>
            <a:r>
              <a:rPr lang="zh-CN" altLang="en-US" sz="2000"/>
              <a:t>从程序的</a:t>
            </a:r>
            <a:r>
              <a:rPr lang="zh-CN" altLang="en-US" sz="2000">
                <a:solidFill>
                  <a:srgbClr val="9C0B15"/>
                </a:solidFill>
              </a:rPr>
              <a:t>逻辑组织出发，其基本单元是一个个段</a:t>
            </a:r>
            <a:r>
              <a:rPr lang="zh-CN" altLang="en-US" sz="2000"/>
              <a:t>。那么，</a:t>
            </a:r>
            <a:r>
              <a:rPr lang="zh-CN" altLang="en-US" sz="2000">
                <a:sym typeface="+mn-ea"/>
              </a:rPr>
              <a:t>			</a:t>
            </a:r>
            <a:r>
              <a:rPr lang="zh-CN" altLang="en-US" sz="2000"/>
              <a:t>我们只需要将</a:t>
            </a:r>
            <a:r>
              <a:rPr lang="zh-CN" altLang="en-US" sz="2000">
                <a:solidFill>
                  <a:srgbClr val="9C0B15"/>
                </a:solidFill>
              </a:rPr>
              <a:t>每个段重新映射到不同的物理地址</a:t>
            </a:r>
            <a:r>
              <a:rPr lang="zh-CN" altLang="en-US" sz="2000"/>
              <a:t>就好了。</a:t>
            </a:r>
            <a:r>
              <a:rPr lang="zh-CN" altLang="en-US" sz="2000">
                <a:sym typeface="+mn-ea"/>
              </a:rPr>
              <a:t>			</a:t>
            </a:r>
            <a:r>
              <a:rPr lang="zh-CN" altLang="en-US" sz="2000"/>
              <a:t>为此，我们需要给每个段分配一个段号，同时每个段都</a:t>
            </a:r>
            <a:r>
              <a:rPr lang="en-US" altLang="zh-CN" sz="2000" b="1">
                <a:solidFill>
                  <a:srgbClr val="9C0B15"/>
                </a:solidFill>
                <a:sym typeface="+mn-ea"/>
              </a:rPr>
              <a:t>			</a:t>
            </a:r>
            <a:r>
              <a:rPr lang="zh-CN" altLang="en-US" sz="2000"/>
              <a:t>对应一个</a:t>
            </a:r>
            <a:r>
              <a:rPr lang="zh-CN" altLang="en-US" sz="2000">
                <a:sym typeface="+mn-ea"/>
              </a:rPr>
              <a:t>物</a:t>
            </a:r>
            <a:r>
              <a:rPr lang="zh-CN" altLang="en-US" sz="2000"/>
              <a:t>理地址区间，还拥有一个访问权限。</a:t>
            </a:r>
            <a:endParaRPr lang="zh-CN" altLang="en-US" sz="2000"/>
          </a:p>
          <a:p>
            <a:pPr algn="l">
              <a:buClrTx/>
              <a:buSzTx/>
              <a:buFontTx/>
            </a:pPr>
            <a:r>
              <a:rPr lang="en-US" altLang="zh-CN" sz="2000" b="1">
                <a:solidFill>
                  <a:srgbClr val="9C0B15"/>
                </a:solidFill>
                <a:sym typeface="+mn-ea"/>
              </a:rPr>
              <a:t>			</a:t>
            </a:r>
            <a:r>
              <a:rPr lang="zh-CN" altLang="en-US" sz="2000"/>
              <a:t>每个程序的虚拟段到物理段的映射关系组成</a:t>
            </a:r>
            <a:r>
              <a:rPr lang="zh-CN" altLang="en-US" sz="2000">
                <a:solidFill>
                  <a:srgbClr val="9C0B15"/>
                </a:solidFill>
              </a:rPr>
              <a:t>段表。</a:t>
            </a:r>
            <a:endParaRPr lang="zh-CN" altLang="en-US" sz="2000"/>
          </a:p>
          <a:p>
            <a:pPr algn="l">
              <a:buClrTx/>
              <a:buSzTx/>
              <a:buFontTx/>
            </a:pPr>
            <a:endParaRPr lang="zh-CN" altLang="en-US" sz="2000"/>
          </a:p>
          <a:p>
            <a:pPr algn="l">
              <a:buClrTx/>
              <a:buSzTx/>
              <a:buFontTx/>
            </a:pPr>
            <a:r>
              <a:rPr lang="zh-CN" altLang="en-US" sz="2000" b="1">
                <a:solidFill>
                  <a:srgbClr val="9C0B15"/>
                </a:solidFill>
                <a:sym typeface="+mn-ea"/>
              </a:rPr>
              <a:t>段式内存管理单元	</a:t>
            </a:r>
            <a:r>
              <a:rPr lang="zh-CN" altLang="en-US" sz="2000">
                <a:sym typeface="+mn-ea"/>
              </a:rPr>
              <a:t>常用于分段布局的存储器访问管理工具，具备</a:t>
            </a:r>
            <a:r>
              <a:rPr lang="zh-CN" altLang="en-US" sz="2000">
                <a:solidFill>
                  <a:srgbClr val="9C0B15"/>
                </a:solidFill>
                <a:sym typeface="+mn-ea"/>
              </a:rPr>
              <a:t>按段地址</a:t>
            </a:r>
            <a:r>
              <a:rPr lang="en-US" altLang="zh-CN" sz="2000" b="1">
                <a:solidFill>
                  <a:srgbClr val="9C0B15"/>
                </a:solidFill>
                <a:sym typeface="+mn-ea"/>
              </a:rPr>
              <a:t>Segmentation-based</a:t>
            </a:r>
            <a:r>
              <a:rPr lang="zh-CN" altLang="en-US" sz="2000" b="1">
                <a:solidFill>
                  <a:srgbClr val="9C0B15"/>
                </a:solidFill>
                <a:sym typeface="+mn-ea"/>
              </a:rPr>
              <a:t>	</a:t>
            </a:r>
            <a:r>
              <a:rPr lang="zh-CN" altLang="en-US" sz="2000">
                <a:solidFill>
                  <a:srgbClr val="9C0B15"/>
                </a:solidFill>
                <a:sym typeface="+mn-ea"/>
              </a:rPr>
              <a:t>重映射</a:t>
            </a:r>
            <a:r>
              <a:rPr lang="zh-CN" altLang="en-US" sz="2000">
                <a:sym typeface="+mn-ea"/>
              </a:rPr>
              <a:t>和访问权限管理两个职能。段式内存管理单元使</a:t>
            </a:r>
            <a:r>
              <a:rPr lang="en-US" altLang="zh-CN" sz="2000" b="1">
                <a:solidFill>
                  <a:srgbClr val="9C0B15"/>
                </a:solidFill>
                <a:sym typeface="+mn-ea"/>
              </a:rPr>
              <a:t>Memory</a:t>
            </a:r>
            <a:r>
              <a:rPr lang="en-US" altLang="zh-CN" sz="2000" b="1">
                <a:solidFill>
                  <a:srgbClr val="9C0B15"/>
                </a:solidFill>
                <a:sym typeface="+mn-ea"/>
              </a:rPr>
              <a:t>		</a:t>
            </a:r>
            <a:r>
              <a:rPr lang="zh-CN" altLang="en-US" sz="2000" b="1">
                <a:solidFill>
                  <a:srgbClr val="9C0B15"/>
                </a:solidFill>
                <a:sym typeface="+mn-ea"/>
              </a:rPr>
              <a:t>	</a:t>
            </a:r>
            <a:r>
              <a:rPr lang="zh-CN" altLang="en-US" sz="2000">
                <a:sym typeface="+mn-ea"/>
              </a:rPr>
              <a:t>用</a:t>
            </a:r>
            <a:r>
              <a:rPr lang="zh-CN" altLang="en-US" sz="2000">
                <a:sym typeface="+mn-ea"/>
              </a:rPr>
              <a:t>一张段表，每个段都包括</a:t>
            </a:r>
            <a:r>
              <a:rPr lang="en-US" altLang="zh-CN" sz="2000">
                <a:sym typeface="+mn-ea"/>
              </a:rPr>
              <a:t>“</a:t>
            </a:r>
            <a:r>
              <a:rPr lang="zh-CN" altLang="en-US" sz="2000">
                <a:solidFill>
                  <a:srgbClr val="9C0B15"/>
                </a:solidFill>
                <a:sym typeface="+mn-ea"/>
              </a:rPr>
              <a:t>段号</a:t>
            </a:r>
            <a:r>
              <a:rPr lang="en-US" altLang="zh-CN" sz="2000">
                <a:sym typeface="+mn-ea"/>
              </a:rPr>
              <a:t>”</a:t>
            </a:r>
            <a:r>
              <a:rPr lang="zh-CN" altLang="en-US" sz="2000">
                <a:sym typeface="+mn-ea"/>
              </a:rPr>
              <a:t>、</a:t>
            </a:r>
            <a:r>
              <a:rPr lang="en-US" altLang="zh-CN" sz="2000">
                <a:sym typeface="+mn-ea"/>
              </a:rPr>
              <a:t>“</a:t>
            </a:r>
            <a:r>
              <a:rPr lang="zh-CN" altLang="en-US" sz="2000">
                <a:solidFill>
                  <a:srgbClr val="9C0B15"/>
                </a:solidFill>
                <a:sym typeface="+mn-ea"/>
              </a:rPr>
              <a:t>段物理地址范</a:t>
            </a:r>
            <a:r>
              <a:rPr lang="zh-CN" altLang="en-US" sz="2000">
                <a:solidFill>
                  <a:srgbClr val="9C0B15"/>
                </a:solidFill>
                <a:sym typeface="+mn-ea"/>
              </a:rPr>
              <a:t>围</a:t>
            </a:r>
            <a:r>
              <a:rPr lang="en-US" altLang="zh-CN" sz="2000">
                <a:sym typeface="+mn-ea"/>
              </a:rPr>
              <a:t>”</a:t>
            </a:r>
            <a:endParaRPr lang="zh-CN" altLang="en-US" sz="2000">
              <a:solidFill>
                <a:srgbClr val="9C0B15"/>
              </a:solidFill>
              <a:sym typeface="+mn-ea"/>
            </a:endParaRPr>
          </a:p>
          <a:p>
            <a:pPr algn="l">
              <a:buClrTx/>
              <a:buSzTx/>
              <a:buFontTx/>
            </a:pPr>
            <a:r>
              <a:rPr lang="en-US" altLang="zh-CN" sz="2000" b="1">
                <a:solidFill>
                  <a:srgbClr val="9C0B15"/>
                </a:solidFill>
                <a:sym typeface="+mn-ea"/>
              </a:rPr>
              <a:t>Management	</a:t>
            </a:r>
            <a:r>
              <a:rPr lang="zh-CN" altLang="en-US" sz="2000" b="1">
                <a:solidFill>
                  <a:srgbClr val="9C0B15"/>
                </a:solidFill>
                <a:sym typeface="+mn-ea"/>
              </a:rPr>
              <a:t>	</a:t>
            </a:r>
            <a:r>
              <a:rPr lang="zh-CN" altLang="en-US" sz="2000">
                <a:sym typeface="+mn-ea"/>
              </a:rPr>
              <a:t>和</a:t>
            </a:r>
            <a:r>
              <a:rPr lang="en-US" altLang="zh-CN" sz="2000">
                <a:sym typeface="+mn-ea"/>
              </a:rPr>
              <a:t>“</a:t>
            </a:r>
            <a:r>
              <a:rPr lang="zh-CN" altLang="en-US" sz="2000">
                <a:solidFill>
                  <a:srgbClr val="9C0B15"/>
                </a:solidFill>
                <a:sym typeface="+mn-ea"/>
              </a:rPr>
              <a:t>段权限</a:t>
            </a:r>
            <a:r>
              <a:rPr lang="en-US" altLang="zh-CN" sz="2000">
                <a:sym typeface="+mn-ea"/>
              </a:rPr>
              <a:t>”</a:t>
            </a:r>
            <a:r>
              <a:rPr lang="zh-CN" altLang="en-US" sz="2000">
                <a:sym typeface="+mn-ea"/>
              </a:rPr>
              <a:t>三个部分。由应用程序发起的</a:t>
            </a:r>
            <a:r>
              <a:rPr lang="zh-CN" altLang="en-US" sz="2000">
                <a:sym typeface="+mn-ea"/>
              </a:rPr>
              <a:t>每一次内存访</a:t>
            </a:r>
            <a:r>
              <a:rPr lang="en-US" altLang="zh-CN" sz="2000" b="1">
                <a:solidFill>
                  <a:srgbClr val="9C0B15"/>
                </a:solidFill>
                <a:sym typeface="+mn-ea"/>
              </a:rPr>
              <a:t>Unit</a:t>
            </a:r>
            <a:r>
              <a:rPr lang="en-US" altLang="zh-CN" sz="2000" b="1">
                <a:solidFill>
                  <a:srgbClr val="9C0B15"/>
                </a:solidFill>
                <a:sym typeface="+mn-ea"/>
              </a:rPr>
              <a:t>			</a:t>
            </a:r>
            <a:r>
              <a:rPr lang="zh-CN" altLang="en-US" sz="2000">
                <a:sym typeface="+mn-ea"/>
              </a:rPr>
              <a:t>问都需要</a:t>
            </a:r>
            <a:r>
              <a:rPr lang="zh-CN" altLang="en-US" sz="2000">
                <a:sym typeface="+mn-ea"/>
              </a:rPr>
              <a:t>经过段表指定</a:t>
            </a:r>
            <a:r>
              <a:rPr lang="zh-CN" altLang="en-US" sz="2000">
                <a:sym typeface="+mn-ea"/>
              </a:rPr>
              <a:t>的转换和检查：</a:t>
            </a:r>
            <a:endParaRPr lang="zh-CN" altLang="en-US" sz="2000"/>
          </a:p>
          <a:p>
            <a:pPr algn="l">
              <a:buClrTx/>
              <a:buSzTx/>
              <a:buFontTx/>
            </a:pPr>
            <a:r>
              <a:rPr lang="zh-CN" altLang="en-US" sz="2000" b="1">
                <a:solidFill>
                  <a:srgbClr val="9C0B15"/>
                </a:solidFill>
                <a:sym typeface="+mn-ea"/>
              </a:rPr>
              <a:t>（</a:t>
            </a:r>
            <a:r>
              <a:rPr lang="en-US" altLang="zh-CN" sz="2000" b="1">
                <a:solidFill>
                  <a:srgbClr val="9C0B15"/>
                </a:solidFill>
                <a:sym typeface="+mn-ea"/>
              </a:rPr>
              <a:t>S-MMU</a:t>
            </a:r>
            <a:r>
              <a:rPr lang="zh-CN" altLang="en-US" sz="2000" b="1">
                <a:solidFill>
                  <a:srgbClr val="9C0B15"/>
                </a:solidFill>
                <a:sym typeface="+mn-ea"/>
              </a:rPr>
              <a:t>）</a:t>
            </a:r>
            <a:r>
              <a:rPr lang="en-US" altLang="zh-CN" sz="2000" b="1">
                <a:solidFill>
                  <a:srgbClr val="9C0B15"/>
                </a:solidFill>
                <a:sym typeface="+mn-ea"/>
              </a:rPr>
              <a:t>		</a:t>
            </a:r>
            <a:r>
              <a:rPr lang="zh-CN" altLang="en-US" sz="2000">
                <a:sym typeface="+mn-ea"/>
              </a:rPr>
              <a:t>（</a:t>
            </a:r>
            <a:r>
              <a:rPr lang="en-US" altLang="zh-CN" sz="2000">
                <a:sym typeface="+mn-ea"/>
              </a:rPr>
              <a:t>1</a:t>
            </a:r>
            <a:r>
              <a:rPr lang="zh-CN" altLang="en-US" sz="2000">
                <a:sym typeface="+mn-ea"/>
              </a:rPr>
              <a:t>）按照访问的虚拟地址中的段号信息查找相应的段。</a:t>
            </a:r>
            <a:endParaRPr lang="zh-CN" altLang="en-US" sz="2000"/>
          </a:p>
          <a:p>
            <a:pPr algn="l">
              <a:buClrTx/>
              <a:buSzTx/>
              <a:buFontTx/>
            </a:pPr>
            <a:r>
              <a:rPr lang="en-US" altLang="zh-CN" sz="2000" b="1">
                <a:solidFill>
                  <a:srgbClr val="9C0B15"/>
                </a:solidFill>
                <a:sym typeface="+mn-ea"/>
              </a:rPr>
              <a:t>			</a:t>
            </a:r>
            <a:r>
              <a:rPr lang="zh-CN" altLang="en-US" sz="2000">
                <a:sym typeface="+mn-ea"/>
              </a:rPr>
              <a:t>（</a:t>
            </a:r>
            <a:r>
              <a:rPr lang="en-US" altLang="zh-CN" sz="2000">
                <a:sym typeface="+mn-ea"/>
              </a:rPr>
              <a:t>2</a:t>
            </a:r>
            <a:r>
              <a:rPr lang="zh-CN" altLang="en-US" sz="2000">
                <a:sym typeface="+mn-ea"/>
              </a:rPr>
              <a:t>）发起的访问的性质（读，写，执行）必须是</a:t>
            </a:r>
            <a:r>
              <a:rPr lang="zh-CN" altLang="en-US" sz="2000">
                <a:solidFill>
                  <a:srgbClr val="9C0B15"/>
                </a:solidFill>
                <a:sym typeface="+mn-ea"/>
              </a:rPr>
              <a:t>该段</a:t>
            </a:r>
            <a:r>
              <a:rPr lang="en-US" altLang="zh-CN" sz="2000" b="1">
                <a:solidFill>
                  <a:srgbClr val="9C0B15"/>
                </a:solidFill>
                <a:sym typeface="+mn-ea"/>
              </a:rPr>
              <a:t>			</a:t>
            </a:r>
            <a:r>
              <a:rPr lang="zh-CN" altLang="en-US" sz="2000">
                <a:solidFill>
                  <a:srgbClr val="9C0B15"/>
                </a:solidFill>
                <a:sym typeface="+mn-ea"/>
              </a:rPr>
              <a:t>的权限允许的</a:t>
            </a:r>
            <a:r>
              <a:rPr lang="zh-CN" altLang="en-US" sz="2000">
                <a:sym typeface="+mn-ea"/>
              </a:rPr>
              <a:t>。</a:t>
            </a:r>
            <a:endParaRPr lang="zh-CN" altLang="en-US" sz="2000">
              <a:sym typeface="+mn-ea"/>
            </a:endParaRPr>
          </a:p>
          <a:p>
            <a:pPr algn="l">
              <a:buClrTx/>
              <a:buSzTx/>
              <a:buFontTx/>
            </a:pPr>
            <a:r>
              <a:rPr lang="en-US" altLang="zh-CN" sz="2000" b="1">
                <a:solidFill>
                  <a:srgbClr val="9C0B15"/>
                </a:solidFill>
                <a:sym typeface="+mn-ea"/>
              </a:rPr>
              <a:t>			</a:t>
            </a:r>
            <a:r>
              <a:rPr lang="zh-CN" altLang="en-US" sz="2000">
                <a:sym typeface="+mn-ea"/>
              </a:rPr>
              <a:t>（</a:t>
            </a:r>
            <a:r>
              <a:rPr lang="en-US" altLang="zh-CN" sz="2000">
                <a:sym typeface="+mn-ea"/>
              </a:rPr>
              <a:t>3</a:t>
            </a:r>
            <a:r>
              <a:rPr lang="zh-CN" altLang="en-US" sz="2000">
                <a:sym typeface="+mn-ea"/>
              </a:rPr>
              <a:t>）访问的物理地址</a:t>
            </a:r>
            <a:r>
              <a:rPr lang="en-US" altLang="zh-CN" sz="2000">
                <a:sym typeface="+mn-ea"/>
              </a:rPr>
              <a:t>=</a:t>
            </a:r>
            <a:r>
              <a:rPr lang="zh-CN" altLang="en-US" sz="2000">
                <a:solidFill>
                  <a:srgbClr val="9C0B15"/>
                </a:solidFill>
                <a:sym typeface="+mn-ea"/>
              </a:rPr>
              <a:t>段基址</a:t>
            </a:r>
            <a:r>
              <a:rPr lang="en-US" altLang="zh-CN" sz="2000">
                <a:sym typeface="+mn-ea"/>
              </a:rPr>
              <a:t>+</a:t>
            </a:r>
            <a:r>
              <a:rPr lang="zh-CN" altLang="en-US" sz="2000">
                <a:solidFill>
                  <a:srgbClr val="9C0B15"/>
                </a:solidFill>
                <a:sym typeface="+mn-ea"/>
              </a:rPr>
              <a:t>虚拟地址</a:t>
            </a:r>
            <a:r>
              <a:rPr lang="zh-CN" altLang="en-US" sz="2000">
                <a:sym typeface="+mn-ea"/>
              </a:rPr>
              <a:t>，且虚拟地</a:t>
            </a:r>
            <a:r>
              <a:rPr lang="zh-CN" altLang="en-US" sz="2000">
                <a:sym typeface="+mn-ea"/>
              </a:rPr>
              <a:t>址</a:t>
            </a:r>
            <a:r>
              <a:rPr lang="en-US" altLang="zh-CN" sz="2000" b="1">
                <a:solidFill>
                  <a:srgbClr val="9C0B15"/>
                </a:solidFill>
                <a:sym typeface="+mn-ea"/>
              </a:rPr>
              <a:t>			</a:t>
            </a:r>
            <a:r>
              <a:rPr lang="zh-CN" altLang="en-US" sz="2000">
                <a:sym typeface="+mn-ea"/>
              </a:rPr>
              <a:t>不得超过</a:t>
            </a:r>
            <a:r>
              <a:rPr lang="zh-CN" altLang="en-US" sz="2000">
                <a:solidFill>
                  <a:srgbClr val="9C0B15"/>
                </a:solidFill>
                <a:sym typeface="+mn-ea"/>
              </a:rPr>
              <a:t>段长度</a:t>
            </a:r>
            <a:r>
              <a:rPr lang="zh-CN" altLang="en-US" sz="2000">
                <a:sym typeface="+mn-ea"/>
              </a:rPr>
              <a:t>。</a:t>
            </a:r>
            <a:endParaRPr lang="zh-CN" altLang="en-US" sz="2000">
              <a:sym typeface="+mn-ea"/>
            </a:endParaRPr>
          </a:p>
          <a:p>
            <a:pPr algn="l">
              <a:buClrTx/>
              <a:buSzTx/>
              <a:buFontTx/>
            </a:pPr>
            <a:endParaRPr lang="zh-CN" altLang="en-US" sz="2000"/>
          </a:p>
          <a:p>
            <a:pPr algn="l">
              <a:buClrTx/>
              <a:buSzTx/>
              <a:buFontTx/>
            </a:pPr>
            <a:r>
              <a:rPr lang="zh-CN" altLang="en-US" sz="2000">
                <a:solidFill>
                  <a:srgbClr val="9C0B15"/>
                </a:solidFill>
                <a:sym typeface="+mn-ea"/>
              </a:rPr>
              <a:t>		</a:t>
            </a:r>
            <a:r>
              <a:rPr lang="en-US" altLang="zh-CN" sz="2000">
                <a:solidFill>
                  <a:srgbClr val="9C0B15"/>
                </a:solidFill>
                <a:sym typeface="+mn-ea"/>
              </a:rPr>
              <a:t>	</a:t>
            </a:r>
            <a:r>
              <a:rPr lang="zh-CN" altLang="en-US" sz="2000">
                <a:sym typeface="+mn-ea"/>
              </a:rPr>
              <a:t>此种方法在硬件上仅需要</a:t>
            </a:r>
            <a:r>
              <a:rPr lang="zh-CN" altLang="en-US" sz="2000">
                <a:solidFill>
                  <a:srgbClr val="9C0B15"/>
                </a:solidFill>
                <a:sym typeface="+mn-ea"/>
              </a:rPr>
              <a:t>一组比较器</a:t>
            </a:r>
            <a:r>
              <a:rPr lang="zh-CN" altLang="en-US" sz="2000">
                <a:sym typeface="+mn-ea"/>
              </a:rPr>
              <a:t>和</a:t>
            </a:r>
            <a:r>
              <a:rPr lang="zh-CN" altLang="en-US" sz="2000">
                <a:solidFill>
                  <a:srgbClr val="9C0B15"/>
                </a:solidFill>
                <a:sym typeface="+mn-ea"/>
              </a:rPr>
              <a:t>一组加法器</a:t>
            </a:r>
            <a:r>
              <a:rPr lang="zh-CN" altLang="en-US" sz="2000">
                <a:sym typeface="+mn-ea"/>
              </a:rPr>
              <a:t>电路</a:t>
            </a:r>
            <a:r>
              <a:rPr lang="zh-CN" altLang="en-US" sz="2000">
                <a:solidFill>
                  <a:srgbClr val="9C0B15"/>
                </a:solidFill>
                <a:sym typeface="+mn-ea"/>
              </a:rPr>
              <a:t>		</a:t>
            </a:r>
            <a:r>
              <a:rPr lang="en-US" altLang="zh-CN" sz="2000">
                <a:solidFill>
                  <a:srgbClr val="9C0B15"/>
                </a:solidFill>
                <a:sym typeface="+mn-ea"/>
              </a:rPr>
              <a:t>	</a:t>
            </a:r>
            <a:r>
              <a:rPr lang="zh-CN" altLang="en-US" sz="2000">
                <a:sym typeface="+mn-ea"/>
              </a:rPr>
              <a:t>就可以实现，</a:t>
            </a:r>
            <a:r>
              <a:rPr lang="zh-CN" altLang="en-US" sz="2000">
                <a:solidFill>
                  <a:srgbClr val="9C0B15"/>
                </a:solidFill>
                <a:sym typeface="+mn-ea"/>
              </a:rPr>
              <a:t>是需要虚拟地址空间时的一种讨巧方法</a:t>
            </a:r>
            <a:r>
              <a:rPr lang="zh-CN" altLang="en-US" sz="2000">
                <a:sym typeface="+mn-ea"/>
              </a:rPr>
              <a:t>。</a:t>
            </a:r>
            <a:endParaRPr lang="zh-CN" altLang="en-US" sz="2000"/>
          </a:p>
          <a:p>
            <a:pPr algn="l">
              <a:buClrTx/>
              <a:buSzTx/>
              <a:buFontTx/>
            </a:pPr>
            <a:endParaRPr lang="zh-CN" altLang="en-US" sz="2000"/>
          </a:p>
        </p:txBody>
      </p:sp>
    </p:spTree>
    <p:custDataLst>
      <p:tags r:id="rId2"/>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121140" cy="398780"/>
          </a:xfrm>
          <a:prstGeom prst="rect">
            <a:avLst/>
          </a:prstGeom>
          <a:noFill/>
        </p:spPr>
        <p:txBody>
          <a:bodyPr wrap="square" rtlCol="0">
            <a:spAutoFit/>
          </a:bodyPr>
          <a:p>
            <a:pPr algn="ctr"/>
            <a:r>
              <a:rPr lang="zh-CN" altLang="en-US" sz="2000" b="1">
                <a:solidFill>
                  <a:srgbClr val="9C0B15"/>
                </a:solidFill>
              </a:rPr>
              <a:t>段式内存管理单元示例</a:t>
            </a:r>
            <a:endParaRPr lang="zh-CN" altLang="en-US" sz="2000"/>
          </a:p>
        </p:txBody>
      </p:sp>
      <p:grpSp>
        <p:nvGrpSpPr>
          <p:cNvPr id="28" name="组合 27"/>
          <p:cNvGrpSpPr/>
          <p:nvPr/>
        </p:nvGrpSpPr>
        <p:grpSpPr>
          <a:xfrm>
            <a:off x="3336925" y="1111250"/>
            <a:ext cx="4881245" cy="1269365"/>
            <a:chOff x="2420" y="6093"/>
            <a:chExt cx="7687" cy="1490"/>
          </a:xfrm>
        </p:grpSpPr>
        <p:sp>
          <p:nvSpPr>
            <p:cNvPr id="15" name="矩形 14"/>
            <p:cNvSpPr/>
            <p:nvPr>
              <p:custDataLst>
                <p:tags r:id="rId2"/>
              </p:custDataLst>
            </p:nvPr>
          </p:nvSpPr>
          <p:spPr>
            <a:xfrm>
              <a:off x="2420" y="6093"/>
              <a:ext cx="4553"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0x080A0000:0x20000</a:t>
              </a:r>
              <a:endParaRPr lang="zh-CN" altLang="en-US"/>
            </a:p>
          </p:txBody>
        </p:sp>
        <p:sp>
          <p:nvSpPr>
            <p:cNvPr id="4" name="矩形 3"/>
            <p:cNvSpPr/>
            <p:nvPr>
              <p:custDataLst>
                <p:tags r:id="rId3"/>
              </p:custDataLst>
            </p:nvPr>
          </p:nvSpPr>
          <p:spPr>
            <a:xfrm>
              <a:off x="6973" y="6093"/>
              <a:ext cx="3135"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7" name="矩形 6"/>
            <p:cNvSpPr/>
            <p:nvPr>
              <p:custDataLst>
                <p:tags r:id="rId4"/>
              </p:custDataLst>
            </p:nvPr>
          </p:nvSpPr>
          <p:spPr>
            <a:xfrm>
              <a:off x="2420" y="6590"/>
              <a:ext cx="4553"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0x08040000:0x30000</a:t>
              </a:r>
              <a:endParaRPr lang="en-US" altLang="zh-CN">
                <a:sym typeface="+mn-ea"/>
              </a:endParaRPr>
            </a:p>
          </p:txBody>
        </p:sp>
        <p:sp>
          <p:nvSpPr>
            <p:cNvPr id="8" name="矩形 7"/>
            <p:cNvSpPr/>
            <p:nvPr>
              <p:custDataLst>
                <p:tags r:id="rId5"/>
              </p:custDataLst>
            </p:nvPr>
          </p:nvSpPr>
          <p:spPr>
            <a:xfrm>
              <a:off x="6973" y="6590"/>
              <a:ext cx="3135"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9" name="矩形 8"/>
            <p:cNvSpPr/>
            <p:nvPr>
              <p:custDataLst>
                <p:tags r:id="rId6"/>
              </p:custDataLst>
            </p:nvPr>
          </p:nvSpPr>
          <p:spPr>
            <a:xfrm>
              <a:off x="2420" y="7087"/>
              <a:ext cx="4553"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0x20000000:0x40000</a:t>
              </a:r>
              <a:endParaRPr lang="en-US" altLang="zh-CN">
                <a:sym typeface="+mn-ea"/>
              </a:endParaRPr>
            </a:p>
          </p:txBody>
        </p:sp>
        <p:sp>
          <p:nvSpPr>
            <p:cNvPr id="17" name="矩形 16"/>
            <p:cNvSpPr/>
            <p:nvPr>
              <p:custDataLst>
                <p:tags r:id="rId7"/>
              </p:custDataLst>
            </p:nvPr>
          </p:nvSpPr>
          <p:spPr>
            <a:xfrm>
              <a:off x="6973" y="7087"/>
              <a:ext cx="3134"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 Write</a:t>
              </a:r>
              <a:endParaRPr lang="en-US" altLang="zh-CN">
                <a:sym typeface="+mn-ea"/>
              </a:endParaRPr>
            </a:p>
          </p:txBody>
        </p:sp>
      </p:grpSp>
      <p:sp>
        <p:nvSpPr>
          <p:cNvPr id="60" name="右箭头标注 59"/>
          <p:cNvSpPr/>
          <p:nvPr>
            <p:custDataLst>
              <p:tags r:id="rId8"/>
            </p:custDataLst>
          </p:nvPr>
        </p:nvSpPr>
        <p:spPr>
          <a:xfrm>
            <a:off x="336550" y="3294380"/>
            <a:ext cx="1863725" cy="670560"/>
          </a:xfrm>
          <a:prstGeom prst="rightArrowCallout">
            <a:avLst>
              <a:gd name="adj1" fmla="val 25000"/>
              <a:gd name="adj2" fmla="val 25000"/>
              <a:gd name="adj3" fmla="val 25000"/>
              <a:gd name="adj4" fmla="val 7307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endParaRPr lang="en-US" altLang="zh-CN"/>
          </a:p>
          <a:p>
            <a:pPr algn="ctr"/>
            <a:r>
              <a:rPr lang="en-US" altLang="zh-CN">
                <a:solidFill>
                  <a:schemeClr val="tx1"/>
                </a:solidFill>
              </a:rPr>
              <a:t>0x02</a:t>
            </a:r>
            <a:r>
              <a:rPr lang="en-US" altLang="zh-CN" u="sng"/>
              <a:t>010402</a:t>
            </a:r>
            <a:endParaRPr lang="en-US" altLang="zh-CN" u="sng"/>
          </a:p>
        </p:txBody>
      </p:sp>
      <p:sp>
        <p:nvSpPr>
          <p:cNvPr id="61" name="椭圆 60"/>
          <p:cNvSpPr/>
          <p:nvPr>
            <p:custDataLst>
              <p:tags r:id="rId9"/>
            </p:custDataLst>
          </p:nvPr>
        </p:nvSpPr>
        <p:spPr>
          <a:xfrm>
            <a:off x="2200275" y="3294380"/>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62" name="椭圆 61"/>
          <p:cNvSpPr/>
          <p:nvPr>
            <p:custDataLst>
              <p:tags r:id="rId10"/>
            </p:custDataLst>
          </p:nvPr>
        </p:nvSpPr>
        <p:spPr>
          <a:xfrm>
            <a:off x="3712845" y="3294380"/>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段长度？</a:t>
            </a:r>
            <a:endParaRPr lang="zh-CN" altLang="en-US"/>
          </a:p>
        </p:txBody>
      </p:sp>
      <p:sp>
        <p:nvSpPr>
          <p:cNvPr id="75" name="矩形 74"/>
          <p:cNvSpPr/>
          <p:nvPr>
            <p:custDataLst>
              <p:tags r:id="rId11"/>
            </p:custDataLst>
          </p:nvPr>
        </p:nvSpPr>
        <p:spPr>
          <a:xfrm>
            <a:off x="8129905" y="2870835"/>
            <a:ext cx="1560830" cy="3079750"/>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物理内存</a:t>
            </a:r>
            <a:endParaRPr lang="zh-CN" altLang="en-US">
              <a:solidFill>
                <a:schemeClr val="tx1"/>
              </a:solidFill>
            </a:endParaRPr>
          </a:p>
        </p:txBody>
      </p:sp>
      <p:sp>
        <p:nvSpPr>
          <p:cNvPr id="63" name="右箭头 62"/>
          <p:cNvSpPr/>
          <p:nvPr>
            <p:custDataLst>
              <p:tags r:id="rId12"/>
            </p:custDataLst>
          </p:nvPr>
        </p:nvSpPr>
        <p:spPr>
          <a:xfrm>
            <a:off x="3125470" y="3455035"/>
            <a:ext cx="58737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右箭头 63"/>
          <p:cNvSpPr/>
          <p:nvPr>
            <p:custDataLst>
              <p:tags r:id="rId13"/>
            </p:custDataLst>
          </p:nvPr>
        </p:nvSpPr>
        <p:spPr>
          <a:xfrm>
            <a:off x="4638040" y="3455670"/>
            <a:ext cx="64579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5" name="图片 64" descr="ok-check-check-mark-correct-png-files-93990"/>
          <p:cNvPicPr>
            <a:picLocks noChangeAspect="1"/>
          </p:cNvPicPr>
          <p:nvPr>
            <p:custDataLst>
              <p:tags r:id="rId14"/>
            </p:custDataLst>
          </p:nvPr>
        </p:nvPicPr>
        <p:blipFill>
          <a:blip r:embed="rId15"/>
          <a:stretch>
            <a:fillRect/>
          </a:stretch>
        </p:blipFill>
        <p:spPr>
          <a:xfrm>
            <a:off x="2737485" y="3295015"/>
            <a:ext cx="841375" cy="681355"/>
          </a:xfrm>
          <a:prstGeom prst="rect">
            <a:avLst/>
          </a:prstGeom>
          <a:noFill/>
          <a:ln w="9525">
            <a:noFill/>
          </a:ln>
        </p:spPr>
      </p:pic>
      <p:pic>
        <p:nvPicPr>
          <p:cNvPr id="66" name="图片 65" descr="ok-check-check-mark-correct-png-files-93990"/>
          <p:cNvPicPr>
            <a:picLocks noChangeAspect="1"/>
          </p:cNvPicPr>
          <p:nvPr>
            <p:custDataLst>
              <p:tags r:id="rId16"/>
            </p:custDataLst>
          </p:nvPr>
        </p:nvPicPr>
        <p:blipFill>
          <a:blip r:embed="rId15"/>
          <a:stretch>
            <a:fillRect/>
          </a:stretch>
        </p:blipFill>
        <p:spPr>
          <a:xfrm>
            <a:off x="4279900" y="3298825"/>
            <a:ext cx="836295" cy="677545"/>
          </a:xfrm>
          <a:prstGeom prst="rect">
            <a:avLst/>
          </a:prstGeom>
          <a:noFill/>
          <a:ln w="9525">
            <a:noFill/>
          </a:ln>
        </p:spPr>
      </p:pic>
      <p:sp>
        <p:nvSpPr>
          <p:cNvPr id="67" name="右箭头标注 66"/>
          <p:cNvSpPr/>
          <p:nvPr>
            <p:custDataLst>
              <p:tags r:id="rId17"/>
            </p:custDataLst>
          </p:nvPr>
        </p:nvSpPr>
        <p:spPr>
          <a:xfrm>
            <a:off x="336550" y="4102735"/>
            <a:ext cx="1863725" cy="670560"/>
          </a:xfrm>
          <a:prstGeom prst="rightArrowCallout">
            <a:avLst>
              <a:gd name="adj1" fmla="val 25000"/>
              <a:gd name="adj2" fmla="val 25000"/>
              <a:gd name="adj3" fmla="val 25000"/>
              <a:gd name="adj4" fmla="val 728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Write</a:t>
            </a:r>
            <a:endParaRPr lang="en-US" altLang="zh-CN"/>
          </a:p>
          <a:p>
            <a:pPr algn="ctr"/>
            <a:r>
              <a:rPr lang="en-US" altLang="zh-CN">
                <a:solidFill>
                  <a:schemeClr val="tx1"/>
                </a:solidFill>
              </a:rPr>
              <a:t>0x09</a:t>
            </a:r>
            <a:r>
              <a:rPr lang="en-US" altLang="zh-CN" u="sng"/>
              <a:t>0</a:t>
            </a:r>
            <a:r>
              <a:rPr lang="en-US" altLang="zh-CN" u="sng"/>
              <a:t>207F0</a:t>
            </a:r>
            <a:endParaRPr lang="en-US" altLang="zh-CN" u="sng"/>
          </a:p>
        </p:txBody>
      </p:sp>
      <p:sp>
        <p:nvSpPr>
          <p:cNvPr id="68" name="椭圆 67"/>
          <p:cNvSpPr/>
          <p:nvPr>
            <p:custDataLst>
              <p:tags r:id="rId18"/>
            </p:custDataLst>
          </p:nvPr>
        </p:nvSpPr>
        <p:spPr>
          <a:xfrm>
            <a:off x="2200275" y="4102735"/>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pic>
        <p:nvPicPr>
          <p:cNvPr id="74" name="图片 73" descr="red-40144_960_720"/>
          <p:cNvPicPr>
            <a:picLocks noChangeAspect="1"/>
          </p:cNvPicPr>
          <p:nvPr>
            <p:custDataLst>
              <p:tags r:id="rId19"/>
            </p:custDataLst>
          </p:nvPr>
        </p:nvPicPr>
        <p:blipFill>
          <a:blip r:embed="rId20"/>
          <a:stretch>
            <a:fillRect/>
          </a:stretch>
        </p:blipFill>
        <p:spPr>
          <a:xfrm>
            <a:off x="2817495" y="4102735"/>
            <a:ext cx="681355" cy="681355"/>
          </a:xfrm>
          <a:prstGeom prst="rect">
            <a:avLst/>
          </a:prstGeom>
          <a:noFill/>
          <a:ln w="9525">
            <a:noFill/>
          </a:ln>
        </p:spPr>
      </p:pic>
      <p:sp>
        <p:nvSpPr>
          <p:cNvPr id="80" name="右箭头标注 79"/>
          <p:cNvSpPr/>
          <p:nvPr>
            <p:custDataLst>
              <p:tags r:id="rId21"/>
            </p:custDataLst>
          </p:nvPr>
        </p:nvSpPr>
        <p:spPr>
          <a:xfrm>
            <a:off x="336550" y="4911090"/>
            <a:ext cx="1864360" cy="670560"/>
          </a:xfrm>
          <a:prstGeom prst="rightArrowCallout">
            <a:avLst>
              <a:gd name="adj1" fmla="val 25000"/>
              <a:gd name="adj2" fmla="val 25000"/>
              <a:gd name="adj3" fmla="val 25000"/>
              <a:gd name="adj4" fmla="val 72888"/>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eXecute</a:t>
            </a:r>
            <a:endParaRPr lang="en-US" altLang="zh-CN"/>
          </a:p>
          <a:p>
            <a:pPr algn="ctr"/>
            <a:r>
              <a:rPr lang="en-US" altLang="zh-CN">
                <a:solidFill>
                  <a:schemeClr val="tx1"/>
                </a:solidFill>
              </a:rPr>
              <a:t>0x01</a:t>
            </a:r>
            <a:r>
              <a:rPr lang="en-US" altLang="zh-CN" u="sng"/>
              <a:t>029850</a:t>
            </a:r>
            <a:endParaRPr lang="en-US" altLang="zh-CN" u="sng"/>
          </a:p>
        </p:txBody>
      </p:sp>
      <p:sp>
        <p:nvSpPr>
          <p:cNvPr id="81" name="椭圆 80"/>
          <p:cNvSpPr/>
          <p:nvPr>
            <p:custDataLst>
              <p:tags r:id="rId22"/>
            </p:custDataLst>
          </p:nvPr>
        </p:nvSpPr>
        <p:spPr>
          <a:xfrm>
            <a:off x="2200275" y="4911090"/>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83" name="椭圆 82"/>
          <p:cNvSpPr/>
          <p:nvPr>
            <p:custDataLst>
              <p:tags r:id="rId23"/>
            </p:custDataLst>
          </p:nvPr>
        </p:nvSpPr>
        <p:spPr>
          <a:xfrm>
            <a:off x="3712845" y="4911090"/>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段长度？</a:t>
            </a:r>
            <a:endParaRPr lang="zh-CN" altLang="en-US"/>
          </a:p>
        </p:txBody>
      </p:sp>
      <p:sp>
        <p:nvSpPr>
          <p:cNvPr id="84" name="右箭头 83"/>
          <p:cNvSpPr/>
          <p:nvPr>
            <p:custDataLst>
              <p:tags r:id="rId24"/>
            </p:custDataLst>
          </p:nvPr>
        </p:nvSpPr>
        <p:spPr>
          <a:xfrm>
            <a:off x="3125470" y="5060315"/>
            <a:ext cx="586740" cy="347980"/>
          </a:xfrm>
          <a:prstGeom prst="rightArrow">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5" name="图片 84" descr="ok-check-check-mark-correct-png-files-93990"/>
          <p:cNvPicPr>
            <a:picLocks noChangeAspect="1"/>
          </p:cNvPicPr>
          <p:nvPr>
            <p:custDataLst>
              <p:tags r:id="rId25"/>
            </p:custDataLst>
          </p:nvPr>
        </p:nvPicPr>
        <p:blipFill>
          <a:blip r:embed="rId15"/>
          <a:stretch>
            <a:fillRect/>
          </a:stretch>
        </p:blipFill>
        <p:spPr>
          <a:xfrm>
            <a:off x="2817495" y="4911090"/>
            <a:ext cx="841375" cy="681355"/>
          </a:xfrm>
          <a:prstGeom prst="rect">
            <a:avLst/>
          </a:prstGeom>
          <a:noFill/>
          <a:ln w="9525">
            <a:noFill/>
          </a:ln>
        </p:spPr>
      </p:pic>
      <p:pic>
        <p:nvPicPr>
          <p:cNvPr id="86" name="图片 85" descr="red-40144_960_720"/>
          <p:cNvPicPr>
            <a:picLocks noChangeAspect="1"/>
          </p:cNvPicPr>
          <p:nvPr>
            <p:custDataLst>
              <p:tags r:id="rId26"/>
            </p:custDataLst>
          </p:nvPr>
        </p:nvPicPr>
        <p:blipFill>
          <a:blip r:embed="rId20"/>
          <a:stretch>
            <a:fillRect/>
          </a:stretch>
        </p:blipFill>
        <p:spPr>
          <a:xfrm>
            <a:off x="4434840" y="4922520"/>
            <a:ext cx="681355" cy="681355"/>
          </a:xfrm>
          <a:prstGeom prst="rect">
            <a:avLst/>
          </a:prstGeom>
          <a:noFill/>
          <a:ln w="9525">
            <a:noFill/>
          </a:ln>
        </p:spPr>
      </p:pic>
      <p:sp>
        <p:nvSpPr>
          <p:cNvPr id="87" name="矩形 86"/>
          <p:cNvSpPr/>
          <p:nvPr>
            <p:custDataLst>
              <p:tags r:id="rId27"/>
            </p:custDataLst>
          </p:nvPr>
        </p:nvSpPr>
        <p:spPr>
          <a:xfrm>
            <a:off x="3336925" y="687566"/>
            <a:ext cx="2891155" cy="423406"/>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段基址</a:t>
            </a:r>
            <a:r>
              <a:rPr lang="en-US" altLang="zh-CN">
                <a:solidFill>
                  <a:schemeClr val="tx1"/>
                </a:solidFill>
                <a:sym typeface="+mn-ea"/>
              </a:rPr>
              <a:t>/</a:t>
            </a:r>
            <a:r>
              <a:rPr lang="zh-CN" altLang="en-US">
                <a:solidFill>
                  <a:schemeClr val="tx1"/>
                </a:solidFill>
                <a:sym typeface="+mn-ea"/>
              </a:rPr>
              <a:t>长度</a:t>
            </a:r>
            <a:endParaRPr lang="zh-CN" altLang="en-US">
              <a:solidFill>
                <a:schemeClr val="tx1"/>
              </a:solidFill>
              <a:sym typeface="+mn-ea"/>
            </a:endParaRPr>
          </a:p>
        </p:txBody>
      </p:sp>
      <p:sp>
        <p:nvSpPr>
          <p:cNvPr id="88" name="矩形 87"/>
          <p:cNvSpPr/>
          <p:nvPr>
            <p:custDataLst>
              <p:tags r:id="rId28"/>
            </p:custDataLst>
          </p:nvPr>
        </p:nvSpPr>
        <p:spPr>
          <a:xfrm>
            <a:off x="6228715" y="687705"/>
            <a:ext cx="19900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段权限</a:t>
            </a:r>
            <a:endParaRPr lang="zh-CN" altLang="en-US">
              <a:solidFill>
                <a:schemeClr val="tx1"/>
              </a:solidFill>
              <a:sym typeface="+mn-ea"/>
            </a:endParaRPr>
          </a:p>
        </p:txBody>
      </p:sp>
      <p:sp>
        <p:nvSpPr>
          <p:cNvPr id="2" name="矩形 1"/>
          <p:cNvSpPr/>
          <p:nvPr>
            <p:custDataLst>
              <p:tags r:id="rId29"/>
            </p:custDataLst>
          </p:nvPr>
        </p:nvSpPr>
        <p:spPr>
          <a:xfrm>
            <a:off x="1169035" y="687705"/>
            <a:ext cx="21678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段号</a:t>
            </a:r>
            <a:endParaRPr lang="zh-CN" altLang="en-US">
              <a:solidFill>
                <a:schemeClr val="tx1"/>
              </a:solidFill>
              <a:sym typeface="+mn-ea"/>
            </a:endParaRPr>
          </a:p>
        </p:txBody>
      </p:sp>
      <p:sp>
        <p:nvSpPr>
          <p:cNvPr id="5" name="矩形 4"/>
          <p:cNvSpPr/>
          <p:nvPr>
            <p:custDataLst>
              <p:tags r:id="rId30"/>
            </p:custDataLst>
          </p:nvPr>
        </p:nvSpPr>
        <p:spPr>
          <a:xfrm>
            <a:off x="1169035" y="1111250"/>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0x01</a:t>
            </a:r>
            <a:endParaRPr lang="en-US" altLang="zh-CN"/>
          </a:p>
        </p:txBody>
      </p:sp>
      <p:sp>
        <p:nvSpPr>
          <p:cNvPr id="6" name="矩形 5"/>
          <p:cNvSpPr/>
          <p:nvPr>
            <p:custDataLst>
              <p:tags r:id="rId31"/>
            </p:custDataLst>
          </p:nvPr>
        </p:nvSpPr>
        <p:spPr>
          <a:xfrm>
            <a:off x="1169035" y="1534795"/>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0x02</a:t>
            </a:r>
            <a:endParaRPr lang="en-US" altLang="zh-CN">
              <a:sym typeface="+mn-ea"/>
            </a:endParaRPr>
          </a:p>
        </p:txBody>
      </p:sp>
      <p:sp>
        <p:nvSpPr>
          <p:cNvPr id="25" name="矩形 24"/>
          <p:cNvSpPr/>
          <p:nvPr>
            <p:custDataLst>
              <p:tags r:id="rId32"/>
            </p:custDataLst>
          </p:nvPr>
        </p:nvSpPr>
        <p:spPr>
          <a:xfrm>
            <a:off x="1169035" y="1957705"/>
            <a:ext cx="2167890"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0x03</a:t>
            </a:r>
            <a:endParaRPr lang="en-US" altLang="zh-CN">
              <a:sym typeface="+mn-ea"/>
            </a:endParaRPr>
          </a:p>
        </p:txBody>
      </p:sp>
      <p:sp>
        <p:nvSpPr>
          <p:cNvPr id="26" name="矩形 25"/>
          <p:cNvSpPr/>
          <p:nvPr/>
        </p:nvSpPr>
        <p:spPr>
          <a:xfrm>
            <a:off x="8218170" y="3455035"/>
            <a:ext cx="1393825"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0x0805040</a:t>
            </a:r>
            <a:r>
              <a:rPr lang="en-US" altLang="zh-CN">
                <a:sym typeface="+mn-ea"/>
              </a:rPr>
              <a:t>2</a:t>
            </a:r>
            <a:endParaRPr lang="en-US" altLang="zh-CN">
              <a:sym typeface="+mn-ea"/>
            </a:endParaRPr>
          </a:p>
        </p:txBody>
      </p:sp>
      <p:sp>
        <p:nvSpPr>
          <p:cNvPr id="72" name="椭圆 71"/>
          <p:cNvSpPr/>
          <p:nvPr>
            <p:custDataLst>
              <p:tags r:id="rId33"/>
            </p:custDataLst>
          </p:nvPr>
        </p:nvSpPr>
        <p:spPr>
          <a:xfrm>
            <a:off x="6786245" y="3306445"/>
            <a:ext cx="693420"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73" name="右箭头 72"/>
          <p:cNvSpPr/>
          <p:nvPr>
            <p:custDataLst>
              <p:tags r:id="rId34"/>
            </p:custDataLst>
          </p:nvPr>
        </p:nvSpPr>
        <p:spPr>
          <a:xfrm>
            <a:off x="7479665" y="3467100"/>
            <a:ext cx="73977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 name="椭圆 77"/>
          <p:cNvSpPr/>
          <p:nvPr>
            <p:custDataLst>
              <p:tags r:id="rId35"/>
            </p:custDataLst>
          </p:nvPr>
        </p:nvSpPr>
        <p:spPr>
          <a:xfrm>
            <a:off x="5283835" y="3294380"/>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sp>
        <p:nvSpPr>
          <p:cNvPr id="79" name="右箭头 78"/>
          <p:cNvSpPr/>
          <p:nvPr>
            <p:custDataLst>
              <p:tags r:id="rId36"/>
            </p:custDataLst>
          </p:nvPr>
        </p:nvSpPr>
        <p:spPr>
          <a:xfrm>
            <a:off x="6209030" y="3455035"/>
            <a:ext cx="64579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2" name="图片 81" descr="ok-check-check-mark-correct-png-files-93990"/>
          <p:cNvPicPr>
            <a:picLocks noChangeAspect="1"/>
          </p:cNvPicPr>
          <p:nvPr>
            <p:custDataLst>
              <p:tags r:id="rId37"/>
            </p:custDataLst>
          </p:nvPr>
        </p:nvPicPr>
        <p:blipFill>
          <a:blip r:embed="rId15"/>
          <a:stretch>
            <a:fillRect/>
          </a:stretch>
        </p:blipFill>
        <p:spPr>
          <a:xfrm>
            <a:off x="5841365" y="3306445"/>
            <a:ext cx="836295" cy="677545"/>
          </a:xfrm>
          <a:prstGeom prst="rect">
            <a:avLst/>
          </a:prstGeom>
          <a:noFill/>
          <a:ln w="9525">
            <a:noFill/>
          </a:ln>
        </p:spPr>
      </p:pic>
      <p:sp>
        <p:nvSpPr>
          <p:cNvPr id="89" name="矩形 88"/>
          <p:cNvSpPr/>
          <p:nvPr/>
        </p:nvSpPr>
        <p:spPr>
          <a:xfrm>
            <a:off x="6380480" y="2870835"/>
            <a:ext cx="150495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0x08040000</a:t>
            </a:r>
            <a:endParaRPr lang="en-US" altLang="zh-CN">
              <a:sym typeface="+mn-ea"/>
            </a:endParaRPr>
          </a:p>
        </p:txBody>
      </p:sp>
      <p:sp>
        <p:nvSpPr>
          <p:cNvPr id="90" name="矩形 89"/>
          <p:cNvSpPr/>
          <p:nvPr/>
        </p:nvSpPr>
        <p:spPr>
          <a:xfrm>
            <a:off x="3423285" y="2870835"/>
            <a:ext cx="150495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0x30000</a:t>
            </a:r>
            <a:endParaRPr lang="en-US" altLang="zh-CN">
              <a:sym typeface="+mn-ea"/>
            </a:endParaRPr>
          </a:p>
        </p:txBody>
      </p:sp>
      <p:sp>
        <p:nvSpPr>
          <p:cNvPr id="91" name="矩形 90"/>
          <p:cNvSpPr/>
          <p:nvPr/>
        </p:nvSpPr>
        <p:spPr>
          <a:xfrm>
            <a:off x="3423285" y="4487545"/>
            <a:ext cx="150495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0x20000</a:t>
            </a:r>
            <a:endParaRPr lang="en-US" altLang="zh-CN">
              <a:sym typeface="+mn-ea"/>
            </a:endParaRPr>
          </a:p>
        </p:txBody>
      </p:sp>
      <p:sp>
        <p:nvSpPr>
          <p:cNvPr id="92" name="右箭头标注 91"/>
          <p:cNvSpPr/>
          <p:nvPr>
            <p:custDataLst>
              <p:tags r:id="rId38"/>
            </p:custDataLst>
          </p:nvPr>
        </p:nvSpPr>
        <p:spPr>
          <a:xfrm>
            <a:off x="337185" y="5726430"/>
            <a:ext cx="1863725" cy="670560"/>
          </a:xfrm>
          <a:prstGeom prst="rightArrowCallout">
            <a:avLst>
              <a:gd name="adj1" fmla="val 25000"/>
              <a:gd name="adj2" fmla="val 25000"/>
              <a:gd name="adj3" fmla="val 25000"/>
              <a:gd name="adj4" fmla="val 7307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Write</a:t>
            </a:r>
            <a:endParaRPr lang="en-US" altLang="zh-CN"/>
          </a:p>
          <a:p>
            <a:pPr algn="ctr"/>
            <a:r>
              <a:rPr lang="en-US" altLang="zh-CN">
                <a:solidFill>
                  <a:schemeClr val="tx1"/>
                </a:solidFill>
              </a:rPr>
              <a:t>0x02</a:t>
            </a:r>
            <a:r>
              <a:rPr lang="en-US" altLang="zh-CN" u="sng"/>
              <a:t>010400</a:t>
            </a:r>
            <a:endParaRPr lang="en-US" altLang="zh-CN" u="sng"/>
          </a:p>
        </p:txBody>
      </p:sp>
      <p:sp>
        <p:nvSpPr>
          <p:cNvPr id="93" name="椭圆 92"/>
          <p:cNvSpPr/>
          <p:nvPr>
            <p:custDataLst>
              <p:tags r:id="rId39"/>
            </p:custDataLst>
          </p:nvPr>
        </p:nvSpPr>
        <p:spPr>
          <a:xfrm>
            <a:off x="2200910" y="5726430"/>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94" name="椭圆 93"/>
          <p:cNvSpPr/>
          <p:nvPr>
            <p:custDataLst>
              <p:tags r:id="rId40"/>
            </p:custDataLst>
          </p:nvPr>
        </p:nvSpPr>
        <p:spPr>
          <a:xfrm>
            <a:off x="3713480" y="5726430"/>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段长度？</a:t>
            </a:r>
            <a:endParaRPr lang="zh-CN" altLang="en-US"/>
          </a:p>
        </p:txBody>
      </p:sp>
      <p:sp>
        <p:nvSpPr>
          <p:cNvPr id="95" name="右箭头 94"/>
          <p:cNvSpPr/>
          <p:nvPr>
            <p:custDataLst>
              <p:tags r:id="rId41"/>
            </p:custDataLst>
          </p:nvPr>
        </p:nvSpPr>
        <p:spPr>
          <a:xfrm>
            <a:off x="3126105" y="5887085"/>
            <a:ext cx="587375" cy="34798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 name="右箭头 95"/>
          <p:cNvSpPr/>
          <p:nvPr>
            <p:custDataLst>
              <p:tags r:id="rId42"/>
            </p:custDataLst>
          </p:nvPr>
        </p:nvSpPr>
        <p:spPr>
          <a:xfrm>
            <a:off x="4638675" y="5887720"/>
            <a:ext cx="645795" cy="34798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97" name="图片 96" descr="ok-check-check-mark-correct-png-files-93990"/>
          <p:cNvPicPr>
            <a:picLocks noChangeAspect="1"/>
          </p:cNvPicPr>
          <p:nvPr>
            <p:custDataLst>
              <p:tags r:id="rId43"/>
            </p:custDataLst>
          </p:nvPr>
        </p:nvPicPr>
        <p:blipFill>
          <a:blip r:embed="rId15"/>
          <a:stretch>
            <a:fillRect/>
          </a:stretch>
        </p:blipFill>
        <p:spPr>
          <a:xfrm>
            <a:off x="2738120" y="5727065"/>
            <a:ext cx="841375" cy="681355"/>
          </a:xfrm>
          <a:prstGeom prst="rect">
            <a:avLst/>
          </a:prstGeom>
          <a:noFill/>
          <a:ln w="9525">
            <a:noFill/>
          </a:ln>
        </p:spPr>
      </p:pic>
      <p:pic>
        <p:nvPicPr>
          <p:cNvPr id="98" name="图片 97" descr="ok-check-check-mark-correct-png-files-93990"/>
          <p:cNvPicPr>
            <a:picLocks noChangeAspect="1"/>
          </p:cNvPicPr>
          <p:nvPr>
            <p:custDataLst>
              <p:tags r:id="rId44"/>
            </p:custDataLst>
          </p:nvPr>
        </p:nvPicPr>
        <p:blipFill>
          <a:blip r:embed="rId15"/>
          <a:stretch>
            <a:fillRect/>
          </a:stretch>
        </p:blipFill>
        <p:spPr>
          <a:xfrm>
            <a:off x="4280535" y="5730875"/>
            <a:ext cx="836295" cy="677545"/>
          </a:xfrm>
          <a:prstGeom prst="rect">
            <a:avLst/>
          </a:prstGeom>
          <a:noFill/>
          <a:ln w="9525">
            <a:noFill/>
          </a:ln>
        </p:spPr>
      </p:pic>
      <p:sp>
        <p:nvSpPr>
          <p:cNvPr id="99" name="椭圆 98"/>
          <p:cNvSpPr/>
          <p:nvPr>
            <p:custDataLst>
              <p:tags r:id="rId45"/>
            </p:custDataLst>
          </p:nvPr>
        </p:nvSpPr>
        <p:spPr>
          <a:xfrm>
            <a:off x="5284470" y="5726430"/>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pic>
        <p:nvPicPr>
          <p:cNvPr id="101" name="图片 100" descr="red-40144_960_720"/>
          <p:cNvPicPr>
            <a:picLocks noChangeAspect="1"/>
          </p:cNvPicPr>
          <p:nvPr>
            <p:custDataLst>
              <p:tags r:id="rId46"/>
            </p:custDataLst>
          </p:nvPr>
        </p:nvPicPr>
        <p:blipFill>
          <a:blip r:embed="rId20"/>
          <a:stretch>
            <a:fillRect/>
          </a:stretch>
        </p:blipFill>
        <p:spPr>
          <a:xfrm>
            <a:off x="5918835" y="5730875"/>
            <a:ext cx="681355" cy="681355"/>
          </a:xfrm>
          <a:prstGeom prst="rect">
            <a:avLst/>
          </a:prstGeom>
          <a:noFill/>
          <a:ln w="9525">
            <a:noFill/>
          </a:ln>
        </p:spPr>
      </p:pic>
    </p:spTree>
    <p:custDataLst>
      <p:tags r:id="rId4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ipe(left)">
                                      <p:cBhvr>
                                        <p:cTn id="20" dur="500"/>
                                        <p:tgtEl>
                                          <p:spTgt spid="62"/>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wipe(left)">
                                      <p:cBhvr>
                                        <p:cTn id="23" dur="500"/>
                                        <p:tgtEl>
                                          <p:spTgt spid="9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wipe(left)">
                                      <p:cBhvr>
                                        <p:cTn id="28" dur="500"/>
                                        <p:tgtEl>
                                          <p:spTgt spid="6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wipe(left)">
                                      <p:cBhvr>
                                        <p:cTn id="33" dur="500"/>
                                        <p:tgtEl>
                                          <p:spTgt spid="6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wipe(left)">
                                      <p:cBhvr>
                                        <p:cTn id="36" dur="500"/>
                                        <p:tgtEl>
                                          <p:spTgt spid="7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wipe(left)">
                                      <p:cBhvr>
                                        <p:cTn id="41" dur="500"/>
                                        <p:tgtEl>
                                          <p:spTgt spid="8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wipe(left)">
                                      <p:cBhvr>
                                        <p:cTn id="46" dur="500"/>
                                        <p:tgtEl>
                                          <p:spTgt spid="79"/>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wipe(left)">
                                      <p:cBhvr>
                                        <p:cTn id="49" dur="500"/>
                                        <p:tgtEl>
                                          <p:spTgt spid="72"/>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wipe(left)">
                                      <p:cBhvr>
                                        <p:cTn id="52" dur="500"/>
                                        <p:tgtEl>
                                          <p:spTgt spid="8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wipe(left)">
                                      <p:cBhvr>
                                        <p:cTn id="57" dur="500"/>
                                        <p:tgtEl>
                                          <p:spTgt spid="73"/>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wipe(left)">
                                      <p:cBhvr>
                                        <p:cTn id="65" dur="500"/>
                                        <p:tgtEl>
                                          <p:spTgt spid="6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wipe(left)">
                                      <p:cBhvr>
                                        <p:cTn id="70" dur="500"/>
                                        <p:tgtEl>
                                          <p:spTgt spid="7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81"/>
                                        </p:tgtEl>
                                        <p:attrNameLst>
                                          <p:attrName>style.visibility</p:attrName>
                                        </p:attrNameLst>
                                      </p:cBhvr>
                                      <p:to>
                                        <p:strVal val="visible"/>
                                      </p:to>
                                    </p:set>
                                    <p:animEffect transition="in" filter="wipe(left)">
                                      <p:cBhvr>
                                        <p:cTn id="75" dur="500"/>
                                        <p:tgtEl>
                                          <p:spTgt spid="8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wipe(left)">
                                      <p:cBhvr>
                                        <p:cTn id="80" dur="500"/>
                                        <p:tgtEl>
                                          <p:spTgt spid="8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wipe(left)">
                                      <p:cBhvr>
                                        <p:cTn id="85" dur="500"/>
                                        <p:tgtEl>
                                          <p:spTgt spid="83"/>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91"/>
                                        </p:tgtEl>
                                        <p:attrNameLst>
                                          <p:attrName>style.visibility</p:attrName>
                                        </p:attrNameLst>
                                      </p:cBhvr>
                                      <p:to>
                                        <p:strVal val="visible"/>
                                      </p:to>
                                    </p:set>
                                    <p:animEffect transition="in" filter="wipe(left)">
                                      <p:cBhvr>
                                        <p:cTn id="88" dur="500"/>
                                        <p:tgtEl>
                                          <p:spTgt spid="91"/>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wipe(left)">
                                      <p:cBhvr>
                                        <p:cTn id="91" dur="500"/>
                                        <p:tgtEl>
                                          <p:spTgt spid="8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86"/>
                                        </p:tgtEl>
                                        <p:attrNameLst>
                                          <p:attrName>style.visibility</p:attrName>
                                        </p:attrNameLst>
                                      </p:cBhvr>
                                      <p:to>
                                        <p:strVal val="visible"/>
                                      </p:to>
                                    </p:set>
                                    <p:animEffect transition="in" filter="wipe(left)">
                                      <p:cBhvr>
                                        <p:cTn id="96" dur="500"/>
                                        <p:tgtEl>
                                          <p:spTgt spid="8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93"/>
                                        </p:tgtEl>
                                        <p:attrNameLst>
                                          <p:attrName>style.visibility</p:attrName>
                                        </p:attrNameLst>
                                      </p:cBhvr>
                                      <p:to>
                                        <p:strVal val="visible"/>
                                      </p:to>
                                    </p:set>
                                    <p:animEffect transition="in" filter="wipe(left)">
                                      <p:cBhvr>
                                        <p:cTn id="101" dur="500"/>
                                        <p:tgtEl>
                                          <p:spTgt spid="93"/>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97"/>
                                        </p:tgtEl>
                                        <p:attrNameLst>
                                          <p:attrName>style.visibility</p:attrName>
                                        </p:attrNameLst>
                                      </p:cBhvr>
                                      <p:to>
                                        <p:strVal val="visible"/>
                                      </p:to>
                                    </p:set>
                                    <p:animEffect transition="in" filter="wipe(left)">
                                      <p:cBhvr>
                                        <p:cTn id="106" dur="500"/>
                                        <p:tgtEl>
                                          <p:spTgt spid="9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95"/>
                                        </p:tgtEl>
                                        <p:attrNameLst>
                                          <p:attrName>style.visibility</p:attrName>
                                        </p:attrNameLst>
                                      </p:cBhvr>
                                      <p:to>
                                        <p:strVal val="visible"/>
                                      </p:to>
                                    </p:set>
                                    <p:animEffect transition="in" filter="wipe(left)">
                                      <p:cBhvr>
                                        <p:cTn id="111" dur="500"/>
                                        <p:tgtEl>
                                          <p:spTgt spid="95"/>
                                        </p:tgtEl>
                                      </p:cBhvr>
                                    </p:animEffect>
                                  </p:childTnLst>
                                </p:cTn>
                              </p:par>
                              <p:par>
                                <p:cTn id="112" presetID="22" presetClass="entr" presetSubtype="8" fill="hold" grpId="0" nodeType="withEffect">
                                  <p:stCondLst>
                                    <p:cond delay="0"/>
                                  </p:stCondLst>
                                  <p:childTnLst>
                                    <p:set>
                                      <p:cBhvr>
                                        <p:cTn id="113" dur="1" fill="hold">
                                          <p:stCondLst>
                                            <p:cond delay="0"/>
                                          </p:stCondLst>
                                        </p:cTn>
                                        <p:tgtEl>
                                          <p:spTgt spid="94"/>
                                        </p:tgtEl>
                                        <p:attrNameLst>
                                          <p:attrName>style.visibility</p:attrName>
                                        </p:attrNameLst>
                                      </p:cBhvr>
                                      <p:to>
                                        <p:strVal val="visible"/>
                                      </p:to>
                                    </p:set>
                                    <p:animEffect transition="in" filter="wipe(left)">
                                      <p:cBhvr>
                                        <p:cTn id="114" dur="500"/>
                                        <p:tgtEl>
                                          <p:spTgt spid="9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98"/>
                                        </p:tgtEl>
                                        <p:attrNameLst>
                                          <p:attrName>style.visibility</p:attrName>
                                        </p:attrNameLst>
                                      </p:cBhvr>
                                      <p:to>
                                        <p:strVal val="visible"/>
                                      </p:to>
                                    </p:set>
                                    <p:animEffect transition="in" filter="wipe(left)">
                                      <p:cBhvr>
                                        <p:cTn id="119" dur="500"/>
                                        <p:tgtEl>
                                          <p:spTgt spid="98"/>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96"/>
                                        </p:tgtEl>
                                        <p:attrNameLst>
                                          <p:attrName>style.visibility</p:attrName>
                                        </p:attrNameLst>
                                      </p:cBhvr>
                                      <p:to>
                                        <p:strVal val="visible"/>
                                      </p:to>
                                    </p:set>
                                    <p:animEffect transition="in" filter="wipe(left)">
                                      <p:cBhvr>
                                        <p:cTn id="124" dur="500"/>
                                        <p:tgtEl>
                                          <p:spTgt spid="96"/>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wipe(left)">
                                      <p:cBhvr>
                                        <p:cTn id="127" dur="500"/>
                                        <p:tgtEl>
                                          <p:spTgt spid="99"/>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101"/>
                                        </p:tgtEl>
                                        <p:attrNameLst>
                                          <p:attrName>style.visibility</p:attrName>
                                        </p:attrNameLst>
                                      </p:cBhvr>
                                      <p:to>
                                        <p:strVal val="visible"/>
                                      </p:to>
                                    </p:set>
                                    <p:animEffect transition="in" filter="wipe(left)">
                                      <p:cBhvr>
                                        <p:cTn id="132"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P spid="62" grpId="0" bldLvl="0" animBg="1"/>
      <p:bldP spid="64" grpId="0" bldLvl="0" animBg="1"/>
      <p:bldP spid="61" grpId="0" bldLvl="0" animBg="1"/>
      <p:bldP spid="68" grpId="0" bldLvl="0" animBg="1"/>
      <p:bldP spid="81" grpId="0" bldLvl="0" animBg="1"/>
      <p:bldP spid="83" grpId="0" bldLvl="0" animBg="1"/>
      <p:bldP spid="84" grpId="0" bldLvl="0" animBg="1"/>
      <p:bldP spid="72" grpId="0" bldLvl="0" animBg="1"/>
      <p:bldP spid="73" grpId="0" bldLvl="0" animBg="1"/>
      <p:bldP spid="78" grpId="0" bldLvl="0" animBg="1"/>
      <p:bldP spid="79" grpId="0" bldLvl="0" animBg="1"/>
      <p:bldP spid="95" grpId="0" bldLvl="0" animBg="1"/>
      <p:bldP spid="94" grpId="0" bldLvl="0" animBg="1"/>
      <p:bldP spid="96" grpId="0" bldLvl="0" animBg="1"/>
      <p:bldP spid="93" grpId="0" bldLvl="0" animBg="1"/>
      <p:bldP spid="99" grpId="0" bldLvl="0" animBg="1"/>
      <p:bldP spid="90" grpId="0" bldLvl="0" animBg="1"/>
      <p:bldP spid="89" grpId="0" bldLvl="0" animBg="1"/>
      <p:bldP spid="26" grpId="0" bldLvl="0" animBg="1"/>
      <p:bldP spid="9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1630045"/>
          </a:xfrm>
          <a:prstGeom prst="rect">
            <a:avLst/>
          </a:prstGeom>
          <a:noFill/>
        </p:spPr>
        <p:txBody>
          <a:bodyPr wrap="square" rtlCol="0">
            <a:spAutoFit/>
          </a:bodyPr>
          <a:p>
            <a:pPr algn="ctr"/>
            <a:r>
              <a:rPr lang="zh-CN" altLang="en-US" sz="2000" b="1">
                <a:solidFill>
                  <a:srgbClr val="9C0B15"/>
                </a:solidFill>
              </a:rPr>
              <a:t>分段的问题</a:t>
            </a:r>
            <a:endParaRPr lang="zh-CN" altLang="en-US" sz="2000" b="1">
              <a:solidFill>
                <a:srgbClr val="9C0B15"/>
              </a:solidFill>
            </a:endParaRPr>
          </a:p>
          <a:p>
            <a:endParaRPr lang="zh-CN" altLang="en-US" sz="2000"/>
          </a:p>
          <a:p>
            <a:pPr algn="l">
              <a:buClrTx/>
              <a:buSzTx/>
              <a:buFontTx/>
            </a:pPr>
            <a:r>
              <a:rPr lang="zh-CN" sz="2000" b="1">
                <a:solidFill>
                  <a:srgbClr val="9C0B15"/>
                </a:solidFill>
              </a:rPr>
              <a:t>段的连续性</a:t>
            </a:r>
            <a:r>
              <a:rPr lang="zh-CN" altLang="en-US" sz="2000" b="1">
                <a:solidFill>
                  <a:srgbClr val="9C0B15"/>
                </a:solidFill>
              </a:rPr>
              <a:t>	</a:t>
            </a:r>
            <a:r>
              <a:rPr lang="zh-CN" altLang="en-US" sz="2000"/>
              <a:t>在一个段之内，存储区域无论在虚拟空间还是物理空间都是是</a:t>
            </a:r>
            <a:r>
              <a:rPr lang="zh-CN" altLang="en-US" sz="2000">
                <a:sym typeface="+mn-ea"/>
              </a:rPr>
              <a:t>		</a:t>
            </a:r>
            <a:r>
              <a:rPr lang="zh-CN" altLang="en-US" sz="2000"/>
              <a:t>连续的。这意味着，一个段</a:t>
            </a:r>
            <a:r>
              <a:rPr lang="zh-CN" altLang="en-US" sz="2000">
                <a:solidFill>
                  <a:srgbClr val="9C0B15"/>
                </a:solidFill>
              </a:rPr>
              <a:t>必须使用一整块物理内存</a:t>
            </a:r>
            <a:r>
              <a:rPr lang="zh-CN" altLang="en-US" sz="2000"/>
              <a:t>。但是，</a:t>
            </a:r>
            <a:r>
              <a:rPr lang="zh-CN" altLang="en-US" sz="2000">
                <a:sym typeface="+mn-ea"/>
              </a:rPr>
              <a:t>		</a:t>
            </a:r>
            <a:r>
              <a:rPr lang="zh-CN" altLang="en-US" sz="2000"/>
              <a:t>如果</a:t>
            </a:r>
            <a:r>
              <a:rPr lang="zh-CN" altLang="en-US" sz="2000">
                <a:solidFill>
                  <a:srgbClr val="9C0B15"/>
                </a:solidFill>
              </a:rPr>
              <a:t>物理内存还有量，只是凑不出一整块</a:t>
            </a:r>
            <a:r>
              <a:rPr lang="zh-CN" altLang="en-US" sz="2000"/>
              <a:t>，怎么办？</a:t>
            </a:r>
            <a:endParaRPr lang="zh-CN" altLang="en-US" sz="2000">
              <a:sym typeface="+mn-ea"/>
            </a:endParaRPr>
          </a:p>
        </p:txBody>
      </p:sp>
      <p:pic>
        <p:nvPicPr>
          <p:cNvPr id="4" name="图片 3"/>
          <p:cNvPicPr>
            <a:picLocks noChangeAspect="1"/>
          </p:cNvPicPr>
          <p:nvPr>
            <p:custDataLst>
              <p:tags r:id="rId2"/>
            </p:custDataLst>
          </p:nvPr>
        </p:nvPicPr>
        <p:blipFill>
          <a:blip r:embed="rId3"/>
          <a:stretch>
            <a:fillRect/>
          </a:stretch>
        </p:blipFill>
        <p:spPr>
          <a:xfrm>
            <a:off x="1060450" y="1796415"/>
            <a:ext cx="5019675" cy="2800350"/>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3841750" y="3890010"/>
            <a:ext cx="5458460" cy="2675890"/>
          </a:xfrm>
          <a:prstGeom prst="rect">
            <a:avLst/>
          </a:prstGeom>
        </p:spPr>
      </p:pic>
    </p:spTree>
    <p:custDataLst>
      <p:tags r:id="rId6"/>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33375" y="166370"/>
            <a:ext cx="9121140" cy="6554470"/>
          </a:xfrm>
          <a:prstGeom prst="rect">
            <a:avLst/>
          </a:prstGeom>
          <a:noFill/>
        </p:spPr>
        <p:txBody>
          <a:bodyPr wrap="square" rtlCol="0">
            <a:spAutoFit/>
          </a:bodyPr>
          <a:p>
            <a:pPr algn="ctr"/>
            <a:r>
              <a:rPr lang="zh-CN" altLang="en-US" sz="2000" b="1">
                <a:solidFill>
                  <a:srgbClr val="9C0B15"/>
                </a:solidFill>
              </a:rPr>
              <a:t>分</a:t>
            </a:r>
            <a:r>
              <a:rPr lang="zh-CN" altLang="en-US" sz="2000" b="1">
                <a:solidFill>
                  <a:srgbClr val="9C0B15"/>
                </a:solidFill>
              </a:rPr>
              <a:t>页</a:t>
            </a:r>
            <a:endParaRPr lang="zh-CN" altLang="en-US" sz="2000" b="1">
              <a:solidFill>
                <a:srgbClr val="9C0B15"/>
              </a:solidFill>
            </a:endParaRPr>
          </a:p>
          <a:p>
            <a:endParaRPr lang="zh-CN" altLang="en-US" sz="2000"/>
          </a:p>
          <a:p>
            <a:pPr algn="l">
              <a:buClrTx/>
              <a:buSzTx/>
              <a:buFontTx/>
            </a:pPr>
            <a:r>
              <a:rPr lang="zh-CN" altLang="en-US" sz="2000" b="1">
                <a:solidFill>
                  <a:srgbClr val="9C0B15"/>
                </a:solidFill>
                <a:sym typeface="+mn-ea"/>
              </a:rPr>
              <a:t>按页划分虚拟地址</a:t>
            </a:r>
            <a:r>
              <a:rPr lang="en-US" altLang="zh-CN" sz="2000" b="1">
                <a:solidFill>
                  <a:srgbClr val="9C0B15"/>
                </a:solidFill>
                <a:sym typeface="+mn-ea"/>
              </a:rPr>
              <a:t>	</a:t>
            </a:r>
            <a:r>
              <a:rPr lang="zh-CN" altLang="en-US" sz="2000">
                <a:sym typeface="+mn-ea"/>
              </a:rPr>
              <a:t>从</a:t>
            </a:r>
            <a:r>
              <a:rPr lang="zh-CN" altLang="en-US" sz="2000">
                <a:solidFill>
                  <a:srgbClr val="9C0B15"/>
                </a:solidFill>
                <a:sym typeface="+mn-ea"/>
              </a:rPr>
              <a:t>物理地址空间的细粒度划分</a:t>
            </a:r>
            <a:r>
              <a:rPr lang="zh-CN" altLang="en-US" sz="2000">
                <a:sym typeface="+mn-ea"/>
              </a:rPr>
              <a:t>出发，我们将物理地址切</a:t>
            </a:r>
            <a:r>
              <a:rPr lang="zh-CN" altLang="en-US" sz="2000">
                <a:sym typeface="+mn-ea"/>
              </a:rPr>
              <a:t>			</a:t>
            </a:r>
            <a:r>
              <a:rPr lang="zh-CN" altLang="en-US" sz="2000">
                <a:sym typeface="+mn-ea"/>
              </a:rPr>
              <a:t>割成一个个</a:t>
            </a:r>
            <a:r>
              <a:rPr lang="zh-CN" altLang="en-US" sz="2000">
                <a:solidFill>
                  <a:srgbClr val="9C0B15"/>
                </a:solidFill>
                <a:sym typeface="+mn-ea"/>
              </a:rPr>
              <a:t>大小相等</a:t>
            </a:r>
            <a:r>
              <a:rPr lang="zh-CN" altLang="en-US" sz="2000">
                <a:sym typeface="+mn-ea"/>
              </a:rPr>
              <a:t>的小页，并将虚拟地址也切割成</a:t>
            </a:r>
            <a:r>
              <a:rPr lang="zh-CN" altLang="en-US" sz="2000">
                <a:solidFill>
                  <a:srgbClr val="9C0B15"/>
                </a:solidFill>
                <a:sym typeface="+mn-ea"/>
              </a:rPr>
              <a:t>同</a:t>
            </a:r>
            <a:r>
              <a:rPr lang="zh-CN" altLang="en-US" sz="2000">
                <a:solidFill>
                  <a:srgbClr val="9C0B15"/>
                </a:solidFill>
                <a:sym typeface="+mn-ea"/>
              </a:rPr>
              <a:t>			</a:t>
            </a:r>
            <a:r>
              <a:rPr lang="zh-CN" altLang="en-US" sz="2000">
                <a:solidFill>
                  <a:srgbClr val="9C0B15"/>
                </a:solidFill>
                <a:sym typeface="+mn-ea"/>
              </a:rPr>
              <a:t>样大小的页</a:t>
            </a:r>
            <a:r>
              <a:rPr lang="zh-CN" altLang="en-US" sz="2000">
                <a:sym typeface="+mn-ea"/>
              </a:rPr>
              <a:t>。那么，我们只需要将</a:t>
            </a:r>
            <a:r>
              <a:rPr lang="zh-CN" altLang="en-US" sz="2000">
                <a:solidFill>
                  <a:srgbClr val="9C0B15"/>
                </a:solidFill>
                <a:sym typeface="+mn-ea"/>
              </a:rPr>
              <a:t>每个虚拟页映射到不</a:t>
            </a:r>
            <a:r>
              <a:rPr lang="zh-CN" altLang="en-US" sz="2000">
                <a:sym typeface="+mn-ea"/>
              </a:rPr>
              <a:t>			</a:t>
            </a:r>
            <a:r>
              <a:rPr lang="zh-CN" altLang="en-US" sz="2000">
                <a:solidFill>
                  <a:srgbClr val="9C0B15"/>
                </a:solidFill>
                <a:sym typeface="+mn-ea"/>
              </a:rPr>
              <a:t>同的物理页</a:t>
            </a:r>
            <a:r>
              <a:rPr lang="zh-CN" altLang="en-US" sz="2000">
                <a:sym typeface="+mn-ea"/>
              </a:rPr>
              <a:t>就好了。为此，我们需要给每个页分配一个</a:t>
            </a:r>
            <a:r>
              <a:rPr lang="zh-CN" altLang="en-US" sz="2000">
                <a:sym typeface="+mn-ea"/>
              </a:rPr>
              <a:t>			</a:t>
            </a:r>
            <a:r>
              <a:rPr lang="zh-CN" altLang="en-US" sz="2000">
                <a:sym typeface="+mn-ea"/>
              </a:rPr>
              <a:t>页号，同时每个虚拟页都对应一个</a:t>
            </a:r>
            <a:r>
              <a:rPr lang="zh-CN" altLang="en-US" sz="2000">
                <a:sym typeface="+mn-ea"/>
              </a:rPr>
              <a:t>物</a:t>
            </a:r>
            <a:r>
              <a:rPr lang="zh-CN" altLang="en-US" sz="2000">
                <a:sym typeface="+mn-ea"/>
              </a:rPr>
              <a:t>理页，还拥有一个</a:t>
            </a:r>
            <a:r>
              <a:rPr lang="zh-CN" altLang="en-US" sz="2000">
                <a:sym typeface="+mn-ea"/>
              </a:rPr>
              <a:t>			</a:t>
            </a:r>
            <a:r>
              <a:rPr lang="zh-CN" altLang="en-US" sz="2000">
                <a:sym typeface="+mn-ea"/>
              </a:rPr>
              <a:t>访问权限。</a:t>
            </a:r>
            <a:endParaRPr lang="zh-CN" altLang="en-US" sz="2000"/>
          </a:p>
          <a:p>
            <a:pPr algn="l">
              <a:buClrTx/>
              <a:buSzTx/>
              <a:buFontTx/>
            </a:pPr>
            <a:r>
              <a:rPr lang="en-US" altLang="zh-CN" sz="2000" b="1">
                <a:solidFill>
                  <a:srgbClr val="9C0B15"/>
                </a:solidFill>
                <a:sym typeface="+mn-ea"/>
              </a:rPr>
              <a:t>			</a:t>
            </a:r>
            <a:r>
              <a:rPr lang="zh-CN" altLang="en-US" sz="2000">
                <a:sym typeface="+mn-ea"/>
              </a:rPr>
              <a:t>每个程序的虚拟页到物理页的映射关系组成</a:t>
            </a:r>
            <a:r>
              <a:rPr lang="zh-CN" altLang="en-US" sz="2000">
                <a:solidFill>
                  <a:srgbClr val="9C0B15"/>
                </a:solidFill>
                <a:sym typeface="+mn-ea"/>
              </a:rPr>
              <a:t>页表。</a:t>
            </a:r>
            <a:endParaRPr lang="zh-CN" altLang="en-US" sz="2000"/>
          </a:p>
          <a:p>
            <a:pPr algn="l">
              <a:buClrTx/>
              <a:buSzTx/>
              <a:buFontTx/>
            </a:pPr>
            <a:endParaRPr lang="zh-CN" altLang="en-US" sz="2000"/>
          </a:p>
          <a:p>
            <a:pPr algn="l">
              <a:buClrTx/>
              <a:buSzTx/>
              <a:buFontTx/>
            </a:pPr>
            <a:r>
              <a:rPr lang="zh-CN" altLang="en-US" sz="2000" b="1">
                <a:solidFill>
                  <a:srgbClr val="9C0B15"/>
                </a:solidFill>
                <a:sym typeface="+mn-ea"/>
              </a:rPr>
              <a:t>页式内存管理单元	</a:t>
            </a:r>
            <a:r>
              <a:rPr lang="zh-CN" altLang="en-US" sz="2000">
                <a:sym typeface="+mn-ea"/>
              </a:rPr>
              <a:t>常用于分段布局的存储器访问管理工具，具备</a:t>
            </a:r>
            <a:r>
              <a:rPr lang="zh-CN" altLang="en-US" sz="2000">
                <a:solidFill>
                  <a:srgbClr val="9C0B15"/>
                </a:solidFill>
                <a:sym typeface="+mn-ea"/>
              </a:rPr>
              <a:t>按页地址</a:t>
            </a:r>
            <a:r>
              <a:rPr lang="en-US" altLang="zh-CN" sz="2000" b="1">
                <a:solidFill>
                  <a:srgbClr val="9C0B15"/>
                </a:solidFill>
                <a:sym typeface="+mn-ea"/>
              </a:rPr>
              <a:t>Paging-based</a:t>
            </a:r>
            <a:r>
              <a:rPr lang="zh-CN" altLang="en-US" sz="2000" b="1">
                <a:solidFill>
                  <a:srgbClr val="9C0B15"/>
                </a:solidFill>
                <a:sym typeface="+mn-ea"/>
              </a:rPr>
              <a:t>		</a:t>
            </a:r>
            <a:r>
              <a:rPr lang="zh-CN" altLang="en-US" sz="2000">
                <a:solidFill>
                  <a:srgbClr val="9C0B15"/>
                </a:solidFill>
                <a:sym typeface="+mn-ea"/>
              </a:rPr>
              <a:t>重映射</a:t>
            </a:r>
            <a:r>
              <a:rPr lang="zh-CN" altLang="en-US" sz="2000">
                <a:sym typeface="+mn-ea"/>
              </a:rPr>
              <a:t>和访问权限管理两个职能。页式内存管理单元使</a:t>
            </a:r>
            <a:endParaRPr lang="zh-CN" altLang="en-US" sz="2000">
              <a:sym typeface="+mn-ea"/>
            </a:endParaRPr>
          </a:p>
          <a:p>
            <a:pPr algn="l">
              <a:buClrTx/>
              <a:buSzTx/>
              <a:buFontTx/>
            </a:pPr>
            <a:r>
              <a:rPr lang="en-US" altLang="zh-CN" sz="2000" b="1">
                <a:solidFill>
                  <a:srgbClr val="9C0B15"/>
                </a:solidFill>
                <a:sym typeface="+mn-ea"/>
              </a:rPr>
              <a:t>Memory		</a:t>
            </a:r>
            <a:r>
              <a:rPr lang="zh-CN" altLang="en-US" sz="2000" b="1">
                <a:solidFill>
                  <a:srgbClr val="9C0B15"/>
                </a:solidFill>
                <a:sym typeface="+mn-ea"/>
              </a:rPr>
              <a:t>	</a:t>
            </a:r>
            <a:r>
              <a:rPr lang="zh-CN" altLang="en-US" sz="2000">
                <a:sym typeface="+mn-ea"/>
              </a:rPr>
              <a:t>用一张页表，每个页都包括</a:t>
            </a:r>
            <a:r>
              <a:rPr lang="en-US" altLang="zh-CN" sz="2000">
                <a:sym typeface="+mn-ea"/>
              </a:rPr>
              <a:t>“</a:t>
            </a:r>
            <a:r>
              <a:rPr lang="zh-CN" altLang="en-US" sz="2000">
                <a:solidFill>
                  <a:srgbClr val="9C0B15"/>
                </a:solidFill>
                <a:sym typeface="+mn-ea"/>
              </a:rPr>
              <a:t>页号</a:t>
            </a:r>
            <a:r>
              <a:rPr lang="en-US" altLang="zh-CN" sz="2000">
                <a:sym typeface="+mn-ea"/>
              </a:rPr>
              <a:t>”</a:t>
            </a:r>
            <a:r>
              <a:rPr lang="zh-CN" altLang="en-US" sz="2000">
                <a:sym typeface="+mn-ea"/>
              </a:rPr>
              <a:t>、</a:t>
            </a:r>
            <a:r>
              <a:rPr lang="en-US" altLang="zh-CN" sz="2000">
                <a:sym typeface="+mn-ea"/>
              </a:rPr>
              <a:t>“</a:t>
            </a:r>
            <a:r>
              <a:rPr lang="zh-CN" altLang="en-US" sz="2000">
                <a:solidFill>
                  <a:srgbClr val="9C0B15"/>
                </a:solidFill>
                <a:sym typeface="+mn-ea"/>
              </a:rPr>
              <a:t>页物理地址</a:t>
            </a:r>
            <a:r>
              <a:rPr lang="en-US" altLang="zh-CN" sz="2000">
                <a:sym typeface="+mn-ea"/>
              </a:rPr>
              <a:t>”</a:t>
            </a:r>
            <a:r>
              <a:rPr lang="zh-CN" altLang="en-US" sz="2000">
                <a:sym typeface="+mn-ea"/>
              </a:rPr>
              <a:t>和</a:t>
            </a:r>
            <a:r>
              <a:rPr lang="en-US" altLang="zh-CN" sz="2000">
                <a:sym typeface="+mn-ea"/>
              </a:rPr>
              <a:t>“</a:t>
            </a:r>
            <a:r>
              <a:rPr lang="zh-CN" altLang="en-US" sz="2000">
                <a:solidFill>
                  <a:srgbClr val="9C0B15"/>
                </a:solidFill>
                <a:sym typeface="+mn-ea"/>
              </a:rPr>
              <a:t>页</a:t>
            </a:r>
            <a:endParaRPr lang="zh-CN" altLang="en-US" sz="2000">
              <a:solidFill>
                <a:srgbClr val="9C0B15"/>
              </a:solidFill>
              <a:sym typeface="+mn-ea"/>
            </a:endParaRPr>
          </a:p>
          <a:p>
            <a:pPr algn="l">
              <a:buClrTx/>
              <a:buSzTx/>
              <a:buFontTx/>
            </a:pPr>
            <a:r>
              <a:rPr lang="en-US" altLang="zh-CN" sz="2000" b="1">
                <a:solidFill>
                  <a:srgbClr val="9C0B15"/>
                </a:solidFill>
                <a:sym typeface="+mn-ea"/>
              </a:rPr>
              <a:t>Management	</a:t>
            </a:r>
            <a:r>
              <a:rPr lang="zh-CN" altLang="en-US" sz="2000" b="1">
                <a:solidFill>
                  <a:srgbClr val="9C0B15"/>
                </a:solidFill>
                <a:sym typeface="+mn-ea"/>
              </a:rPr>
              <a:t>	</a:t>
            </a:r>
            <a:r>
              <a:rPr lang="zh-CN" altLang="en-US" sz="2000">
                <a:solidFill>
                  <a:srgbClr val="9C0B15"/>
                </a:solidFill>
                <a:sym typeface="+mn-ea"/>
              </a:rPr>
              <a:t>权限</a:t>
            </a:r>
            <a:r>
              <a:rPr lang="en-US" altLang="zh-CN" sz="2000">
                <a:sym typeface="+mn-ea"/>
              </a:rPr>
              <a:t>”</a:t>
            </a:r>
            <a:r>
              <a:rPr lang="zh-CN" altLang="en-US" sz="2000">
                <a:sym typeface="+mn-ea"/>
              </a:rPr>
              <a:t>三个部分。由应用程序发起的每一次内存访问都</a:t>
            </a:r>
            <a:r>
              <a:rPr lang="en-US" altLang="zh-CN" sz="2000" b="1">
                <a:solidFill>
                  <a:srgbClr val="9C0B15"/>
                </a:solidFill>
                <a:sym typeface="+mn-ea"/>
              </a:rPr>
              <a:t>Unit			</a:t>
            </a:r>
            <a:r>
              <a:rPr lang="zh-CN" altLang="en-US" sz="2000">
                <a:sym typeface="+mn-ea"/>
              </a:rPr>
              <a:t>需要经过页表指定</a:t>
            </a:r>
            <a:r>
              <a:rPr lang="zh-CN" altLang="en-US" sz="2000">
                <a:sym typeface="+mn-ea"/>
              </a:rPr>
              <a:t>的转换和检查：</a:t>
            </a:r>
            <a:endParaRPr lang="zh-CN" altLang="en-US" sz="2000"/>
          </a:p>
          <a:p>
            <a:pPr algn="l">
              <a:buClrTx/>
              <a:buSzTx/>
              <a:buFontTx/>
            </a:pPr>
            <a:r>
              <a:rPr lang="zh-CN" altLang="en-US" sz="2000" b="1">
                <a:solidFill>
                  <a:srgbClr val="9C0B15"/>
                </a:solidFill>
                <a:sym typeface="+mn-ea"/>
              </a:rPr>
              <a:t>（</a:t>
            </a:r>
            <a:r>
              <a:rPr lang="en-US" altLang="zh-CN" sz="2000" b="1">
                <a:solidFill>
                  <a:srgbClr val="9C0B15"/>
                </a:solidFill>
                <a:sym typeface="+mn-ea"/>
              </a:rPr>
              <a:t>P-MMU</a:t>
            </a:r>
            <a:r>
              <a:rPr lang="zh-CN" altLang="en-US" sz="2000" b="1">
                <a:solidFill>
                  <a:srgbClr val="9C0B15"/>
                </a:solidFill>
                <a:sym typeface="+mn-ea"/>
              </a:rPr>
              <a:t>）</a:t>
            </a:r>
            <a:r>
              <a:rPr lang="en-US" altLang="zh-CN" sz="2000" b="1">
                <a:solidFill>
                  <a:srgbClr val="9C0B15"/>
                </a:solidFill>
                <a:sym typeface="+mn-ea"/>
              </a:rPr>
              <a:t>		</a:t>
            </a:r>
            <a:r>
              <a:rPr lang="zh-CN" altLang="en-US" sz="2000">
                <a:sym typeface="+mn-ea"/>
              </a:rPr>
              <a:t>（</a:t>
            </a:r>
            <a:r>
              <a:rPr lang="en-US" altLang="zh-CN" sz="2000">
                <a:sym typeface="+mn-ea"/>
              </a:rPr>
              <a:t>1</a:t>
            </a:r>
            <a:r>
              <a:rPr lang="zh-CN" altLang="en-US" sz="2000">
                <a:sym typeface="+mn-ea"/>
              </a:rPr>
              <a:t>）按照访问的虚拟地址中的页号信息查找相应的页。</a:t>
            </a:r>
            <a:endParaRPr lang="zh-CN" altLang="en-US" sz="2000"/>
          </a:p>
          <a:p>
            <a:pPr algn="l">
              <a:buClrTx/>
              <a:buSzTx/>
              <a:buFontTx/>
            </a:pPr>
            <a:r>
              <a:rPr lang="en-US" altLang="zh-CN" sz="2000" b="1">
                <a:solidFill>
                  <a:srgbClr val="9C0B15"/>
                </a:solidFill>
                <a:sym typeface="+mn-ea"/>
              </a:rPr>
              <a:t>			</a:t>
            </a:r>
            <a:r>
              <a:rPr lang="zh-CN" altLang="en-US" sz="2000">
                <a:sym typeface="+mn-ea"/>
              </a:rPr>
              <a:t>（</a:t>
            </a:r>
            <a:r>
              <a:rPr lang="en-US" altLang="zh-CN" sz="2000">
                <a:sym typeface="+mn-ea"/>
              </a:rPr>
              <a:t>2</a:t>
            </a:r>
            <a:r>
              <a:rPr lang="zh-CN" altLang="en-US" sz="2000">
                <a:sym typeface="+mn-ea"/>
              </a:rPr>
              <a:t>）发起的访问的性质（读，写，执行）必须是</a:t>
            </a:r>
            <a:r>
              <a:rPr lang="zh-CN" altLang="en-US" sz="2000">
                <a:solidFill>
                  <a:srgbClr val="9C0B15"/>
                </a:solidFill>
                <a:sym typeface="+mn-ea"/>
              </a:rPr>
              <a:t>该页</a:t>
            </a:r>
            <a:r>
              <a:rPr lang="en-US" altLang="zh-CN" sz="2000" b="1">
                <a:solidFill>
                  <a:srgbClr val="9C0B15"/>
                </a:solidFill>
                <a:sym typeface="+mn-ea"/>
              </a:rPr>
              <a:t>			</a:t>
            </a:r>
            <a:r>
              <a:rPr lang="zh-CN" altLang="en-US" sz="2000">
                <a:solidFill>
                  <a:srgbClr val="9C0B15"/>
                </a:solidFill>
                <a:sym typeface="+mn-ea"/>
              </a:rPr>
              <a:t>的权限允许的</a:t>
            </a:r>
            <a:r>
              <a:rPr lang="zh-CN" altLang="en-US" sz="2000">
                <a:sym typeface="+mn-ea"/>
              </a:rPr>
              <a:t>。</a:t>
            </a:r>
            <a:endParaRPr lang="zh-CN" altLang="en-US" sz="2000">
              <a:sym typeface="+mn-ea"/>
            </a:endParaRPr>
          </a:p>
          <a:p>
            <a:pPr algn="l">
              <a:buClrTx/>
              <a:buSzTx/>
              <a:buFontTx/>
            </a:pPr>
            <a:r>
              <a:rPr lang="en-US" altLang="zh-CN" sz="2000" b="1">
                <a:solidFill>
                  <a:srgbClr val="9C0B15"/>
                </a:solidFill>
                <a:sym typeface="+mn-ea"/>
              </a:rPr>
              <a:t>			</a:t>
            </a:r>
            <a:r>
              <a:rPr lang="zh-CN" altLang="en-US" sz="2000">
                <a:sym typeface="+mn-ea"/>
              </a:rPr>
              <a:t>（</a:t>
            </a:r>
            <a:r>
              <a:rPr lang="en-US" altLang="zh-CN" sz="2000">
                <a:sym typeface="+mn-ea"/>
              </a:rPr>
              <a:t>3</a:t>
            </a:r>
            <a:r>
              <a:rPr lang="zh-CN" altLang="en-US" sz="2000">
                <a:sym typeface="+mn-ea"/>
              </a:rPr>
              <a:t>）访问的物理地址</a:t>
            </a:r>
            <a:r>
              <a:rPr lang="en-US" altLang="zh-CN" sz="2000">
                <a:sym typeface="+mn-ea"/>
              </a:rPr>
              <a:t>=</a:t>
            </a:r>
            <a:r>
              <a:rPr lang="zh-CN" altLang="en-US" sz="2000">
                <a:solidFill>
                  <a:srgbClr val="9C0B15"/>
                </a:solidFill>
                <a:sym typeface="+mn-ea"/>
              </a:rPr>
              <a:t>页</a:t>
            </a:r>
            <a:r>
              <a:rPr lang="zh-CN" altLang="en-US" sz="2000">
                <a:solidFill>
                  <a:srgbClr val="9C0B15"/>
                </a:solidFill>
                <a:sym typeface="+mn-ea"/>
              </a:rPr>
              <a:t>基址</a:t>
            </a:r>
            <a:r>
              <a:rPr lang="en-US" altLang="zh-CN" sz="2000">
                <a:sym typeface="+mn-ea"/>
              </a:rPr>
              <a:t>+</a:t>
            </a:r>
            <a:r>
              <a:rPr lang="zh-CN" altLang="en-US" sz="2000">
                <a:solidFill>
                  <a:srgbClr val="9C0B15"/>
                </a:solidFill>
                <a:sym typeface="+mn-ea"/>
              </a:rPr>
              <a:t>页内偏移量</a:t>
            </a:r>
            <a:r>
              <a:rPr lang="zh-CN" altLang="en-US" sz="2000">
                <a:sym typeface="+mn-ea"/>
              </a:rPr>
              <a:t>。</a:t>
            </a:r>
            <a:endParaRPr lang="zh-CN" altLang="en-US" sz="2000">
              <a:sym typeface="+mn-ea"/>
            </a:endParaRPr>
          </a:p>
          <a:p>
            <a:pPr algn="l">
              <a:buClrTx/>
              <a:buSzTx/>
              <a:buFontTx/>
            </a:pPr>
            <a:endParaRPr lang="zh-CN" altLang="en-US" sz="2000"/>
          </a:p>
          <a:p>
            <a:pPr algn="l">
              <a:buClrTx/>
              <a:buSzTx/>
              <a:buFontTx/>
            </a:pPr>
            <a:r>
              <a:rPr lang="zh-CN" altLang="en-US" sz="2000">
                <a:solidFill>
                  <a:srgbClr val="9C0B15"/>
                </a:solidFill>
                <a:sym typeface="+mn-ea"/>
              </a:rPr>
              <a:t>		</a:t>
            </a:r>
            <a:r>
              <a:rPr lang="en-US" altLang="zh-CN" sz="2000">
                <a:solidFill>
                  <a:srgbClr val="9C0B15"/>
                </a:solidFill>
                <a:sym typeface="+mn-ea"/>
              </a:rPr>
              <a:t>	</a:t>
            </a:r>
            <a:r>
              <a:rPr lang="zh-CN" altLang="en-US" sz="2000">
                <a:sym typeface="+mn-ea"/>
              </a:rPr>
              <a:t>乍看之下比S-MMU还简单。但线性页表中</a:t>
            </a:r>
            <a:r>
              <a:rPr lang="zh-CN" altLang="en-US" sz="2000">
                <a:solidFill>
                  <a:srgbClr val="9C0B15"/>
                </a:solidFill>
                <a:sym typeface="+mn-ea"/>
              </a:rPr>
              <a:t>页的数量</a:t>
            </a:r>
            <a:r>
              <a:rPr lang="en-US" altLang="zh-CN" sz="2000">
                <a:sym typeface="+mn-ea"/>
              </a:rPr>
              <a:t>...</a:t>
            </a:r>
            <a:endParaRPr lang="en-US" altLang="zh-CN" sz="2000">
              <a:sym typeface="+mn-ea"/>
            </a:endParaRPr>
          </a:p>
        </p:txBody>
      </p:sp>
      <p:pic>
        <p:nvPicPr>
          <p:cNvPr id="2" name="图片 1"/>
          <p:cNvPicPr>
            <a:picLocks noChangeAspect="1"/>
          </p:cNvPicPr>
          <p:nvPr>
            <p:custDataLst>
              <p:tags r:id="rId2"/>
            </p:custDataLst>
          </p:nvPr>
        </p:nvPicPr>
        <p:blipFill>
          <a:blip r:embed="rId3"/>
          <a:stretch>
            <a:fillRect/>
          </a:stretch>
        </p:blipFill>
        <p:spPr>
          <a:xfrm>
            <a:off x="137160" y="5139690"/>
            <a:ext cx="2707005" cy="1451610"/>
          </a:xfrm>
          <a:prstGeom prst="rect">
            <a:avLst/>
          </a:prstGeom>
        </p:spPr>
      </p:pic>
    </p:spTree>
    <p:custDataLst>
      <p:tags r:id="rId4"/>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121140" cy="398780"/>
          </a:xfrm>
          <a:prstGeom prst="rect">
            <a:avLst/>
          </a:prstGeom>
          <a:noFill/>
        </p:spPr>
        <p:txBody>
          <a:bodyPr wrap="square" rtlCol="0">
            <a:spAutoFit/>
          </a:bodyPr>
          <a:p>
            <a:pPr algn="ctr"/>
            <a:r>
              <a:rPr lang="zh-CN" altLang="en-US" sz="2000" b="1">
                <a:solidFill>
                  <a:srgbClr val="9C0B15"/>
                </a:solidFill>
              </a:rPr>
              <a:t>页表示例</a:t>
            </a:r>
            <a:endParaRPr lang="zh-CN" altLang="en-US" sz="2000"/>
          </a:p>
        </p:txBody>
      </p:sp>
      <p:sp>
        <p:nvSpPr>
          <p:cNvPr id="15" name="矩形 14"/>
          <p:cNvSpPr/>
          <p:nvPr>
            <p:custDataLst>
              <p:tags r:id="rId2"/>
            </p:custDataLst>
          </p:nvPr>
        </p:nvSpPr>
        <p:spPr>
          <a:xfrm>
            <a:off x="3336925" y="1111250"/>
            <a:ext cx="302006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4" name="矩形 3"/>
          <p:cNvSpPr/>
          <p:nvPr>
            <p:custDataLst>
              <p:tags r:id="rId3"/>
            </p:custDataLst>
          </p:nvPr>
        </p:nvSpPr>
        <p:spPr>
          <a:xfrm>
            <a:off x="6356350" y="1111250"/>
            <a:ext cx="1862455"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t>.......</a:t>
            </a:r>
            <a:endParaRPr lang="en-US"/>
          </a:p>
        </p:txBody>
      </p:sp>
      <p:sp>
        <p:nvSpPr>
          <p:cNvPr id="7" name="矩形 6"/>
          <p:cNvSpPr/>
          <p:nvPr>
            <p:custDataLst>
              <p:tags r:id="rId4"/>
            </p:custDataLst>
          </p:nvPr>
        </p:nvSpPr>
        <p:spPr>
          <a:xfrm>
            <a:off x="3336925" y="4923155"/>
            <a:ext cx="302006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a:t>
            </a:r>
            <a:endParaRPr lang="en-US" altLang="zh-CN">
              <a:sym typeface="+mn-ea"/>
            </a:endParaRPr>
          </a:p>
        </p:txBody>
      </p:sp>
      <p:sp>
        <p:nvSpPr>
          <p:cNvPr id="8" name="矩形 7"/>
          <p:cNvSpPr/>
          <p:nvPr>
            <p:custDataLst>
              <p:tags r:id="rId5"/>
            </p:custDataLst>
          </p:nvPr>
        </p:nvSpPr>
        <p:spPr>
          <a:xfrm>
            <a:off x="6356985" y="4923155"/>
            <a:ext cx="186182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a:t>
            </a:r>
            <a:endParaRPr lang="en-US" altLang="zh-CN">
              <a:sym typeface="+mn-ea"/>
            </a:endParaRPr>
          </a:p>
        </p:txBody>
      </p:sp>
      <p:sp>
        <p:nvSpPr>
          <p:cNvPr id="9" name="矩形 8"/>
          <p:cNvSpPr/>
          <p:nvPr>
            <p:custDataLst>
              <p:tags r:id="rId6"/>
            </p:custDataLst>
          </p:nvPr>
        </p:nvSpPr>
        <p:spPr>
          <a:xfrm>
            <a:off x="3336925" y="5346700"/>
            <a:ext cx="3020060"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0x20632000</a:t>
            </a:r>
            <a:endParaRPr lang="en-US" altLang="zh-CN">
              <a:sym typeface="+mn-ea"/>
            </a:endParaRPr>
          </a:p>
        </p:txBody>
      </p:sp>
      <p:sp>
        <p:nvSpPr>
          <p:cNvPr id="17" name="矩形 16"/>
          <p:cNvSpPr/>
          <p:nvPr>
            <p:custDataLst>
              <p:tags r:id="rId7"/>
            </p:custDataLst>
          </p:nvPr>
        </p:nvSpPr>
        <p:spPr>
          <a:xfrm>
            <a:off x="6356985" y="5346700"/>
            <a:ext cx="1861185"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 Write</a:t>
            </a:r>
            <a:endParaRPr lang="en-US" altLang="zh-CN">
              <a:sym typeface="+mn-ea"/>
            </a:endParaRPr>
          </a:p>
        </p:txBody>
      </p:sp>
      <p:sp>
        <p:nvSpPr>
          <p:cNvPr id="87" name="矩形 86"/>
          <p:cNvSpPr/>
          <p:nvPr>
            <p:custDataLst>
              <p:tags r:id="rId8"/>
            </p:custDataLst>
          </p:nvPr>
        </p:nvSpPr>
        <p:spPr>
          <a:xfrm>
            <a:off x="3336925" y="687705"/>
            <a:ext cx="3019425"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页物理地址（页大小</a:t>
            </a:r>
            <a:r>
              <a:rPr lang="en-US" altLang="zh-CN">
                <a:solidFill>
                  <a:schemeClr val="tx1"/>
                </a:solidFill>
                <a:sym typeface="+mn-ea"/>
              </a:rPr>
              <a:t>4k</a:t>
            </a:r>
            <a:r>
              <a:rPr lang="zh-CN" altLang="en-US">
                <a:solidFill>
                  <a:schemeClr val="tx1"/>
                </a:solidFill>
                <a:sym typeface="+mn-ea"/>
              </a:rPr>
              <a:t>固定）</a:t>
            </a:r>
            <a:endParaRPr lang="en-US" altLang="zh-CN">
              <a:solidFill>
                <a:schemeClr val="tx1"/>
              </a:solidFill>
              <a:sym typeface="+mn-ea"/>
            </a:endParaRPr>
          </a:p>
        </p:txBody>
      </p:sp>
      <p:sp>
        <p:nvSpPr>
          <p:cNvPr id="88" name="矩形 87"/>
          <p:cNvSpPr/>
          <p:nvPr>
            <p:custDataLst>
              <p:tags r:id="rId9"/>
            </p:custDataLst>
          </p:nvPr>
        </p:nvSpPr>
        <p:spPr>
          <a:xfrm>
            <a:off x="6356350" y="687705"/>
            <a:ext cx="1862455"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页权限</a:t>
            </a:r>
            <a:endParaRPr lang="zh-CN" altLang="en-US">
              <a:solidFill>
                <a:schemeClr val="tx1"/>
              </a:solidFill>
              <a:sym typeface="+mn-ea"/>
            </a:endParaRPr>
          </a:p>
        </p:txBody>
      </p:sp>
      <p:sp>
        <p:nvSpPr>
          <p:cNvPr id="2" name="矩形 1"/>
          <p:cNvSpPr/>
          <p:nvPr>
            <p:custDataLst>
              <p:tags r:id="rId10"/>
            </p:custDataLst>
          </p:nvPr>
        </p:nvSpPr>
        <p:spPr>
          <a:xfrm>
            <a:off x="1169035" y="687705"/>
            <a:ext cx="21678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页号</a:t>
            </a:r>
            <a:endParaRPr lang="zh-CN" altLang="en-US">
              <a:solidFill>
                <a:schemeClr val="tx1"/>
              </a:solidFill>
              <a:sym typeface="+mn-ea"/>
            </a:endParaRPr>
          </a:p>
        </p:txBody>
      </p:sp>
      <p:sp>
        <p:nvSpPr>
          <p:cNvPr id="5" name="矩形 4"/>
          <p:cNvSpPr/>
          <p:nvPr>
            <p:custDataLst>
              <p:tags r:id="rId11"/>
            </p:custDataLst>
          </p:nvPr>
        </p:nvSpPr>
        <p:spPr>
          <a:xfrm>
            <a:off x="1169035" y="1111250"/>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6" name="矩形 5"/>
          <p:cNvSpPr/>
          <p:nvPr>
            <p:custDataLst>
              <p:tags r:id="rId12"/>
            </p:custDataLst>
          </p:nvPr>
        </p:nvSpPr>
        <p:spPr>
          <a:xfrm>
            <a:off x="1169035" y="4923155"/>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a:t>
            </a:r>
            <a:endParaRPr lang="en-US" altLang="zh-CN">
              <a:sym typeface="+mn-ea"/>
            </a:endParaRPr>
          </a:p>
        </p:txBody>
      </p:sp>
      <p:sp>
        <p:nvSpPr>
          <p:cNvPr id="25" name="矩形 24"/>
          <p:cNvSpPr/>
          <p:nvPr>
            <p:custDataLst>
              <p:tags r:id="rId13"/>
            </p:custDataLst>
          </p:nvPr>
        </p:nvSpPr>
        <p:spPr>
          <a:xfrm>
            <a:off x="1169035" y="5346065"/>
            <a:ext cx="2167890"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a:t>
            </a:r>
            <a:r>
              <a:rPr lang="en-US" altLang="zh-CN">
                <a:sym typeface="+mn-ea"/>
              </a:rPr>
              <a:t>28</a:t>
            </a:r>
            <a:r>
              <a:rPr lang="en-US" altLang="zh-CN">
                <a:sym typeface="+mn-ea"/>
              </a:rPr>
              <a:t>003</a:t>
            </a:r>
            <a:endParaRPr lang="en-US" altLang="zh-CN">
              <a:sym typeface="+mn-ea"/>
            </a:endParaRPr>
          </a:p>
        </p:txBody>
      </p:sp>
      <p:sp>
        <p:nvSpPr>
          <p:cNvPr id="103" name="矩形 102"/>
          <p:cNvSpPr/>
          <p:nvPr>
            <p:custDataLst>
              <p:tags r:id="rId14"/>
            </p:custDataLst>
          </p:nvPr>
        </p:nvSpPr>
        <p:spPr>
          <a:xfrm>
            <a:off x="3336925" y="1534795"/>
            <a:ext cx="302006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0x08A5F000</a:t>
            </a:r>
            <a:endParaRPr lang="en-US" altLang="zh-CN"/>
          </a:p>
        </p:txBody>
      </p:sp>
      <p:sp>
        <p:nvSpPr>
          <p:cNvPr id="104" name="矩形 103"/>
          <p:cNvSpPr/>
          <p:nvPr>
            <p:custDataLst>
              <p:tags r:id="rId15"/>
            </p:custDataLst>
          </p:nvPr>
        </p:nvSpPr>
        <p:spPr>
          <a:xfrm>
            <a:off x="6356350" y="1534795"/>
            <a:ext cx="1862455"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105" name="矩形 104"/>
          <p:cNvSpPr/>
          <p:nvPr>
            <p:custDataLst>
              <p:tags r:id="rId16"/>
            </p:custDataLst>
          </p:nvPr>
        </p:nvSpPr>
        <p:spPr>
          <a:xfrm>
            <a:off x="1169035" y="1534795"/>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0x00010</a:t>
            </a:r>
            <a:endParaRPr lang="en-US" altLang="zh-CN"/>
          </a:p>
        </p:txBody>
      </p:sp>
      <p:sp>
        <p:nvSpPr>
          <p:cNvPr id="106" name="矩形 105"/>
          <p:cNvSpPr/>
          <p:nvPr>
            <p:custDataLst>
              <p:tags r:id="rId17"/>
            </p:custDataLst>
          </p:nvPr>
        </p:nvSpPr>
        <p:spPr>
          <a:xfrm>
            <a:off x="3336925" y="1958340"/>
            <a:ext cx="302006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0x09420000</a:t>
            </a:r>
            <a:endParaRPr lang="en-US" altLang="zh-CN"/>
          </a:p>
        </p:txBody>
      </p:sp>
      <p:sp>
        <p:nvSpPr>
          <p:cNvPr id="107" name="矩形 106"/>
          <p:cNvSpPr/>
          <p:nvPr>
            <p:custDataLst>
              <p:tags r:id="rId18"/>
            </p:custDataLst>
          </p:nvPr>
        </p:nvSpPr>
        <p:spPr>
          <a:xfrm>
            <a:off x="6356350" y="1958340"/>
            <a:ext cx="1862455"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108" name="矩形 107"/>
          <p:cNvSpPr/>
          <p:nvPr>
            <p:custDataLst>
              <p:tags r:id="rId19"/>
            </p:custDataLst>
          </p:nvPr>
        </p:nvSpPr>
        <p:spPr>
          <a:xfrm>
            <a:off x="1169035" y="1958340"/>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0x00011</a:t>
            </a:r>
            <a:endParaRPr lang="en-US" altLang="zh-CN"/>
          </a:p>
        </p:txBody>
      </p:sp>
      <p:sp>
        <p:nvSpPr>
          <p:cNvPr id="109" name="矩形 108"/>
          <p:cNvSpPr/>
          <p:nvPr>
            <p:custDataLst>
              <p:tags r:id="rId20"/>
            </p:custDataLst>
          </p:nvPr>
        </p:nvSpPr>
        <p:spPr>
          <a:xfrm>
            <a:off x="3336925" y="2381885"/>
            <a:ext cx="302006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0x09421000</a:t>
            </a:r>
            <a:endParaRPr lang="en-US" altLang="zh-CN"/>
          </a:p>
        </p:txBody>
      </p:sp>
      <p:sp>
        <p:nvSpPr>
          <p:cNvPr id="110" name="矩形 109"/>
          <p:cNvSpPr/>
          <p:nvPr>
            <p:custDataLst>
              <p:tags r:id="rId21"/>
            </p:custDataLst>
          </p:nvPr>
        </p:nvSpPr>
        <p:spPr>
          <a:xfrm>
            <a:off x="6356350" y="2381885"/>
            <a:ext cx="1862455"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111" name="矩形 110"/>
          <p:cNvSpPr/>
          <p:nvPr>
            <p:custDataLst>
              <p:tags r:id="rId22"/>
            </p:custDataLst>
          </p:nvPr>
        </p:nvSpPr>
        <p:spPr>
          <a:xfrm>
            <a:off x="1169035" y="2381885"/>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0x00012</a:t>
            </a:r>
            <a:endParaRPr lang="en-US" altLang="zh-CN"/>
          </a:p>
        </p:txBody>
      </p:sp>
      <p:sp>
        <p:nvSpPr>
          <p:cNvPr id="112" name="矩形 111"/>
          <p:cNvSpPr/>
          <p:nvPr>
            <p:custDataLst>
              <p:tags r:id="rId23"/>
            </p:custDataLst>
          </p:nvPr>
        </p:nvSpPr>
        <p:spPr>
          <a:xfrm>
            <a:off x="3336925" y="2805430"/>
            <a:ext cx="302006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0x08A70000</a:t>
            </a:r>
            <a:endParaRPr lang="en-US" altLang="zh-CN"/>
          </a:p>
        </p:txBody>
      </p:sp>
      <p:sp>
        <p:nvSpPr>
          <p:cNvPr id="113" name="矩形 112"/>
          <p:cNvSpPr/>
          <p:nvPr>
            <p:custDataLst>
              <p:tags r:id="rId24"/>
            </p:custDataLst>
          </p:nvPr>
        </p:nvSpPr>
        <p:spPr>
          <a:xfrm>
            <a:off x="6356350" y="2805430"/>
            <a:ext cx="1862455"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114" name="矩形 113"/>
          <p:cNvSpPr/>
          <p:nvPr>
            <p:custDataLst>
              <p:tags r:id="rId25"/>
            </p:custDataLst>
          </p:nvPr>
        </p:nvSpPr>
        <p:spPr>
          <a:xfrm>
            <a:off x="1169035" y="2805430"/>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0x00013</a:t>
            </a:r>
            <a:endParaRPr lang="en-US" altLang="zh-CN"/>
          </a:p>
        </p:txBody>
      </p:sp>
      <p:sp>
        <p:nvSpPr>
          <p:cNvPr id="115" name="矩形 114"/>
          <p:cNvSpPr/>
          <p:nvPr>
            <p:custDataLst>
              <p:tags r:id="rId26"/>
            </p:custDataLst>
          </p:nvPr>
        </p:nvSpPr>
        <p:spPr>
          <a:xfrm>
            <a:off x="3337560" y="3228975"/>
            <a:ext cx="30187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116" name="矩形 115"/>
          <p:cNvSpPr/>
          <p:nvPr>
            <p:custDataLst>
              <p:tags r:id="rId27"/>
            </p:custDataLst>
          </p:nvPr>
        </p:nvSpPr>
        <p:spPr>
          <a:xfrm>
            <a:off x="6356985" y="3228975"/>
            <a:ext cx="186182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117" name="矩形 116"/>
          <p:cNvSpPr/>
          <p:nvPr>
            <p:custDataLst>
              <p:tags r:id="rId28"/>
            </p:custDataLst>
          </p:nvPr>
        </p:nvSpPr>
        <p:spPr>
          <a:xfrm>
            <a:off x="1169670" y="3228975"/>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118" name="矩形 117"/>
          <p:cNvSpPr/>
          <p:nvPr>
            <p:custDataLst>
              <p:tags r:id="rId29"/>
            </p:custDataLst>
          </p:nvPr>
        </p:nvSpPr>
        <p:spPr>
          <a:xfrm>
            <a:off x="3336925" y="3652520"/>
            <a:ext cx="3019425"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0x08047000</a:t>
            </a:r>
            <a:endParaRPr lang="en-US" altLang="zh-CN">
              <a:sym typeface="+mn-ea"/>
            </a:endParaRPr>
          </a:p>
        </p:txBody>
      </p:sp>
      <p:sp>
        <p:nvSpPr>
          <p:cNvPr id="119" name="矩形 118"/>
          <p:cNvSpPr/>
          <p:nvPr>
            <p:custDataLst>
              <p:tags r:id="rId30"/>
            </p:custDataLst>
          </p:nvPr>
        </p:nvSpPr>
        <p:spPr>
          <a:xfrm>
            <a:off x="6356350" y="3652520"/>
            <a:ext cx="1862455"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120" name="矩形 119"/>
          <p:cNvSpPr/>
          <p:nvPr>
            <p:custDataLst>
              <p:tags r:id="rId31"/>
            </p:custDataLst>
          </p:nvPr>
        </p:nvSpPr>
        <p:spPr>
          <a:xfrm>
            <a:off x="1169035" y="3652520"/>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0x20000</a:t>
            </a:r>
            <a:endParaRPr lang="en-US" altLang="zh-CN">
              <a:sym typeface="+mn-ea"/>
            </a:endParaRPr>
          </a:p>
        </p:txBody>
      </p:sp>
      <p:sp>
        <p:nvSpPr>
          <p:cNvPr id="121" name="矩形 120"/>
          <p:cNvSpPr/>
          <p:nvPr>
            <p:custDataLst>
              <p:tags r:id="rId32"/>
            </p:custDataLst>
          </p:nvPr>
        </p:nvSpPr>
        <p:spPr>
          <a:xfrm>
            <a:off x="3336925" y="4076065"/>
            <a:ext cx="302006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0x08689000</a:t>
            </a:r>
            <a:endParaRPr lang="en-US" altLang="zh-CN">
              <a:sym typeface="+mn-ea"/>
            </a:endParaRPr>
          </a:p>
        </p:txBody>
      </p:sp>
      <p:sp>
        <p:nvSpPr>
          <p:cNvPr id="122" name="矩形 121"/>
          <p:cNvSpPr/>
          <p:nvPr>
            <p:custDataLst>
              <p:tags r:id="rId33"/>
            </p:custDataLst>
          </p:nvPr>
        </p:nvSpPr>
        <p:spPr>
          <a:xfrm>
            <a:off x="6356985" y="4076065"/>
            <a:ext cx="186182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123" name="矩形 122"/>
          <p:cNvSpPr/>
          <p:nvPr>
            <p:custDataLst>
              <p:tags r:id="rId34"/>
            </p:custDataLst>
          </p:nvPr>
        </p:nvSpPr>
        <p:spPr>
          <a:xfrm>
            <a:off x="1169035" y="4076065"/>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0x20001</a:t>
            </a:r>
            <a:endParaRPr lang="en-US" altLang="zh-CN">
              <a:sym typeface="+mn-ea"/>
            </a:endParaRPr>
          </a:p>
        </p:txBody>
      </p:sp>
      <p:sp>
        <p:nvSpPr>
          <p:cNvPr id="124" name="矩形 123"/>
          <p:cNvSpPr/>
          <p:nvPr>
            <p:custDataLst>
              <p:tags r:id="rId35"/>
            </p:custDataLst>
          </p:nvPr>
        </p:nvSpPr>
        <p:spPr>
          <a:xfrm>
            <a:off x="3337560" y="4499610"/>
            <a:ext cx="3019425"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0x08842000</a:t>
            </a:r>
            <a:endParaRPr lang="en-US" altLang="zh-CN">
              <a:sym typeface="+mn-ea"/>
            </a:endParaRPr>
          </a:p>
        </p:txBody>
      </p:sp>
      <p:sp>
        <p:nvSpPr>
          <p:cNvPr id="125" name="矩形 124"/>
          <p:cNvSpPr/>
          <p:nvPr>
            <p:custDataLst>
              <p:tags r:id="rId36"/>
            </p:custDataLst>
          </p:nvPr>
        </p:nvSpPr>
        <p:spPr>
          <a:xfrm>
            <a:off x="6356985" y="4499610"/>
            <a:ext cx="186182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126" name="矩形 125"/>
          <p:cNvSpPr/>
          <p:nvPr>
            <p:custDataLst>
              <p:tags r:id="rId37"/>
            </p:custDataLst>
          </p:nvPr>
        </p:nvSpPr>
        <p:spPr>
          <a:xfrm>
            <a:off x="1169670" y="4499610"/>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0x20002</a:t>
            </a:r>
            <a:endParaRPr lang="en-US" altLang="zh-CN">
              <a:sym typeface="+mn-ea"/>
            </a:endParaRPr>
          </a:p>
        </p:txBody>
      </p:sp>
      <p:sp>
        <p:nvSpPr>
          <p:cNvPr id="127" name="矩形 126"/>
          <p:cNvSpPr/>
          <p:nvPr>
            <p:custDataLst>
              <p:tags r:id="rId38"/>
            </p:custDataLst>
          </p:nvPr>
        </p:nvSpPr>
        <p:spPr>
          <a:xfrm>
            <a:off x="3337560" y="5770245"/>
            <a:ext cx="3019425"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0x20000000</a:t>
            </a:r>
            <a:endParaRPr lang="en-US" altLang="zh-CN">
              <a:sym typeface="+mn-ea"/>
            </a:endParaRPr>
          </a:p>
        </p:txBody>
      </p:sp>
      <p:sp>
        <p:nvSpPr>
          <p:cNvPr id="128" name="矩形 127"/>
          <p:cNvSpPr/>
          <p:nvPr>
            <p:custDataLst>
              <p:tags r:id="rId39"/>
            </p:custDataLst>
          </p:nvPr>
        </p:nvSpPr>
        <p:spPr>
          <a:xfrm>
            <a:off x="6356350" y="5770245"/>
            <a:ext cx="1862455"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a:t>
            </a:r>
            <a:endParaRPr lang="en-US" altLang="zh-CN">
              <a:sym typeface="+mn-ea"/>
            </a:endParaRPr>
          </a:p>
        </p:txBody>
      </p:sp>
      <p:sp>
        <p:nvSpPr>
          <p:cNvPr id="129" name="矩形 128"/>
          <p:cNvSpPr/>
          <p:nvPr>
            <p:custDataLst>
              <p:tags r:id="rId40"/>
            </p:custDataLst>
          </p:nvPr>
        </p:nvSpPr>
        <p:spPr>
          <a:xfrm>
            <a:off x="1169670" y="5769610"/>
            <a:ext cx="2167890"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a:t>
            </a:r>
            <a:endParaRPr lang="en-US" altLang="zh-CN">
              <a:sym typeface="+mn-ea"/>
            </a:endParaRPr>
          </a:p>
        </p:txBody>
      </p:sp>
    </p:spTree>
    <p:custDataLst>
      <p:tags r:id="rId41"/>
    </p:custData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2.2 分段与分页</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页式内存管理单元示例</a:t>
            </a:r>
            <a:endParaRPr lang="zh-CN" altLang="en-US" sz="2000" b="1">
              <a:solidFill>
                <a:srgbClr val="9C0B15"/>
              </a:solidFill>
            </a:endParaRPr>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ctr"/>
            <a:endParaRPr lang="zh-CN" altLang="en-US" sz="2000"/>
          </a:p>
          <a:p>
            <a:pPr algn="l"/>
            <a:r>
              <a:rPr lang="zh-CN" altLang="en-US" sz="2000" b="1">
                <a:solidFill>
                  <a:srgbClr val="9C0B15"/>
                </a:solidFill>
              </a:rPr>
              <a:t>问题</a:t>
            </a:r>
            <a:r>
              <a:rPr lang="en-US" altLang="zh-CN" sz="2000"/>
              <a:t>	</a:t>
            </a:r>
            <a:r>
              <a:rPr lang="zh-CN" altLang="en-US" sz="2000"/>
              <a:t>假设</a:t>
            </a:r>
            <a:r>
              <a:rPr lang="zh-CN" altLang="en-US" sz="2000"/>
              <a:t>应用程序的地址空间有</a:t>
            </a:r>
            <a:r>
              <a:rPr lang="en-US" altLang="zh-CN" sz="2000"/>
              <a:t>4GB</a:t>
            </a:r>
            <a:r>
              <a:rPr lang="zh-CN" altLang="en-US" sz="2000"/>
              <a:t>，每个页</a:t>
            </a:r>
            <a:r>
              <a:rPr lang="en-US" altLang="zh-CN" sz="2000"/>
              <a:t>4kB</a:t>
            </a:r>
            <a:r>
              <a:rPr lang="zh-CN" altLang="en-US" sz="2000"/>
              <a:t>，每个页表项占据</a:t>
            </a:r>
            <a:r>
              <a:rPr lang="en-US" altLang="zh-CN" sz="2000"/>
              <a:t>4</a:t>
            </a:r>
            <a:r>
              <a:rPr lang="zh-CN" altLang="en-US" sz="2000"/>
              <a:t>字节，</a:t>
            </a:r>
            <a:endParaRPr lang="zh-CN" altLang="en-US" sz="2000"/>
          </a:p>
          <a:p>
            <a:pPr algn="l"/>
            <a:r>
              <a:rPr lang="en-US" altLang="zh-CN" sz="2000">
                <a:sym typeface="+mn-ea"/>
              </a:rPr>
              <a:t>	</a:t>
            </a:r>
            <a:r>
              <a:rPr lang="zh-CN" altLang="en-US" sz="2000"/>
              <a:t>每个页表的大小是？系统中若有</a:t>
            </a:r>
            <a:r>
              <a:rPr lang="en-US" altLang="zh-CN" sz="2000"/>
              <a:t>100</a:t>
            </a:r>
            <a:r>
              <a:rPr lang="zh-CN" altLang="en-US" sz="2000"/>
              <a:t>个应用程序</a:t>
            </a:r>
            <a:r>
              <a:rPr lang="zh-CN" altLang="en-US" sz="2000"/>
              <a:t>，页表共占多少</a:t>
            </a:r>
            <a:r>
              <a:rPr lang="zh-CN" altLang="en-US" sz="2000"/>
              <a:t>空间？</a:t>
            </a:r>
            <a:endParaRPr lang="zh-CN" altLang="en-US" sz="2000"/>
          </a:p>
        </p:txBody>
      </p:sp>
      <p:grpSp>
        <p:nvGrpSpPr>
          <p:cNvPr id="28" name="组合 27"/>
          <p:cNvGrpSpPr/>
          <p:nvPr/>
        </p:nvGrpSpPr>
        <p:grpSpPr>
          <a:xfrm>
            <a:off x="3336925" y="1111250"/>
            <a:ext cx="4881245" cy="1269365"/>
            <a:chOff x="2420" y="6093"/>
            <a:chExt cx="7687" cy="1490"/>
          </a:xfrm>
        </p:grpSpPr>
        <p:sp>
          <p:nvSpPr>
            <p:cNvPr id="15" name="矩形 14"/>
            <p:cNvSpPr/>
            <p:nvPr>
              <p:custDataLst>
                <p:tags r:id="rId2"/>
              </p:custDataLst>
            </p:nvPr>
          </p:nvSpPr>
          <p:spPr>
            <a:xfrm>
              <a:off x="2420" y="6093"/>
              <a:ext cx="4553"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0x08A5F000</a:t>
              </a:r>
              <a:endParaRPr lang="zh-CN" altLang="en-US"/>
            </a:p>
          </p:txBody>
        </p:sp>
        <p:sp>
          <p:nvSpPr>
            <p:cNvPr id="4" name="矩形 3"/>
            <p:cNvSpPr/>
            <p:nvPr>
              <p:custDataLst>
                <p:tags r:id="rId3"/>
              </p:custDataLst>
            </p:nvPr>
          </p:nvSpPr>
          <p:spPr>
            <a:xfrm>
              <a:off x="6973" y="6093"/>
              <a:ext cx="3135" cy="497"/>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r>
                <a:rPr lang="zh-CN" altLang="en-US"/>
                <a:t>，</a:t>
              </a:r>
              <a:r>
                <a:rPr lang="en-US" altLang="zh-CN"/>
                <a:t>eXecute</a:t>
              </a:r>
              <a:endParaRPr lang="en-US" altLang="zh-CN"/>
            </a:p>
          </p:txBody>
        </p:sp>
        <p:sp>
          <p:nvSpPr>
            <p:cNvPr id="7" name="矩形 6"/>
            <p:cNvSpPr/>
            <p:nvPr>
              <p:custDataLst>
                <p:tags r:id="rId4"/>
              </p:custDataLst>
            </p:nvPr>
          </p:nvSpPr>
          <p:spPr>
            <a:xfrm>
              <a:off x="2420" y="6590"/>
              <a:ext cx="4553"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0x08689000</a:t>
              </a:r>
              <a:endParaRPr lang="en-US" altLang="zh-CN">
                <a:sym typeface="+mn-ea"/>
              </a:endParaRPr>
            </a:p>
          </p:txBody>
        </p:sp>
        <p:sp>
          <p:nvSpPr>
            <p:cNvPr id="8" name="矩形 7"/>
            <p:cNvSpPr/>
            <p:nvPr>
              <p:custDataLst>
                <p:tags r:id="rId5"/>
              </p:custDataLst>
            </p:nvPr>
          </p:nvSpPr>
          <p:spPr>
            <a:xfrm>
              <a:off x="6973" y="6590"/>
              <a:ext cx="3135" cy="49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a:t>
              </a:r>
              <a:endParaRPr lang="en-US" altLang="zh-CN">
                <a:sym typeface="+mn-ea"/>
              </a:endParaRPr>
            </a:p>
          </p:txBody>
        </p:sp>
        <p:sp>
          <p:nvSpPr>
            <p:cNvPr id="9" name="矩形 8"/>
            <p:cNvSpPr/>
            <p:nvPr>
              <p:custDataLst>
                <p:tags r:id="rId6"/>
              </p:custDataLst>
            </p:nvPr>
          </p:nvSpPr>
          <p:spPr>
            <a:xfrm>
              <a:off x="2420" y="7087"/>
              <a:ext cx="4553"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0x20632000</a:t>
              </a:r>
              <a:endParaRPr lang="en-US" altLang="zh-CN">
                <a:sym typeface="+mn-ea"/>
              </a:endParaRPr>
            </a:p>
          </p:txBody>
        </p:sp>
        <p:sp>
          <p:nvSpPr>
            <p:cNvPr id="17" name="矩形 16"/>
            <p:cNvSpPr/>
            <p:nvPr>
              <p:custDataLst>
                <p:tags r:id="rId7"/>
              </p:custDataLst>
            </p:nvPr>
          </p:nvSpPr>
          <p:spPr>
            <a:xfrm>
              <a:off x="6973" y="7087"/>
              <a:ext cx="3134" cy="497"/>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Read, Write</a:t>
              </a:r>
              <a:endParaRPr lang="en-US" altLang="zh-CN">
                <a:sym typeface="+mn-ea"/>
              </a:endParaRPr>
            </a:p>
          </p:txBody>
        </p:sp>
      </p:grpSp>
      <p:sp>
        <p:nvSpPr>
          <p:cNvPr id="60" name="右箭头标注 59"/>
          <p:cNvSpPr/>
          <p:nvPr>
            <p:custDataLst>
              <p:tags r:id="rId8"/>
            </p:custDataLst>
          </p:nvPr>
        </p:nvSpPr>
        <p:spPr>
          <a:xfrm>
            <a:off x="257810" y="3062605"/>
            <a:ext cx="1863725" cy="670560"/>
          </a:xfrm>
          <a:prstGeom prst="rightArrowCallout">
            <a:avLst>
              <a:gd name="adj1" fmla="val 25000"/>
              <a:gd name="adj2" fmla="val 25000"/>
              <a:gd name="adj3" fmla="val 25000"/>
              <a:gd name="adj4" fmla="val 7307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Read</a:t>
            </a:r>
            <a:endParaRPr lang="en-US" altLang="zh-CN"/>
          </a:p>
          <a:p>
            <a:pPr algn="ctr"/>
            <a:r>
              <a:rPr lang="en-US" altLang="zh-CN">
                <a:solidFill>
                  <a:schemeClr val="tx1"/>
                </a:solidFill>
              </a:rPr>
              <a:t>0x20001</a:t>
            </a:r>
            <a:r>
              <a:rPr lang="en-US" altLang="zh-CN" u="sng"/>
              <a:t>072</a:t>
            </a:r>
            <a:endParaRPr lang="en-US" altLang="zh-CN" u="sng"/>
          </a:p>
        </p:txBody>
      </p:sp>
      <p:sp>
        <p:nvSpPr>
          <p:cNvPr id="61" name="椭圆 60"/>
          <p:cNvSpPr/>
          <p:nvPr>
            <p:custDataLst>
              <p:tags r:id="rId9"/>
            </p:custDataLst>
          </p:nvPr>
        </p:nvSpPr>
        <p:spPr>
          <a:xfrm>
            <a:off x="2121535" y="3062605"/>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62" name="椭圆 61"/>
          <p:cNvSpPr/>
          <p:nvPr>
            <p:custDataLst>
              <p:tags r:id="rId10"/>
            </p:custDataLst>
          </p:nvPr>
        </p:nvSpPr>
        <p:spPr>
          <a:xfrm>
            <a:off x="3634105" y="3062605"/>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页</a:t>
            </a:r>
            <a:r>
              <a:rPr lang="zh-CN" altLang="en-US"/>
              <a:t>地址？</a:t>
            </a:r>
            <a:endParaRPr lang="zh-CN" altLang="en-US"/>
          </a:p>
        </p:txBody>
      </p:sp>
      <p:sp>
        <p:nvSpPr>
          <p:cNvPr id="75" name="矩形 74"/>
          <p:cNvSpPr/>
          <p:nvPr>
            <p:custDataLst>
              <p:tags r:id="rId11"/>
            </p:custDataLst>
          </p:nvPr>
        </p:nvSpPr>
        <p:spPr>
          <a:xfrm>
            <a:off x="8051165" y="2639060"/>
            <a:ext cx="1560830" cy="272605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物理内存</a:t>
            </a:r>
            <a:endParaRPr lang="zh-CN" altLang="en-US">
              <a:solidFill>
                <a:schemeClr val="tx1"/>
              </a:solidFill>
            </a:endParaRPr>
          </a:p>
        </p:txBody>
      </p:sp>
      <p:sp>
        <p:nvSpPr>
          <p:cNvPr id="63" name="右箭头 62"/>
          <p:cNvSpPr/>
          <p:nvPr>
            <p:custDataLst>
              <p:tags r:id="rId12"/>
            </p:custDataLst>
          </p:nvPr>
        </p:nvSpPr>
        <p:spPr>
          <a:xfrm>
            <a:off x="3046730" y="3223260"/>
            <a:ext cx="58737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右箭头 63"/>
          <p:cNvSpPr/>
          <p:nvPr>
            <p:custDataLst>
              <p:tags r:id="rId13"/>
            </p:custDataLst>
          </p:nvPr>
        </p:nvSpPr>
        <p:spPr>
          <a:xfrm>
            <a:off x="4559300" y="3223895"/>
            <a:ext cx="64579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5" name="图片 64" descr="ok-check-check-mark-correct-png-files-93990"/>
          <p:cNvPicPr>
            <a:picLocks noChangeAspect="1"/>
          </p:cNvPicPr>
          <p:nvPr>
            <p:custDataLst>
              <p:tags r:id="rId14"/>
            </p:custDataLst>
          </p:nvPr>
        </p:nvPicPr>
        <p:blipFill>
          <a:blip r:embed="rId15"/>
          <a:stretch>
            <a:fillRect/>
          </a:stretch>
        </p:blipFill>
        <p:spPr>
          <a:xfrm>
            <a:off x="2658745" y="3063240"/>
            <a:ext cx="841375" cy="681355"/>
          </a:xfrm>
          <a:prstGeom prst="rect">
            <a:avLst/>
          </a:prstGeom>
          <a:noFill/>
          <a:ln w="9525">
            <a:noFill/>
          </a:ln>
        </p:spPr>
      </p:pic>
      <p:pic>
        <p:nvPicPr>
          <p:cNvPr id="66" name="图片 65" descr="ok-check-check-mark-correct-png-files-93990"/>
          <p:cNvPicPr>
            <a:picLocks noChangeAspect="1"/>
          </p:cNvPicPr>
          <p:nvPr>
            <p:custDataLst>
              <p:tags r:id="rId16"/>
            </p:custDataLst>
          </p:nvPr>
        </p:nvPicPr>
        <p:blipFill>
          <a:blip r:embed="rId15"/>
          <a:stretch>
            <a:fillRect/>
          </a:stretch>
        </p:blipFill>
        <p:spPr>
          <a:xfrm>
            <a:off x="4201160" y="3067050"/>
            <a:ext cx="836295" cy="677545"/>
          </a:xfrm>
          <a:prstGeom prst="rect">
            <a:avLst/>
          </a:prstGeom>
          <a:noFill/>
          <a:ln w="9525">
            <a:noFill/>
          </a:ln>
        </p:spPr>
      </p:pic>
      <p:sp>
        <p:nvSpPr>
          <p:cNvPr id="67" name="右箭头标注 66"/>
          <p:cNvSpPr/>
          <p:nvPr>
            <p:custDataLst>
              <p:tags r:id="rId17"/>
            </p:custDataLst>
          </p:nvPr>
        </p:nvSpPr>
        <p:spPr>
          <a:xfrm>
            <a:off x="257810" y="3870960"/>
            <a:ext cx="1863725" cy="670560"/>
          </a:xfrm>
          <a:prstGeom prst="rightArrowCallout">
            <a:avLst>
              <a:gd name="adj1" fmla="val 25000"/>
              <a:gd name="adj2" fmla="val 25000"/>
              <a:gd name="adj3" fmla="val 25000"/>
              <a:gd name="adj4" fmla="val 728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Write</a:t>
            </a:r>
            <a:endParaRPr lang="en-US" altLang="zh-CN"/>
          </a:p>
          <a:p>
            <a:pPr algn="ctr"/>
            <a:r>
              <a:rPr lang="en-US" altLang="zh-CN">
                <a:solidFill>
                  <a:schemeClr val="tx1"/>
                </a:solidFill>
              </a:rPr>
              <a:t>0x00900</a:t>
            </a:r>
            <a:r>
              <a:rPr lang="en-US" altLang="zh-CN" u="sng"/>
              <a:t>0</a:t>
            </a:r>
            <a:r>
              <a:rPr lang="en-US" altLang="zh-CN" u="sng"/>
              <a:t>70</a:t>
            </a:r>
            <a:endParaRPr lang="en-US" altLang="zh-CN" u="sng"/>
          </a:p>
        </p:txBody>
      </p:sp>
      <p:sp>
        <p:nvSpPr>
          <p:cNvPr id="68" name="椭圆 67"/>
          <p:cNvSpPr/>
          <p:nvPr>
            <p:custDataLst>
              <p:tags r:id="rId18"/>
            </p:custDataLst>
          </p:nvPr>
        </p:nvSpPr>
        <p:spPr>
          <a:xfrm>
            <a:off x="2121535" y="3870960"/>
            <a:ext cx="925195" cy="6699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pic>
        <p:nvPicPr>
          <p:cNvPr id="74" name="图片 73" descr="red-40144_960_720"/>
          <p:cNvPicPr>
            <a:picLocks noChangeAspect="1"/>
          </p:cNvPicPr>
          <p:nvPr>
            <p:custDataLst>
              <p:tags r:id="rId19"/>
            </p:custDataLst>
          </p:nvPr>
        </p:nvPicPr>
        <p:blipFill>
          <a:blip r:embed="rId20"/>
          <a:stretch>
            <a:fillRect/>
          </a:stretch>
        </p:blipFill>
        <p:spPr>
          <a:xfrm>
            <a:off x="2738755" y="3870960"/>
            <a:ext cx="681355" cy="681355"/>
          </a:xfrm>
          <a:prstGeom prst="rect">
            <a:avLst/>
          </a:prstGeom>
          <a:noFill/>
          <a:ln w="9525">
            <a:noFill/>
          </a:ln>
        </p:spPr>
      </p:pic>
      <p:sp>
        <p:nvSpPr>
          <p:cNvPr id="80" name="右箭头标注 79"/>
          <p:cNvSpPr/>
          <p:nvPr>
            <p:custDataLst>
              <p:tags r:id="rId21"/>
            </p:custDataLst>
          </p:nvPr>
        </p:nvSpPr>
        <p:spPr>
          <a:xfrm>
            <a:off x="257810" y="4679315"/>
            <a:ext cx="1864360" cy="670560"/>
          </a:xfrm>
          <a:prstGeom prst="rightArrowCallout">
            <a:avLst>
              <a:gd name="adj1" fmla="val 25000"/>
              <a:gd name="adj2" fmla="val 25000"/>
              <a:gd name="adj3" fmla="val 25000"/>
              <a:gd name="adj4" fmla="val 72888"/>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eXecute</a:t>
            </a:r>
            <a:endParaRPr lang="en-US" altLang="zh-CN"/>
          </a:p>
          <a:p>
            <a:pPr algn="ctr"/>
            <a:r>
              <a:rPr lang="en-US" altLang="zh-CN">
                <a:solidFill>
                  <a:schemeClr val="tx1"/>
                </a:solidFill>
              </a:rPr>
              <a:t>0x28003</a:t>
            </a:r>
            <a:r>
              <a:rPr lang="en-US" altLang="zh-CN" u="sng"/>
              <a:t>850</a:t>
            </a:r>
            <a:endParaRPr lang="en-US" altLang="zh-CN" u="sng"/>
          </a:p>
        </p:txBody>
      </p:sp>
      <p:sp>
        <p:nvSpPr>
          <p:cNvPr id="81" name="椭圆 80"/>
          <p:cNvSpPr/>
          <p:nvPr>
            <p:custDataLst>
              <p:tags r:id="rId22"/>
            </p:custDataLst>
          </p:nvPr>
        </p:nvSpPr>
        <p:spPr>
          <a:xfrm>
            <a:off x="2121535" y="4679315"/>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a:t>
            </a:r>
            <a:endParaRPr lang="zh-CN" altLang="en-US"/>
          </a:p>
        </p:txBody>
      </p:sp>
      <p:sp>
        <p:nvSpPr>
          <p:cNvPr id="83" name="椭圆 82"/>
          <p:cNvSpPr/>
          <p:nvPr>
            <p:custDataLst>
              <p:tags r:id="rId23"/>
            </p:custDataLst>
          </p:nvPr>
        </p:nvSpPr>
        <p:spPr>
          <a:xfrm>
            <a:off x="3634105" y="4679315"/>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页地址？</a:t>
            </a:r>
            <a:endParaRPr lang="zh-CN" altLang="en-US"/>
          </a:p>
        </p:txBody>
      </p:sp>
      <p:sp>
        <p:nvSpPr>
          <p:cNvPr id="84" name="右箭头 83"/>
          <p:cNvSpPr/>
          <p:nvPr>
            <p:custDataLst>
              <p:tags r:id="rId24"/>
            </p:custDataLst>
          </p:nvPr>
        </p:nvSpPr>
        <p:spPr>
          <a:xfrm>
            <a:off x="3046730" y="4828540"/>
            <a:ext cx="586740" cy="347980"/>
          </a:xfrm>
          <a:prstGeom prst="rightArrow">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5" name="图片 84" descr="ok-check-check-mark-correct-png-files-93990"/>
          <p:cNvPicPr>
            <a:picLocks noChangeAspect="1"/>
          </p:cNvPicPr>
          <p:nvPr>
            <p:custDataLst>
              <p:tags r:id="rId25"/>
            </p:custDataLst>
          </p:nvPr>
        </p:nvPicPr>
        <p:blipFill>
          <a:blip r:embed="rId15"/>
          <a:stretch>
            <a:fillRect/>
          </a:stretch>
        </p:blipFill>
        <p:spPr>
          <a:xfrm>
            <a:off x="2738755" y="4679315"/>
            <a:ext cx="841375" cy="681355"/>
          </a:xfrm>
          <a:prstGeom prst="rect">
            <a:avLst/>
          </a:prstGeom>
          <a:noFill/>
          <a:ln w="9525">
            <a:noFill/>
          </a:ln>
        </p:spPr>
      </p:pic>
      <p:sp>
        <p:nvSpPr>
          <p:cNvPr id="87" name="矩形 86"/>
          <p:cNvSpPr/>
          <p:nvPr>
            <p:custDataLst>
              <p:tags r:id="rId26"/>
            </p:custDataLst>
          </p:nvPr>
        </p:nvSpPr>
        <p:spPr>
          <a:xfrm>
            <a:off x="3336925" y="687566"/>
            <a:ext cx="2891155" cy="423406"/>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页物理地址</a:t>
            </a:r>
            <a:endParaRPr lang="zh-CN" altLang="en-US">
              <a:solidFill>
                <a:schemeClr val="tx1"/>
              </a:solidFill>
              <a:sym typeface="+mn-ea"/>
            </a:endParaRPr>
          </a:p>
        </p:txBody>
      </p:sp>
      <p:sp>
        <p:nvSpPr>
          <p:cNvPr id="88" name="矩形 87"/>
          <p:cNvSpPr/>
          <p:nvPr>
            <p:custDataLst>
              <p:tags r:id="rId27"/>
            </p:custDataLst>
          </p:nvPr>
        </p:nvSpPr>
        <p:spPr>
          <a:xfrm>
            <a:off x="6228715" y="687705"/>
            <a:ext cx="19900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页权限</a:t>
            </a:r>
            <a:endParaRPr lang="zh-CN" altLang="en-US">
              <a:solidFill>
                <a:schemeClr val="tx1"/>
              </a:solidFill>
              <a:sym typeface="+mn-ea"/>
            </a:endParaRPr>
          </a:p>
        </p:txBody>
      </p:sp>
      <p:sp>
        <p:nvSpPr>
          <p:cNvPr id="2" name="矩形 1"/>
          <p:cNvSpPr/>
          <p:nvPr>
            <p:custDataLst>
              <p:tags r:id="rId28"/>
            </p:custDataLst>
          </p:nvPr>
        </p:nvSpPr>
        <p:spPr>
          <a:xfrm>
            <a:off x="1169035" y="687705"/>
            <a:ext cx="2167890" cy="423545"/>
          </a:xfrm>
          <a:prstGeom prst="rect">
            <a:avLst/>
          </a:prstGeom>
          <a:solidFill>
            <a:srgbClr val="BFBFBF"/>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sym typeface="+mn-ea"/>
              </a:rPr>
              <a:t>页号</a:t>
            </a:r>
            <a:endParaRPr lang="zh-CN" altLang="en-US">
              <a:solidFill>
                <a:schemeClr val="tx1"/>
              </a:solidFill>
              <a:sym typeface="+mn-ea"/>
            </a:endParaRPr>
          </a:p>
        </p:txBody>
      </p:sp>
      <p:sp>
        <p:nvSpPr>
          <p:cNvPr id="5" name="矩形 4"/>
          <p:cNvSpPr/>
          <p:nvPr>
            <p:custDataLst>
              <p:tags r:id="rId29"/>
            </p:custDataLst>
          </p:nvPr>
        </p:nvSpPr>
        <p:spPr>
          <a:xfrm>
            <a:off x="1169035" y="1111250"/>
            <a:ext cx="216789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0x00011</a:t>
            </a:r>
            <a:endParaRPr lang="en-US" altLang="zh-CN"/>
          </a:p>
        </p:txBody>
      </p:sp>
      <p:sp>
        <p:nvSpPr>
          <p:cNvPr id="6" name="矩形 5"/>
          <p:cNvSpPr/>
          <p:nvPr>
            <p:custDataLst>
              <p:tags r:id="rId30"/>
            </p:custDataLst>
          </p:nvPr>
        </p:nvSpPr>
        <p:spPr>
          <a:xfrm>
            <a:off x="1169035" y="1534795"/>
            <a:ext cx="216789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0x20001</a:t>
            </a:r>
            <a:endParaRPr lang="en-US" altLang="zh-CN">
              <a:sym typeface="+mn-ea"/>
            </a:endParaRPr>
          </a:p>
        </p:txBody>
      </p:sp>
      <p:sp>
        <p:nvSpPr>
          <p:cNvPr id="25" name="矩形 24"/>
          <p:cNvSpPr/>
          <p:nvPr>
            <p:custDataLst>
              <p:tags r:id="rId31"/>
            </p:custDataLst>
          </p:nvPr>
        </p:nvSpPr>
        <p:spPr>
          <a:xfrm>
            <a:off x="1169035" y="1957705"/>
            <a:ext cx="2167890" cy="423545"/>
          </a:xfrm>
          <a:prstGeom prst="rect">
            <a:avLst/>
          </a:prstGeom>
          <a:solidFill>
            <a:schemeClr val="accent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0x28003</a:t>
            </a:r>
            <a:endParaRPr lang="en-US" altLang="zh-CN">
              <a:sym typeface="+mn-ea"/>
            </a:endParaRPr>
          </a:p>
        </p:txBody>
      </p:sp>
      <p:sp>
        <p:nvSpPr>
          <p:cNvPr id="26" name="矩形 25"/>
          <p:cNvSpPr/>
          <p:nvPr/>
        </p:nvSpPr>
        <p:spPr>
          <a:xfrm>
            <a:off x="8139430" y="3223260"/>
            <a:ext cx="1393825"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0x08689072</a:t>
            </a:r>
            <a:endParaRPr lang="en-US" altLang="zh-CN">
              <a:sym typeface="+mn-ea"/>
            </a:endParaRPr>
          </a:p>
        </p:txBody>
      </p:sp>
      <p:sp>
        <p:nvSpPr>
          <p:cNvPr id="72" name="椭圆 71"/>
          <p:cNvSpPr/>
          <p:nvPr>
            <p:custDataLst>
              <p:tags r:id="rId32"/>
            </p:custDataLst>
          </p:nvPr>
        </p:nvSpPr>
        <p:spPr>
          <a:xfrm>
            <a:off x="6707505" y="3074670"/>
            <a:ext cx="693420"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endParaRPr lang="en-US" altLang="zh-CN"/>
          </a:p>
        </p:txBody>
      </p:sp>
      <p:sp>
        <p:nvSpPr>
          <p:cNvPr id="73" name="右箭头 72"/>
          <p:cNvSpPr/>
          <p:nvPr>
            <p:custDataLst>
              <p:tags r:id="rId33"/>
            </p:custDataLst>
          </p:nvPr>
        </p:nvSpPr>
        <p:spPr>
          <a:xfrm>
            <a:off x="7400925" y="3235325"/>
            <a:ext cx="73977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 name="椭圆 77"/>
          <p:cNvSpPr/>
          <p:nvPr>
            <p:custDataLst>
              <p:tags r:id="rId34"/>
            </p:custDataLst>
          </p:nvPr>
        </p:nvSpPr>
        <p:spPr>
          <a:xfrm>
            <a:off x="5205095" y="3062605"/>
            <a:ext cx="925195" cy="6699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sp>
        <p:nvSpPr>
          <p:cNvPr id="79" name="右箭头 78"/>
          <p:cNvSpPr/>
          <p:nvPr>
            <p:custDataLst>
              <p:tags r:id="rId35"/>
            </p:custDataLst>
          </p:nvPr>
        </p:nvSpPr>
        <p:spPr>
          <a:xfrm>
            <a:off x="6130290" y="3223260"/>
            <a:ext cx="645795" cy="34798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2" name="图片 81" descr="ok-check-check-mark-correct-png-files-93990"/>
          <p:cNvPicPr>
            <a:picLocks noChangeAspect="1"/>
          </p:cNvPicPr>
          <p:nvPr>
            <p:custDataLst>
              <p:tags r:id="rId36"/>
            </p:custDataLst>
          </p:nvPr>
        </p:nvPicPr>
        <p:blipFill>
          <a:blip r:embed="rId15"/>
          <a:stretch>
            <a:fillRect/>
          </a:stretch>
        </p:blipFill>
        <p:spPr>
          <a:xfrm>
            <a:off x="5762625" y="3074670"/>
            <a:ext cx="836295" cy="677545"/>
          </a:xfrm>
          <a:prstGeom prst="rect">
            <a:avLst/>
          </a:prstGeom>
          <a:noFill/>
          <a:ln w="9525">
            <a:noFill/>
          </a:ln>
        </p:spPr>
      </p:pic>
      <p:sp>
        <p:nvSpPr>
          <p:cNvPr id="89" name="矩形 88"/>
          <p:cNvSpPr/>
          <p:nvPr/>
        </p:nvSpPr>
        <p:spPr>
          <a:xfrm>
            <a:off x="6301740" y="2639060"/>
            <a:ext cx="150495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a:t>
            </a:r>
            <a:r>
              <a:rPr lang="en-US" altLang="zh-CN" u="sng">
                <a:sym typeface="+mn-ea"/>
              </a:rPr>
              <a:t>072</a:t>
            </a:r>
            <a:endParaRPr lang="en-US" altLang="zh-CN" u="sng">
              <a:sym typeface="+mn-ea"/>
            </a:endParaRPr>
          </a:p>
        </p:txBody>
      </p:sp>
      <p:sp>
        <p:nvSpPr>
          <p:cNvPr id="90" name="矩形 89"/>
          <p:cNvSpPr/>
          <p:nvPr/>
        </p:nvSpPr>
        <p:spPr>
          <a:xfrm>
            <a:off x="3344545" y="2639060"/>
            <a:ext cx="1504950" cy="423545"/>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r>
              <a:rPr lang="en-US" altLang="zh-CN">
                <a:sym typeface="+mn-ea"/>
              </a:rPr>
              <a:t>0x08689</a:t>
            </a:r>
            <a:endParaRPr lang="en-US" altLang="zh-CN">
              <a:sym typeface="+mn-ea"/>
            </a:endParaRPr>
          </a:p>
        </p:txBody>
      </p:sp>
      <p:sp>
        <p:nvSpPr>
          <p:cNvPr id="91" name="矩形 90"/>
          <p:cNvSpPr/>
          <p:nvPr/>
        </p:nvSpPr>
        <p:spPr>
          <a:xfrm>
            <a:off x="3344545" y="4255770"/>
            <a:ext cx="1504950" cy="423545"/>
          </a:xfrm>
          <a:prstGeom prst="rect">
            <a:avLst/>
          </a:prstGeom>
          <a:solidFill>
            <a:srgbClr val="D02F35"/>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0x20632</a:t>
            </a:r>
            <a:endParaRPr lang="en-US" altLang="zh-CN">
              <a:sym typeface="+mn-ea"/>
            </a:endParaRPr>
          </a:p>
        </p:txBody>
      </p:sp>
      <p:sp>
        <p:nvSpPr>
          <p:cNvPr id="96" name="右箭头 95"/>
          <p:cNvSpPr/>
          <p:nvPr>
            <p:custDataLst>
              <p:tags r:id="rId37"/>
            </p:custDataLst>
          </p:nvPr>
        </p:nvSpPr>
        <p:spPr>
          <a:xfrm>
            <a:off x="4559300" y="4840605"/>
            <a:ext cx="645795" cy="347980"/>
          </a:xfrm>
          <a:prstGeom prst="rightArrow">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 name="椭圆 98"/>
          <p:cNvSpPr/>
          <p:nvPr>
            <p:custDataLst>
              <p:tags r:id="rId38"/>
            </p:custDataLst>
          </p:nvPr>
        </p:nvSpPr>
        <p:spPr>
          <a:xfrm>
            <a:off x="5205095" y="4679315"/>
            <a:ext cx="925195" cy="669925"/>
          </a:xfrm>
          <a:prstGeom prst="ellipse">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权限正确？</a:t>
            </a:r>
            <a:endParaRPr lang="zh-CN" altLang="en-US"/>
          </a:p>
        </p:txBody>
      </p:sp>
      <p:pic>
        <p:nvPicPr>
          <p:cNvPr id="101" name="图片 100" descr="red-40144_960_720"/>
          <p:cNvPicPr>
            <a:picLocks noChangeAspect="1"/>
          </p:cNvPicPr>
          <p:nvPr>
            <p:custDataLst>
              <p:tags r:id="rId39"/>
            </p:custDataLst>
          </p:nvPr>
        </p:nvPicPr>
        <p:blipFill>
          <a:blip r:embed="rId20"/>
          <a:stretch>
            <a:fillRect/>
          </a:stretch>
        </p:blipFill>
        <p:spPr>
          <a:xfrm>
            <a:off x="5839460" y="4683760"/>
            <a:ext cx="681355" cy="681355"/>
          </a:xfrm>
          <a:prstGeom prst="rect">
            <a:avLst/>
          </a:prstGeom>
          <a:noFill/>
          <a:ln w="9525">
            <a:noFill/>
          </a:ln>
        </p:spPr>
      </p:pic>
      <p:pic>
        <p:nvPicPr>
          <p:cNvPr id="69" name="图片 68" descr="ok-check-check-mark-correct-png-files-93990"/>
          <p:cNvPicPr>
            <a:picLocks noChangeAspect="1"/>
          </p:cNvPicPr>
          <p:nvPr>
            <p:custDataLst>
              <p:tags r:id="rId40"/>
            </p:custDataLst>
          </p:nvPr>
        </p:nvPicPr>
        <p:blipFill>
          <a:blip r:embed="rId15"/>
          <a:stretch>
            <a:fillRect/>
          </a:stretch>
        </p:blipFill>
        <p:spPr>
          <a:xfrm>
            <a:off x="4201160" y="4671695"/>
            <a:ext cx="836295" cy="677545"/>
          </a:xfrm>
          <a:prstGeom prst="rect">
            <a:avLst/>
          </a:prstGeom>
          <a:noFill/>
          <a:ln w="9525">
            <a:noFill/>
          </a:ln>
        </p:spPr>
      </p:pic>
    </p:spTree>
    <p:custDataLst>
      <p:tags r:id="rId4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ipe(left)">
                                      <p:cBhvr>
                                        <p:cTn id="20" dur="500"/>
                                        <p:tgtEl>
                                          <p:spTgt spid="62"/>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wipe(left)">
                                      <p:cBhvr>
                                        <p:cTn id="23" dur="500"/>
                                        <p:tgtEl>
                                          <p:spTgt spid="9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wipe(left)">
                                      <p:cBhvr>
                                        <p:cTn id="28" dur="500"/>
                                        <p:tgtEl>
                                          <p:spTgt spid="6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wipe(left)">
                                      <p:cBhvr>
                                        <p:cTn id="33" dur="500"/>
                                        <p:tgtEl>
                                          <p:spTgt spid="6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wipe(left)">
                                      <p:cBhvr>
                                        <p:cTn id="36" dur="500"/>
                                        <p:tgtEl>
                                          <p:spTgt spid="7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wipe(left)">
                                      <p:cBhvr>
                                        <p:cTn id="41" dur="500"/>
                                        <p:tgtEl>
                                          <p:spTgt spid="8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wipe(left)">
                                      <p:cBhvr>
                                        <p:cTn id="46" dur="500"/>
                                        <p:tgtEl>
                                          <p:spTgt spid="79"/>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wipe(left)">
                                      <p:cBhvr>
                                        <p:cTn id="49" dur="500"/>
                                        <p:tgtEl>
                                          <p:spTgt spid="72"/>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wipe(left)">
                                      <p:cBhvr>
                                        <p:cTn id="52" dur="500"/>
                                        <p:tgtEl>
                                          <p:spTgt spid="8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wipe(left)">
                                      <p:cBhvr>
                                        <p:cTn id="57" dur="500"/>
                                        <p:tgtEl>
                                          <p:spTgt spid="73"/>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wipe(left)">
                                      <p:cBhvr>
                                        <p:cTn id="65" dur="500"/>
                                        <p:tgtEl>
                                          <p:spTgt spid="6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wipe(left)">
                                      <p:cBhvr>
                                        <p:cTn id="70" dur="500"/>
                                        <p:tgtEl>
                                          <p:spTgt spid="7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81"/>
                                        </p:tgtEl>
                                        <p:attrNameLst>
                                          <p:attrName>style.visibility</p:attrName>
                                        </p:attrNameLst>
                                      </p:cBhvr>
                                      <p:to>
                                        <p:strVal val="visible"/>
                                      </p:to>
                                    </p:set>
                                    <p:animEffect transition="in" filter="wipe(left)">
                                      <p:cBhvr>
                                        <p:cTn id="75" dur="500"/>
                                        <p:tgtEl>
                                          <p:spTgt spid="8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wipe(left)">
                                      <p:cBhvr>
                                        <p:cTn id="80" dur="500"/>
                                        <p:tgtEl>
                                          <p:spTgt spid="8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wipe(left)">
                                      <p:cBhvr>
                                        <p:cTn id="85" dur="500"/>
                                        <p:tgtEl>
                                          <p:spTgt spid="83"/>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91"/>
                                        </p:tgtEl>
                                        <p:attrNameLst>
                                          <p:attrName>style.visibility</p:attrName>
                                        </p:attrNameLst>
                                      </p:cBhvr>
                                      <p:to>
                                        <p:strVal val="visible"/>
                                      </p:to>
                                    </p:set>
                                    <p:animEffect transition="in" filter="wipe(left)">
                                      <p:cBhvr>
                                        <p:cTn id="88" dur="500"/>
                                        <p:tgtEl>
                                          <p:spTgt spid="91"/>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wipe(left)">
                                      <p:cBhvr>
                                        <p:cTn id="91" dur="500"/>
                                        <p:tgtEl>
                                          <p:spTgt spid="8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69"/>
                                        </p:tgtEl>
                                        <p:attrNameLst>
                                          <p:attrName>style.visibility</p:attrName>
                                        </p:attrNameLst>
                                      </p:cBhvr>
                                      <p:to>
                                        <p:strVal val="visible"/>
                                      </p:to>
                                    </p:set>
                                    <p:animEffect transition="in" filter="wipe(left)">
                                      <p:cBhvr>
                                        <p:cTn id="96" dur="500"/>
                                        <p:tgtEl>
                                          <p:spTgt spid="6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96"/>
                                        </p:tgtEl>
                                        <p:attrNameLst>
                                          <p:attrName>style.visibility</p:attrName>
                                        </p:attrNameLst>
                                      </p:cBhvr>
                                      <p:to>
                                        <p:strVal val="visible"/>
                                      </p:to>
                                    </p:set>
                                    <p:animEffect transition="in" filter="wipe(left)">
                                      <p:cBhvr>
                                        <p:cTn id="101" dur="500"/>
                                        <p:tgtEl>
                                          <p:spTgt spid="96"/>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99"/>
                                        </p:tgtEl>
                                        <p:attrNameLst>
                                          <p:attrName>style.visibility</p:attrName>
                                        </p:attrNameLst>
                                      </p:cBhvr>
                                      <p:to>
                                        <p:strVal val="visible"/>
                                      </p:to>
                                    </p:set>
                                    <p:animEffect transition="in" filter="wipe(left)">
                                      <p:cBhvr>
                                        <p:cTn id="104" dur="500"/>
                                        <p:tgtEl>
                                          <p:spTgt spid="9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wipe(left)">
                                      <p:cBhvr>
                                        <p:cTn id="10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P spid="62" grpId="0" bldLvl="0" animBg="1"/>
      <p:bldP spid="64" grpId="0" bldLvl="0" animBg="1"/>
      <p:bldP spid="61" grpId="0" bldLvl="0" animBg="1"/>
      <p:bldP spid="68" grpId="0" bldLvl="0" animBg="1"/>
      <p:bldP spid="81" grpId="0" bldLvl="0" animBg="1"/>
      <p:bldP spid="83" grpId="0" bldLvl="0" animBg="1"/>
      <p:bldP spid="84" grpId="0" bldLvl="0" animBg="1"/>
      <p:bldP spid="72" grpId="0" bldLvl="0" animBg="1"/>
      <p:bldP spid="73" grpId="0" bldLvl="0" animBg="1"/>
      <p:bldP spid="78" grpId="0" bldLvl="0" animBg="1"/>
      <p:bldP spid="79" grpId="0" bldLvl="0" animBg="1"/>
      <p:bldP spid="96" grpId="0" bldLvl="0" animBg="1"/>
      <p:bldP spid="99" grpId="0" bldLvl="0" animBg="1"/>
      <p:bldP spid="90" grpId="0" bldLvl="0" animBg="1"/>
      <p:bldP spid="89" grpId="0" bldLvl="0" animBg="1"/>
      <p:bldP spid="26" grpId="0" bldLvl="0" animBg="1"/>
      <p:bldP spid="91"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3.1 动态链接库</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a:t>
                      </a:r>
                      <a:r>
                        <a:rPr lang="zh-CN" altLang="en-US">
                          <a:latin typeface="思源黑体 CN Regular" panose="020B0500000000000000" charset="-122"/>
                          <a:ea typeface="思源黑体 CN Regular" panose="020B0500000000000000" charset="-122"/>
                        </a:rPr>
                        <a:t>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静态</a:t>
            </a:r>
            <a:r>
              <a:rPr lang="zh-CN" altLang="en-US" sz="2000" b="1">
                <a:solidFill>
                  <a:srgbClr val="9C0B15"/>
                </a:solidFill>
              </a:rPr>
              <a:t>链接的问题</a:t>
            </a:r>
            <a:endParaRPr lang="zh-CN" altLang="en-US" sz="2000"/>
          </a:p>
          <a:p>
            <a:pPr algn="ctr"/>
            <a:endParaRPr lang="zh-CN" altLang="en-US" sz="2000"/>
          </a:p>
          <a:p>
            <a:pPr algn="l"/>
            <a:r>
              <a:rPr lang="zh-CN" altLang="en-US" sz="2000" b="1">
                <a:solidFill>
                  <a:srgbClr val="9C0B15"/>
                </a:solidFill>
              </a:rPr>
              <a:t>重复存储</a:t>
            </a:r>
            <a:r>
              <a:rPr lang="en-US" altLang="zh-CN" sz="2000"/>
              <a:t>	</a:t>
            </a:r>
            <a:r>
              <a:rPr lang="zh-CN" altLang="en-US" sz="2000"/>
              <a:t>库会被在每一个</a:t>
            </a:r>
            <a:r>
              <a:rPr lang="zh-CN" altLang="en-US" sz="2000">
                <a:solidFill>
                  <a:srgbClr val="9C0B15"/>
                </a:solidFill>
              </a:rPr>
              <a:t>可执行文件</a:t>
            </a:r>
            <a:r>
              <a:rPr lang="zh-CN" altLang="en-US" sz="2000"/>
              <a:t>中保留一个副本，浪费</a:t>
            </a:r>
            <a:r>
              <a:rPr lang="zh-CN" altLang="en-US" sz="2000">
                <a:solidFill>
                  <a:srgbClr val="9C0B15"/>
                </a:solidFill>
              </a:rPr>
              <a:t>磁盘</a:t>
            </a:r>
            <a:r>
              <a:rPr lang="zh-CN" altLang="en-US" sz="2000"/>
              <a:t>。</a:t>
            </a:r>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r>
              <a:rPr lang="zh-CN" altLang="en-US" sz="2000" b="1">
                <a:solidFill>
                  <a:srgbClr val="9C0B15"/>
                </a:solidFill>
              </a:rPr>
              <a:t>更新困难</a:t>
            </a:r>
            <a:r>
              <a:rPr lang="en-US" altLang="zh-CN" sz="2000"/>
              <a:t>	</a:t>
            </a:r>
            <a:r>
              <a:rPr lang="zh-CN" altLang="en-US" sz="2000"/>
              <a:t>每次更新库之后，都需要把用到它的可执行文件</a:t>
            </a:r>
            <a:r>
              <a:rPr lang="zh-CN" altLang="en-US" sz="2000"/>
              <a:t>重新链接。</a:t>
            </a:r>
            <a:endParaRPr lang="zh-CN" altLang="en-US" sz="2000"/>
          </a:p>
        </p:txBody>
      </p:sp>
      <p:grpSp>
        <p:nvGrpSpPr>
          <p:cNvPr id="67" name="组合 66"/>
          <p:cNvGrpSpPr/>
          <p:nvPr/>
        </p:nvGrpSpPr>
        <p:grpSpPr>
          <a:xfrm>
            <a:off x="745490" y="1424305"/>
            <a:ext cx="2388870" cy="4587240"/>
            <a:chOff x="2466" y="2591"/>
            <a:chExt cx="3762" cy="7224"/>
          </a:xfrm>
        </p:grpSpPr>
        <p:sp>
          <p:nvSpPr>
            <p:cNvPr id="2" name="矩形 1"/>
            <p:cNvSpPr/>
            <p:nvPr>
              <p:custDataLst>
                <p:tags r:id="rId2"/>
              </p:custDataLst>
            </p:nvPr>
          </p:nvSpPr>
          <p:spPr>
            <a:xfrm>
              <a:off x="2828" y="3351"/>
              <a:ext cx="3040" cy="3857"/>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a:p>
              <a:pPr algn="ctr"/>
              <a:r>
                <a:rPr lang="en-US" altLang="zh-CN"/>
                <a:t>10MB</a:t>
              </a:r>
              <a:endParaRPr lang="en-US" altLang="zh-CN"/>
            </a:p>
          </p:txBody>
        </p:sp>
        <p:sp>
          <p:nvSpPr>
            <p:cNvPr id="8" name="矩形 7"/>
            <p:cNvSpPr/>
            <p:nvPr>
              <p:custDataLst>
                <p:tags r:id="rId3"/>
              </p:custDataLst>
            </p:nvPr>
          </p:nvSpPr>
          <p:spPr>
            <a:xfrm>
              <a:off x="2828" y="7658"/>
              <a:ext cx="3040" cy="180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a:p>
              <a:pPr algn="ctr"/>
              <a:r>
                <a:rPr lang="en-US" altLang="zh-CN"/>
                <a:t>5MB</a:t>
              </a:r>
              <a:endParaRPr lang="en-US" altLang="zh-CN"/>
            </a:p>
          </p:txBody>
        </p:sp>
        <p:sp>
          <p:nvSpPr>
            <p:cNvPr id="114" name="矩形 113"/>
            <p:cNvSpPr/>
            <p:nvPr>
              <p:custDataLst>
                <p:tags r:id="rId4"/>
              </p:custDataLst>
            </p:nvPr>
          </p:nvSpPr>
          <p:spPr>
            <a:xfrm>
              <a:off x="2466"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3641725" y="1424305"/>
            <a:ext cx="2388870" cy="4587240"/>
            <a:chOff x="6948" y="2591"/>
            <a:chExt cx="3762" cy="7224"/>
          </a:xfrm>
        </p:grpSpPr>
        <p:sp>
          <p:nvSpPr>
            <p:cNvPr id="64" name="矩形 63"/>
            <p:cNvSpPr/>
            <p:nvPr>
              <p:custDataLst>
                <p:tags r:id="rId5"/>
              </p:custDataLst>
            </p:nvPr>
          </p:nvSpPr>
          <p:spPr>
            <a:xfrm>
              <a:off x="7310" y="3351"/>
              <a:ext cx="3040" cy="385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a:p>
              <a:pPr algn="ctr"/>
              <a:r>
                <a:rPr lang="en-US" altLang="zh-CN"/>
                <a:t>10MB</a:t>
              </a:r>
              <a:endParaRPr lang="en-US" altLang="zh-CN"/>
            </a:p>
          </p:txBody>
        </p:sp>
        <p:sp>
          <p:nvSpPr>
            <p:cNvPr id="65" name="矩形 64"/>
            <p:cNvSpPr/>
            <p:nvPr>
              <p:custDataLst>
                <p:tags r:id="rId6"/>
              </p:custDataLst>
            </p:nvPr>
          </p:nvSpPr>
          <p:spPr>
            <a:xfrm>
              <a:off x="7310" y="7658"/>
              <a:ext cx="3040" cy="180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a:p>
              <a:pPr algn="ctr"/>
              <a:r>
                <a:rPr lang="en-US" altLang="zh-CN"/>
                <a:t>5MB</a:t>
              </a:r>
              <a:endParaRPr lang="en-US" altLang="zh-CN"/>
            </a:p>
          </p:txBody>
        </p:sp>
        <p:sp>
          <p:nvSpPr>
            <p:cNvPr id="66" name="矩形 65"/>
            <p:cNvSpPr/>
            <p:nvPr>
              <p:custDataLst>
                <p:tags r:id="rId7"/>
              </p:custDataLst>
            </p:nvPr>
          </p:nvSpPr>
          <p:spPr>
            <a:xfrm>
              <a:off x="6948"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2</a:t>
              </a:r>
              <a:endParaRPr lang="en-US" altLang="zh-CN">
                <a:solidFill>
                  <a:schemeClr val="tx1"/>
                </a:solidFill>
              </a:endParaRPr>
            </a:p>
          </p:txBody>
        </p:sp>
      </p:grpSp>
      <p:grpSp>
        <p:nvGrpSpPr>
          <p:cNvPr id="69" name="组合 68"/>
          <p:cNvGrpSpPr/>
          <p:nvPr/>
        </p:nvGrpSpPr>
        <p:grpSpPr>
          <a:xfrm>
            <a:off x="6537960" y="1424305"/>
            <a:ext cx="2388870" cy="4587240"/>
            <a:chOff x="6948" y="2591"/>
            <a:chExt cx="3762" cy="7224"/>
          </a:xfrm>
        </p:grpSpPr>
        <p:sp>
          <p:nvSpPr>
            <p:cNvPr id="70" name="矩形 69"/>
            <p:cNvSpPr/>
            <p:nvPr>
              <p:custDataLst>
                <p:tags r:id="rId8"/>
              </p:custDataLst>
            </p:nvPr>
          </p:nvSpPr>
          <p:spPr>
            <a:xfrm>
              <a:off x="7310" y="3351"/>
              <a:ext cx="3040" cy="3857"/>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a:p>
              <a:pPr algn="ctr"/>
              <a:r>
                <a:rPr lang="en-US" altLang="zh-CN"/>
                <a:t>10MB</a:t>
              </a:r>
              <a:endParaRPr lang="en-US" altLang="zh-CN"/>
            </a:p>
          </p:txBody>
        </p:sp>
        <p:sp>
          <p:nvSpPr>
            <p:cNvPr id="71" name="矩形 70"/>
            <p:cNvSpPr/>
            <p:nvPr>
              <p:custDataLst>
                <p:tags r:id="rId9"/>
              </p:custDataLst>
            </p:nvPr>
          </p:nvSpPr>
          <p:spPr>
            <a:xfrm>
              <a:off x="7310" y="7658"/>
              <a:ext cx="3040" cy="180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a:p>
              <a:pPr algn="ctr"/>
              <a:r>
                <a:rPr lang="en-US" altLang="zh-CN"/>
                <a:t>5MB</a:t>
              </a:r>
              <a:endParaRPr lang="en-US" altLang="zh-CN"/>
            </a:p>
          </p:txBody>
        </p:sp>
        <p:sp>
          <p:nvSpPr>
            <p:cNvPr id="72" name="矩形 71"/>
            <p:cNvSpPr/>
            <p:nvPr>
              <p:custDataLst>
                <p:tags r:id="rId10"/>
              </p:custDataLst>
            </p:nvPr>
          </p:nvSpPr>
          <p:spPr>
            <a:xfrm>
              <a:off x="6948"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3</a:t>
              </a:r>
              <a:endParaRPr lang="en-US" altLang="zh-CN">
                <a:solidFill>
                  <a:schemeClr val="tx1"/>
                </a:solidFill>
              </a:endParaRPr>
            </a:p>
          </p:txBody>
        </p:sp>
      </p:grpSp>
    </p:spTree>
    <p:custDataLst>
      <p:tags r:id="rId11"/>
    </p:custData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3.1 动态链接库</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322070"/>
          </a:xfrm>
          <a:prstGeom prst="rect">
            <a:avLst/>
          </a:prstGeom>
          <a:noFill/>
        </p:spPr>
        <p:txBody>
          <a:bodyPr wrap="square" rtlCol="0">
            <a:spAutoFit/>
          </a:bodyPr>
          <a:p>
            <a:pPr algn="ctr"/>
            <a:r>
              <a:rPr lang="zh-CN" altLang="en-US" sz="2000" b="1">
                <a:solidFill>
                  <a:srgbClr val="9C0B15"/>
                </a:solidFill>
              </a:rPr>
              <a:t>静态</a:t>
            </a:r>
            <a:r>
              <a:rPr lang="zh-CN" altLang="en-US" sz="2000" b="1">
                <a:solidFill>
                  <a:srgbClr val="9C0B15"/>
                </a:solidFill>
              </a:rPr>
              <a:t>链接的问题</a:t>
            </a:r>
            <a:endParaRPr lang="zh-CN" altLang="en-US" sz="2000"/>
          </a:p>
          <a:p>
            <a:pPr algn="ctr"/>
            <a:endParaRPr lang="zh-CN" altLang="en-US" sz="2000"/>
          </a:p>
          <a:p>
            <a:pPr algn="l"/>
            <a:r>
              <a:rPr lang="zh-CN" altLang="en-US" sz="2000" b="1">
                <a:solidFill>
                  <a:srgbClr val="9C0B15"/>
                </a:solidFill>
              </a:rPr>
              <a:t>重复加载</a:t>
            </a:r>
            <a:r>
              <a:rPr lang="en-US" altLang="zh-CN" sz="2000"/>
              <a:t>	</a:t>
            </a:r>
            <a:r>
              <a:rPr lang="zh-CN" altLang="en-US" sz="2000"/>
              <a:t>库会被在每一个</a:t>
            </a:r>
            <a:r>
              <a:rPr lang="zh-CN" altLang="en-US" sz="2000">
                <a:solidFill>
                  <a:srgbClr val="9C0B15"/>
                </a:solidFill>
              </a:rPr>
              <a:t>虚拟地址空间</a:t>
            </a:r>
            <a:r>
              <a:rPr lang="zh-CN" altLang="en-US" sz="2000">
                <a:sym typeface="+mn-ea"/>
              </a:rPr>
              <a:t>中</a:t>
            </a:r>
            <a:r>
              <a:rPr lang="zh-CN" altLang="en-US" sz="2000"/>
              <a:t>保留一个副本，进而导致在</a:t>
            </a:r>
            <a:r>
              <a:rPr lang="zh-CN" altLang="en-US" sz="2000">
                <a:solidFill>
                  <a:srgbClr val="9C0B15"/>
                </a:solidFill>
              </a:rPr>
              <a:t>物理地</a:t>
            </a:r>
            <a:r>
              <a:rPr lang="zh-CN" altLang="en-US" sz="2000">
                <a:solidFill>
                  <a:srgbClr val="9C0B15"/>
                </a:solidFill>
                <a:sym typeface="+mn-ea"/>
              </a:rPr>
              <a:t>		</a:t>
            </a:r>
            <a:r>
              <a:rPr lang="zh-CN" altLang="en-US" sz="2000">
                <a:solidFill>
                  <a:srgbClr val="9C0B15"/>
                </a:solidFill>
              </a:rPr>
              <a:t>址空间</a:t>
            </a:r>
            <a:r>
              <a:rPr lang="zh-CN" altLang="en-US" sz="2000"/>
              <a:t>中也产生重复的副本，</a:t>
            </a:r>
            <a:r>
              <a:rPr lang="zh-CN" altLang="en-US" sz="2000">
                <a:solidFill>
                  <a:srgbClr val="9C0B15"/>
                </a:solidFill>
              </a:rPr>
              <a:t>浪费内存</a:t>
            </a:r>
            <a:r>
              <a:rPr lang="zh-CN" altLang="en-US" sz="2000"/>
              <a:t>，也</a:t>
            </a:r>
            <a:r>
              <a:rPr lang="zh-CN" altLang="en-US" sz="2000">
                <a:solidFill>
                  <a:srgbClr val="9C0B15"/>
                </a:solidFill>
              </a:rPr>
              <a:t>浪费载入时间</a:t>
            </a:r>
            <a:r>
              <a:rPr lang="zh-CN" altLang="en-US" sz="2000"/>
              <a:t>。</a:t>
            </a:r>
            <a:endParaRPr lang="zh-CN" altLang="en-US" sz="2000"/>
          </a:p>
        </p:txBody>
      </p:sp>
      <p:sp>
        <p:nvSpPr>
          <p:cNvPr id="2" name="矩形 1"/>
          <p:cNvSpPr/>
          <p:nvPr>
            <p:custDataLst>
              <p:tags r:id="rId2"/>
            </p:custDataLst>
          </p:nvPr>
        </p:nvSpPr>
        <p:spPr>
          <a:xfrm>
            <a:off x="975360" y="2362835"/>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745490" y="1612900"/>
            <a:ext cx="2389505" cy="5026599"/>
            <a:chOff x="1174" y="2243"/>
            <a:chExt cx="3763" cy="7917"/>
          </a:xfrm>
        </p:grpSpPr>
        <p:sp>
          <p:nvSpPr>
            <p:cNvPr id="8" name="矩形 7"/>
            <p:cNvSpPr/>
            <p:nvPr>
              <p:custDataLst>
                <p:tags r:id="rId3"/>
              </p:custDataLst>
            </p:nvPr>
          </p:nvSpPr>
          <p:spPr>
            <a:xfrm>
              <a:off x="1536" y="6079"/>
              <a:ext cx="3040" cy="114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114" name="矩形 113"/>
            <p:cNvSpPr/>
            <p:nvPr>
              <p:custDataLst>
                <p:tags r:id="rId4"/>
              </p:custDataLst>
            </p:nvPr>
          </p:nvSpPr>
          <p:spPr>
            <a:xfrm>
              <a:off x="1174" y="2243"/>
              <a:ext cx="3763" cy="7917"/>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运行时布局</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6791960" y="1612265"/>
            <a:ext cx="2389505" cy="5028565"/>
            <a:chOff x="6948" y="2591"/>
            <a:chExt cx="3763" cy="7919"/>
          </a:xfrm>
        </p:grpSpPr>
        <p:sp>
          <p:nvSpPr>
            <p:cNvPr id="64" name="矩形 63"/>
            <p:cNvSpPr/>
            <p:nvPr>
              <p:custDataLst>
                <p:tags r:id="rId5"/>
              </p:custDataLst>
            </p:nvPr>
          </p:nvSpPr>
          <p:spPr>
            <a:xfrm>
              <a:off x="7310" y="5856"/>
              <a:ext cx="3040" cy="135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65" name="矩形 64"/>
            <p:cNvSpPr/>
            <p:nvPr>
              <p:custDataLst>
                <p:tags r:id="rId6"/>
              </p:custDataLst>
            </p:nvPr>
          </p:nvSpPr>
          <p:spPr>
            <a:xfrm>
              <a:off x="7310" y="7736"/>
              <a:ext cx="3040" cy="1143"/>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66" name="矩形 65"/>
            <p:cNvSpPr/>
            <p:nvPr>
              <p:custDataLst>
                <p:tags r:id="rId7"/>
              </p:custDataLst>
            </p:nvPr>
          </p:nvSpPr>
          <p:spPr>
            <a:xfrm>
              <a:off x="6948" y="2591"/>
              <a:ext cx="3763" cy="7919"/>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运行时布局</a:t>
              </a:r>
              <a:r>
                <a:rPr lang="en-US" altLang="zh-CN">
                  <a:solidFill>
                    <a:schemeClr val="tx1"/>
                  </a:solidFill>
                </a:rPr>
                <a:t>2</a:t>
              </a:r>
              <a:endParaRPr lang="en-US" altLang="zh-CN">
                <a:solidFill>
                  <a:schemeClr val="tx1"/>
                </a:solidFill>
              </a:endParaRPr>
            </a:p>
          </p:txBody>
        </p:sp>
      </p:grpSp>
      <p:sp>
        <p:nvSpPr>
          <p:cNvPr id="75" name="矩形 74"/>
          <p:cNvSpPr/>
          <p:nvPr>
            <p:custDataLst>
              <p:tags r:id="rId8"/>
            </p:custDataLst>
          </p:nvPr>
        </p:nvSpPr>
        <p:spPr>
          <a:xfrm>
            <a:off x="3775710" y="1612265"/>
            <a:ext cx="2389505" cy="5027930"/>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5" name="矩形 4"/>
          <p:cNvSpPr/>
          <p:nvPr>
            <p:custDataLst>
              <p:tags r:id="rId9"/>
            </p:custDataLst>
          </p:nvPr>
        </p:nvSpPr>
        <p:spPr>
          <a:xfrm>
            <a:off x="4005580" y="3221355"/>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6" name="矩形 5"/>
          <p:cNvSpPr/>
          <p:nvPr>
            <p:custDataLst>
              <p:tags r:id="rId10"/>
            </p:custDataLst>
          </p:nvPr>
        </p:nvSpPr>
        <p:spPr>
          <a:xfrm>
            <a:off x="4005580" y="5681980"/>
            <a:ext cx="1930400" cy="858520"/>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 name="矩形 6"/>
          <p:cNvSpPr/>
          <p:nvPr>
            <p:custDataLst>
              <p:tags r:id="rId11"/>
            </p:custDataLst>
          </p:nvPr>
        </p:nvSpPr>
        <p:spPr>
          <a:xfrm>
            <a:off x="4005580" y="2281555"/>
            <a:ext cx="1930400" cy="72580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9" name="矩形 8"/>
          <p:cNvSpPr/>
          <p:nvPr>
            <p:custDataLst>
              <p:tags r:id="rId12"/>
            </p:custDataLst>
          </p:nvPr>
        </p:nvSpPr>
        <p:spPr>
          <a:xfrm>
            <a:off x="4005580" y="4773930"/>
            <a:ext cx="1930400" cy="72580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cxnSp>
        <p:nvCxnSpPr>
          <p:cNvPr id="79" name="直接连接符 78"/>
          <p:cNvCxnSpPr>
            <a:endCxn id="7" idx="1"/>
          </p:cNvCxnSpPr>
          <p:nvPr>
            <p:custDataLst>
              <p:tags r:id="rId13"/>
            </p:custDataLst>
          </p:nvPr>
        </p:nvCxnSpPr>
        <p:spPr>
          <a:xfrm flipV="1">
            <a:off x="2905760" y="2644775"/>
            <a:ext cx="1099820" cy="176593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2" idx="3"/>
            <a:endCxn id="5" idx="1"/>
          </p:cNvCxnSpPr>
          <p:nvPr>
            <p:custDataLst>
              <p:tags r:id="rId14"/>
            </p:custDataLst>
          </p:nvPr>
        </p:nvCxnSpPr>
        <p:spPr>
          <a:xfrm>
            <a:off x="2905760" y="3024505"/>
            <a:ext cx="1099820" cy="85852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9" idx="3"/>
          </p:cNvCxnSpPr>
          <p:nvPr>
            <p:custDataLst>
              <p:tags r:id="rId15"/>
            </p:custDataLst>
          </p:nvPr>
        </p:nvCxnSpPr>
        <p:spPr>
          <a:xfrm flipH="1" flipV="1">
            <a:off x="5935980" y="5137150"/>
            <a:ext cx="1085850" cy="10541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6" idx="3"/>
          </p:cNvCxnSpPr>
          <p:nvPr>
            <p:custDataLst>
              <p:tags r:id="rId16"/>
            </p:custDataLst>
          </p:nvPr>
        </p:nvCxnSpPr>
        <p:spPr>
          <a:xfrm flipH="1">
            <a:off x="5935980" y="4114800"/>
            <a:ext cx="1085850" cy="199644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7"/>
    </p:custData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3.1 动态链接库</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动态链接库</a:t>
            </a:r>
            <a:endParaRPr lang="zh-CN" altLang="en-US" sz="2000"/>
          </a:p>
          <a:p>
            <a:pPr algn="ctr"/>
            <a:endParaRPr lang="zh-CN" altLang="en-US" sz="2000"/>
          </a:p>
          <a:p>
            <a:pPr algn="l"/>
            <a:r>
              <a:rPr lang="zh-CN" altLang="en-US" sz="2000" b="1">
                <a:solidFill>
                  <a:srgbClr val="9C0B15"/>
                </a:solidFill>
              </a:rPr>
              <a:t>动态链接库</a:t>
            </a:r>
            <a:r>
              <a:rPr lang="en-US" altLang="zh-CN" sz="2000"/>
              <a:t>	</a:t>
            </a:r>
            <a:r>
              <a:rPr lang="zh-CN" altLang="en-US" sz="2000"/>
              <a:t>在可执行程序被加载时，作为</a:t>
            </a:r>
            <a:r>
              <a:rPr lang="zh-CN" altLang="en-US" sz="2000">
                <a:solidFill>
                  <a:srgbClr val="9C0B15"/>
                </a:solidFill>
              </a:rPr>
              <a:t>独立文件单独加载</a:t>
            </a:r>
            <a:r>
              <a:rPr lang="zh-CN" altLang="en-US" sz="2000"/>
              <a:t>的库文件。它不包</a:t>
            </a:r>
            <a:r>
              <a:rPr lang="en-US" altLang="zh-CN" sz="2000">
                <a:sym typeface="+mn-ea"/>
              </a:rPr>
              <a:t>		</a:t>
            </a:r>
            <a:r>
              <a:rPr lang="zh-CN" altLang="en-US" sz="2000"/>
              <a:t>含在可执行文件之内；可执行文件将在</a:t>
            </a:r>
            <a:r>
              <a:rPr lang="zh-CN" altLang="en-US" sz="2000">
                <a:solidFill>
                  <a:srgbClr val="9C0B15"/>
                </a:solidFill>
              </a:rPr>
              <a:t>需要它们的时候加载它们</a:t>
            </a:r>
            <a:r>
              <a:rPr lang="zh-CN" altLang="en-US" sz="2000"/>
              <a:t>。</a:t>
            </a:r>
            <a:endParaRPr lang="zh-CN" altLang="en-US" sz="2000"/>
          </a:p>
          <a:p>
            <a:pPr algn="l"/>
            <a:endParaRPr lang="zh-CN" altLang="en-US" sz="2000"/>
          </a:p>
          <a:p>
            <a:pPr algn="l"/>
            <a:r>
              <a:rPr lang="en-US" altLang="zh-CN" sz="2000">
                <a:sym typeface="+mn-ea"/>
              </a:rPr>
              <a:t>		</a:t>
            </a:r>
            <a:r>
              <a:rPr lang="zh-CN" altLang="en-US" sz="2000"/>
              <a:t>动态链接库的后缀名一般是</a:t>
            </a:r>
            <a:r>
              <a:rPr lang="en-US" altLang="zh-CN" sz="2000"/>
              <a:t>*.SO</a:t>
            </a:r>
            <a:r>
              <a:rPr lang="zh-CN" altLang="en-US" sz="2000"/>
              <a:t>（</a:t>
            </a:r>
            <a:r>
              <a:rPr lang="en-US" altLang="zh-CN" sz="2000"/>
              <a:t>Shared Object</a:t>
            </a:r>
            <a:r>
              <a:rPr lang="zh-CN" altLang="en-US" sz="2000"/>
              <a:t>）、</a:t>
            </a:r>
            <a:r>
              <a:rPr lang="en-US" altLang="zh-CN" sz="2000"/>
              <a:t>*.DYLIB</a:t>
            </a:r>
            <a:r>
              <a:rPr lang="en-US" altLang="zh-CN" sz="2000">
                <a:sym typeface="+mn-ea"/>
              </a:rPr>
              <a:t>			</a:t>
            </a:r>
            <a:r>
              <a:rPr lang="zh-CN" altLang="en-US" sz="2000"/>
              <a:t>（</a:t>
            </a:r>
            <a:r>
              <a:rPr lang="en-US" altLang="zh-CN" sz="2000"/>
              <a:t>Dynamic Library</a:t>
            </a:r>
            <a:r>
              <a:rPr lang="zh-CN" altLang="en-US" sz="2000"/>
              <a:t>）或</a:t>
            </a:r>
            <a:r>
              <a:rPr lang="en-US" altLang="zh-CN" sz="2000"/>
              <a:t>*.DLL</a:t>
            </a:r>
            <a:r>
              <a:rPr lang="zh-CN" altLang="en-US" sz="2000"/>
              <a:t>（</a:t>
            </a:r>
            <a:r>
              <a:rPr lang="en-US" altLang="zh-CN" sz="2000"/>
              <a:t>Dynamic-Link Library</a:t>
            </a:r>
            <a:r>
              <a:rPr lang="zh-CN" altLang="en-US" sz="2000"/>
              <a:t>）。</a:t>
            </a:r>
            <a:endParaRPr lang="zh-CN" altLang="en-US" sz="2000"/>
          </a:p>
          <a:p>
            <a:pPr algn="l"/>
            <a:endParaRPr lang="zh-CN" altLang="en-US" sz="2000"/>
          </a:p>
          <a:p>
            <a:pPr algn="l"/>
            <a:r>
              <a:rPr lang="zh-CN" altLang="en-US" sz="2000" b="1">
                <a:solidFill>
                  <a:srgbClr val="9C0B15"/>
                </a:solidFill>
              </a:rPr>
              <a:t>外存的库共享</a:t>
            </a:r>
            <a:r>
              <a:rPr lang="en-US" altLang="zh-CN" sz="2000"/>
              <a:t>	</a:t>
            </a:r>
            <a:r>
              <a:rPr lang="zh-CN" altLang="en-US" sz="2000"/>
              <a:t>可执行文件中</a:t>
            </a:r>
            <a:r>
              <a:rPr lang="zh-CN" altLang="en-US" sz="2000">
                <a:solidFill>
                  <a:srgbClr val="9C0B15"/>
                </a:solidFill>
              </a:rPr>
              <a:t>不再包含库文件</a:t>
            </a:r>
            <a:r>
              <a:rPr lang="zh-CN" altLang="en-US" sz="2000"/>
              <a:t>。这样，库文件就只要在外存中存在</a:t>
            </a:r>
            <a:r>
              <a:rPr lang="en-US" altLang="zh-CN" sz="2000">
                <a:sym typeface="+mn-ea"/>
              </a:rPr>
              <a:t>		</a:t>
            </a:r>
            <a:r>
              <a:rPr lang="zh-CN" altLang="en-US" sz="2000"/>
              <a:t>一份。这个特征是动态链接库的</a:t>
            </a:r>
            <a:r>
              <a:rPr lang="zh-CN" altLang="en-US" sz="2000">
                <a:solidFill>
                  <a:srgbClr val="9C0B15"/>
                </a:solidFill>
              </a:rPr>
              <a:t>根本特征</a:t>
            </a:r>
            <a:r>
              <a:rPr lang="zh-CN" altLang="en-US" sz="2000"/>
              <a:t>；判断一个库是不是动态</a:t>
            </a:r>
            <a:r>
              <a:rPr lang="en-US" altLang="zh-CN" sz="2000">
                <a:sym typeface="+mn-ea"/>
              </a:rPr>
              <a:t>		</a:t>
            </a:r>
            <a:r>
              <a:rPr lang="zh-CN" altLang="en-US" sz="2000"/>
              <a:t>链接库，就看</a:t>
            </a:r>
            <a:r>
              <a:rPr lang="zh-CN" altLang="en-US" sz="2000">
                <a:solidFill>
                  <a:srgbClr val="9C0B15"/>
                </a:solidFill>
              </a:rPr>
              <a:t>调用它的可执行文件中是否包含它的内容</a:t>
            </a:r>
            <a:r>
              <a:rPr lang="zh-CN" altLang="en-US" sz="2000"/>
              <a:t>。如果</a:t>
            </a:r>
            <a:r>
              <a:rPr lang="zh-CN" altLang="en-US" sz="2000">
                <a:solidFill>
                  <a:srgbClr val="9C0B15"/>
                </a:solidFill>
              </a:rPr>
              <a:t>不包</a:t>
            </a:r>
            <a:r>
              <a:rPr lang="zh-CN" altLang="en-US" sz="2000">
                <a:solidFill>
                  <a:srgbClr val="9C0B15"/>
                </a:solidFill>
                <a:sym typeface="+mn-ea"/>
              </a:rPr>
              <a:t>		</a:t>
            </a:r>
            <a:r>
              <a:rPr lang="zh-CN" altLang="en-US" sz="2000">
                <a:solidFill>
                  <a:srgbClr val="9C0B15"/>
                </a:solidFill>
              </a:rPr>
              <a:t>含，它就是动态链接库</a:t>
            </a:r>
            <a:r>
              <a:rPr lang="zh-CN" altLang="en-US" sz="2000"/>
              <a:t>。</a:t>
            </a:r>
            <a:endParaRPr lang="zh-CN" altLang="en-US" sz="2000"/>
          </a:p>
          <a:p>
            <a:pPr algn="l"/>
            <a:endParaRPr lang="zh-CN" altLang="en-US" sz="2000"/>
          </a:p>
          <a:p>
            <a:pPr algn="l"/>
            <a:r>
              <a:rPr lang="zh-CN" altLang="en-US" sz="2000" b="1">
                <a:solidFill>
                  <a:srgbClr val="9C0B15"/>
                </a:solidFill>
              </a:rPr>
              <a:t>内存的库共享</a:t>
            </a:r>
            <a:r>
              <a:rPr lang="en-US" altLang="zh-CN" sz="2000"/>
              <a:t>	</a:t>
            </a:r>
            <a:r>
              <a:rPr lang="zh-CN" altLang="en-US" sz="2000"/>
              <a:t>物理地址空间中</a:t>
            </a:r>
            <a:r>
              <a:rPr lang="zh-CN" altLang="en-US" sz="2000">
                <a:solidFill>
                  <a:srgbClr val="9C0B15"/>
                </a:solidFill>
              </a:rPr>
              <a:t>仅包含库文件（的代码段）的一个副本</a:t>
            </a:r>
            <a:r>
              <a:rPr lang="zh-CN" altLang="en-US" sz="2000"/>
              <a:t>。这样，即</a:t>
            </a:r>
            <a:r>
              <a:rPr lang="en-US" altLang="zh-CN" sz="2000">
                <a:sym typeface="+mn-ea"/>
              </a:rPr>
              <a:t>		</a:t>
            </a:r>
            <a:r>
              <a:rPr lang="zh-CN" altLang="en-US" sz="2000"/>
              <a:t>便库文件被多个虚拟地址空间中被使用，它也只会占用一份物理内</a:t>
            </a:r>
            <a:r>
              <a:rPr lang="en-US" altLang="zh-CN" sz="2000">
                <a:sym typeface="+mn-ea"/>
              </a:rPr>
              <a:t>		</a:t>
            </a:r>
            <a:r>
              <a:rPr lang="zh-CN" altLang="en-US" sz="2000"/>
              <a:t>存，减少了内存用量，也减轻了缓存</a:t>
            </a:r>
            <a:r>
              <a:rPr lang="zh-CN" altLang="en-US" sz="2000"/>
              <a:t>负担。</a:t>
            </a:r>
            <a:endParaRPr lang="zh-CN" altLang="en-US" sz="2000"/>
          </a:p>
          <a:p>
            <a:pPr algn="l"/>
            <a:endParaRPr lang="zh-CN" altLang="en-US" sz="2000"/>
          </a:p>
          <a:p>
            <a:pPr algn="l"/>
            <a:r>
              <a:rPr lang="en-US" altLang="zh-CN" sz="2000">
                <a:sym typeface="+mn-ea"/>
              </a:rPr>
              <a:t>		</a:t>
            </a:r>
            <a:r>
              <a:rPr lang="zh-CN" altLang="en-US" sz="2000"/>
              <a:t>数据段呢？</a:t>
            </a:r>
            <a:r>
              <a:rPr lang="zh-CN" altLang="en-US" sz="2000"/>
              <a:t>能共享吗？</a:t>
            </a:r>
            <a:endParaRPr lang="zh-CN" altLang="en-US" sz="2000"/>
          </a:p>
          <a:p>
            <a:pPr algn="l"/>
            <a:endParaRPr lang="zh-CN" altLang="en-US" sz="2000"/>
          </a:p>
          <a:p>
            <a:pPr algn="l"/>
            <a:endParaRPr lang="zh-CN" altLang="en-US" sz="2000"/>
          </a:p>
          <a:p>
            <a:pPr algn="l"/>
            <a:r>
              <a:rPr lang="zh-CN" altLang="en-US" sz="2000" b="1">
                <a:solidFill>
                  <a:srgbClr val="9C0B15"/>
                </a:solidFill>
              </a:rPr>
              <a:t>问题</a:t>
            </a:r>
            <a:r>
              <a:rPr lang="en-US" altLang="zh-CN" sz="2000"/>
              <a:t>		</a:t>
            </a:r>
            <a:r>
              <a:rPr lang="zh-CN" altLang="en-US" sz="2000"/>
              <a:t>现在有了静态链接库，能否直接将它作为动态链接库用</a:t>
            </a:r>
            <a:r>
              <a:rPr lang="zh-CN" altLang="en-US" sz="2000"/>
              <a:t>呢？</a:t>
            </a:r>
            <a:endParaRPr lang="zh-CN" altLang="en-US" sz="2000"/>
          </a:p>
        </p:txBody>
      </p:sp>
    </p:spTree>
    <p:custDataLst>
      <p:tags r:id="rId2"/>
    </p:custData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3.1 动态链接库</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938020"/>
          </a:xfrm>
          <a:prstGeom prst="rect">
            <a:avLst/>
          </a:prstGeom>
          <a:noFill/>
        </p:spPr>
        <p:txBody>
          <a:bodyPr wrap="square" rtlCol="0">
            <a:spAutoFit/>
          </a:bodyPr>
          <a:p>
            <a:pPr algn="ctr"/>
            <a:r>
              <a:rPr lang="zh-CN" altLang="en-US" sz="2000" b="1">
                <a:solidFill>
                  <a:srgbClr val="9C0B15"/>
                </a:solidFill>
              </a:rPr>
              <a:t>动态链接库</a:t>
            </a:r>
            <a:endParaRPr lang="zh-CN" altLang="en-US" sz="2000"/>
          </a:p>
          <a:p>
            <a:pPr algn="ctr"/>
            <a:endParaRPr lang="zh-CN" altLang="en-US" sz="2000"/>
          </a:p>
          <a:p>
            <a:pPr algn="l"/>
            <a:r>
              <a:rPr lang="zh-CN" altLang="en-US" sz="2000" b="1">
                <a:solidFill>
                  <a:srgbClr val="9C0B15"/>
                </a:solidFill>
              </a:rPr>
              <a:t>外存的库共享</a:t>
            </a:r>
            <a:r>
              <a:rPr lang="en-US" altLang="zh-CN" sz="2000"/>
              <a:t>	</a:t>
            </a:r>
            <a:r>
              <a:rPr lang="zh-CN" altLang="en-US" sz="2000"/>
              <a:t>可执行文件中</a:t>
            </a:r>
            <a:r>
              <a:rPr lang="zh-CN" altLang="en-US" sz="2000">
                <a:solidFill>
                  <a:srgbClr val="9C0B15"/>
                </a:solidFill>
              </a:rPr>
              <a:t>不再包含库文件</a:t>
            </a:r>
            <a:r>
              <a:rPr lang="zh-CN" altLang="en-US" sz="2000"/>
              <a:t>。这样，库文件就只要在外存中存在</a:t>
            </a:r>
            <a:r>
              <a:rPr lang="en-US" altLang="zh-CN" sz="2000">
                <a:sym typeface="+mn-ea"/>
              </a:rPr>
              <a:t>		</a:t>
            </a:r>
            <a:r>
              <a:rPr lang="zh-CN" altLang="en-US" sz="2000"/>
              <a:t>一份。这个特征是动态链接库的</a:t>
            </a:r>
            <a:r>
              <a:rPr lang="zh-CN" altLang="en-US" sz="2000">
                <a:solidFill>
                  <a:srgbClr val="9C0B15"/>
                </a:solidFill>
              </a:rPr>
              <a:t>根本特征</a:t>
            </a:r>
            <a:r>
              <a:rPr lang="zh-CN" altLang="en-US" sz="2000"/>
              <a:t>；判断一个库是不是动态</a:t>
            </a:r>
            <a:r>
              <a:rPr lang="en-US" altLang="zh-CN" sz="2000">
                <a:sym typeface="+mn-ea"/>
              </a:rPr>
              <a:t>		</a:t>
            </a:r>
            <a:r>
              <a:rPr lang="zh-CN" altLang="en-US" sz="2000"/>
              <a:t>链接库，就看</a:t>
            </a:r>
            <a:r>
              <a:rPr lang="zh-CN" altLang="en-US" sz="2000">
                <a:solidFill>
                  <a:srgbClr val="9C0B15"/>
                </a:solidFill>
              </a:rPr>
              <a:t>调用它的可执行文件中是否包含它的内容</a:t>
            </a:r>
            <a:r>
              <a:rPr lang="zh-CN" altLang="en-US" sz="2000"/>
              <a:t>。如果</a:t>
            </a:r>
            <a:r>
              <a:rPr lang="zh-CN" altLang="en-US" sz="2000">
                <a:solidFill>
                  <a:srgbClr val="9C0B15"/>
                </a:solidFill>
              </a:rPr>
              <a:t>不包</a:t>
            </a:r>
            <a:r>
              <a:rPr lang="zh-CN" altLang="en-US" sz="2000">
                <a:solidFill>
                  <a:srgbClr val="9C0B15"/>
                </a:solidFill>
                <a:sym typeface="+mn-ea"/>
              </a:rPr>
              <a:t>		</a:t>
            </a:r>
            <a:r>
              <a:rPr lang="zh-CN" altLang="en-US" sz="2000">
                <a:solidFill>
                  <a:srgbClr val="9C0B15"/>
                </a:solidFill>
              </a:rPr>
              <a:t>含，它就是动态链接库</a:t>
            </a:r>
            <a:r>
              <a:rPr lang="zh-CN" altLang="en-US" sz="2000"/>
              <a:t>。</a:t>
            </a:r>
            <a:endParaRPr lang="zh-CN" altLang="en-US" sz="2000"/>
          </a:p>
        </p:txBody>
      </p:sp>
      <p:grpSp>
        <p:nvGrpSpPr>
          <p:cNvPr id="67" name="组合 66"/>
          <p:cNvGrpSpPr/>
          <p:nvPr/>
        </p:nvGrpSpPr>
        <p:grpSpPr>
          <a:xfrm>
            <a:off x="745490" y="2316480"/>
            <a:ext cx="5056505" cy="4264660"/>
            <a:chOff x="2466" y="2591"/>
            <a:chExt cx="7963" cy="6716"/>
          </a:xfrm>
        </p:grpSpPr>
        <p:sp>
          <p:nvSpPr>
            <p:cNvPr id="2" name="矩形 1"/>
            <p:cNvSpPr/>
            <p:nvPr>
              <p:custDataLst>
                <p:tags r:id="rId2"/>
              </p:custDataLst>
            </p:nvPr>
          </p:nvSpPr>
          <p:spPr>
            <a:xfrm>
              <a:off x="2828" y="3351"/>
              <a:ext cx="3040" cy="3857"/>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a:p>
              <a:pPr algn="ctr"/>
              <a:r>
                <a:rPr lang="en-US" altLang="zh-CN"/>
                <a:t>10MB</a:t>
              </a:r>
              <a:endParaRPr lang="en-US" altLang="zh-CN"/>
            </a:p>
          </p:txBody>
        </p:sp>
        <p:sp>
          <p:nvSpPr>
            <p:cNvPr id="8" name="矩形 7"/>
            <p:cNvSpPr/>
            <p:nvPr>
              <p:custDataLst>
                <p:tags r:id="rId3"/>
              </p:custDataLst>
            </p:nvPr>
          </p:nvSpPr>
          <p:spPr>
            <a:xfrm>
              <a:off x="7389" y="7852"/>
              <a:ext cx="3040" cy="145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a:p>
              <a:pPr algn="ctr"/>
              <a:r>
                <a:rPr lang="en-US" altLang="zh-CN"/>
                <a:t>5MB</a:t>
              </a:r>
              <a:endParaRPr lang="en-US" altLang="zh-CN"/>
            </a:p>
          </p:txBody>
        </p:sp>
        <p:sp>
          <p:nvSpPr>
            <p:cNvPr id="114" name="矩形 113"/>
            <p:cNvSpPr/>
            <p:nvPr>
              <p:custDataLst>
                <p:tags r:id="rId4"/>
              </p:custDataLst>
            </p:nvPr>
          </p:nvSpPr>
          <p:spPr>
            <a:xfrm>
              <a:off x="2466" y="2591"/>
              <a:ext cx="3763" cy="4926"/>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3641725" y="2316480"/>
            <a:ext cx="2389505" cy="3128645"/>
            <a:chOff x="6948" y="2591"/>
            <a:chExt cx="3763" cy="4927"/>
          </a:xfrm>
        </p:grpSpPr>
        <p:sp>
          <p:nvSpPr>
            <p:cNvPr id="64" name="矩形 63"/>
            <p:cNvSpPr/>
            <p:nvPr>
              <p:custDataLst>
                <p:tags r:id="rId5"/>
              </p:custDataLst>
            </p:nvPr>
          </p:nvSpPr>
          <p:spPr>
            <a:xfrm>
              <a:off x="7310" y="3351"/>
              <a:ext cx="3040" cy="385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a:p>
              <a:pPr algn="ctr"/>
              <a:r>
                <a:rPr lang="en-US" altLang="zh-CN"/>
                <a:t>10MB</a:t>
              </a:r>
              <a:endParaRPr lang="en-US" altLang="zh-CN"/>
            </a:p>
          </p:txBody>
        </p:sp>
        <p:sp>
          <p:nvSpPr>
            <p:cNvPr id="66" name="矩形 65"/>
            <p:cNvSpPr/>
            <p:nvPr>
              <p:custDataLst>
                <p:tags r:id="rId6"/>
              </p:custDataLst>
            </p:nvPr>
          </p:nvSpPr>
          <p:spPr>
            <a:xfrm>
              <a:off x="6948" y="2591"/>
              <a:ext cx="3763" cy="4927"/>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2</a:t>
              </a:r>
              <a:endParaRPr lang="en-US" altLang="zh-CN">
                <a:solidFill>
                  <a:schemeClr val="tx1"/>
                </a:solidFill>
              </a:endParaRPr>
            </a:p>
          </p:txBody>
        </p:sp>
      </p:grpSp>
      <p:grpSp>
        <p:nvGrpSpPr>
          <p:cNvPr id="69" name="组合 68"/>
          <p:cNvGrpSpPr/>
          <p:nvPr/>
        </p:nvGrpSpPr>
        <p:grpSpPr>
          <a:xfrm>
            <a:off x="6537960" y="2316480"/>
            <a:ext cx="2389505" cy="3128645"/>
            <a:chOff x="6948" y="2591"/>
            <a:chExt cx="3763" cy="4927"/>
          </a:xfrm>
        </p:grpSpPr>
        <p:sp>
          <p:nvSpPr>
            <p:cNvPr id="70" name="矩形 69"/>
            <p:cNvSpPr/>
            <p:nvPr>
              <p:custDataLst>
                <p:tags r:id="rId7"/>
              </p:custDataLst>
            </p:nvPr>
          </p:nvSpPr>
          <p:spPr>
            <a:xfrm>
              <a:off x="7310" y="3351"/>
              <a:ext cx="3040" cy="3857"/>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a:p>
              <a:pPr algn="ctr"/>
              <a:r>
                <a:rPr lang="en-US" altLang="zh-CN"/>
                <a:t>10MB</a:t>
              </a:r>
              <a:endParaRPr lang="en-US" altLang="zh-CN"/>
            </a:p>
          </p:txBody>
        </p:sp>
        <p:sp>
          <p:nvSpPr>
            <p:cNvPr id="72" name="矩形 71"/>
            <p:cNvSpPr/>
            <p:nvPr>
              <p:custDataLst>
                <p:tags r:id="rId8"/>
              </p:custDataLst>
            </p:nvPr>
          </p:nvSpPr>
          <p:spPr>
            <a:xfrm>
              <a:off x="6948" y="2591"/>
              <a:ext cx="3763" cy="4927"/>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3</a:t>
              </a:r>
              <a:endParaRPr lang="en-US" altLang="zh-CN">
                <a:solidFill>
                  <a:schemeClr val="tx1"/>
                </a:solidFill>
              </a:endParaRPr>
            </a:p>
          </p:txBody>
        </p:sp>
      </p:grpSp>
    </p:spTree>
    <p:custDataLst>
      <p:tags r:id="rId9"/>
    </p:custData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3.1 动态链接库</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630045"/>
          </a:xfrm>
          <a:prstGeom prst="rect">
            <a:avLst/>
          </a:prstGeom>
          <a:noFill/>
        </p:spPr>
        <p:txBody>
          <a:bodyPr wrap="square" rtlCol="0">
            <a:spAutoFit/>
          </a:bodyPr>
          <a:p>
            <a:pPr algn="ctr"/>
            <a:r>
              <a:rPr lang="zh-CN" altLang="en-US" sz="2000" b="1">
                <a:solidFill>
                  <a:srgbClr val="9C0B15"/>
                </a:solidFill>
              </a:rPr>
              <a:t>动态链接库</a:t>
            </a:r>
            <a:endParaRPr lang="zh-CN" altLang="en-US" sz="2000"/>
          </a:p>
          <a:p>
            <a:pPr algn="ctr"/>
            <a:endParaRPr lang="zh-CN" altLang="en-US" sz="2000"/>
          </a:p>
          <a:p>
            <a:pPr algn="l"/>
            <a:r>
              <a:rPr lang="zh-CN" altLang="en-US" sz="2000" b="1">
                <a:solidFill>
                  <a:srgbClr val="9C0B15"/>
                </a:solidFill>
                <a:sym typeface="+mn-ea"/>
              </a:rPr>
              <a:t>内存的库共享</a:t>
            </a:r>
            <a:r>
              <a:rPr lang="en-US" altLang="zh-CN" sz="2000">
                <a:sym typeface="+mn-ea"/>
              </a:rPr>
              <a:t>	</a:t>
            </a:r>
            <a:r>
              <a:rPr lang="zh-CN" altLang="en-US" sz="2000">
                <a:sym typeface="+mn-ea"/>
              </a:rPr>
              <a:t>物理地址空间中</a:t>
            </a:r>
            <a:r>
              <a:rPr lang="zh-CN" altLang="en-US" sz="2000">
                <a:solidFill>
                  <a:srgbClr val="9C0B15"/>
                </a:solidFill>
                <a:sym typeface="+mn-ea"/>
              </a:rPr>
              <a:t>仅包含库文件（的代码段）的一个副本</a:t>
            </a:r>
            <a:r>
              <a:rPr lang="zh-CN" altLang="en-US" sz="2000">
                <a:sym typeface="+mn-ea"/>
              </a:rPr>
              <a:t>。这样，即</a:t>
            </a:r>
            <a:r>
              <a:rPr lang="en-US" altLang="zh-CN" sz="2000">
                <a:sym typeface="+mn-ea"/>
              </a:rPr>
              <a:t>		</a:t>
            </a:r>
            <a:r>
              <a:rPr lang="zh-CN" altLang="en-US" sz="2000">
                <a:sym typeface="+mn-ea"/>
              </a:rPr>
              <a:t>便库文件被多个虚拟地址空间中被使用，它也只会占用一份物理内</a:t>
            </a:r>
            <a:r>
              <a:rPr lang="en-US" altLang="zh-CN" sz="2000">
                <a:sym typeface="+mn-ea"/>
              </a:rPr>
              <a:t>		</a:t>
            </a:r>
            <a:r>
              <a:rPr lang="zh-CN" altLang="en-US" sz="2000">
                <a:sym typeface="+mn-ea"/>
              </a:rPr>
              <a:t>存，减少了内存用量，也减轻了缓存负担。</a:t>
            </a:r>
            <a:endParaRPr lang="zh-CN" altLang="en-US" sz="2000"/>
          </a:p>
        </p:txBody>
      </p:sp>
      <p:sp>
        <p:nvSpPr>
          <p:cNvPr id="4" name="矩形 3"/>
          <p:cNvSpPr/>
          <p:nvPr>
            <p:custDataLst>
              <p:tags r:id="rId2"/>
            </p:custDataLst>
          </p:nvPr>
        </p:nvSpPr>
        <p:spPr>
          <a:xfrm>
            <a:off x="975360" y="2992755"/>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5" name="组合 4"/>
          <p:cNvGrpSpPr/>
          <p:nvPr/>
        </p:nvGrpSpPr>
        <p:grpSpPr>
          <a:xfrm>
            <a:off x="745490" y="2242820"/>
            <a:ext cx="2389505" cy="4199309"/>
            <a:chOff x="1174" y="2243"/>
            <a:chExt cx="3763" cy="6614"/>
          </a:xfrm>
        </p:grpSpPr>
        <p:sp>
          <p:nvSpPr>
            <p:cNvPr id="6" name="矩形 5"/>
            <p:cNvSpPr/>
            <p:nvPr>
              <p:custDataLst>
                <p:tags r:id="rId3"/>
              </p:custDataLst>
            </p:nvPr>
          </p:nvSpPr>
          <p:spPr>
            <a:xfrm>
              <a:off x="1536" y="6079"/>
              <a:ext cx="3040" cy="114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7" name="矩形 6"/>
            <p:cNvSpPr/>
            <p:nvPr>
              <p:custDataLst>
                <p:tags r:id="rId4"/>
              </p:custDataLst>
            </p:nvPr>
          </p:nvSpPr>
          <p:spPr>
            <a:xfrm>
              <a:off x="1174" y="2243"/>
              <a:ext cx="3763" cy="661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运行时布局</a:t>
              </a:r>
              <a:r>
                <a:rPr lang="en-US" altLang="zh-CN">
                  <a:solidFill>
                    <a:schemeClr val="tx1"/>
                  </a:solidFill>
                </a:rPr>
                <a:t>1</a:t>
              </a:r>
              <a:endParaRPr lang="en-US" altLang="zh-CN">
                <a:solidFill>
                  <a:schemeClr val="tx1"/>
                </a:solidFill>
              </a:endParaRPr>
            </a:p>
          </p:txBody>
        </p:sp>
      </p:grpSp>
      <p:grpSp>
        <p:nvGrpSpPr>
          <p:cNvPr id="9" name="组合 8"/>
          <p:cNvGrpSpPr/>
          <p:nvPr/>
        </p:nvGrpSpPr>
        <p:grpSpPr>
          <a:xfrm>
            <a:off x="6791960" y="2242185"/>
            <a:ext cx="2389505" cy="4199890"/>
            <a:chOff x="6948" y="2591"/>
            <a:chExt cx="3763" cy="6614"/>
          </a:xfrm>
        </p:grpSpPr>
        <p:sp>
          <p:nvSpPr>
            <p:cNvPr id="15" name="矩形 14"/>
            <p:cNvSpPr/>
            <p:nvPr>
              <p:custDataLst>
                <p:tags r:id="rId5"/>
              </p:custDataLst>
            </p:nvPr>
          </p:nvSpPr>
          <p:spPr>
            <a:xfrm>
              <a:off x="7310" y="5856"/>
              <a:ext cx="3040" cy="135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65" name="矩形 64"/>
            <p:cNvSpPr/>
            <p:nvPr>
              <p:custDataLst>
                <p:tags r:id="rId6"/>
              </p:custDataLst>
            </p:nvPr>
          </p:nvSpPr>
          <p:spPr>
            <a:xfrm>
              <a:off x="7310" y="7736"/>
              <a:ext cx="3040" cy="1143"/>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17" name="矩形 16"/>
            <p:cNvSpPr/>
            <p:nvPr>
              <p:custDataLst>
                <p:tags r:id="rId7"/>
              </p:custDataLst>
            </p:nvPr>
          </p:nvSpPr>
          <p:spPr>
            <a:xfrm>
              <a:off x="6948" y="2591"/>
              <a:ext cx="3763" cy="661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运行时布局</a:t>
              </a:r>
              <a:r>
                <a:rPr lang="en-US" altLang="zh-CN">
                  <a:solidFill>
                    <a:schemeClr val="tx1"/>
                  </a:solidFill>
                </a:rPr>
                <a:t>2</a:t>
              </a:r>
              <a:endParaRPr lang="en-US" altLang="zh-CN">
                <a:solidFill>
                  <a:schemeClr val="tx1"/>
                </a:solidFill>
              </a:endParaRPr>
            </a:p>
          </p:txBody>
        </p:sp>
      </p:grpSp>
      <p:sp>
        <p:nvSpPr>
          <p:cNvPr id="75" name="矩形 74"/>
          <p:cNvSpPr/>
          <p:nvPr>
            <p:custDataLst>
              <p:tags r:id="rId8"/>
            </p:custDataLst>
          </p:nvPr>
        </p:nvSpPr>
        <p:spPr>
          <a:xfrm>
            <a:off x="3775710" y="2242185"/>
            <a:ext cx="2389505" cy="420052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25" name="矩形 24"/>
          <p:cNvSpPr/>
          <p:nvPr>
            <p:custDataLst>
              <p:tags r:id="rId9"/>
            </p:custDataLst>
          </p:nvPr>
        </p:nvSpPr>
        <p:spPr>
          <a:xfrm>
            <a:off x="4005580" y="3509010"/>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26" name="矩形 25"/>
          <p:cNvSpPr/>
          <p:nvPr>
            <p:custDataLst>
              <p:tags r:id="rId10"/>
            </p:custDataLst>
          </p:nvPr>
        </p:nvSpPr>
        <p:spPr>
          <a:xfrm>
            <a:off x="4005580" y="5045075"/>
            <a:ext cx="1930400" cy="858520"/>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28" name="矩形 27"/>
          <p:cNvSpPr/>
          <p:nvPr>
            <p:custDataLst>
              <p:tags r:id="rId11"/>
            </p:custDataLst>
          </p:nvPr>
        </p:nvSpPr>
        <p:spPr>
          <a:xfrm>
            <a:off x="4005580" y="2635250"/>
            <a:ext cx="1930400" cy="72580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cxnSp>
        <p:nvCxnSpPr>
          <p:cNvPr id="79" name="直接连接符 78"/>
          <p:cNvCxnSpPr>
            <a:endCxn id="28" idx="1"/>
          </p:cNvCxnSpPr>
          <p:nvPr>
            <p:custDataLst>
              <p:tags r:id="rId12"/>
            </p:custDataLst>
          </p:nvPr>
        </p:nvCxnSpPr>
        <p:spPr>
          <a:xfrm flipV="1">
            <a:off x="2905760" y="2998470"/>
            <a:ext cx="1099820" cy="204216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 idx="3"/>
            <a:endCxn id="25" idx="1"/>
          </p:cNvCxnSpPr>
          <p:nvPr>
            <p:custDataLst>
              <p:tags r:id="rId13"/>
            </p:custDataLst>
          </p:nvPr>
        </p:nvCxnSpPr>
        <p:spPr>
          <a:xfrm>
            <a:off x="2905760" y="3654425"/>
            <a:ext cx="1099820" cy="5162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26" idx="3"/>
          </p:cNvCxnSpPr>
          <p:nvPr>
            <p:custDataLst>
              <p:tags r:id="rId14"/>
            </p:custDataLst>
          </p:nvPr>
        </p:nvCxnSpPr>
        <p:spPr>
          <a:xfrm flipH="1">
            <a:off x="5935980" y="4744720"/>
            <a:ext cx="1085850" cy="72961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5" idx="1"/>
            <a:endCxn id="28" idx="3"/>
          </p:cNvCxnSpPr>
          <p:nvPr>
            <p:custDataLst>
              <p:tags r:id="rId15"/>
            </p:custDataLst>
          </p:nvPr>
        </p:nvCxnSpPr>
        <p:spPr>
          <a:xfrm flipH="1" flipV="1">
            <a:off x="5935980" y="2998470"/>
            <a:ext cx="1085850" cy="287401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6"/>
    </p:custData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动态链接库的组成</a:t>
            </a:r>
            <a:endParaRPr lang="zh-CN" altLang="en-US" sz="2000"/>
          </a:p>
          <a:p>
            <a:pPr algn="ctr"/>
            <a:endParaRPr lang="zh-CN" altLang="en-US" sz="2000"/>
          </a:p>
          <a:p>
            <a:pPr algn="l"/>
            <a:r>
              <a:rPr lang="zh-CN" altLang="en-US" sz="2000" b="1">
                <a:solidFill>
                  <a:srgbClr val="9C0B15"/>
                </a:solidFill>
                <a:sym typeface="+mn-ea"/>
              </a:rPr>
              <a:t>问题</a:t>
            </a:r>
            <a:r>
              <a:rPr lang="en-US" altLang="zh-CN" sz="2000">
                <a:sym typeface="+mn-ea"/>
              </a:rPr>
              <a:t>		</a:t>
            </a:r>
            <a:r>
              <a:rPr lang="zh-CN" altLang="en-US" sz="2000">
                <a:sym typeface="+mn-ea"/>
              </a:rPr>
              <a:t>现在有了静态链接库，能否</a:t>
            </a:r>
            <a:r>
              <a:rPr lang="zh-CN" altLang="en-US" sz="2000">
                <a:solidFill>
                  <a:srgbClr val="9C0B15"/>
                </a:solidFill>
                <a:sym typeface="+mn-ea"/>
              </a:rPr>
              <a:t>直接将它作为动态链接库</a:t>
            </a:r>
            <a:r>
              <a:rPr lang="zh-CN" altLang="en-US" sz="2000">
                <a:sym typeface="+mn-ea"/>
              </a:rPr>
              <a:t>用呢？</a:t>
            </a:r>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endParaRPr lang="zh-CN" altLang="en-US" sz="2000"/>
          </a:p>
          <a:p>
            <a:pPr algn="l"/>
            <a:r>
              <a:rPr lang="zh-CN" altLang="en-US" sz="2000" b="1">
                <a:solidFill>
                  <a:srgbClr val="9C0B15"/>
                </a:solidFill>
              </a:rPr>
              <a:t>解决方案</a:t>
            </a:r>
            <a:r>
              <a:rPr lang="en-US" altLang="zh-CN" sz="2000"/>
              <a:t>	</a:t>
            </a:r>
            <a:r>
              <a:rPr lang="zh-CN" altLang="en-US" sz="2000"/>
              <a:t>将</a:t>
            </a:r>
            <a:r>
              <a:rPr lang="zh-CN" altLang="en-US" sz="2000">
                <a:solidFill>
                  <a:srgbClr val="9C0B15"/>
                </a:solidFill>
              </a:rPr>
              <a:t>静态链接器</a:t>
            </a:r>
            <a:r>
              <a:rPr lang="zh-CN" altLang="en-US" sz="2000"/>
              <a:t>做成</a:t>
            </a:r>
            <a:r>
              <a:rPr lang="zh-CN" altLang="en-US" sz="2000">
                <a:solidFill>
                  <a:srgbClr val="9C0B15"/>
                </a:solidFill>
              </a:rPr>
              <a:t>静态链接库</a:t>
            </a:r>
            <a:r>
              <a:rPr lang="zh-CN" altLang="en-US" sz="2000"/>
              <a:t>然后</a:t>
            </a:r>
            <a:r>
              <a:rPr lang="zh-CN" altLang="en-US" sz="2000">
                <a:solidFill>
                  <a:srgbClr val="9C0B15"/>
                </a:solidFill>
              </a:rPr>
              <a:t>静态链接</a:t>
            </a:r>
            <a:r>
              <a:rPr lang="zh-CN" altLang="en-US" sz="2000"/>
              <a:t>到应用程序中，应用程</a:t>
            </a:r>
            <a:r>
              <a:rPr lang="en-US" altLang="zh-CN" sz="2000">
                <a:sym typeface="+mn-ea"/>
              </a:rPr>
              <a:t>		</a:t>
            </a:r>
            <a:r>
              <a:rPr lang="zh-CN" altLang="en-US" sz="2000"/>
              <a:t>序在启动时先启动</a:t>
            </a:r>
            <a:r>
              <a:rPr lang="zh-CN" altLang="en-US" sz="2000">
                <a:solidFill>
                  <a:srgbClr val="9C0B15"/>
                </a:solidFill>
              </a:rPr>
              <a:t>静态链接器</a:t>
            </a:r>
            <a:r>
              <a:rPr lang="zh-CN" altLang="en-US" sz="2000"/>
              <a:t>对自己和库进行</a:t>
            </a:r>
            <a:r>
              <a:rPr lang="zh-CN" altLang="en-US" sz="2000">
                <a:solidFill>
                  <a:srgbClr val="9C0B15"/>
                </a:solidFill>
              </a:rPr>
              <a:t>静态链接</a:t>
            </a:r>
            <a:r>
              <a:rPr lang="zh-CN" altLang="en-US" sz="2000"/>
              <a:t>后再</a:t>
            </a:r>
            <a:r>
              <a:rPr lang="zh-CN" altLang="en-US" sz="2000"/>
              <a:t>运行。</a:t>
            </a:r>
            <a:endParaRPr lang="zh-CN" altLang="en-US" sz="2000"/>
          </a:p>
        </p:txBody>
      </p:sp>
      <p:grpSp>
        <p:nvGrpSpPr>
          <p:cNvPr id="67" name="组合 66"/>
          <p:cNvGrpSpPr/>
          <p:nvPr/>
        </p:nvGrpSpPr>
        <p:grpSpPr>
          <a:xfrm>
            <a:off x="745490" y="1424305"/>
            <a:ext cx="2388870" cy="3051810"/>
            <a:chOff x="2466" y="2591"/>
            <a:chExt cx="3762" cy="7224"/>
          </a:xfrm>
        </p:grpSpPr>
        <p:sp>
          <p:nvSpPr>
            <p:cNvPr id="2" name="矩形 1"/>
            <p:cNvSpPr/>
            <p:nvPr>
              <p:custDataLst>
                <p:tags r:id="rId2"/>
              </p:custDataLst>
            </p:nvPr>
          </p:nvSpPr>
          <p:spPr>
            <a:xfrm>
              <a:off x="2828" y="3351"/>
              <a:ext cx="3040" cy="3857"/>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a:p>
              <a:pPr algn="ctr"/>
              <a:r>
                <a:rPr lang="en-US" altLang="zh-CN"/>
                <a:t>10MB</a:t>
              </a:r>
              <a:endParaRPr lang="en-US" altLang="zh-CN"/>
            </a:p>
          </p:txBody>
        </p:sp>
        <p:sp>
          <p:nvSpPr>
            <p:cNvPr id="8" name="矩形 7"/>
            <p:cNvSpPr/>
            <p:nvPr>
              <p:custDataLst>
                <p:tags r:id="rId3"/>
              </p:custDataLst>
            </p:nvPr>
          </p:nvSpPr>
          <p:spPr>
            <a:xfrm>
              <a:off x="2828" y="7658"/>
              <a:ext cx="3040" cy="180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静态链接器</a:t>
              </a:r>
              <a:endParaRPr lang="en-US" altLang="zh-CN"/>
            </a:p>
            <a:p>
              <a:pPr algn="ctr"/>
              <a:r>
                <a:rPr lang="en-US" altLang="zh-CN"/>
                <a:t>1MB</a:t>
              </a:r>
              <a:endParaRPr lang="en-US" altLang="zh-CN"/>
            </a:p>
          </p:txBody>
        </p:sp>
        <p:sp>
          <p:nvSpPr>
            <p:cNvPr id="114" name="矩形 113"/>
            <p:cNvSpPr/>
            <p:nvPr>
              <p:custDataLst>
                <p:tags r:id="rId4"/>
              </p:custDataLst>
            </p:nvPr>
          </p:nvSpPr>
          <p:spPr>
            <a:xfrm>
              <a:off x="2466"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3641725" y="1424305"/>
            <a:ext cx="2388870" cy="3051810"/>
            <a:chOff x="6948" y="2591"/>
            <a:chExt cx="3762" cy="7224"/>
          </a:xfrm>
        </p:grpSpPr>
        <p:sp>
          <p:nvSpPr>
            <p:cNvPr id="64" name="矩形 63"/>
            <p:cNvSpPr/>
            <p:nvPr>
              <p:custDataLst>
                <p:tags r:id="rId5"/>
              </p:custDataLst>
            </p:nvPr>
          </p:nvSpPr>
          <p:spPr>
            <a:xfrm>
              <a:off x="7310" y="3351"/>
              <a:ext cx="3040" cy="385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a:p>
              <a:pPr algn="ctr"/>
              <a:r>
                <a:rPr lang="en-US" altLang="zh-CN"/>
                <a:t>10MB</a:t>
              </a:r>
              <a:endParaRPr lang="en-US" altLang="zh-CN"/>
            </a:p>
          </p:txBody>
        </p:sp>
        <p:sp>
          <p:nvSpPr>
            <p:cNvPr id="65" name="矩形 64"/>
            <p:cNvSpPr/>
            <p:nvPr>
              <p:custDataLst>
                <p:tags r:id="rId6"/>
              </p:custDataLst>
            </p:nvPr>
          </p:nvSpPr>
          <p:spPr>
            <a:xfrm>
              <a:off x="7310" y="7658"/>
              <a:ext cx="3040" cy="180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ym typeface="+mn-ea"/>
                </a:rPr>
                <a:t>静态链接器</a:t>
              </a:r>
              <a:endParaRPr lang="en-US" altLang="zh-CN"/>
            </a:p>
            <a:p>
              <a:pPr algn="ctr"/>
              <a:r>
                <a:rPr lang="en-US" altLang="zh-CN"/>
                <a:t>1MB</a:t>
              </a:r>
              <a:endParaRPr lang="en-US" altLang="zh-CN"/>
            </a:p>
          </p:txBody>
        </p:sp>
        <p:sp>
          <p:nvSpPr>
            <p:cNvPr id="66" name="矩形 65"/>
            <p:cNvSpPr/>
            <p:nvPr>
              <p:custDataLst>
                <p:tags r:id="rId7"/>
              </p:custDataLst>
            </p:nvPr>
          </p:nvSpPr>
          <p:spPr>
            <a:xfrm>
              <a:off x="6948"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2</a:t>
              </a:r>
              <a:endParaRPr lang="en-US" altLang="zh-CN">
                <a:solidFill>
                  <a:schemeClr val="tx1"/>
                </a:solidFill>
              </a:endParaRPr>
            </a:p>
          </p:txBody>
        </p:sp>
      </p:grpSp>
      <p:grpSp>
        <p:nvGrpSpPr>
          <p:cNvPr id="69" name="组合 68"/>
          <p:cNvGrpSpPr/>
          <p:nvPr/>
        </p:nvGrpSpPr>
        <p:grpSpPr>
          <a:xfrm>
            <a:off x="6537960" y="1424305"/>
            <a:ext cx="2388870" cy="3051175"/>
            <a:chOff x="6948" y="2591"/>
            <a:chExt cx="3762" cy="7224"/>
          </a:xfrm>
        </p:grpSpPr>
        <p:sp>
          <p:nvSpPr>
            <p:cNvPr id="70" name="矩形 69"/>
            <p:cNvSpPr/>
            <p:nvPr>
              <p:custDataLst>
                <p:tags r:id="rId8"/>
              </p:custDataLst>
            </p:nvPr>
          </p:nvSpPr>
          <p:spPr>
            <a:xfrm>
              <a:off x="7310" y="3351"/>
              <a:ext cx="3040" cy="3857"/>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a:p>
              <a:pPr algn="ctr"/>
              <a:r>
                <a:rPr lang="en-US" altLang="zh-CN"/>
                <a:t>10MB</a:t>
              </a:r>
              <a:endParaRPr lang="en-US" altLang="zh-CN"/>
            </a:p>
          </p:txBody>
        </p:sp>
        <p:sp>
          <p:nvSpPr>
            <p:cNvPr id="71" name="矩形 70"/>
            <p:cNvSpPr/>
            <p:nvPr>
              <p:custDataLst>
                <p:tags r:id="rId9"/>
              </p:custDataLst>
            </p:nvPr>
          </p:nvSpPr>
          <p:spPr>
            <a:xfrm>
              <a:off x="7310" y="7658"/>
              <a:ext cx="3040" cy="1802"/>
            </a:xfrm>
            <a:prstGeom prst="rect">
              <a:avLst/>
            </a:prstGeom>
            <a:solidFill>
              <a:schemeClr val="accent6"/>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ym typeface="+mn-ea"/>
                </a:rPr>
                <a:t>静态链接器</a:t>
              </a:r>
              <a:endParaRPr lang="en-US" altLang="zh-CN"/>
            </a:p>
            <a:p>
              <a:pPr algn="ctr"/>
              <a:r>
                <a:rPr lang="en-US" altLang="zh-CN"/>
                <a:t>1MB</a:t>
              </a:r>
              <a:endParaRPr lang="en-US" altLang="zh-CN"/>
            </a:p>
          </p:txBody>
        </p:sp>
        <p:sp>
          <p:nvSpPr>
            <p:cNvPr id="72" name="矩形 71"/>
            <p:cNvSpPr/>
            <p:nvPr>
              <p:custDataLst>
                <p:tags r:id="rId10"/>
              </p:custDataLst>
            </p:nvPr>
          </p:nvSpPr>
          <p:spPr>
            <a:xfrm>
              <a:off x="6948" y="2591"/>
              <a:ext cx="3763" cy="722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可执行文件</a:t>
              </a:r>
              <a:r>
                <a:rPr lang="en-US" altLang="zh-CN">
                  <a:solidFill>
                    <a:schemeClr val="tx1"/>
                  </a:solidFill>
                </a:rPr>
                <a:t>3</a:t>
              </a:r>
              <a:endParaRPr lang="en-US" altLang="zh-CN">
                <a:solidFill>
                  <a:schemeClr val="tx1"/>
                </a:solidFill>
              </a:endParaRPr>
            </a:p>
          </p:txBody>
        </p:sp>
      </p:grpSp>
      <p:sp>
        <p:nvSpPr>
          <p:cNvPr id="4" name="矩形 3"/>
          <p:cNvSpPr/>
          <p:nvPr/>
        </p:nvSpPr>
        <p:spPr>
          <a:xfrm>
            <a:off x="3871595" y="4706620"/>
            <a:ext cx="1930400" cy="92392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a:p>
            <a:pPr algn="ctr"/>
            <a:r>
              <a:rPr lang="en-US" altLang="zh-CN"/>
              <a:t>5MB</a:t>
            </a:r>
            <a:endParaRPr lang="en-US" altLang="zh-CN"/>
          </a:p>
        </p:txBody>
      </p:sp>
    </p:spTree>
    <p:custDataLst>
      <p:tags r:id="rId1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up)">
                                      <p:cBhvr>
                                        <p:cTn id="7" dur="500"/>
                                        <p:tgtEl>
                                          <p:spTgt spid="67"/>
                                        </p:tgtEl>
                                      </p:cBhvr>
                                    </p:animEffect>
                                  </p:childTnLst>
                                </p:cTn>
                              </p:par>
                              <p:par>
                                <p:cTn id="8" presetID="22" presetClass="entr" presetSubtype="1"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wipe(up)">
                                      <p:cBhvr>
                                        <p:cTn id="10" dur="500"/>
                                        <p:tgtEl>
                                          <p:spTgt spid="68"/>
                                        </p:tgtEl>
                                      </p:cBhvr>
                                    </p:animEffect>
                                  </p:childTnLst>
                                </p:cTn>
                              </p:par>
                              <p:par>
                                <p:cTn id="11" presetID="22" presetClass="entr" presetSubtype="1"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ipe(up)">
                                      <p:cBhvr>
                                        <p:cTn id="13" dur="500"/>
                                        <p:tgtEl>
                                          <p:spTgt spid="69"/>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3">
                                            <p:txEl>
                                              <p:pRg st="19" end="19"/>
                                            </p:txEl>
                                          </p:spTgt>
                                        </p:tgtEl>
                                        <p:attrNameLst>
                                          <p:attrName>style.visibility</p:attrName>
                                        </p:attrNameLst>
                                      </p:cBhvr>
                                      <p:to>
                                        <p:strVal val="visible"/>
                                      </p:to>
                                    </p:set>
                                    <p:animEffect transition="in" filter="wipe(up)">
                                      <p:cBhvr>
                                        <p:cTn id="21" dur="500"/>
                                        <p:tgtEl>
                                          <p:spTgt spid="1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动态链接库的组成</a:t>
            </a:r>
            <a:endParaRPr lang="zh-CN" altLang="en-US" sz="2000"/>
          </a:p>
          <a:p>
            <a:pPr algn="ctr"/>
            <a:endParaRPr lang="zh-CN" altLang="en-US" sz="2000"/>
          </a:p>
          <a:p>
            <a:pPr algn="l"/>
            <a:r>
              <a:rPr lang="zh-CN" altLang="en-US" sz="2000" b="1">
                <a:solidFill>
                  <a:srgbClr val="9C0B15"/>
                </a:solidFill>
              </a:rPr>
              <a:t>解决方案</a:t>
            </a:r>
            <a:r>
              <a:rPr lang="en-US" altLang="zh-CN" sz="2000"/>
              <a:t>	</a:t>
            </a:r>
            <a:r>
              <a:rPr lang="zh-CN" altLang="en-US" sz="2000"/>
              <a:t>将</a:t>
            </a:r>
            <a:r>
              <a:rPr lang="zh-CN" altLang="en-US" sz="2000">
                <a:solidFill>
                  <a:srgbClr val="9C0B15"/>
                </a:solidFill>
              </a:rPr>
              <a:t>静态链接器</a:t>
            </a:r>
            <a:r>
              <a:rPr lang="zh-CN" altLang="en-US" sz="2000"/>
              <a:t>做成</a:t>
            </a:r>
            <a:r>
              <a:rPr lang="zh-CN" altLang="en-US" sz="2000">
                <a:solidFill>
                  <a:srgbClr val="9C0B15"/>
                </a:solidFill>
              </a:rPr>
              <a:t>静态链接库</a:t>
            </a:r>
            <a:r>
              <a:rPr lang="zh-CN" altLang="en-US" sz="2000"/>
              <a:t>然后</a:t>
            </a:r>
            <a:r>
              <a:rPr lang="zh-CN" altLang="en-US" sz="2000">
                <a:solidFill>
                  <a:srgbClr val="9C0B15"/>
                </a:solidFill>
              </a:rPr>
              <a:t>静态链接</a:t>
            </a:r>
            <a:r>
              <a:rPr lang="zh-CN" altLang="en-US" sz="2000"/>
              <a:t>到应用程序中，应用程</a:t>
            </a:r>
            <a:r>
              <a:rPr lang="en-US" altLang="zh-CN" sz="2000">
                <a:sym typeface="+mn-ea"/>
              </a:rPr>
              <a:t>		</a:t>
            </a:r>
            <a:r>
              <a:rPr lang="zh-CN" altLang="en-US" sz="2000"/>
              <a:t>序在启动时先启动</a:t>
            </a:r>
            <a:r>
              <a:rPr lang="zh-CN" altLang="en-US" sz="2000">
                <a:solidFill>
                  <a:srgbClr val="9C0B15"/>
                </a:solidFill>
              </a:rPr>
              <a:t>静态链接器</a:t>
            </a:r>
            <a:r>
              <a:rPr lang="zh-CN" altLang="en-US" sz="2000"/>
              <a:t>对自己和库进行</a:t>
            </a:r>
            <a:r>
              <a:rPr lang="zh-CN" altLang="en-US" sz="2000">
                <a:solidFill>
                  <a:srgbClr val="9C0B15"/>
                </a:solidFill>
              </a:rPr>
              <a:t>静态链接</a:t>
            </a:r>
            <a:r>
              <a:rPr lang="zh-CN" altLang="en-US" sz="2000"/>
              <a:t>后再</a:t>
            </a:r>
            <a:r>
              <a:rPr lang="zh-CN" altLang="en-US" sz="2000"/>
              <a:t>运行。</a:t>
            </a:r>
            <a:endParaRPr lang="zh-CN" altLang="en-US" sz="2000"/>
          </a:p>
          <a:p>
            <a:pPr algn="l"/>
            <a:endParaRPr lang="zh-CN" altLang="en-US" sz="2000"/>
          </a:p>
          <a:p>
            <a:pPr algn="l"/>
            <a:r>
              <a:rPr lang="zh-CN" altLang="en-US" sz="2000" b="1">
                <a:solidFill>
                  <a:srgbClr val="9C0B15"/>
                </a:solidFill>
              </a:rPr>
              <a:t>问题</a:t>
            </a:r>
            <a:r>
              <a:rPr lang="en-US" altLang="zh-CN" sz="2000"/>
              <a:t>		</a:t>
            </a:r>
            <a:r>
              <a:rPr lang="zh-CN" altLang="en-US" sz="2000"/>
              <a:t>这种简单粗暴的解决方案有什么</a:t>
            </a:r>
            <a:r>
              <a:rPr lang="zh-CN" altLang="en-US" sz="2000"/>
              <a:t>优缺点？</a:t>
            </a:r>
            <a:endParaRPr lang="zh-CN" altLang="en-US" sz="2000"/>
          </a:p>
          <a:p>
            <a:pPr algn="l"/>
            <a:endParaRPr lang="zh-CN" altLang="en-US" sz="2000"/>
          </a:p>
          <a:p>
            <a:pPr algn="l"/>
            <a:r>
              <a:rPr lang="zh-CN" altLang="en-US" sz="2000" b="1">
                <a:solidFill>
                  <a:srgbClr val="9C0B15"/>
                </a:solidFill>
              </a:rPr>
              <a:t>优点</a:t>
            </a:r>
            <a:r>
              <a:rPr lang="en-US" altLang="zh-CN" sz="2000"/>
              <a:t>		</a:t>
            </a:r>
            <a:r>
              <a:rPr lang="zh-CN" altLang="en-US" sz="2000"/>
              <a:t>（</a:t>
            </a:r>
            <a:r>
              <a:rPr lang="en-US" altLang="zh-CN" sz="2000"/>
              <a:t>1</a:t>
            </a:r>
            <a:r>
              <a:rPr lang="zh-CN" altLang="en-US" sz="2000"/>
              <a:t>）静态链接的工具链和库可以</a:t>
            </a:r>
            <a:r>
              <a:rPr lang="zh-CN" altLang="en-US" sz="2000">
                <a:solidFill>
                  <a:srgbClr val="9C0B15"/>
                </a:solidFill>
              </a:rPr>
              <a:t>直接用</a:t>
            </a:r>
            <a:r>
              <a:rPr lang="zh-CN" altLang="en-US" sz="2000"/>
              <a:t>。</a:t>
            </a:r>
            <a:endParaRPr lang="zh-CN" altLang="en-US" sz="2000"/>
          </a:p>
          <a:p>
            <a:pPr algn="l"/>
            <a:r>
              <a:rPr lang="en-US" altLang="zh-CN" sz="2000">
                <a:sym typeface="+mn-ea"/>
              </a:rPr>
              <a:t>		</a:t>
            </a:r>
            <a:r>
              <a:rPr lang="zh-CN" altLang="en-US" sz="2000">
                <a:sym typeface="+mn-ea"/>
              </a:rPr>
              <a:t>（</a:t>
            </a:r>
            <a:r>
              <a:rPr lang="en-US" altLang="zh-CN" sz="2000">
                <a:sym typeface="+mn-ea"/>
              </a:rPr>
              <a:t>2</a:t>
            </a:r>
            <a:r>
              <a:rPr lang="zh-CN" altLang="en-US" sz="2000">
                <a:sym typeface="+mn-ea"/>
              </a:rPr>
              <a:t>）</a:t>
            </a:r>
            <a:r>
              <a:rPr lang="zh-CN" altLang="en-US" sz="2000"/>
              <a:t>无需操作系统的</a:t>
            </a:r>
            <a:r>
              <a:rPr lang="zh-CN" altLang="en-US" sz="2000"/>
              <a:t>加载器支持</a:t>
            </a:r>
            <a:r>
              <a:rPr lang="zh-CN" altLang="en-US" sz="2000"/>
              <a:t>动态链接。</a:t>
            </a:r>
            <a:endParaRPr lang="zh-CN" altLang="en-US" sz="2000"/>
          </a:p>
          <a:p>
            <a:pPr algn="l"/>
            <a:r>
              <a:rPr lang="en-US" altLang="zh-CN" sz="2000">
                <a:sym typeface="+mn-ea"/>
              </a:rPr>
              <a:t>		</a:t>
            </a:r>
            <a:r>
              <a:rPr lang="zh-CN" altLang="en-US" sz="2000">
                <a:sym typeface="+mn-ea"/>
              </a:rPr>
              <a:t>（</a:t>
            </a:r>
            <a:r>
              <a:rPr lang="en-US" altLang="zh-CN" sz="2000">
                <a:sym typeface="+mn-ea"/>
              </a:rPr>
              <a:t>3</a:t>
            </a:r>
            <a:r>
              <a:rPr lang="zh-CN" altLang="en-US" sz="2000">
                <a:sym typeface="+mn-ea"/>
              </a:rPr>
              <a:t>）</a:t>
            </a:r>
            <a:r>
              <a:rPr lang="zh-CN" altLang="en-US" sz="2000"/>
              <a:t>采用直接回填法时</a:t>
            </a:r>
            <a:r>
              <a:rPr lang="zh-CN" altLang="en-US" sz="2000">
                <a:solidFill>
                  <a:srgbClr val="9C0B15"/>
                </a:solidFill>
              </a:rPr>
              <a:t>不产生任何性能损失</a:t>
            </a:r>
            <a:r>
              <a:rPr lang="zh-CN" altLang="en-US" sz="2000"/>
              <a:t>。</a:t>
            </a:r>
            <a:endParaRPr lang="zh-CN" altLang="en-US" sz="2000"/>
          </a:p>
          <a:p>
            <a:pPr algn="l"/>
            <a:r>
              <a:rPr lang="en-US" altLang="zh-CN" sz="2000">
                <a:sym typeface="+mn-ea"/>
              </a:rPr>
              <a:t>		</a:t>
            </a:r>
            <a:r>
              <a:rPr lang="zh-CN" altLang="en-US" sz="2000">
                <a:sym typeface="+mn-ea"/>
              </a:rPr>
              <a:t>（</a:t>
            </a:r>
            <a:r>
              <a:rPr lang="en-US" altLang="zh-CN" sz="2000">
                <a:sym typeface="+mn-ea"/>
              </a:rPr>
              <a:t>4</a:t>
            </a:r>
            <a:r>
              <a:rPr lang="zh-CN" altLang="en-US" sz="2000">
                <a:sym typeface="+mn-ea"/>
              </a:rPr>
              <a:t>）</a:t>
            </a:r>
            <a:r>
              <a:rPr lang="zh-CN" altLang="en-US" sz="2000"/>
              <a:t>用不到的符号可以</a:t>
            </a:r>
            <a:r>
              <a:rPr lang="zh-CN" altLang="en-US" sz="2000">
                <a:solidFill>
                  <a:srgbClr val="9C0B15"/>
                </a:solidFill>
              </a:rPr>
              <a:t>不链接到运行时视图</a:t>
            </a:r>
            <a:r>
              <a:rPr lang="zh-CN" altLang="en-US" sz="2000"/>
              <a:t>。</a:t>
            </a:r>
            <a:endParaRPr lang="zh-CN" altLang="en-US" sz="2000"/>
          </a:p>
          <a:p>
            <a:pPr algn="l"/>
            <a:endParaRPr lang="zh-CN" altLang="en-US" sz="2000"/>
          </a:p>
          <a:p>
            <a:pPr algn="l"/>
            <a:r>
              <a:rPr lang="zh-CN" altLang="en-US" sz="2000" b="1">
                <a:solidFill>
                  <a:srgbClr val="9C0B15"/>
                </a:solidFill>
              </a:rPr>
              <a:t>缺点</a:t>
            </a:r>
            <a:r>
              <a:rPr lang="en-US" altLang="zh-CN" sz="2000"/>
              <a:t>		</a:t>
            </a:r>
            <a:r>
              <a:rPr lang="zh-CN" altLang="en-US" sz="2000"/>
              <a:t>（</a:t>
            </a:r>
            <a:r>
              <a:rPr lang="en-US" altLang="zh-CN" sz="2000"/>
              <a:t>1</a:t>
            </a:r>
            <a:r>
              <a:rPr lang="zh-CN" altLang="en-US" sz="2000"/>
              <a:t>）需要</a:t>
            </a:r>
            <a:r>
              <a:rPr lang="zh-CN" altLang="en-US" sz="2000">
                <a:solidFill>
                  <a:srgbClr val="9C0B15"/>
                </a:solidFill>
              </a:rPr>
              <a:t>修改自己的各个段</a:t>
            </a:r>
            <a:r>
              <a:rPr lang="zh-CN" altLang="en-US" sz="2000"/>
              <a:t>以添加静态库中的</a:t>
            </a:r>
            <a:r>
              <a:rPr lang="zh-CN" altLang="en-US" sz="2000"/>
              <a:t>符号。</a:t>
            </a:r>
            <a:endParaRPr lang="zh-CN" altLang="en-US" sz="2000"/>
          </a:p>
          <a:p>
            <a:pPr algn="l"/>
            <a:r>
              <a:rPr lang="en-US" altLang="zh-CN" sz="2000">
                <a:sym typeface="+mn-ea"/>
              </a:rPr>
              <a:t>		</a:t>
            </a:r>
            <a:r>
              <a:rPr lang="zh-CN" altLang="en-US" sz="2000">
                <a:sym typeface="+mn-ea"/>
              </a:rPr>
              <a:t>（</a:t>
            </a:r>
            <a:r>
              <a:rPr lang="en-US" altLang="zh-CN" sz="2000">
                <a:sym typeface="+mn-ea"/>
              </a:rPr>
              <a:t>2</a:t>
            </a:r>
            <a:r>
              <a:rPr lang="zh-CN" altLang="en-US" sz="2000">
                <a:sym typeface="+mn-ea"/>
              </a:rPr>
              <a:t>）</a:t>
            </a:r>
            <a:r>
              <a:rPr lang="zh-CN" altLang="en-US" sz="2000"/>
              <a:t>如果采取直接回填法，还需要</a:t>
            </a:r>
            <a:r>
              <a:rPr lang="zh-CN" altLang="en-US" sz="2000">
                <a:solidFill>
                  <a:srgbClr val="9C0B15"/>
                </a:solidFill>
              </a:rPr>
              <a:t>填充自己.text段里面的引用</a:t>
            </a:r>
            <a:r>
              <a:rPr lang="zh-CN" altLang="en-US" sz="2000"/>
              <a:t>，速</a:t>
            </a:r>
            <a:r>
              <a:rPr lang="en-US" altLang="zh-CN" sz="2000">
                <a:sym typeface="+mn-ea"/>
              </a:rPr>
              <a:t>		</a:t>
            </a:r>
            <a:r>
              <a:rPr lang="zh-CN" altLang="en-US" sz="2000"/>
              <a:t>度很慢，</a:t>
            </a:r>
            <a:r>
              <a:rPr lang="zh-CN" altLang="en-US" sz="2000">
                <a:sym typeface="+mn-ea"/>
              </a:rPr>
              <a:t>程序启动需要很长时间</a:t>
            </a:r>
            <a:r>
              <a:rPr lang="zh-CN" altLang="en-US" sz="2000"/>
              <a:t>。</a:t>
            </a:r>
            <a:endParaRPr lang="zh-CN" altLang="en-US" sz="2000"/>
          </a:p>
          <a:p>
            <a:pPr algn="l"/>
            <a:r>
              <a:rPr lang="en-US" altLang="zh-CN" sz="2000">
                <a:sym typeface="+mn-ea"/>
              </a:rPr>
              <a:t>		</a:t>
            </a:r>
            <a:r>
              <a:rPr lang="zh-CN" altLang="en-US" sz="2000">
                <a:sym typeface="+mn-ea"/>
              </a:rPr>
              <a:t>（</a:t>
            </a:r>
            <a:r>
              <a:rPr lang="en-US" altLang="zh-CN" sz="2000">
                <a:sym typeface="+mn-ea"/>
              </a:rPr>
              <a:t>3</a:t>
            </a:r>
            <a:r>
              <a:rPr lang="zh-CN" altLang="en-US" sz="2000">
                <a:sym typeface="+mn-ea"/>
              </a:rPr>
              <a:t>）</a:t>
            </a:r>
            <a:r>
              <a:rPr lang="zh-CN" altLang="en-US" sz="2000">
                <a:sym typeface="+mn-ea"/>
              </a:rPr>
              <a:t>不管这些库文件在执行中是否真的用到了，程序运行前必须</a:t>
            </a:r>
            <a:r>
              <a:rPr lang="en-US" altLang="zh-CN" sz="2000">
                <a:sym typeface="+mn-ea"/>
              </a:rPr>
              <a:t>			</a:t>
            </a:r>
            <a:r>
              <a:rPr lang="zh-CN" altLang="en-US" sz="2000">
                <a:sym typeface="+mn-ea"/>
              </a:rPr>
              <a:t>一次性链接程序声明引用的库，加剧了（</a:t>
            </a:r>
            <a:r>
              <a:rPr lang="en-US" altLang="zh-CN" sz="2000">
                <a:sym typeface="+mn-ea"/>
              </a:rPr>
              <a:t>2</a:t>
            </a:r>
            <a:r>
              <a:rPr lang="zh-CN" altLang="en-US" sz="2000">
                <a:sym typeface="+mn-ea"/>
              </a:rPr>
              <a:t>）</a:t>
            </a:r>
            <a:r>
              <a:rPr lang="zh-CN" altLang="en-US" sz="2000">
                <a:sym typeface="+mn-ea"/>
              </a:rPr>
              <a:t>。</a:t>
            </a:r>
            <a:endParaRPr lang="zh-CN" altLang="en-US" sz="2000"/>
          </a:p>
          <a:p>
            <a:pPr algn="l"/>
            <a:r>
              <a:rPr lang="en-US" altLang="zh-CN" sz="2000">
                <a:sym typeface="+mn-ea"/>
              </a:rPr>
              <a:t>		</a:t>
            </a:r>
            <a:r>
              <a:rPr lang="zh-CN" altLang="en-US" sz="2000">
                <a:sym typeface="+mn-ea"/>
              </a:rPr>
              <a:t>（</a:t>
            </a:r>
            <a:r>
              <a:rPr lang="en-US" altLang="zh-CN" sz="2000">
                <a:sym typeface="+mn-ea"/>
              </a:rPr>
              <a:t>4</a:t>
            </a:r>
            <a:r>
              <a:rPr lang="zh-CN" altLang="en-US" sz="2000">
                <a:sym typeface="+mn-ea"/>
              </a:rPr>
              <a:t>）</a:t>
            </a:r>
            <a:r>
              <a:rPr lang="zh-CN" altLang="en-US" sz="2000"/>
              <a:t>可执行文件中必须</a:t>
            </a:r>
            <a:r>
              <a:rPr lang="zh-CN" altLang="en-US" sz="2000">
                <a:solidFill>
                  <a:srgbClr val="9C0B15"/>
                </a:solidFill>
              </a:rPr>
              <a:t>保留自己的全部链接信息</a:t>
            </a:r>
            <a:r>
              <a:rPr lang="zh-CN" altLang="en-US" sz="2000"/>
              <a:t>。有可能被友商</a:t>
            </a:r>
            <a:r>
              <a:rPr lang="en-US" altLang="zh-CN" sz="2000">
                <a:sym typeface="+mn-ea"/>
              </a:rPr>
              <a:t>			</a:t>
            </a:r>
            <a:r>
              <a:rPr lang="zh-CN" altLang="en-US" sz="2000">
                <a:sym typeface="+mn-ea"/>
              </a:rPr>
              <a:t>或</a:t>
            </a:r>
            <a:r>
              <a:rPr lang="zh-CN" altLang="en-US" sz="2000"/>
              <a:t>者黑客拿去</a:t>
            </a:r>
            <a:r>
              <a:rPr lang="zh-CN" altLang="en-US" sz="2000"/>
              <a:t>反向工程。</a:t>
            </a:r>
            <a:endParaRPr lang="zh-CN" altLang="en-US" sz="2000"/>
          </a:p>
          <a:p>
            <a:pPr algn="l"/>
            <a:endParaRPr lang="zh-CN" altLang="en-US" sz="2000"/>
          </a:p>
          <a:p>
            <a:pPr algn="l"/>
            <a:r>
              <a:rPr lang="en-US" altLang="zh-CN" sz="2000">
                <a:sym typeface="+mn-ea"/>
              </a:rPr>
              <a:t>		</a:t>
            </a:r>
            <a:r>
              <a:rPr lang="zh-CN" altLang="en-US" sz="2000">
                <a:sym typeface="+mn-ea"/>
              </a:rPr>
              <a:t>（</a:t>
            </a:r>
            <a:r>
              <a:rPr lang="en-US" altLang="zh-CN" sz="2000">
                <a:sym typeface="+mn-ea"/>
              </a:rPr>
              <a:t>5</a:t>
            </a:r>
            <a:r>
              <a:rPr lang="zh-CN" altLang="en-US" sz="2000">
                <a:sym typeface="+mn-ea"/>
              </a:rPr>
              <a:t>）外存库可以共享，但</a:t>
            </a:r>
            <a:r>
              <a:rPr lang="zh-CN" altLang="en-US" sz="2000">
                <a:solidFill>
                  <a:srgbClr val="9C0B15"/>
                </a:solidFill>
                <a:sym typeface="+mn-ea"/>
              </a:rPr>
              <a:t>加载到内存之后还是会产生多个副本</a:t>
            </a:r>
            <a:r>
              <a:rPr lang="zh-CN" altLang="en-US" sz="2000">
                <a:sym typeface="+mn-ea"/>
              </a:rPr>
              <a:t>。</a:t>
            </a:r>
            <a:endParaRPr lang="zh-CN" altLang="en-US" sz="2000">
              <a:sym typeface="+mn-ea"/>
            </a:endParaRPr>
          </a:p>
        </p:txBody>
      </p:sp>
    </p:spTree>
    <p:custDataLst>
      <p:tags r:id="rId2"/>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xEl>
                                              <p:pRg st="6" end="6"/>
                                            </p:txEl>
                                          </p:spTgt>
                                        </p:tgtEl>
                                        <p:attrNameLst>
                                          <p:attrName>style.visibility</p:attrName>
                                        </p:attrNameLst>
                                      </p:cBhvr>
                                      <p:to>
                                        <p:strVal val="visible"/>
                                      </p:to>
                                    </p:set>
                                    <p:animEffect transition="in" filter="wipe(up)">
                                      <p:cBhvr>
                                        <p:cTn id="7" dur="500"/>
                                        <p:tgtEl>
                                          <p:spTgt spid="13">
                                            <p:txEl>
                                              <p:pRg st="6" end="6"/>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3">
                                            <p:txEl>
                                              <p:pRg st="7" end="7"/>
                                            </p:txEl>
                                          </p:spTgt>
                                        </p:tgtEl>
                                        <p:attrNameLst>
                                          <p:attrName>style.visibility</p:attrName>
                                        </p:attrNameLst>
                                      </p:cBhvr>
                                      <p:to>
                                        <p:strVal val="visible"/>
                                      </p:to>
                                    </p:set>
                                    <p:animEffect transition="in" filter="wipe(up)">
                                      <p:cBhvr>
                                        <p:cTn id="10" dur="500"/>
                                        <p:tgtEl>
                                          <p:spTgt spid="13">
                                            <p:txEl>
                                              <p:pRg st="7" end="7"/>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xEl>
                                              <p:pRg st="8" end="8"/>
                                            </p:txEl>
                                          </p:spTgt>
                                        </p:tgtEl>
                                        <p:attrNameLst>
                                          <p:attrName>style.visibility</p:attrName>
                                        </p:attrNameLst>
                                      </p:cBhvr>
                                      <p:to>
                                        <p:strVal val="visible"/>
                                      </p:to>
                                    </p:set>
                                    <p:animEffect transition="in" filter="wipe(up)">
                                      <p:cBhvr>
                                        <p:cTn id="13" dur="500"/>
                                        <p:tgtEl>
                                          <p:spTgt spid="13">
                                            <p:txEl>
                                              <p:pRg st="8" end="8"/>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13">
                                            <p:txEl>
                                              <p:pRg st="9" end="9"/>
                                            </p:txEl>
                                          </p:spTgt>
                                        </p:tgtEl>
                                        <p:attrNameLst>
                                          <p:attrName>style.visibility</p:attrName>
                                        </p:attrNameLst>
                                      </p:cBhvr>
                                      <p:to>
                                        <p:strVal val="visible"/>
                                      </p:to>
                                    </p:set>
                                    <p:animEffect transition="in" filter="wipe(up)">
                                      <p:cBhvr>
                                        <p:cTn id="16" dur="500"/>
                                        <p:tgtEl>
                                          <p:spTgt spid="13">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3">
                                            <p:txEl>
                                              <p:pRg st="11" end="11"/>
                                            </p:txEl>
                                          </p:spTgt>
                                        </p:tgtEl>
                                        <p:attrNameLst>
                                          <p:attrName>style.visibility</p:attrName>
                                        </p:attrNameLst>
                                      </p:cBhvr>
                                      <p:to>
                                        <p:strVal val="visible"/>
                                      </p:to>
                                    </p:set>
                                    <p:animEffect transition="in" filter="wipe(up)">
                                      <p:cBhvr>
                                        <p:cTn id="21" dur="500"/>
                                        <p:tgtEl>
                                          <p:spTgt spid="13">
                                            <p:txEl>
                                              <p:pRg st="11" end="11"/>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13">
                                            <p:txEl>
                                              <p:pRg st="12" end="12"/>
                                            </p:txEl>
                                          </p:spTgt>
                                        </p:tgtEl>
                                        <p:attrNameLst>
                                          <p:attrName>style.visibility</p:attrName>
                                        </p:attrNameLst>
                                      </p:cBhvr>
                                      <p:to>
                                        <p:strVal val="visible"/>
                                      </p:to>
                                    </p:set>
                                    <p:animEffect transition="in" filter="wipe(up)">
                                      <p:cBhvr>
                                        <p:cTn id="24" dur="500"/>
                                        <p:tgtEl>
                                          <p:spTgt spid="13">
                                            <p:txEl>
                                              <p:pRg st="12" end="12"/>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13">
                                            <p:txEl>
                                              <p:pRg st="13" end="13"/>
                                            </p:txEl>
                                          </p:spTgt>
                                        </p:tgtEl>
                                        <p:attrNameLst>
                                          <p:attrName>style.visibility</p:attrName>
                                        </p:attrNameLst>
                                      </p:cBhvr>
                                      <p:to>
                                        <p:strVal val="visible"/>
                                      </p:to>
                                    </p:set>
                                    <p:animEffect transition="in" filter="wipe(up)">
                                      <p:cBhvr>
                                        <p:cTn id="27" dur="500"/>
                                        <p:tgtEl>
                                          <p:spTgt spid="13">
                                            <p:txEl>
                                              <p:pRg st="13" end="13"/>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13">
                                            <p:txEl>
                                              <p:pRg st="14" end="14"/>
                                            </p:txEl>
                                          </p:spTgt>
                                        </p:tgtEl>
                                        <p:attrNameLst>
                                          <p:attrName>style.visibility</p:attrName>
                                        </p:attrNameLst>
                                      </p:cBhvr>
                                      <p:to>
                                        <p:strVal val="visible"/>
                                      </p:to>
                                    </p:set>
                                    <p:animEffect transition="in" filter="wipe(up)">
                                      <p:cBhvr>
                                        <p:cTn id="30" dur="500"/>
                                        <p:tgtEl>
                                          <p:spTgt spid="13">
                                            <p:txEl>
                                              <p:pRg st="14" end="14"/>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13">
                                            <p:txEl>
                                              <p:pRg st="16" end="16"/>
                                            </p:txEl>
                                          </p:spTgt>
                                        </p:tgtEl>
                                        <p:attrNameLst>
                                          <p:attrName>style.visibility</p:attrName>
                                        </p:attrNameLst>
                                      </p:cBhvr>
                                      <p:to>
                                        <p:strVal val="visible"/>
                                      </p:to>
                                    </p:set>
                                    <p:animEffect transition="in" filter="wipe(up)">
                                      <p:cBhvr>
                                        <p:cTn id="33" dur="500"/>
                                        <p:tgtEl>
                                          <p:spTgt spid="1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rPr>
              <a:t>改进：最小化链接成本</a:t>
            </a:r>
            <a:endParaRPr lang="zh-CN" altLang="en-US" sz="2000"/>
          </a:p>
          <a:p>
            <a:pPr algn="ctr"/>
            <a:endParaRPr lang="zh-CN" altLang="en-US" sz="2000"/>
          </a:p>
          <a:p>
            <a:pPr algn="l"/>
            <a:r>
              <a:rPr lang="zh-CN" altLang="en-US" sz="2000" b="1">
                <a:solidFill>
                  <a:srgbClr val="9C0B15"/>
                </a:solidFill>
              </a:rPr>
              <a:t>接口的定义</a:t>
            </a:r>
            <a:r>
              <a:rPr lang="en-US" altLang="zh-CN" sz="2000"/>
              <a:t>	</a:t>
            </a:r>
            <a:r>
              <a:rPr lang="zh-CN" altLang="en-US" sz="2000"/>
              <a:t>应用程序和库之间是通过某些</a:t>
            </a:r>
            <a:r>
              <a:rPr lang="zh-CN" altLang="en-US" sz="2000">
                <a:solidFill>
                  <a:srgbClr val="9C0B15"/>
                </a:solidFill>
              </a:rPr>
              <a:t>定义好的接口</a:t>
            </a:r>
            <a:r>
              <a:rPr lang="zh-CN" altLang="en-US" sz="2000"/>
              <a:t>互相引用的。原则上，</a:t>
            </a:r>
            <a:r>
              <a:rPr lang="en-US" altLang="zh-CN" sz="2000">
                <a:sym typeface="+mn-ea"/>
              </a:rPr>
              <a:t>		</a:t>
            </a:r>
            <a:r>
              <a:rPr lang="zh-CN" altLang="en-US" sz="2000">
                <a:solidFill>
                  <a:srgbClr val="9C0B15"/>
                </a:solidFill>
              </a:rPr>
              <a:t>应用程序只要暴露这些接口就可以了，库也是一样</a:t>
            </a:r>
            <a:r>
              <a:rPr lang="zh-CN" altLang="en-US" sz="2000"/>
              <a:t>。这样，没必要</a:t>
            </a:r>
            <a:r>
              <a:rPr lang="en-US" altLang="zh-CN" sz="2000">
                <a:sym typeface="+mn-ea"/>
              </a:rPr>
              <a:t>		</a:t>
            </a:r>
            <a:r>
              <a:rPr lang="zh-CN" altLang="en-US" sz="2000"/>
              <a:t>暴露多余的任何信息，在加载应用程序时也不需要动态链接这些信</a:t>
            </a:r>
            <a:r>
              <a:rPr lang="en-US" altLang="zh-CN" sz="2000">
                <a:sym typeface="+mn-ea"/>
              </a:rPr>
              <a:t>		</a:t>
            </a:r>
            <a:r>
              <a:rPr lang="zh-CN" altLang="en-US" sz="2000"/>
              <a:t>息。</a:t>
            </a:r>
            <a:endParaRPr lang="zh-CN" altLang="en-US" sz="2000"/>
          </a:p>
          <a:p>
            <a:pPr algn="l"/>
            <a:endParaRPr lang="zh-CN" altLang="en-US" sz="2000"/>
          </a:p>
          <a:p>
            <a:pPr algn="l"/>
            <a:r>
              <a:rPr lang="zh-CN" altLang="en-US" sz="2000" b="1">
                <a:solidFill>
                  <a:srgbClr val="9C0B15"/>
                </a:solidFill>
              </a:rPr>
              <a:t>动态库的生成</a:t>
            </a:r>
            <a:r>
              <a:rPr lang="en-US" altLang="zh-CN" sz="2000"/>
              <a:t>	</a:t>
            </a:r>
            <a:r>
              <a:rPr lang="zh-CN" altLang="en-US" sz="2000"/>
              <a:t>在生成动态链接库时，</a:t>
            </a:r>
            <a:r>
              <a:rPr lang="zh-CN" altLang="en-US" sz="2000">
                <a:sym typeface="+mn-ea"/>
              </a:rPr>
              <a:t>将动态链接库中的符号都链接到</a:t>
            </a:r>
            <a:r>
              <a:rPr lang="zh-CN" altLang="en-US" sz="2000">
                <a:solidFill>
                  <a:srgbClr val="9C0B15"/>
                </a:solidFill>
                <a:sym typeface="+mn-ea"/>
              </a:rPr>
              <a:t>某个固定的</a:t>
            </a:r>
            <a:r>
              <a:rPr lang="zh-CN" altLang="en-US" sz="2000">
                <a:solidFill>
                  <a:srgbClr val="9C0B15"/>
                </a:solidFill>
                <a:sym typeface="+mn-ea"/>
              </a:rPr>
              <a:t>		</a:t>
            </a:r>
            <a:r>
              <a:rPr lang="zh-CN" altLang="en-US" sz="2000">
                <a:solidFill>
                  <a:srgbClr val="9C0B15"/>
                </a:solidFill>
                <a:sym typeface="+mn-ea"/>
              </a:rPr>
              <a:t>虚拟地址</a:t>
            </a:r>
            <a:r>
              <a:rPr lang="zh-CN" altLang="en-US" sz="2000">
                <a:sym typeface="+mn-ea"/>
              </a:rPr>
              <a:t>，然后</a:t>
            </a:r>
            <a:r>
              <a:rPr lang="zh-CN" altLang="en-US" sz="2000"/>
              <a:t>将动态链接库中</a:t>
            </a:r>
            <a:r>
              <a:rPr lang="zh-CN" altLang="en-US" sz="2000">
                <a:solidFill>
                  <a:srgbClr val="9C0B15"/>
                </a:solidFill>
              </a:rPr>
              <a:t>被导出的接口符号以外的符号都除</a:t>
            </a:r>
            <a:r>
              <a:rPr lang="zh-CN" altLang="en-US" sz="2000">
                <a:solidFill>
                  <a:srgbClr val="9C0B15"/>
                </a:solidFill>
                <a:sym typeface="+mn-ea"/>
              </a:rPr>
              <a:t>		</a:t>
            </a:r>
            <a:r>
              <a:rPr lang="zh-CN" altLang="en-US" sz="2000">
                <a:solidFill>
                  <a:srgbClr val="9C0B15"/>
                </a:solidFill>
              </a:rPr>
              <a:t>去</a:t>
            </a:r>
            <a:r>
              <a:rPr lang="zh-CN" altLang="en-US" sz="2000"/>
              <a:t>。这样，动态链接库中一切符号的位置都固定了，对自己的内部</a:t>
            </a:r>
            <a:r>
              <a:rPr lang="zh-CN" altLang="en-US" sz="2000">
                <a:solidFill>
                  <a:srgbClr val="9C0B15"/>
                </a:solidFill>
                <a:sym typeface="+mn-ea"/>
              </a:rPr>
              <a:t>		</a:t>
            </a:r>
            <a:r>
              <a:rPr lang="zh-CN" altLang="en-US" sz="2000"/>
              <a:t>函数</a:t>
            </a:r>
            <a:r>
              <a:rPr lang="zh-CN" altLang="en-US" sz="2000"/>
              <a:t>的引用不再需要</a:t>
            </a:r>
            <a:r>
              <a:rPr lang="zh-CN" altLang="en-US" sz="2000"/>
              <a:t>链接。</a:t>
            </a:r>
            <a:endParaRPr lang="zh-CN" altLang="en-US" sz="2000"/>
          </a:p>
          <a:p>
            <a:pPr algn="l"/>
            <a:r>
              <a:rPr lang="en-US" altLang="zh-CN" sz="2000">
                <a:sym typeface="+mn-ea"/>
              </a:rPr>
              <a:t>		</a:t>
            </a:r>
            <a:r>
              <a:rPr lang="zh-CN" altLang="en-US" sz="2000"/>
              <a:t>在加载动态链接库时，只要将它</a:t>
            </a:r>
            <a:r>
              <a:rPr lang="zh-CN" altLang="en-US" sz="2000">
                <a:solidFill>
                  <a:srgbClr val="9C0B15"/>
                </a:solidFill>
              </a:rPr>
              <a:t>加载到那个预链接的固定虚拟地址</a:t>
            </a:r>
            <a:r>
              <a:rPr lang="en-US" altLang="zh-CN" sz="2000">
                <a:sym typeface="+mn-ea"/>
              </a:rPr>
              <a:t>		</a:t>
            </a:r>
            <a:r>
              <a:rPr lang="zh-CN" altLang="en-US" sz="2000"/>
              <a:t>就好，然后</a:t>
            </a:r>
            <a:r>
              <a:rPr lang="zh-CN" altLang="en-US" sz="2000">
                <a:solidFill>
                  <a:srgbClr val="9C0B15"/>
                </a:solidFill>
              </a:rPr>
              <a:t>修改应用程序中对它的引用</a:t>
            </a:r>
            <a:r>
              <a:rPr lang="zh-CN" altLang="en-US" sz="2000"/>
              <a:t>，指向动态链接库</a:t>
            </a:r>
            <a:r>
              <a:rPr lang="zh-CN" altLang="en-US" sz="2000"/>
              <a:t>即可。</a:t>
            </a:r>
            <a:endParaRPr lang="zh-CN" altLang="en-US" sz="2000"/>
          </a:p>
          <a:p>
            <a:pPr algn="l"/>
            <a:endParaRPr lang="zh-CN" altLang="en-US" sz="2000"/>
          </a:p>
          <a:p>
            <a:pPr algn="l"/>
            <a:r>
              <a:rPr lang="zh-CN" altLang="en-US" sz="2000" b="1">
                <a:solidFill>
                  <a:srgbClr val="9C0B15"/>
                </a:solidFill>
              </a:rPr>
              <a:t>链接器的共享</a:t>
            </a:r>
            <a:r>
              <a:rPr lang="en-US" altLang="zh-CN" sz="2000"/>
              <a:t>	</a:t>
            </a:r>
            <a:r>
              <a:rPr lang="zh-CN" altLang="en-US" sz="2000"/>
              <a:t>前面的解决方案里面，链接器在每个可执行程序中都有一个副本。</a:t>
            </a:r>
            <a:r>
              <a:rPr lang="en-US" altLang="zh-CN" sz="2000">
                <a:sym typeface="+mn-ea"/>
              </a:rPr>
              <a:t>		</a:t>
            </a:r>
            <a:r>
              <a:rPr lang="zh-CN" altLang="en-US" sz="2000"/>
              <a:t>这实际上没必要，如果</a:t>
            </a:r>
            <a:r>
              <a:rPr lang="zh-CN" altLang="en-US" sz="2000">
                <a:solidFill>
                  <a:srgbClr val="9C0B15"/>
                </a:solidFill>
              </a:rPr>
              <a:t>操作系统能够提供一个链接器</a:t>
            </a:r>
            <a:r>
              <a:rPr lang="zh-CN" altLang="en-US" sz="2000"/>
              <a:t>并且在加载可</a:t>
            </a:r>
            <a:r>
              <a:rPr lang="en-US" altLang="zh-CN" sz="2000">
                <a:sym typeface="+mn-ea"/>
              </a:rPr>
              <a:t>		</a:t>
            </a:r>
            <a:r>
              <a:rPr lang="zh-CN" altLang="en-US" sz="2000"/>
              <a:t>执行文件的时候自动加载，就不需要把它放在可执行文件里面了。</a:t>
            </a:r>
            <a:endParaRPr lang="zh-CN" altLang="en-US" sz="2000"/>
          </a:p>
          <a:p>
            <a:pPr algn="l"/>
            <a:endParaRPr lang="zh-CN" altLang="en-US" sz="2000"/>
          </a:p>
          <a:p>
            <a:pPr algn="l"/>
            <a:r>
              <a:rPr lang="zh-CN" altLang="en-US" sz="2000" b="1">
                <a:solidFill>
                  <a:srgbClr val="9C0B15"/>
                </a:solidFill>
              </a:rPr>
              <a:t>动态链接器	</a:t>
            </a:r>
            <a:r>
              <a:rPr lang="zh-CN" altLang="en-US" sz="2000"/>
              <a:t>加载动态链接库并将其与应用程序相链接的链接器。它在</a:t>
            </a:r>
            <a:r>
              <a:rPr lang="zh-CN" altLang="en-US" sz="2000">
                <a:solidFill>
                  <a:srgbClr val="9C0B15"/>
                </a:solidFill>
              </a:rPr>
              <a:t>可执行文</a:t>
            </a:r>
            <a:r>
              <a:rPr lang="zh-CN" altLang="en-US" sz="2000">
                <a:solidFill>
                  <a:srgbClr val="9C0B15"/>
                </a:solidFill>
                <a:sym typeface="+mn-ea"/>
              </a:rPr>
              <a:t>		</a:t>
            </a:r>
            <a:r>
              <a:rPr lang="zh-CN" altLang="en-US" sz="2000">
                <a:solidFill>
                  <a:srgbClr val="9C0B15"/>
                </a:solidFill>
              </a:rPr>
              <a:t>件加载时或应用程序运行时才运行</a:t>
            </a:r>
            <a:r>
              <a:rPr lang="zh-CN" altLang="en-US" sz="2000"/>
              <a:t>。（静态链接器：在生成可执行</a:t>
            </a:r>
            <a:r>
              <a:rPr lang="en-US" altLang="zh-CN" sz="2000">
                <a:sym typeface="+mn-ea"/>
              </a:rPr>
              <a:t>		</a:t>
            </a:r>
            <a:r>
              <a:rPr lang="zh-CN" altLang="en-US" sz="2000"/>
              <a:t>文件时</a:t>
            </a:r>
            <a:r>
              <a:rPr lang="zh-CN" altLang="en-US" sz="2000"/>
              <a:t>运行）</a:t>
            </a:r>
            <a:endParaRPr lang="zh-CN" altLang="en-US" sz="2000"/>
          </a:p>
        </p:txBody>
      </p:sp>
    </p:spTree>
    <p:custDataLst>
      <p:tags r:id="rId2"/>
    </p:custData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custDataLst>
              <p:tags r:id="rId1"/>
            </p:custDataLst>
          </p:nvPr>
        </p:nvSpPr>
        <p:spPr>
          <a:xfrm>
            <a:off x="377190" y="705485"/>
            <a:ext cx="3493135" cy="264858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A.OBJ</a:t>
            </a:r>
            <a:endParaRPr lang="en-US" altLang="zh-CN" sz="2400" b="1">
              <a:solidFill>
                <a:schemeClr val="tx1"/>
              </a:solidFill>
              <a:latin typeface="微软雅黑" panose="020B0503020204020204" charset="-122"/>
              <a:ea typeface="微软雅黑" panose="020B0503020204020204" charset="-122"/>
            </a:endParaRPr>
          </a:p>
        </p:txBody>
      </p:sp>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2"/>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398780"/>
          </a:xfrm>
          <a:prstGeom prst="rect">
            <a:avLst/>
          </a:prstGeom>
          <a:noFill/>
        </p:spPr>
        <p:txBody>
          <a:bodyPr wrap="square" rtlCol="0">
            <a:spAutoFit/>
          </a:bodyPr>
          <a:p>
            <a:pPr algn="ctr"/>
            <a:r>
              <a:rPr lang="zh-CN" altLang="en-US" sz="2000" b="1">
                <a:solidFill>
                  <a:srgbClr val="9C0B15"/>
                </a:solidFill>
                <a:sym typeface="+mn-ea"/>
              </a:rPr>
              <a:t>改进：最小化链接成本</a:t>
            </a:r>
            <a:endParaRPr lang="zh-CN" altLang="en-US" sz="2000"/>
          </a:p>
        </p:txBody>
      </p:sp>
      <p:sp>
        <p:nvSpPr>
          <p:cNvPr id="73" name="文本框 72"/>
          <p:cNvSpPr txBox="1"/>
          <p:nvPr>
            <p:custDataLst>
              <p:tags r:id="rId3"/>
            </p:custDataLst>
          </p:nvPr>
        </p:nvSpPr>
        <p:spPr>
          <a:xfrm>
            <a:off x="377190" y="1068705"/>
            <a:ext cx="3493135" cy="2267585"/>
          </a:xfrm>
          <a:prstGeom prst="rect">
            <a:avLst/>
          </a:prstGeom>
          <a:noFill/>
        </p:spPr>
        <p:txBody>
          <a:bodyPr wrap="square" rtlCol="0" anchor="t">
            <a:noAutofit/>
          </a:bodyPr>
          <a:p>
            <a:pPr algn="l">
              <a:buClrTx/>
              <a:buSzTx/>
              <a:buFontTx/>
            </a:pP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?PRV_C?</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?PRV</a:t>
            </a:r>
            <a:r>
              <a:rPr lang="en-US" altLang="zh-CN" sz="2000" b="1">
                <a:solidFill>
                  <a:srgbClr val="C00000"/>
                </a:solidFill>
                <a:sym typeface="+mn-ea"/>
              </a:rPr>
              <a:t>_B?</a:t>
            </a: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p:txBody>
      </p:sp>
      <p:cxnSp>
        <p:nvCxnSpPr>
          <p:cNvPr id="74" name="直接箭头连接符 73"/>
          <p:cNvCxnSpPr/>
          <p:nvPr>
            <p:custDataLst>
              <p:tags r:id="rId4"/>
            </p:custDataLst>
          </p:nvPr>
        </p:nvCxnSpPr>
        <p:spPr>
          <a:xfrm>
            <a:off x="4411345" y="3540125"/>
            <a:ext cx="918210" cy="7620"/>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76"/>
          <p:cNvSpPr/>
          <p:nvPr>
            <p:custDataLst>
              <p:tags r:id="rId5"/>
            </p:custDataLst>
          </p:nvPr>
        </p:nvSpPr>
        <p:spPr>
          <a:xfrm>
            <a:off x="377190" y="3657600"/>
            <a:ext cx="3493135" cy="264858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B.OBJ</a:t>
            </a:r>
            <a:endParaRPr lang="en-US" altLang="zh-CN" sz="2400" b="1">
              <a:solidFill>
                <a:schemeClr val="tx1"/>
              </a:solidFill>
              <a:latin typeface="微软雅黑" panose="020B0503020204020204" charset="-122"/>
              <a:ea typeface="微软雅黑" panose="020B0503020204020204" charset="-122"/>
            </a:endParaRPr>
          </a:p>
        </p:txBody>
      </p:sp>
      <p:sp>
        <p:nvSpPr>
          <p:cNvPr id="78" name="文本框 77"/>
          <p:cNvSpPr txBox="1"/>
          <p:nvPr>
            <p:custDataLst>
              <p:tags r:id="rId6"/>
            </p:custDataLst>
          </p:nvPr>
        </p:nvSpPr>
        <p:spPr>
          <a:xfrm>
            <a:off x="377190" y="4038600"/>
            <a:ext cx="3493135" cy="2267585"/>
          </a:xfrm>
          <a:prstGeom prst="rect">
            <a:avLst/>
          </a:prstGeom>
          <a:noFill/>
        </p:spPr>
        <p:txBody>
          <a:bodyPr wrap="square" rtlCol="0" anchor="t">
            <a:noAutofit/>
          </a:bodyPr>
          <a:p>
            <a:pPr algn="l">
              <a:buClrTx/>
              <a:buSzTx/>
              <a:buFontTx/>
            </a:pPr>
            <a:r>
              <a:rPr lang="en-US" altLang="zh-CN" sz="2000" b="1">
                <a:solidFill>
                  <a:srgbClr val="92D050"/>
                </a:solidFill>
                <a:sym typeface="+mn-ea"/>
              </a:rPr>
              <a:t>PRV_C	DW	0100H</a:t>
            </a:r>
            <a:endParaRPr lang="en-US" altLang="zh-CN" sz="2000" b="1">
              <a:solidFill>
                <a:srgbClr val="92D050"/>
              </a:solidFill>
              <a:sym typeface="+mn-ea"/>
            </a:endParaRPr>
          </a:p>
          <a:p>
            <a:pPr marL="0" lvl="1" algn="l">
              <a:buClrTx/>
              <a:buSzTx/>
              <a:buFontTx/>
            </a:pPr>
            <a:r>
              <a:rPr lang="en-US" altLang="zh-CN" sz="2000" b="1">
                <a:solidFill>
                  <a:srgbClr val="00B0F0"/>
                </a:solidFill>
                <a:sym typeface="+mn-ea"/>
              </a:rPr>
              <a:t>	</a:t>
            </a:r>
            <a:r>
              <a:rPr lang="en-US" altLang="zh-CN" sz="2000" b="1">
                <a:solidFill>
                  <a:srgbClr val="92D050"/>
                </a:solidFill>
                <a:sym typeface="+mn-ea"/>
              </a:rPr>
              <a:t>......</a:t>
            </a:r>
            <a:endParaRPr lang="en-US" altLang="zh-CN" sz="2000" b="1">
              <a:solidFill>
                <a:srgbClr val="92D050"/>
              </a:solidFill>
              <a:sym typeface="+mn-ea"/>
            </a:endParaRPr>
          </a:p>
          <a:p>
            <a:pPr marL="0" lvl="1" algn="l">
              <a:buClrTx/>
              <a:buSzTx/>
              <a:buFontTx/>
            </a:pPr>
            <a:endParaRPr lang="en-US" altLang="zh-CN" sz="2000" b="1">
              <a:solidFill>
                <a:srgbClr val="92D050"/>
              </a:solidFill>
              <a:sym typeface="+mn-ea"/>
            </a:endParaRPr>
          </a:p>
          <a:p>
            <a:pPr algn="l">
              <a:buClrTx/>
              <a:buSzTx/>
              <a:buFontTx/>
            </a:pPr>
            <a:r>
              <a:rPr lang="en-US" altLang="zh-CN" sz="2000" b="1">
                <a:solidFill>
                  <a:srgbClr val="C00000"/>
                </a:solidFill>
                <a:sym typeface="+mn-ea"/>
              </a:rPr>
              <a:t>PRV_B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PRV_B</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p:txBody>
      </p:sp>
      <p:sp>
        <p:nvSpPr>
          <p:cNvPr id="79" name="矩形 78"/>
          <p:cNvSpPr/>
          <p:nvPr>
            <p:custDataLst>
              <p:tags r:id="rId7"/>
            </p:custDataLst>
          </p:nvPr>
        </p:nvSpPr>
        <p:spPr>
          <a:xfrm>
            <a:off x="5859780" y="705485"/>
            <a:ext cx="3493135" cy="5618480"/>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80" name="文本框 79"/>
          <p:cNvSpPr txBox="1"/>
          <p:nvPr>
            <p:custDataLst>
              <p:tags r:id="rId8"/>
            </p:custDataLst>
          </p:nvPr>
        </p:nvSpPr>
        <p:spPr>
          <a:xfrm>
            <a:off x="5859780" y="1086485"/>
            <a:ext cx="3493135" cy="5219700"/>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[1E00H]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1900H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strike="sngStrike">
              <a:solidFill>
                <a:srgbClr val="C00000"/>
              </a:solidFill>
              <a:sym typeface="+mn-ea"/>
            </a:endParaRPr>
          </a:p>
          <a:p>
            <a:pPr algn="l">
              <a:buClrTx/>
              <a:buSzTx/>
              <a:buFontTx/>
            </a:pP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spTree>
    <p:custDataLst>
      <p:tags r:id="rId9"/>
    </p:custData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398780"/>
          </a:xfrm>
          <a:prstGeom prst="rect">
            <a:avLst/>
          </a:prstGeom>
          <a:noFill/>
        </p:spPr>
        <p:txBody>
          <a:bodyPr wrap="square" rtlCol="0">
            <a:spAutoFit/>
          </a:bodyPr>
          <a:p>
            <a:pPr algn="ctr"/>
            <a:r>
              <a:rPr lang="zh-CN" altLang="en-US" sz="2000" b="1">
                <a:solidFill>
                  <a:srgbClr val="9C0B15"/>
                </a:solidFill>
                <a:sym typeface="+mn-ea"/>
              </a:rPr>
              <a:t>改进：最小化链接成本</a:t>
            </a:r>
            <a:endParaRPr lang="zh-CN" altLang="en-US" sz="2000"/>
          </a:p>
        </p:txBody>
      </p:sp>
      <p:sp>
        <p:nvSpPr>
          <p:cNvPr id="73" name="文本框 72"/>
          <p:cNvSpPr txBox="1"/>
          <p:nvPr>
            <p:custDataLst>
              <p:tags r:id="rId2"/>
            </p:custDataLst>
          </p:nvPr>
        </p:nvSpPr>
        <p:spPr>
          <a:xfrm>
            <a:off x="421005" y="758825"/>
            <a:ext cx="3171190" cy="1938020"/>
          </a:xfrm>
          <a:prstGeom prst="rect">
            <a:avLst/>
          </a:prstGeom>
          <a:noFill/>
        </p:spPr>
        <p:txBody>
          <a:bodyPr wrap="square" rtlCol="0" anchor="t">
            <a:spAutoFit/>
          </a:bodyPr>
          <a:p>
            <a:pPr algn="l">
              <a:buClrTx/>
              <a:buSzTx/>
              <a:buFontTx/>
            </a:pPr>
            <a:r>
              <a:rPr lang="en-US" altLang="zh-CN" sz="2000" b="1">
                <a:solidFill>
                  <a:srgbClr val="C00000"/>
                </a:solidFill>
                <a:sym typeface="+mn-ea"/>
              </a:rPr>
              <a:t>MAIN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?LIB_A?</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MAIN	ENDP</a:t>
            </a:r>
            <a:endParaRPr lang="en-US" altLang="zh-CN" sz="2000" b="1">
              <a:solidFill>
                <a:srgbClr val="C00000"/>
              </a:solidFill>
              <a:sym typeface="+mn-ea"/>
            </a:endParaRPr>
          </a:p>
        </p:txBody>
      </p:sp>
      <p:sp>
        <p:nvSpPr>
          <p:cNvPr id="5" name="文本框 4"/>
          <p:cNvSpPr txBox="1"/>
          <p:nvPr>
            <p:custDataLst>
              <p:tags r:id="rId3"/>
            </p:custDataLst>
          </p:nvPr>
        </p:nvSpPr>
        <p:spPr>
          <a:xfrm>
            <a:off x="6654165" y="758825"/>
            <a:ext cx="2766695" cy="1938020"/>
          </a:xfrm>
          <a:prstGeom prst="rect">
            <a:avLst/>
          </a:prstGeom>
          <a:noFill/>
        </p:spPr>
        <p:txBody>
          <a:bodyPr wrap="square" rtlCol="0" anchor="t">
            <a:spAutoFit/>
          </a:bodyPr>
          <a:p>
            <a:pPr algn="l">
              <a:buClrTx/>
              <a:buSzTx/>
              <a:buFontTx/>
            </a:pPr>
            <a:r>
              <a:rPr lang="en-US" altLang="zh-CN" sz="2000" b="1">
                <a:solidFill>
                  <a:srgbClr val="C00000"/>
                </a:solidFill>
                <a:sym typeface="+mn-ea"/>
              </a:rPr>
              <a:t>MAIN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1</a:t>
            </a:r>
            <a:r>
              <a:rPr lang="en-US" altLang="zh-CN" sz="2000" b="1">
                <a:solidFill>
                  <a:srgbClr val="C00000"/>
                </a:solidFill>
                <a:sym typeface="+mn-ea"/>
              </a:rPr>
              <a:t>820H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MAIN	ENDP</a:t>
            </a:r>
            <a:endParaRPr lang="en-US" altLang="zh-CN" sz="2000" b="1">
              <a:solidFill>
                <a:srgbClr val="C00000"/>
              </a:solidFill>
              <a:sym typeface="+mn-ea"/>
            </a:endParaRPr>
          </a:p>
        </p:txBody>
      </p:sp>
      <p:cxnSp>
        <p:nvCxnSpPr>
          <p:cNvPr id="6" name="直接箭头连接符 5"/>
          <p:cNvCxnSpPr/>
          <p:nvPr>
            <p:custDataLst>
              <p:tags r:id="rId4"/>
            </p:custDataLst>
          </p:nvPr>
        </p:nvCxnSpPr>
        <p:spPr>
          <a:xfrm>
            <a:off x="4521835" y="1880870"/>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5"/>
            </p:custDataLst>
          </p:nvPr>
        </p:nvSpPr>
        <p:spPr>
          <a:xfrm>
            <a:off x="746760" y="3599180"/>
            <a:ext cx="1930400" cy="1629410"/>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0x0800</a:t>
            </a:r>
            <a:endParaRPr lang="en-US" altLang="zh-CN"/>
          </a:p>
          <a:p>
            <a:pPr algn="ctr"/>
            <a:endParaRPr lang="zh-CN" altLang="en-US"/>
          </a:p>
          <a:p>
            <a:pPr algn="ctr"/>
            <a:r>
              <a:rPr lang="zh-CN" altLang="en-US"/>
              <a:t>私有内容</a:t>
            </a:r>
            <a:endParaRPr lang="zh-CN" altLang="en-US"/>
          </a:p>
          <a:p>
            <a:pPr algn="ctr"/>
            <a:endParaRPr lang="en-US" altLang="zh-CN"/>
          </a:p>
          <a:p>
            <a:pPr algn="ctr"/>
            <a:r>
              <a:rPr lang="en-US" altLang="zh-CN"/>
              <a:t>0x17FF</a:t>
            </a:r>
            <a:endParaRPr lang="en-US" altLang="zh-CN"/>
          </a:p>
        </p:txBody>
      </p:sp>
      <p:sp>
        <p:nvSpPr>
          <p:cNvPr id="17" name="矩形 16"/>
          <p:cNvSpPr/>
          <p:nvPr>
            <p:custDataLst>
              <p:tags r:id="rId6"/>
            </p:custDataLst>
          </p:nvPr>
        </p:nvSpPr>
        <p:spPr>
          <a:xfrm>
            <a:off x="516890" y="3188970"/>
            <a:ext cx="2389505" cy="3427730"/>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a:t>
            </a:r>
            <a:r>
              <a:rPr lang="zh-CN" altLang="en-US">
                <a:solidFill>
                  <a:schemeClr val="tx1"/>
                </a:solidFill>
              </a:rPr>
              <a:t>空间</a:t>
            </a:r>
            <a:endParaRPr lang="zh-CN" altLang="en-US">
              <a:solidFill>
                <a:schemeClr val="tx1"/>
              </a:solidFill>
            </a:endParaRPr>
          </a:p>
        </p:txBody>
      </p:sp>
      <p:sp>
        <p:nvSpPr>
          <p:cNvPr id="25" name="矩形 24"/>
          <p:cNvSpPr/>
          <p:nvPr>
            <p:custDataLst>
              <p:tags r:id="rId7"/>
            </p:custDataLst>
          </p:nvPr>
        </p:nvSpPr>
        <p:spPr>
          <a:xfrm>
            <a:off x="6884035" y="5449570"/>
            <a:ext cx="1930400" cy="92392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0x1800</a:t>
            </a:r>
            <a:endParaRPr lang="zh-CN" altLang="en-US"/>
          </a:p>
          <a:p>
            <a:pPr algn="ctr"/>
            <a:r>
              <a:rPr lang="en-US" altLang="zh-CN"/>
              <a:t>AB.SO</a:t>
            </a:r>
            <a:endParaRPr lang="zh-CN" altLang="en-US"/>
          </a:p>
          <a:p>
            <a:pPr algn="ctr"/>
            <a:r>
              <a:rPr lang="en-US" altLang="zh-CN"/>
              <a:t>0x1</a:t>
            </a:r>
            <a:r>
              <a:rPr lang="en-US" altLang="zh-CN"/>
              <a:t>FFF</a:t>
            </a:r>
            <a:endParaRPr lang="en-US" altLang="zh-CN"/>
          </a:p>
        </p:txBody>
      </p:sp>
      <p:sp>
        <p:nvSpPr>
          <p:cNvPr id="26" name="矩形 25"/>
          <p:cNvSpPr/>
          <p:nvPr>
            <p:custDataLst>
              <p:tags r:id="rId8"/>
            </p:custDataLst>
          </p:nvPr>
        </p:nvSpPr>
        <p:spPr>
          <a:xfrm>
            <a:off x="6654165" y="3189605"/>
            <a:ext cx="2389505" cy="342709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a:t>
            </a:r>
            <a:r>
              <a:rPr lang="zh-CN" altLang="en-US">
                <a:solidFill>
                  <a:schemeClr val="tx1"/>
                </a:solidFill>
              </a:rPr>
              <a:t>空间</a:t>
            </a:r>
            <a:endParaRPr lang="zh-CN" altLang="en-US">
              <a:solidFill>
                <a:schemeClr val="tx1"/>
              </a:solidFill>
            </a:endParaRPr>
          </a:p>
        </p:txBody>
      </p:sp>
      <p:sp>
        <p:nvSpPr>
          <p:cNvPr id="60" name="矩形 59"/>
          <p:cNvSpPr/>
          <p:nvPr>
            <p:custDataLst>
              <p:tags r:id="rId9"/>
            </p:custDataLst>
          </p:nvPr>
        </p:nvSpPr>
        <p:spPr>
          <a:xfrm>
            <a:off x="6884035" y="3599180"/>
            <a:ext cx="1930400" cy="1629410"/>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0x0800</a:t>
            </a:r>
            <a:endParaRPr lang="en-US" altLang="zh-CN"/>
          </a:p>
          <a:p>
            <a:pPr algn="ctr"/>
            <a:endParaRPr lang="zh-CN" altLang="en-US"/>
          </a:p>
          <a:p>
            <a:pPr algn="ctr"/>
            <a:r>
              <a:rPr lang="zh-CN" altLang="en-US"/>
              <a:t>私有内容</a:t>
            </a:r>
            <a:endParaRPr lang="zh-CN" altLang="en-US"/>
          </a:p>
          <a:p>
            <a:pPr algn="ctr"/>
            <a:endParaRPr lang="en-US" altLang="zh-CN"/>
          </a:p>
          <a:p>
            <a:pPr algn="ctr"/>
            <a:r>
              <a:rPr lang="en-US" altLang="zh-CN"/>
              <a:t>0x17FF</a:t>
            </a:r>
            <a:endParaRPr lang="en-US" altLang="zh-CN"/>
          </a:p>
        </p:txBody>
      </p:sp>
      <p:cxnSp>
        <p:nvCxnSpPr>
          <p:cNvPr id="61" name="直接箭头连接符 60"/>
          <p:cNvCxnSpPr/>
          <p:nvPr>
            <p:custDataLst>
              <p:tags r:id="rId10"/>
            </p:custDataLst>
          </p:nvPr>
        </p:nvCxnSpPr>
        <p:spPr>
          <a:xfrm>
            <a:off x="4521835" y="4902835"/>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Tree>
    <p:custDataLst>
      <p:tags r:id="rId11"/>
    </p:custData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改进：发生虚拟地址</a:t>
            </a:r>
            <a:r>
              <a:rPr lang="zh-CN" altLang="en-US" sz="2000" b="1">
                <a:solidFill>
                  <a:srgbClr val="9C0B15"/>
                </a:solidFill>
                <a:sym typeface="+mn-ea"/>
              </a:rPr>
              <a:t>冲突</a:t>
            </a:r>
            <a:endParaRPr lang="zh-CN" altLang="en-US" sz="2000" b="1">
              <a:solidFill>
                <a:srgbClr val="9C0B15"/>
              </a:solidFill>
              <a:sym typeface="+mn-ea"/>
            </a:endParaRPr>
          </a:p>
          <a:p>
            <a:pPr algn="ctr"/>
            <a:endParaRPr lang="zh-CN" altLang="en-US" sz="2000"/>
          </a:p>
          <a:p>
            <a:pPr algn="l"/>
            <a:r>
              <a:rPr lang="zh-CN" altLang="en-US" sz="2000" b="1">
                <a:solidFill>
                  <a:srgbClr val="9C0B15"/>
                </a:solidFill>
                <a:sym typeface="+mn-ea"/>
              </a:rPr>
              <a:t>绝对代码</a:t>
            </a:r>
            <a:r>
              <a:rPr lang="en-US" altLang="zh-CN" sz="2000">
                <a:sym typeface="+mn-ea"/>
              </a:rPr>
              <a:t>	</a:t>
            </a:r>
            <a:r>
              <a:rPr lang="zh-CN" altLang="en-US" sz="2000">
                <a:sym typeface="+mn-ea"/>
              </a:rPr>
              <a:t>在上面的例子中，</a:t>
            </a:r>
            <a:r>
              <a:rPr lang="en-US" altLang="zh-CN" sz="2000">
                <a:sym typeface="+mn-ea"/>
              </a:rPr>
              <a:t>DLL</a:t>
            </a:r>
            <a:r>
              <a:rPr lang="zh-CN" altLang="en-US" sz="2000">
                <a:sym typeface="+mn-ea"/>
              </a:rPr>
              <a:t>内的代码是被</a:t>
            </a:r>
            <a:r>
              <a:rPr lang="zh-CN" altLang="en-US" sz="2000">
                <a:solidFill>
                  <a:srgbClr val="9C0B15"/>
                </a:solidFill>
                <a:sym typeface="+mn-ea"/>
              </a:rPr>
              <a:t>固定链接</a:t>
            </a:r>
            <a:r>
              <a:rPr lang="zh-CN" altLang="en-US" sz="2000">
                <a:sym typeface="+mn-ea"/>
              </a:rPr>
              <a:t>到地址</a:t>
            </a:r>
            <a:r>
              <a:rPr lang="en-US" altLang="zh-CN" sz="2000">
                <a:sym typeface="+mn-ea"/>
              </a:rPr>
              <a:t>0x1800</a:t>
            </a:r>
            <a:r>
              <a:rPr lang="zh-CN" altLang="en-US" sz="2000">
                <a:sym typeface="+mn-ea"/>
              </a:rPr>
              <a:t>。在有</a:t>
            </a:r>
            <a:r>
              <a:rPr lang="en-US" altLang="zh-CN" sz="2000">
                <a:sym typeface="+mn-ea"/>
              </a:rPr>
              <a:t>			</a:t>
            </a:r>
            <a:r>
              <a:rPr lang="zh-CN" altLang="en-US" sz="2000">
                <a:sym typeface="+mn-ea"/>
              </a:rPr>
              <a:t>虚拟地址空间的情况下，这个</a:t>
            </a:r>
            <a:r>
              <a:rPr lang="en-US" altLang="zh-CN" sz="2000">
                <a:sym typeface="+mn-ea"/>
              </a:rPr>
              <a:t>DLL</a:t>
            </a:r>
            <a:r>
              <a:rPr lang="zh-CN" altLang="en-US" sz="2000">
                <a:sym typeface="+mn-ea"/>
              </a:rPr>
              <a:t>的地址就是</a:t>
            </a:r>
            <a:r>
              <a:rPr lang="zh-CN" altLang="en-US" sz="2000">
                <a:solidFill>
                  <a:srgbClr val="9C0B15"/>
                </a:solidFill>
                <a:sym typeface="+mn-ea"/>
              </a:rPr>
              <a:t>虚拟地址0x1800</a:t>
            </a:r>
            <a:r>
              <a:rPr lang="zh-CN" altLang="en-US" sz="2000">
                <a:sym typeface="+mn-ea"/>
              </a:rPr>
              <a:t>。它</a:t>
            </a:r>
            <a:r>
              <a:rPr lang="en-US" altLang="zh-CN" sz="2000">
                <a:sym typeface="+mn-ea"/>
              </a:rPr>
              <a:t>			</a:t>
            </a:r>
            <a:r>
              <a:rPr lang="zh-CN" altLang="en-US" sz="2000">
                <a:sym typeface="+mn-ea"/>
              </a:rPr>
              <a:t>加载的时候</a:t>
            </a:r>
            <a:r>
              <a:rPr lang="zh-CN" altLang="en-US" sz="2000">
                <a:solidFill>
                  <a:srgbClr val="9C0B15"/>
                </a:solidFill>
                <a:sym typeface="+mn-ea"/>
              </a:rPr>
              <a:t>只能加载到这个位置</a:t>
            </a:r>
            <a:r>
              <a:rPr lang="zh-CN" altLang="en-US" sz="2000">
                <a:sym typeface="+mn-ea"/>
              </a:rPr>
              <a:t>，其它位置都不行。如果某个应用</a:t>
            </a:r>
            <a:r>
              <a:rPr lang="en-US" altLang="zh-CN" sz="2000">
                <a:sym typeface="+mn-ea"/>
              </a:rPr>
              <a:t>		</a:t>
            </a:r>
            <a:r>
              <a:rPr lang="zh-CN" altLang="en-US" sz="2000">
                <a:sym typeface="+mn-ea"/>
              </a:rPr>
              <a:t>程序在编写的时候被</a:t>
            </a:r>
            <a:r>
              <a:rPr lang="zh-CN" altLang="en-US" sz="2000">
                <a:solidFill>
                  <a:srgbClr val="9C0B15"/>
                </a:solidFill>
                <a:sym typeface="+mn-ea"/>
              </a:rPr>
              <a:t>固定链接到0x1800到0x1FFF这一段</a:t>
            </a:r>
            <a:r>
              <a:rPr lang="zh-CN" altLang="en-US" sz="2000">
                <a:sym typeface="+mn-ea"/>
              </a:rPr>
              <a:t>，那它就与</a:t>
            </a:r>
            <a:r>
              <a:rPr lang="en-US" altLang="zh-CN" sz="2000">
                <a:sym typeface="+mn-ea"/>
              </a:rPr>
              <a:t>			</a:t>
            </a:r>
            <a:r>
              <a:rPr lang="zh-CN" altLang="en-US" sz="2000">
                <a:sym typeface="+mn-ea"/>
              </a:rPr>
              <a:t>这个动态链接库冲突了，没法用这个库</a:t>
            </a:r>
            <a:r>
              <a:rPr lang="zh-CN" altLang="en-US" sz="2000">
                <a:sym typeface="+mn-ea"/>
              </a:rPr>
              <a:t>了。怎么办？</a:t>
            </a:r>
            <a:endParaRPr lang="zh-CN" altLang="en-US" sz="2000" b="1">
              <a:solidFill>
                <a:srgbClr val="9C0B15"/>
              </a:solidFill>
              <a:sym typeface="+mn-ea"/>
            </a:endParaRPr>
          </a:p>
        </p:txBody>
      </p:sp>
      <p:sp>
        <p:nvSpPr>
          <p:cNvPr id="2" name="矩形 1"/>
          <p:cNvSpPr/>
          <p:nvPr>
            <p:custDataLst>
              <p:tags r:id="rId2"/>
            </p:custDataLst>
          </p:nvPr>
        </p:nvSpPr>
        <p:spPr>
          <a:xfrm>
            <a:off x="746760" y="3256915"/>
            <a:ext cx="1930400" cy="1629410"/>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0x1400</a:t>
            </a:r>
            <a:endParaRPr lang="en-US" altLang="zh-CN"/>
          </a:p>
          <a:p>
            <a:pPr algn="ctr"/>
            <a:endParaRPr lang="zh-CN" altLang="en-US"/>
          </a:p>
          <a:p>
            <a:pPr algn="ctr"/>
            <a:r>
              <a:rPr lang="zh-CN" altLang="en-US"/>
              <a:t>私有内容</a:t>
            </a:r>
            <a:endParaRPr lang="zh-CN" altLang="en-US"/>
          </a:p>
          <a:p>
            <a:pPr algn="ctr"/>
            <a:endParaRPr lang="en-US" altLang="zh-CN"/>
          </a:p>
          <a:p>
            <a:pPr algn="ctr"/>
            <a:r>
              <a:rPr lang="en-US" altLang="zh-CN"/>
              <a:t>0x1</a:t>
            </a:r>
            <a:r>
              <a:rPr lang="en-US" altLang="zh-CN"/>
              <a:t>BFF</a:t>
            </a:r>
            <a:endParaRPr lang="en-US" altLang="zh-CN"/>
          </a:p>
        </p:txBody>
      </p:sp>
      <p:sp>
        <p:nvSpPr>
          <p:cNvPr id="4" name="矩形 3"/>
          <p:cNvSpPr/>
          <p:nvPr>
            <p:custDataLst>
              <p:tags r:id="rId3"/>
            </p:custDataLst>
          </p:nvPr>
        </p:nvSpPr>
        <p:spPr>
          <a:xfrm>
            <a:off x="516890" y="2846705"/>
            <a:ext cx="2389505" cy="3427730"/>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a:t>
            </a:r>
            <a:r>
              <a:rPr lang="zh-CN" altLang="en-US">
                <a:solidFill>
                  <a:schemeClr val="tx1"/>
                </a:solidFill>
              </a:rPr>
              <a:t>空间</a:t>
            </a:r>
            <a:endParaRPr lang="zh-CN" altLang="en-US">
              <a:solidFill>
                <a:schemeClr val="tx1"/>
              </a:solidFill>
            </a:endParaRPr>
          </a:p>
        </p:txBody>
      </p:sp>
      <p:sp>
        <p:nvSpPr>
          <p:cNvPr id="7" name="矩形 6"/>
          <p:cNvSpPr/>
          <p:nvPr>
            <p:custDataLst>
              <p:tags r:id="rId4"/>
            </p:custDataLst>
          </p:nvPr>
        </p:nvSpPr>
        <p:spPr>
          <a:xfrm>
            <a:off x="3126105" y="4105910"/>
            <a:ext cx="1930400" cy="1475740"/>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0x1800</a:t>
            </a:r>
            <a:endParaRPr lang="en-US" altLang="zh-CN"/>
          </a:p>
          <a:p>
            <a:pPr algn="ctr"/>
            <a:endParaRPr lang="zh-CN" altLang="en-US"/>
          </a:p>
          <a:p>
            <a:pPr algn="ctr"/>
            <a:r>
              <a:rPr lang="en-US" altLang="zh-CN"/>
              <a:t>AB.SO</a:t>
            </a:r>
            <a:endParaRPr lang="en-US" altLang="zh-CN"/>
          </a:p>
          <a:p>
            <a:pPr algn="ctr"/>
            <a:endParaRPr lang="zh-CN" altLang="en-US"/>
          </a:p>
          <a:p>
            <a:pPr algn="ctr"/>
            <a:r>
              <a:rPr lang="en-US" altLang="zh-CN"/>
              <a:t>0x1</a:t>
            </a:r>
            <a:r>
              <a:rPr lang="en-US" altLang="zh-CN"/>
              <a:t>FFF</a:t>
            </a:r>
            <a:endParaRPr lang="en-US" altLang="zh-CN"/>
          </a:p>
        </p:txBody>
      </p:sp>
      <p:cxnSp>
        <p:nvCxnSpPr>
          <p:cNvPr id="8" name="直接箭头连接符 7"/>
          <p:cNvCxnSpPr/>
          <p:nvPr>
            <p:custDataLst>
              <p:tags r:id="rId5"/>
            </p:custDataLst>
          </p:nvPr>
        </p:nvCxnSpPr>
        <p:spPr>
          <a:xfrm>
            <a:off x="5600065" y="4559300"/>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pic>
        <p:nvPicPr>
          <p:cNvPr id="15" name="图片 14" descr="450px-Orange_question_mark.svg"/>
          <p:cNvPicPr>
            <a:picLocks noChangeAspect="1"/>
          </p:cNvPicPr>
          <p:nvPr>
            <p:custDataLst>
              <p:tags r:id="rId6"/>
            </p:custDataLst>
          </p:nvPr>
        </p:nvPicPr>
        <p:blipFill>
          <a:blip r:embed="rId7"/>
          <a:stretch>
            <a:fillRect/>
          </a:stretch>
        </p:blipFill>
        <p:spPr>
          <a:xfrm>
            <a:off x="7149465" y="3429000"/>
            <a:ext cx="2227580" cy="2227580"/>
          </a:xfrm>
          <a:prstGeom prst="rect">
            <a:avLst/>
          </a:prstGeom>
        </p:spPr>
      </p:pic>
    </p:spTree>
    <p:custDataLst>
      <p:tags r:id="rId8"/>
    </p:custData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3.2 外存的库共享</a:t>
                      </a:r>
                      <a:endParaRPr lang="zh-CN" altLang="en-US">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a:t>
                      </a:r>
                      <a:r>
                        <a:rPr lang="zh-CN" altLang="en-US" sz="1800">
                          <a:latin typeface="思源黑体 CN Regular" panose="020B0500000000000000" charset="-122"/>
                          <a:ea typeface="思源黑体 CN Regular" panose="020B0500000000000000" charset="-122"/>
                        </a:rPr>
                        <a:t>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322070"/>
          </a:xfrm>
          <a:prstGeom prst="rect">
            <a:avLst/>
          </a:prstGeom>
          <a:noFill/>
        </p:spPr>
        <p:txBody>
          <a:bodyPr wrap="square" rtlCol="0">
            <a:spAutoFit/>
          </a:bodyPr>
          <a:p>
            <a:pPr algn="ctr"/>
            <a:r>
              <a:rPr lang="zh-CN" altLang="en-US" sz="2000" b="1">
                <a:solidFill>
                  <a:srgbClr val="9C0B15"/>
                </a:solidFill>
                <a:sym typeface="+mn-ea"/>
              </a:rPr>
              <a:t>改进：发生虚拟地址</a:t>
            </a:r>
            <a:r>
              <a:rPr lang="zh-CN" altLang="en-US" sz="2000" b="1">
                <a:solidFill>
                  <a:srgbClr val="9C0B15"/>
                </a:solidFill>
                <a:sym typeface="+mn-ea"/>
              </a:rPr>
              <a:t>冲突</a:t>
            </a:r>
            <a:endParaRPr lang="zh-CN" altLang="en-US" sz="2000" b="1">
              <a:solidFill>
                <a:srgbClr val="9C0B15"/>
              </a:solidFill>
              <a:sym typeface="+mn-ea"/>
            </a:endParaRPr>
          </a:p>
          <a:p>
            <a:pPr algn="ctr"/>
            <a:endParaRPr lang="zh-CN" altLang="en-US" sz="2000"/>
          </a:p>
          <a:p>
            <a:pPr algn="l"/>
            <a:r>
              <a:rPr lang="zh-CN" altLang="en-US" sz="2000" b="1">
                <a:solidFill>
                  <a:srgbClr val="9C0B15"/>
                </a:solidFill>
                <a:sym typeface="+mn-ea"/>
              </a:rPr>
              <a:t>动态库重定位</a:t>
            </a:r>
            <a:r>
              <a:rPr lang="en-US" altLang="zh-CN" sz="2000">
                <a:sym typeface="+mn-ea"/>
              </a:rPr>
              <a:t>	</a:t>
            </a:r>
            <a:r>
              <a:rPr lang="zh-CN" altLang="en-US" sz="2000">
                <a:sym typeface="+mn-ea"/>
              </a:rPr>
              <a:t>在生成动态链接库时，包含一些</a:t>
            </a:r>
            <a:r>
              <a:rPr lang="zh-CN" altLang="en-US" sz="2000">
                <a:solidFill>
                  <a:srgbClr val="9C0B15"/>
                </a:solidFill>
                <a:sym typeface="+mn-ea"/>
              </a:rPr>
              <a:t>重定位信息</a:t>
            </a:r>
            <a:r>
              <a:rPr lang="zh-CN" altLang="en-US" sz="2000">
                <a:sym typeface="+mn-ea"/>
              </a:rPr>
              <a:t>，告诉动态链接器，如</a:t>
            </a:r>
            <a:r>
              <a:rPr lang="en-US" altLang="zh-CN" sz="2000">
                <a:sym typeface="+mn-ea"/>
              </a:rPr>
              <a:t>		</a:t>
            </a:r>
            <a:r>
              <a:rPr lang="zh-CN" altLang="en-US" sz="2000">
                <a:sym typeface="+mn-ea"/>
              </a:rPr>
              <a:t>果发生地址冲突，要</a:t>
            </a:r>
            <a:r>
              <a:rPr lang="zh-CN" altLang="en-US" sz="2000">
                <a:solidFill>
                  <a:srgbClr val="9C0B15"/>
                </a:solidFill>
                <a:sym typeface="+mn-ea"/>
              </a:rPr>
              <a:t>修改动态链接库的什么地方</a:t>
            </a:r>
            <a:r>
              <a:rPr lang="zh-CN" altLang="en-US" sz="2000">
                <a:sym typeface="+mn-ea"/>
              </a:rPr>
              <a:t>来</a:t>
            </a:r>
            <a:r>
              <a:rPr lang="zh-CN" altLang="en-US" sz="2000">
                <a:sym typeface="+mn-ea"/>
              </a:rPr>
              <a:t>处理冲突。</a:t>
            </a:r>
            <a:endParaRPr lang="zh-CN" altLang="en-US" sz="2000" b="1">
              <a:solidFill>
                <a:srgbClr val="9C0B15"/>
              </a:solidFill>
              <a:sym typeface="+mn-ea"/>
            </a:endParaRPr>
          </a:p>
        </p:txBody>
      </p:sp>
      <p:sp>
        <p:nvSpPr>
          <p:cNvPr id="79" name="矩形 78"/>
          <p:cNvSpPr/>
          <p:nvPr>
            <p:custDataLst>
              <p:tags r:id="rId2"/>
            </p:custDataLst>
          </p:nvPr>
        </p:nvSpPr>
        <p:spPr>
          <a:xfrm>
            <a:off x="333375" y="1488440"/>
            <a:ext cx="349313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80" name="文本框 79"/>
          <p:cNvSpPr txBox="1"/>
          <p:nvPr>
            <p:custDataLst>
              <p:tags r:id="rId3"/>
            </p:custDataLst>
          </p:nvPr>
        </p:nvSpPr>
        <p:spPr>
          <a:xfrm>
            <a:off x="333375" y="1869440"/>
            <a:ext cx="349313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r>
              <a:rPr lang="zh-CN" altLang="en-US" sz="2000" b="1">
                <a:solidFill>
                  <a:srgbClr val="00B050"/>
                </a:solidFill>
                <a:sym typeface="+mn-ea"/>
              </a:rPr>
              <a:t>RELOC	</a:t>
            </a:r>
            <a:r>
              <a:rPr lang="en-US" altLang="zh-CN" sz="2000" b="1">
                <a:solidFill>
                  <a:srgbClr val="00B050"/>
                </a:solidFill>
                <a:sym typeface="+mn-ea"/>
              </a:rPr>
              <a:t>LIB_A[0], LIB_A[1]</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[1E00H]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1900H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sp>
        <p:nvSpPr>
          <p:cNvPr id="2" name="矩形 1"/>
          <p:cNvSpPr/>
          <p:nvPr>
            <p:custDataLst>
              <p:tags r:id="rId4"/>
            </p:custDataLst>
          </p:nvPr>
        </p:nvSpPr>
        <p:spPr>
          <a:xfrm>
            <a:off x="5832475" y="1488440"/>
            <a:ext cx="349313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AB.SO+0x2000</a:t>
            </a:r>
            <a:endParaRPr lang="en-US" altLang="zh-CN" sz="2400" b="1">
              <a:solidFill>
                <a:schemeClr val="tx1"/>
              </a:solidFill>
              <a:latin typeface="微软雅黑" panose="020B0503020204020204" charset="-122"/>
              <a:ea typeface="微软雅黑" panose="020B0503020204020204" charset="-122"/>
            </a:endParaRPr>
          </a:p>
        </p:txBody>
      </p:sp>
      <p:sp>
        <p:nvSpPr>
          <p:cNvPr id="4" name="文本框 3"/>
          <p:cNvSpPr txBox="1"/>
          <p:nvPr>
            <p:custDataLst>
              <p:tags r:id="rId5"/>
            </p:custDataLst>
          </p:nvPr>
        </p:nvSpPr>
        <p:spPr>
          <a:xfrm>
            <a:off x="5832475" y="1869440"/>
            <a:ext cx="349313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r>
              <a:rPr lang="zh-CN" altLang="en-US" sz="2000" b="1">
                <a:solidFill>
                  <a:srgbClr val="00B050"/>
                </a:solidFill>
                <a:sym typeface="+mn-ea"/>
              </a:rPr>
              <a:t>RELOC	</a:t>
            </a:r>
            <a:r>
              <a:rPr lang="en-US" altLang="zh-CN" sz="2000" b="1">
                <a:solidFill>
                  <a:srgbClr val="00B050"/>
                </a:solidFill>
                <a:sym typeface="+mn-ea"/>
              </a:rPr>
              <a:t>LIB_A[0], LIB_A[1]</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3</a:t>
            </a:r>
            <a:r>
              <a:rPr lang="zh-CN" altLang="en-US" sz="2000" b="1">
                <a:solidFill>
                  <a:srgbClr val="00B050"/>
                </a:solidFill>
                <a:sym typeface="+mn-ea"/>
              </a:rPr>
              <a:t>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[3E00H]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3</a:t>
            </a:r>
            <a:r>
              <a:rPr lang="en-US" altLang="zh-CN" sz="2000" b="1">
                <a:solidFill>
                  <a:srgbClr val="C00000"/>
                </a:solidFill>
                <a:sym typeface="+mn-ea"/>
              </a:rPr>
              <a:t>900H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3</a:t>
            </a:r>
            <a:r>
              <a:rPr lang="zh-CN" altLang="en-US" sz="2000" b="1">
                <a:solidFill>
                  <a:srgbClr val="00B050"/>
                </a:solidFill>
                <a:sym typeface="+mn-ea"/>
              </a:rPr>
              <a:t>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3</a:t>
            </a:r>
            <a:r>
              <a:rPr lang="zh-CN" altLang="en-US" sz="2000" b="1">
                <a:solidFill>
                  <a:srgbClr val="00B050"/>
                </a:solidFill>
                <a:sym typeface="+mn-ea"/>
              </a:rPr>
              <a:t>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cxnSp>
        <p:nvCxnSpPr>
          <p:cNvPr id="61" name="直接箭头连接符 60"/>
          <p:cNvCxnSpPr/>
          <p:nvPr>
            <p:custDataLst>
              <p:tags r:id="rId6"/>
            </p:custDataLst>
          </p:nvPr>
        </p:nvCxnSpPr>
        <p:spPr>
          <a:xfrm>
            <a:off x="4311650" y="4029075"/>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Tree>
    <p:custDataLst>
      <p:tags r:id="rId7"/>
    </p:custData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改进：多个应用程序共享同一份</a:t>
            </a:r>
            <a:r>
              <a:rPr lang="zh-CN" altLang="en-US" sz="2000" b="1">
                <a:solidFill>
                  <a:srgbClr val="9C0B15"/>
                </a:solidFill>
                <a:sym typeface="+mn-ea"/>
              </a:rPr>
              <a:t>内存副本</a:t>
            </a:r>
            <a:endParaRPr lang="zh-CN" altLang="en-US" sz="2000" b="1">
              <a:solidFill>
                <a:srgbClr val="9C0B15"/>
              </a:solidFill>
              <a:sym typeface="+mn-ea"/>
            </a:endParaRPr>
          </a:p>
          <a:p>
            <a:pPr algn="ctr"/>
            <a:endParaRPr lang="zh-CN" altLang="en-US" sz="2000"/>
          </a:p>
          <a:p>
            <a:pPr algn="l"/>
            <a:r>
              <a:rPr lang="zh-CN" altLang="en-US" sz="2000" b="1">
                <a:solidFill>
                  <a:srgbClr val="9C0B15"/>
                </a:solidFill>
                <a:sym typeface="+mn-ea"/>
              </a:rPr>
              <a:t>重定位的问题</a:t>
            </a:r>
            <a:r>
              <a:rPr lang="en-US" altLang="zh-CN" sz="2000">
                <a:sym typeface="+mn-ea"/>
              </a:rPr>
              <a:t>	</a:t>
            </a:r>
            <a:r>
              <a:rPr lang="zh-CN" altLang="en-US" sz="2000">
                <a:sym typeface="+mn-ea"/>
              </a:rPr>
              <a:t>将动态链接库重定位后，如果需要多个应用程序共享一份内存副本</a:t>
            </a:r>
            <a:r>
              <a:rPr lang="en-US" altLang="zh-CN" sz="2000">
                <a:sym typeface="+mn-ea"/>
              </a:rPr>
              <a:t>		</a:t>
            </a:r>
            <a:r>
              <a:rPr lang="zh-CN" altLang="en-US" sz="2000">
                <a:sym typeface="+mn-ea"/>
              </a:rPr>
              <a:t>的话，</a:t>
            </a:r>
            <a:r>
              <a:rPr lang="en-US" altLang="zh-CN" sz="2000">
                <a:sym typeface="+mn-ea"/>
              </a:rPr>
              <a:t>	</a:t>
            </a:r>
            <a:r>
              <a:rPr lang="zh-CN" altLang="en-US" sz="2000">
                <a:sym typeface="+mn-ea"/>
              </a:rPr>
              <a:t>不管这个库重定位到哪里，</a:t>
            </a:r>
            <a:r>
              <a:rPr lang="zh-CN" altLang="en-US" sz="2000">
                <a:sym typeface="+mn-ea"/>
              </a:rPr>
              <a:t>多个应用程序都必须以</a:t>
            </a:r>
            <a:r>
              <a:rPr lang="zh-CN" altLang="en-US" sz="2000">
                <a:solidFill>
                  <a:srgbClr val="9C0B15"/>
                </a:solidFill>
                <a:sym typeface="+mn-ea"/>
              </a:rPr>
              <a:t>同样的</a:t>
            </a:r>
            <a:r>
              <a:rPr lang="zh-CN" altLang="en-US" sz="2000">
                <a:solidFill>
                  <a:srgbClr val="9C0B15"/>
                </a:solidFill>
                <a:sym typeface="+mn-ea"/>
              </a:rPr>
              <a:t>			</a:t>
            </a:r>
            <a:r>
              <a:rPr lang="zh-CN" altLang="en-US" sz="2000">
                <a:solidFill>
                  <a:srgbClr val="9C0B15"/>
                </a:solidFill>
                <a:sym typeface="+mn-ea"/>
              </a:rPr>
              <a:t>虚拟地址</a:t>
            </a:r>
            <a:r>
              <a:rPr lang="zh-CN" altLang="en-US" sz="2000">
                <a:sym typeface="+mn-ea"/>
              </a:rPr>
              <a:t>引用这个库。</a:t>
            </a:r>
            <a:endParaRPr lang="zh-CN" altLang="en-US" sz="2000">
              <a:sym typeface="+mn-ea"/>
            </a:endParaRPr>
          </a:p>
          <a:p>
            <a:pPr algn="l"/>
            <a:endParaRPr lang="zh-CN" altLang="en-US" sz="2000">
              <a:sym typeface="+mn-ea"/>
            </a:endParaRPr>
          </a:p>
          <a:p>
            <a:pPr algn="l"/>
            <a:r>
              <a:rPr lang="zh-CN" altLang="en-US" sz="2000" b="1">
                <a:solidFill>
                  <a:srgbClr val="9C0B15"/>
                </a:solidFill>
                <a:sym typeface="+mn-ea"/>
              </a:rPr>
              <a:t>如果...	</a:t>
            </a:r>
            <a:r>
              <a:rPr lang="en-US" altLang="zh-CN" sz="2000">
                <a:sym typeface="+mn-ea"/>
              </a:rPr>
              <a:t>	</a:t>
            </a:r>
            <a:r>
              <a:rPr lang="zh-CN" altLang="en-US" sz="2000">
                <a:solidFill>
                  <a:srgbClr val="9C0B15"/>
                </a:solidFill>
                <a:sym typeface="+mn-ea"/>
              </a:rPr>
              <a:t>新加载</a:t>
            </a:r>
            <a:r>
              <a:rPr lang="zh-CN" altLang="en-US" sz="2000">
                <a:sym typeface="+mn-ea"/>
              </a:rPr>
              <a:t>进来的应用程序与</a:t>
            </a:r>
            <a:r>
              <a:rPr lang="zh-CN" altLang="en-US" sz="2000">
                <a:solidFill>
                  <a:srgbClr val="9C0B15"/>
                </a:solidFill>
                <a:sym typeface="+mn-ea"/>
              </a:rPr>
              <a:t>已经加载好</a:t>
            </a:r>
            <a:r>
              <a:rPr lang="zh-CN" altLang="en-US" sz="2000">
                <a:sym typeface="+mn-ea"/>
              </a:rPr>
              <a:t>的动态库冲突</a:t>
            </a:r>
            <a:r>
              <a:rPr lang="zh-CN" altLang="en-US" sz="2000">
                <a:sym typeface="+mn-ea"/>
              </a:rPr>
              <a:t>怎么办？</a:t>
            </a:r>
            <a:endParaRPr lang="zh-CN" altLang="en-US" sz="2000">
              <a:sym typeface="+mn-ea"/>
            </a:endParaRPr>
          </a:p>
        </p:txBody>
      </p:sp>
      <p:sp>
        <p:nvSpPr>
          <p:cNvPr id="5" name="矩形 4"/>
          <p:cNvSpPr/>
          <p:nvPr>
            <p:custDataLst>
              <p:tags r:id="rId2"/>
            </p:custDataLst>
          </p:nvPr>
        </p:nvSpPr>
        <p:spPr>
          <a:xfrm>
            <a:off x="975360" y="3456940"/>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6" name="组合 5"/>
          <p:cNvGrpSpPr/>
          <p:nvPr/>
        </p:nvGrpSpPr>
        <p:grpSpPr>
          <a:xfrm>
            <a:off x="745490" y="2707005"/>
            <a:ext cx="2389505" cy="3856456"/>
            <a:chOff x="1174" y="2243"/>
            <a:chExt cx="3763" cy="6074"/>
          </a:xfrm>
        </p:grpSpPr>
        <p:sp>
          <p:nvSpPr>
            <p:cNvPr id="7" name="矩形 6"/>
            <p:cNvSpPr/>
            <p:nvPr>
              <p:custDataLst>
                <p:tags r:id="rId3"/>
              </p:custDataLst>
            </p:nvPr>
          </p:nvSpPr>
          <p:spPr>
            <a:xfrm>
              <a:off x="1536" y="6079"/>
              <a:ext cx="3040" cy="114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8" name="矩形 7"/>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虚拟地址空间</a:t>
              </a:r>
              <a:r>
                <a:rPr lang="en-US" altLang="zh-CN">
                  <a:solidFill>
                    <a:schemeClr val="tx1"/>
                  </a:solidFill>
                </a:rPr>
                <a:t>1</a:t>
              </a:r>
              <a:endParaRPr lang="en-US" altLang="zh-CN">
                <a:solidFill>
                  <a:schemeClr val="tx1"/>
                </a:solidFill>
              </a:endParaRPr>
            </a:p>
          </p:txBody>
        </p:sp>
      </p:grpSp>
      <p:grpSp>
        <p:nvGrpSpPr>
          <p:cNvPr id="9" name="组合 8"/>
          <p:cNvGrpSpPr/>
          <p:nvPr/>
        </p:nvGrpSpPr>
        <p:grpSpPr>
          <a:xfrm>
            <a:off x="6791960" y="2706370"/>
            <a:ext cx="2389505" cy="3856990"/>
            <a:chOff x="6948" y="2591"/>
            <a:chExt cx="3763" cy="6074"/>
          </a:xfrm>
        </p:grpSpPr>
        <p:sp>
          <p:nvSpPr>
            <p:cNvPr id="15" name="矩形 14"/>
            <p:cNvSpPr/>
            <p:nvPr>
              <p:custDataLst>
                <p:tags r:id="rId5"/>
              </p:custDataLst>
            </p:nvPr>
          </p:nvSpPr>
          <p:spPr>
            <a:xfrm>
              <a:off x="7310" y="4138"/>
              <a:ext cx="3040" cy="135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65" name="矩形 64"/>
            <p:cNvSpPr/>
            <p:nvPr>
              <p:custDataLst>
                <p:tags r:id="rId6"/>
              </p:custDataLst>
            </p:nvPr>
          </p:nvSpPr>
          <p:spPr>
            <a:xfrm>
              <a:off x="7310" y="6426"/>
              <a:ext cx="3040" cy="1143"/>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17" name="矩形 16"/>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sp>
        <p:nvSpPr>
          <p:cNvPr id="75" name="矩形 74"/>
          <p:cNvSpPr/>
          <p:nvPr>
            <p:custDataLst>
              <p:tags r:id="rId8"/>
            </p:custDataLst>
          </p:nvPr>
        </p:nvSpPr>
        <p:spPr>
          <a:xfrm>
            <a:off x="3775710" y="2706370"/>
            <a:ext cx="2389505" cy="385762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25" name="矩形 24"/>
          <p:cNvSpPr/>
          <p:nvPr>
            <p:custDataLst>
              <p:tags r:id="rId9"/>
            </p:custDataLst>
          </p:nvPr>
        </p:nvSpPr>
        <p:spPr>
          <a:xfrm>
            <a:off x="4005580" y="3973195"/>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26" name="矩形 25"/>
          <p:cNvSpPr/>
          <p:nvPr>
            <p:custDataLst>
              <p:tags r:id="rId10"/>
            </p:custDataLst>
          </p:nvPr>
        </p:nvSpPr>
        <p:spPr>
          <a:xfrm>
            <a:off x="4005580" y="5509260"/>
            <a:ext cx="1930400" cy="858520"/>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28" name="矩形 27"/>
          <p:cNvSpPr/>
          <p:nvPr>
            <p:custDataLst>
              <p:tags r:id="rId11"/>
            </p:custDataLst>
          </p:nvPr>
        </p:nvSpPr>
        <p:spPr>
          <a:xfrm>
            <a:off x="4005580" y="3099435"/>
            <a:ext cx="1930400" cy="725805"/>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cxnSp>
        <p:nvCxnSpPr>
          <p:cNvPr id="60" name="直接连接符 59"/>
          <p:cNvCxnSpPr>
            <a:endCxn id="28" idx="1"/>
          </p:cNvCxnSpPr>
          <p:nvPr>
            <p:custDataLst>
              <p:tags r:id="rId12"/>
            </p:custDataLst>
          </p:nvPr>
        </p:nvCxnSpPr>
        <p:spPr>
          <a:xfrm flipV="1">
            <a:off x="2905760" y="3462655"/>
            <a:ext cx="1099820" cy="204216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 idx="3"/>
            <a:endCxn id="25" idx="1"/>
          </p:cNvCxnSpPr>
          <p:nvPr>
            <p:custDataLst>
              <p:tags r:id="rId13"/>
            </p:custDataLst>
          </p:nvPr>
        </p:nvCxnSpPr>
        <p:spPr>
          <a:xfrm>
            <a:off x="2905760" y="4118610"/>
            <a:ext cx="1099820" cy="5162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26" idx="3"/>
          </p:cNvCxnSpPr>
          <p:nvPr>
            <p:custDataLst>
              <p:tags r:id="rId14"/>
            </p:custDataLst>
          </p:nvPr>
        </p:nvCxnSpPr>
        <p:spPr>
          <a:xfrm flipH="1">
            <a:off x="5935980" y="4117975"/>
            <a:ext cx="1085850" cy="182054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28" idx="3"/>
          </p:cNvCxnSpPr>
          <p:nvPr>
            <p:custDataLst>
              <p:tags r:id="rId15"/>
            </p:custDataLst>
          </p:nvPr>
        </p:nvCxnSpPr>
        <p:spPr>
          <a:xfrm flipH="1" flipV="1">
            <a:off x="5935980" y="3462655"/>
            <a:ext cx="1085850" cy="204216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custDataLst>
              <p:tags r:id="rId16"/>
            </p:custDataLst>
          </p:nvPr>
        </p:nvCxnSpPr>
        <p:spPr>
          <a:xfrm>
            <a:off x="962660" y="5141595"/>
            <a:ext cx="7999095" cy="952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17"/>
            </p:custDataLst>
          </p:nvPr>
        </p:nvCxnSpPr>
        <p:spPr>
          <a:xfrm>
            <a:off x="962660" y="5867400"/>
            <a:ext cx="7999095" cy="952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custDataLst>
      <p:tags r:id="rId18"/>
    </p:custData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改进：多个应用程序共享同一份</a:t>
            </a:r>
            <a:r>
              <a:rPr lang="zh-CN" altLang="en-US" sz="2000" b="1">
                <a:solidFill>
                  <a:srgbClr val="9C0B15"/>
                </a:solidFill>
                <a:sym typeface="+mn-ea"/>
              </a:rPr>
              <a:t>内存副本</a:t>
            </a:r>
            <a:endParaRPr lang="zh-CN" altLang="en-US" sz="2000" b="1">
              <a:solidFill>
                <a:srgbClr val="9C0B15"/>
              </a:solidFill>
              <a:sym typeface="+mn-ea"/>
            </a:endParaRPr>
          </a:p>
          <a:p>
            <a:pPr algn="ctr"/>
            <a:endParaRPr lang="zh-CN" altLang="en-US" sz="2000">
              <a:sym typeface="+mn-ea"/>
            </a:endParaRPr>
          </a:p>
          <a:p>
            <a:pPr algn="l"/>
            <a:r>
              <a:rPr lang="zh-CN" altLang="en-US" sz="2000" b="1">
                <a:solidFill>
                  <a:srgbClr val="9C0B15"/>
                </a:solidFill>
                <a:sym typeface="+mn-ea"/>
              </a:rPr>
              <a:t>如果...	</a:t>
            </a:r>
            <a:r>
              <a:rPr lang="en-US" altLang="zh-CN" sz="2000">
                <a:sym typeface="+mn-ea"/>
              </a:rPr>
              <a:t>	</a:t>
            </a:r>
            <a:r>
              <a:rPr lang="zh-CN" altLang="en-US" sz="2000">
                <a:solidFill>
                  <a:srgbClr val="9C0B15"/>
                </a:solidFill>
                <a:sym typeface="+mn-ea"/>
              </a:rPr>
              <a:t>新加载</a:t>
            </a:r>
            <a:r>
              <a:rPr lang="zh-CN" altLang="en-US" sz="2000">
                <a:sym typeface="+mn-ea"/>
              </a:rPr>
              <a:t>进来的应用程序与</a:t>
            </a:r>
            <a:r>
              <a:rPr lang="zh-CN" altLang="en-US" sz="2000">
                <a:solidFill>
                  <a:srgbClr val="9C0B15"/>
                </a:solidFill>
                <a:sym typeface="+mn-ea"/>
              </a:rPr>
              <a:t>已经加载好</a:t>
            </a:r>
            <a:r>
              <a:rPr lang="zh-CN" altLang="en-US" sz="2000">
                <a:sym typeface="+mn-ea"/>
              </a:rPr>
              <a:t>的动态库冲突</a:t>
            </a:r>
            <a:r>
              <a:rPr lang="zh-CN" altLang="en-US" sz="2000">
                <a:sym typeface="+mn-ea"/>
              </a:rPr>
              <a:t>怎么办？</a:t>
            </a:r>
            <a:endParaRPr lang="zh-CN" altLang="en-US" sz="2000">
              <a:sym typeface="+mn-ea"/>
            </a:endParaRPr>
          </a:p>
          <a:p>
            <a:pPr algn="l"/>
            <a:endParaRPr lang="zh-CN" altLang="en-US" sz="2000">
              <a:sym typeface="+mn-ea"/>
            </a:endParaRPr>
          </a:p>
          <a:p>
            <a:pPr algn="l"/>
            <a:r>
              <a:rPr lang="en-US" altLang="zh-CN" sz="2000">
                <a:sym typeface="+mn-ea"/>
              </a:rPr>
              <a:t>		</a:t>
            </a:r>
            <a:r>
              <a:rPr lang="zh-CN" altLang="en-US" sz="2000">
                <a:sym typeface="+mn-ea"/>
              </a:rPr>
              <a:t>如下图所示，加载应用程序</a:t>
            </a:r>
            <a:r>
              <a:rPr lang="en-US" altLang="zh-CN" sz="2000">
                <a:sym typeface="+mn-ea"/>
              </a:rPr>
              <a:t>1</a:t>
            </a:r>
            <a:r>
              <a:rPr lang="zh-CN" altLang="en-US" sz="2000">
                <a:sym typeface="+mn-ea"/>
              </a:rPr>
              <a:t>时</a:t>
            </a:r>
            <a:r>
              <a:rPr lang="zh-CN" altLang="en-US" sz="2000">
                <a:solidFill>
                  <a:srgbClr val="9C0B15"/>
                </a:solidFill>
                <a:sym typeface="+mn-ea"/>
              </a:rPr>
              <a:t>库被加载进物理内存并映射到某个</a:t>
            </a:r>
            <a:r>
              <a:rPr lang="zh-CN" altLang="en-US" sz="2000">
                <a:solidFill>
                  <a:srgbClr val="9C0B15"/>
                </a:solidFill>
                <a:sym typeface="+mn-ea"/>
              </a:rPr>
              <a:t>			</a:t>
            </a:r>
            <a:r>
              <a:rPr lang="zh-CN" altLang="en-US" sz="2000">
                <a:solidFill>
                  <a:srgbClr val="9C0B15"/>
                </a:solidFill>
                <a:sym typeface="+mn-ea"/>
              </a:rPr>
              <a:t>固定虚拟地址</a:t>
            </a:r>
            <a:r>
              <a:rPr lang="zh-CN" altLang="en-US" sz="2000">
                <a:sym typeface="+mn-ea"/>
              </a:rPr>
              <a:t>，加载应用程序</a:t>
            </a:r>
            <a:r>
              <a:rPr lang="en-US" altLang="zh-CN" sz="2000">
                <a:sym typeface="+mn-ea"/>
              </a:rPr>
              <a:t>2</a:t>
            </a:r>
            <a:r>
              <a:rPr lang="zh-CN" altLang="en-US" sz="2000">
                <a:sym typeface="+mn-ea"/>
              </a:rPr>
              <a:t>时库也</a:t>
            </a:r>
            <a:r>
              <a:rPr lang="zh-CN" altLang="en-US" sz="2000">
                <a:solidFill>
                  <a:srgbClr val="9C0B15"/>
                </a:solidFill>
                <a:sym typeface="+mn-ea"/>
              </a:rPr>
              <a:t>被映射到应用程序2的同样的</a:t>
            </a:r>
            <a:r>
              <a:rPr lang="zh-CN" altLang="en-US" sz="2000">
                <a:solidFill>
                  <a:srgbClr val="9C0B15"/>
                </a:solidFill>
                <a:sym typeface="+mn-ea"/>
              </a:rPr>
              <a:t>		</a:t>
            </a:r>
            <a:r>
              <a:rPr lang="zh-CN" altLang="en-US" sz="2000">
                <a:solidFill>
                  <a:srgbClr val="9C0B15"/>
                </a:solidFill>
                <a:sym typeface="+mn-ea"/>
              </a:rPr>
              <a:t>固定虚拟地址</a:t>
            </a:r>
            <a:r>
              <a:rPr lang="zh-CN" altLang="en-US" sz="2000">
                <a:sym typeface="+mn-ea"/>
              </a:rPr>
              <a:t>，但加载应用程序</a:t>
            </a:r>
            <a:r>
              <a:rPr lang="en-US" altLang="zh-CN" sz="2000">
                <a:sym typeface="+mn-ea"/>
              </a:rPr>
              <a:t>3</a:t>
            </a:r>
            <a:r>
              <a:rPr lang="zh-CN" altLang="en-US" sz="2000">
                <a:sym typeface="+mn-ea"/>
              </a:rPr>
              <a:t>时</a:t>
            </a:r>
            <a:r>
              <a:rPr lang="zh-CN" altLang="en-US" sz="2000">
                <a:solidFill>
                  <a:srgbClr val="9C0B15"/>
                </a:solidFill>
                <a:sym typeface="+mn-ea"/>
              </a:rPr>
              <a:t>冲突</a:t>
            </a:r>
            <a:r>
              <a:rPr lang="zh-CN" altLang="en-US" sz="2000">
                <a:sym typeface="+mn-ea"/>
              </a:rPr>
              <a:t>了。</a:t>
            </a:r>
            <a:endParaRPr lang="zh-CN" altLang="en-US" sz="2000">
              <a:sym typeface="+mn-ea"/>
            </a:endParaRPr>
          </a:p>
        </p:txBody>
      </p:sp>
      <p:sp>
        <p:nvSpPr>
          <p:cNvPr id="5" name="矩形 4"/>
          <p:cNvSpPr/>
          <p:nvPr>
            <p:custDataLst>
              <p:tags r:id="rId2"/>
            </p:custDataLst>
          </p:nvPr>
        </p:nvSpPr>
        <p:spPr>
          <a:xfrm>
            <a:off x="975360" y="3456940"/>
            <a:ext cx="1930400" cy="13227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6" name="组合 5"/>
          <p:cNvGrpSpPr/>
          <p:nvPr/>
        </p:nvGrpSpPr>
        <p:grpSpPr>
          <a:xfrm>
            <a:off x="745490" y="2707005"/>
            <a:ext cx="2389505" cy="3856456"/>
            <a:chOff x="1174" y="2243"/>
            <a:chExt cx="3763" cy="6074"/>
          </a:xfrm>
        </p:grpSpPr>
        <p:sp>
          <p:nvSpPr>
            <p:cNvPr id="7" name="矩形 6"/>
            <p:cNvSpPr/>
            <p:nvPr>
              <p:custDataLst>
                <p:tags r:id="rId3"/>
              </p:custDataLst>
            </p:nvPr>
          </p:nvSpPr>
          <p:spPr>
            <a:xfrm>
              <a:off x="1536" y="6079"/>
              <a:ext cx="3040" cy="1142"/>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8" name="矩形 7"/>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9" name="组合 8"/>
          <p:cNvGrpSpPr/>
          <p:nvPr/>
        </p:nvGrpSpPr>
        <p:grpSpPr>
          <a:xfrm>
            <a:off x="3767455" y="2706370"/>
            <a:ext cx="2389505" cy="3856990"/>
            <a:chOff x="6948" y="2591"/>
            <a:chExt cx="3763" cy="6074"/>
          </a:xfrm>
        </p:grpSpPr>
        <p:sp>
          <p:nvSpPr>
            <p:cNvPr id="15" name="矩形 14"/>
            <p:cNvSpPr/>
            <p:nvPr>
              <p:custDataLst>
                <p:tags r:id="rId5"/>
              </p:custDataLst>
            </p:nvPr>
          </p:nvSpPr>
          <p:spPr>
            <a:xfrm>
              <a:off x="7310" y="4138"/>
              <a:ext cx="3040" cy="1352"/>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65" name="矩形 64"/>
            <p:cNvSpPr/>
            <p:nvPr>
              <p:custDataLst>
                <p:tags r:id="rId6"/>
              </p:custDataLst>
            </p:nvPr>
          </p:nvSpPr>
          <p:spPr>
            <a:xfrm>
              <a:off x="7310" y="6426"/>
              <a:ext cx="3040" cy="1143"/>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17" name="矩形 16"/>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4" name="组合 3"/>
          <p:cNvGrpSpPr/>
          <p:nvPr/>
        </p:nvGrpSpPr>
        <p:grpSpPr>
          <a:xfrm>
            <a:off x="6779260" y="2707005"/>
            <a:ext cx="2389505" cy="3856990"/>
            <a:chOff x="6948" y="2591"/>
            <a:chExt cx="3763" cy="6074"/>
          </a:xfrm>
        </p:grpSpPr>
        <p:sp>
          <p:nvSpPr>
            <p:cNvPr id="61" name="矩形 60"/>
            <p:cNvSpPr/>
            <p:nvPr>
              <p:custDataLst>
                <p:tags r:id="rId8"/>
              </p:custDataLst>
            </p:nvPr>
          </p:nvSpPr>
          <p:spPr>
            <a:xfrm>
              <a:off x="7310" y="5489"/>
              <a:ext cx="3040" cy="1352"/>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sp>
          <p:nvSpPr>
            <p:cNvPr id="68" name="矩形 67"/>
            <p:cNvSpPr/>
            <p:nvPr>
              <p:custDataLst>
                <p:tags r:id="rId9"/>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3</a:t>
              </a:r>
              <a:endParaRPr lang="en-US" altLang="zh-CN">
                <a:solidFill>
                  <a:schemeClr val="tx1"/>
                </a:solidFill>
              </a:endParaRPr>
            </a:p>
          </p:txBody>
        </p:sp>
      </p:grpSp>
      <p:cxnSp>
        <p:nvCxnSpPr>
          <p:cNvPr id="64" name="直接连接符 63"/>
          <p:cNvCxnSpPr/>
          <p:nvPr>
            <p:custDataLst>
              <p:tags r:id="rId10"/>
            </p:custDataLst>
          </p:nvPr>
        </p:nvCxnSpPr>
        <p:spPr>
          <a:xfrm>
            <a:off x="962660" y="5141595"/>
            <a:ext cx="7999095" cy="952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11"/>
            </p:custDataLst>
          </p:nvPr>
        </p:nvCxnSpPr>
        <p:spPr>
          <a:xfrm>
            <a:off x="962660" y="5867400"/>
            <a:ext cx="7999095" cy="952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pic>
        <p:nvPicPr>
          <p:cNvPr id="69" name="图片 68" descr="450px-Orange_question_mark.svg"/>
          <p:cNvPicPr>
            <a:picLocks noChangeAspect="1"/>
          </p:cNvPicPr>
          <p:nvPr>
            <p:custDataLst>
              <p:tags r:id="rId12"/>
            </p:custDataLst>
          </p:nvPr>
        </p:nvPicPr>
        <p:blipFill>
          <a:blip r:embed="rId13"/>
          <a:stretch>
            <a:fillRect/>
          </a:stretch>
        </p:blipFill>
        <p:spPr>
          <a:xfrm>
            <a:off x="7407910" y="5054600"/>
            <a:ext cx="1144905" cy="1144905"/>
          </a:xfrm>
          <a:prstGeom prst="rect">
            <a:avLst/>
          </a:prstGeom>
        </p:spPr>
      </p:pic>
    </p:spTree>
    <p:custDataLst>
      <p:tags r:id="rId14"/>
    </p:custData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改进：多个应用程序共享同一份</a:t>
            </a:r>
            <a:r>
              <a:rPr lang="zh-CN" altLang="en-US" sz="2000" b="1">
                <a:solidFill>
                  <a:srgbClr val="9C0B15"/>
                </a:solidFill>
                <a:sym typeface="+mn-ea"/>
              </a:rPr>
              <a:t>内存副本</a:t>
            </a:r>
            <a:endParaRPr lang="zh-CN" altLang="en-US" sz="2000" b="1">
              <a:solidFill>
                <a:srgbClr val="9C0B15"/>
              </a:solidFill>
              <a:sym typeface="+mn-ea"/>
            </a:endParaRPr>
          </a:p>
          <a:p>
            <a:pPr algn="ctr"/>
            <a:endParaRPr lang="zh-CN" altLang="en-US" sz="2000">
              <a:sym typeface="+mn-ea"/>
            </a:endParaRPr>
          </a:p>
          <a:p>
            <a:pPr algn="l"/>
            <a:r>
              <a:rPr lang="zh-CN" altLang="en-US" sz="2000" b="1">
                <a:solidFill>
                  <a:srgbClr val="9C0B15"/>
                </a:solidFill>
                <a:sym typeface="+mn-ea"/>
              </a:rPr>
              <a:t>如果...	</a:t>
            </a:r>
            <a:r>
              <a:rPr lang="en-US" altLang="zh-CN" sz="2000">
                <a:sym typeface="+mn-ea"/>
              </a:rPr>
              <a:t>	</a:t>
            </a:r>
            <a:r>
              <a:rPr lang="zh-CN" altLang="en-US" sz="2000">
                <a:solidFill>
                  <a:srgbClr val="9C0B15"/>
                </a:solidFill>
                <a:sym typeface="+mn-ea"/>
              </a:rPr>
              <a:t>新加载</a:t>
            </a:r>
            <a:r>
              <a:rPr lang="zh-CN" altLang="en-US" sz="2000">
                <a:sym typeface="+mn-ea"/>
              </a:rPr>
              <a:t>进来的应用程序与</a:t>
            </a:r>
            <a:r>
              <a:rPr lang="zh-CN" altLang="en-US" sz="2000">
                <a:solidFill>
                  <a:srgbClr val="9C0B15"/>
                </a:solidFill>
                <a:sym typeface="+mn-ea"/>
              </a:rPr>
              <a:t>已经加载好</a:t>
            </a:r>
            <a:r>
              <a:rPr lang="zh-CN" altLang="en-US" sz="2000">
                <a:sym typeface="+mn-ea"/>
              </a:rPr>
              <a:t>的动态库冲突</a:t>
            </a:r>
            <a:r>
              <a:rPr lang="zh-CN" altLang="en-US" sz="2000">
                <a:sym typeface="+mn-ea"/>
              </a:rPr>
              <a:t>怎么办？</a:t>
            </a:r>
            <a:endParaRPr lang="zh-CN" altLang="en-US" sz="2000">
              <a:sym typeface="+mn-ea"/>
            </a:endParaRPr>
          </a:p>
          <a:p>
            <a:pPr algn="l"/>
            <a:endParaRPr lang="zh-CN" altLang="en-US" sz="2000">
              <a:sym typeface="+mn-ea"/>
            </a:endParaRPr>
          </a:p>
          <a:p>
            <a:pPr algn="l"/>
            <a:r>
              <a:rPr lang="zh-CN" altLang="en-US" sz="2000" b="1">
                <a:solidFill>
                  <a:srgbClr val="9C0B15"/>
                </a:solidFill>
                <a:sym typeface="+mn-ea"/>
              </a:rPr>
              <a:t>解决方案一</a:t>
            </a:r>
            <a:r>
              <a:rPr lang="en-US" altLang="zh-CN" sz="2000">
                <a:sym typeface="+mn-ea"/>
              </a:rPr>
              <a:t>	</a:t>
            </a:r>
            <a:r>
              <a:rPr lang="zh-CN" altLang="en-US" sz="2000">
                <a:sym typeface="+mn-ea"/>
              </a:rPr>
              <a:t>再加载一个新的副本，重定位到与应用程序</a:t>
            </a:r>
            <a:r>
              <a:rPr lang="en-US" altLang="zh-CN" sz="2000">
                <a:sym typeface="+mn-ea"/>
              </a:rPr>
              <a:t>3</a:t>
            </a:r>
            <a:r>
              <a:rPr lang="zh-CN" altLang="en-US" sz="2000">
                <a:sym typeface="+mn-ea"/>
              </a:rPr>
              <a:t>的本体不冲突的虚拟</a:t>
            </a:r>
            <a:r>
              <a:rPr lang="en-US" altLang="zh-CN" sz="2000">
                <a:sym typeface="+mn-ea"/>
              </a:rPr>
              <a:t>			</a:t>
            </a:r>
            <a:r>
              <a:rPr lang="zh-CN" altLang="en-US" sz="2000">
                <a:sym typeface="+mn-ea"/>
              </a:rPr>
              <a:t>地址去。问题：物理</a:t>
            </a:r>
            <a:r>
              <a:rPr lang="zh-CN" altLang="en-US" sz="2000">
                <a:sym typeface="+mn-ea"/>
              </a:rPr>
              <a:t>内存中有</a:t>
            </a:r>
            <a:r>
              <a:rPr lang="zh-CN" altLang="en-US" sz="2000">
                <a:solidFill>
                  <a:srgbClr val="9C0B15"/>
                </a:solidFill>
                <a:sym typeface="+mn-ea"/>
              </a:rPr>
              <a:t>两个库副本</a:t>
            </a:r>
            <a:r>
              <a:rPr lang="zh-CN" altLang="en-US" sz="2000">
                <a:sym typeface="+mn-ea"/>
              </a:rPr>
              <a:t>了。比三个副本还是来得</a:t>
            </a:r>
            <a:r>
              <a:rPr lang="en-US" altLang="zh-CN" sz="2000">
                <a:sym typeface="+mn-ea"/>
              </a:rPr>
              <a:t>		</a:t>
            </a:r>
            <a:r>
              <a:rPr lang="zh-CN" altLang="en-US" sz="2000">
                <a:sym typeface="+mn-ea"/>
              </a:rPr>
              <a:t>好，但是</a:t>
            </a:r>
            <a:r>
              <a:rPr lang="zh-CN" altLang="en-US" sz="2000">
                <a:sym typeface="+mn-ea"/>
              </a:rPr>
              <a:t>没达到目的。</a:t>
            </a: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2628265"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6426"/>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73" name="组合 72"/>
          <p:cNvGrpSpPr/>
          <p:nvPr/>
        </p:nvGrpSpPr>
        <p:grpSpPr>
          <a:xfrm>
            <a:off x="7529830" y="2707005"/>
            <a:ext cx="2082800" cy="3856990"/>
            <a:chOff x="6948" y="2591"/>
            <a:chExt cx="3763" cy="6074"/>
          </a:xfrm>
        </p:grpSpPr>
        <p:sp>
          <p:nvSpPr>
            <p:cNvPr id="74" name="矩形 73"/>
            <p:cNvSpPr/>
            <p:nvPr>
              <p:custDataLst>
                <p:tags r:id="rId8"/>
              </p:custDataLst>
            </p:nvPr>
          </p:nvSpPr>
          <p:spPr>
            <a:xfrm>
              <a:off x="7311" y="5906"/>
              <a:ext cx="3040" cy="71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sp>
          <p:nvSpPr>
            <p:cNvPr id="76" name="矩形 75"/>
            <p:cNvSpPr/>
            <p:nvPr>
              <p:custDataLst>
                <p:tags r:id="rId9"/>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3</a:t>
              </a:r>
              <a:endParaRPr lang="en-US" altLang="zh-CN">
                <a:solidFill>
                  <a:schemeClr val="tx1"/>
                </a:solidFill>
              </a:endParaRPr>
            </a:p>
          </p:txBody>
        </p:sp>
      </p:grpSp>
      <p:cxnSp>
        <p:nvCxnSpPr>
          <p:cNvPr id="77" name="直接连接符 76"/>
          <p:cNvCxnSpPr/>
          <p:nvPr>
            <p:custDataLst>
              <p:tags r:id="rId10"/>
            </p:custDataLst>
          </p:nvPr>
        </p:nvCxnSpPr>
        <p:spPr>
          <a:xfrm>
            <a:off x="461645" y="5139690"/>
            <a:ext cx="4045585" cy="11430"/>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11"/>
            </p:custDataLst>
          </p:nvPr>
        </p:nvCxnSpPr>
        <p:spPr>
          <a:xfrm>
            <a:off x="441325" y="5669280"/>
            <a:ext cx="4077335" cy="2349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80" name="矩形 79"/>
          <p:cNvSpPr/>
          <p:nvPr>
            <p:custDataLst>
              <p:tags r:id="rId12"/>
            </p:custDataLst>
          </p:nvPr>
        </p:nvSpPr>
        <p:spPr>
          <a:xfrm>
            <a:off x="7730490" y="3456940"/>
            <a:ext cx="1682750" cy="515620"/>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r>
              <a:rPr lang="en-US" altLang="zh-CN"/>
              <a:t>-0x2000</a:t>
            </a:r>
            <a:endParaRPr lang="en-US" altLang="zh-CN"/>
          </a:p>
        </p:txBody>
      </p:sp>
      <p:grpSp>
        <p:nvGrpSpPr>
          <p:cNvPr id="85" name="组合 84"/>
          <p:cNvGrpSpPr/>
          <p:nvPr/>
        </p:nvGrpSpPr>
        <p:grpSpPr>
          <a:xfrm>
            <a:off x="5100955" y="2706370"/>
            <a:ext cx="2080178" cy="3857625"/>
            <a:chOff x="7718" y="4262"/>
            <a:chExt cx="3763" cy="6075"/>
          </a:xfrm>
        </p:grpSpPr>
        <p:sp>
          <p:nvSpPr>
            <p:cNvPr id="81" name="矩形 80"/>
            <p:cNvSpPr/>
            <p:nvPr>
              <p:custDataLst>
                <p:tags r:id="rId13"/>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14"/>
              </p:custDataLst>
            </p:nvPr>
          </p:nvSpPr>
          <p:spPr>
            <a:xfrm>
              <a:off x="8080" y="6117"/>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5"/>
              </p:custDataLst>
            </p:nvPr>
          </p:nvSpPr>
          <p:spPr>
            <a:xfrm>
              <a:off x="8083" y="8513"/>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6"/>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grpSp>
      <p:sp>
        <p:nvSpPr>
          <p:cNvPr id="86" name="矩形 85"/>
          <p:cNvSpPr/>
          <p:nvPr>
            <p:custDataLst>
              <p:tags r:id="rId17"/>
            </p:custDataLst>
          </p:nvPr>
        </p:nvSpPr>
        <p:spPr>
          <a:xfrm>
            <a:off x="5302338" y="5941060"/>
            <a:ext cx="1680505" cy="516890"/>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r>
              <a:rPr lang="en-US" altLang="zh-CN"/>
              <a:t>-0x2000</a:t>
            </a:r>
            <a:endParaRPr lang="en-US" altLang="zh-CN"/>
          </a:p>
        </p:txBody>
      </p:sp>
      <p:sp>
        <p:nvSpPr>
          <p:cNvPr id="87" name="矩形 86"/>
          <p:cNvSpPr/>
          <p:nvPr>
            <p:custDataLst>
              <p:tags r:id="rId18"/>
            </p:custDataLst>
          </p:nvPr>
        </p:nvSpPr>
        <p:spPr>
          <a:xfrm>
            <a:off x="5303144" y="4812030"/>
            <a:ext cx="1682623" cy="45085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cxnSp>
        <p:nvCxnSpPr>
          <p:cNvPr id="88" name="直接连接符 87"/>
          <p:cNvCxnSpPr>
            <a:stCxn id="70" idx="3"/>
            <a:endCxn id="84" idx="1"/>
          </p:cNvCxnSpPr>
          <p:nvPr>
            <p:custDataLst>
              <p:tags r:id="rId19"/>
            </p:custDataLst>
          </p:nvPr>
        </p:nvCxnSpPr>
        <p:spPr>
          <a:xfrm flipV="1">
            <a:off x="4511675" y="3430270"/>
            <a:ext cx="789305" cy="197548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80" idx="1"/>
            <a:endCxn id="86" idx="3"/>
          </p:cNvCxnSpPr>
          <p:nvPr>
            <p:custDataLst>
              <p:tags r:id="rId20"/>
            </p:custDataLst>
          </p:nvPr>
        </p:nvCxnSpPr>
        <p:spPr>
          <a:xfrm flipH="1">
            <a:off x="6982460" y="3714750"/>
            <a:ext cx="748030" cy="24847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21"/>
    </p:custData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553335"/>
          </a:xfrm>
          <a:prstGeom prst="rect">
            <a:avLst/>
          </a:prstGeom>
          <a:noFill/>
        </p:spPr>
        <p:txBody>
          <a:bodyPr wrap="square" rtlCol="0">
            <a:spAutoFit/>
          </a:bodyPr>
          <a:p>
            <a:pPr algn="ctr"/>
            <a:r>
              <a:rPr lang="zh-CN" altLang="en-US" sz="2000" b="1">
                <a:solidFill>
                  <a:srgbClr val="9C0B15"/>
                </a:solidFill>
                <a:sym typeface="+mn-ea"/>
              </a:rPr>
              <a:t>改进：多个应用程序共享同一份</a:t>
            </a:r>
            <a:r>
              <a:rPr lang="zh-CN" altLang="en-US" sz="2000" b="1">
                <a:solidFill>
                  <a:srgbClr val="9C0B15"/>
                </a:solidFill>
                <a:sym typeface="+mn-ea"/>
              </a:rPr>
              <a:t>内存副本</a:t>
            </a:r>
            <a:endParaRPr lang="zh-CN" altLang="en-US" sz="2000" b="1">
              <a:solidFill>
                <a:srgbClr val="9C0B15"/>
              </a:solidFill>
              <a:sym typeface="+mn-ea"/>
            </a:endParaRPr>
          </a:p>
          <a:p>
            <a:pPr algn="ctr"/>
            <a:endParaRPr lang="zh-CN" altLang="en-US" sz="2000">
              <a:sym typeface="+mn-ea"/>
            </a:endParaRPr>
          </a:p>
          <a:p>
            <a:pPr algn="l"/>
            <a:r>
              <a:rPr lang="zh-CN" altLang="en-US" sz="2000" b="1">
                <a:solidFill>
                  <a:srgbClr val="9C0B15"/>
                </a:solidFill>
                <a:sym typeface="+mn-ea"/>
              </a:rPr>
              <a:t>如果...	</a:t>
            </a:r>
            <a:r>
              <a:rPr lang="en-US" altLang="zh-CN" sz="2000">
                <a:sym typeface="+mn-ea"/>
              </a:rPr>
              <a:t>	</a:t>
            </a:r>
            <a:r>
              <a:rPr lang="zh-CN" altLang="en-US" sz="2000">
                <a:solidFill>
                  <a:srgbClr val="9C0B15"/>
                </a:solidFill>
                <a:sym typeface="+mn-ea"/>
              </a:rPr>
              <a:t>新加载</a:t>
            </a:r>
            <a:r>
              <a:rPr lang="zh-CN" altLang="en-US" sz="2000">
                <a:sym typeface="+mn-ea"/>
              </a:rPr>
              <a:t>进来的应用程序与</a:t>
            </a:r>
            <a:r>
              <a:rPr lang="zh-CN" altLang="en-US" sz="2000">
                <a:solidFill>
                  <a:srgbClr val="9C0B15"/>
                </a:solidFill>
                <a:sym typeface="+mn-ea"/>
              </a:rPr>
              <a:t>已经加载好</a:t>
            </a:r>
            <a:r>
              <a:rPr lang="zh-CN" altLang="en-US" sz="2000">
                <a:sym typeface="+mn-ea"/>
              </a:rPr>
              <a:t>的动态库冲突</a:t>
            </a:r>
            <a:r>
              <a:rPr lang="zh-CN" altLang="en-US" sz="2000">
                <a:sym typeface="+mn-ea"/>
              </a:rPr>
              <a:t>怎么办？</a:t>
            </a:r>
            <a:endParaRPr lang="zh-CN" altLang="en-US" sz="2000">
              <a:sym typeface="+mn-ea"/>
            </a:endParaRPr>
          </a:p>
          <a:p>
            <a:pPr algn="l"/>
            <a:endParaRPr lang="zh-CN" altLang="en-US" sz="2000">
              <a:sym typeface="+mn-ea"/>
            </a:endParaRPr>
          </a:p>
          <a:p>
            <a:pPr algn="l"/>
            <a:r>
              <a:rPr lang="zh-CN" altLang="en-US" sz="2000" b="1">
                <a:solidFill>
                  <a:srgbClr val="9C0B15"/>
                </a:solidFill>
                <a:sym typeface="+mn-ea"/>
              </a:rPr>
              <a:t>解决方案二</a:t>
            </a:r>
            <a:r>
              <a:rPr lang="en-US" altLang="zh-CN" sz="2000">
                <a:sym typeface="+mn-ea"/>
              </a:rPr>
              <a:t>	</a:t>
            </a:r>
            <a:r>
              <a:rPr lang="zh-CN" altLang="en-US" sz="2000">
                <a:sym typeface="+mn-ea"/>
              </a:rPr>
              <a:t>规定动态链接库使用的地址范围为</a:t>
            </a:r>
            <a:r>
              <a:rPr lang="en-US" altLang="zh-CN" sz="2000">
                <a:sym typeface="+mn-ea"/>
              </a:rPr>
              <a:t>0x0000-0x7FFF</a:t>
            </a:r>
            <a:r>
              <a:rPr lang="zh-CN" altLang="en-US" sz="2000">
                <a:sym typeface="+mn-ea"/>
              </a:rPr>
              <a:t>，而应用程序只能</a:t>
            </a:r>
            <a:r>
              <a:rPr lang="en-US" altLang="zh-CN" sz="2000">
                <a:sym typeface="+mn-ea"/>
              </a:rPr>
              <a:t>		</a:t>
            </a:r>
            <a:r>
              <a:rPr lang="zh-CN" altLang="en-US" sz="2000">
                <a:sym typeface="+mn-ea"/>
              </a:rPr>
              <a:t>使用</a:t>
            </a:r>
            <a:r>
              <a:rPr lang="en-US" altLang="zh-CN" sz="2000">
                <a:sym typeface="+mn-ea"/>
              </a:rPr>
              <a:t>0x8000-0x</a:t>
            </a:r>
            <a:r>
              <a:rPr lang="en-US" altLang="zh-CN" sz="2000">
                <a:sym typeface="+mn-ea"/>
              </a:rPr>
              <a:t>FFFF</a:t>
            </a:r>
            <a:r>
              <a:rPr lang="zh-CN" altLang="en-US" sz="2000">
                <a:sym typeface="+mn-ea"/>
              </a:rPr>
              <a:t>，这样</a:t>
            </a:r>
            <a:r>
              <a:rPr lang="zh-CN" altLang="en-US" sz="2000">
                <a:solidFill>
                  <a:srgbClr val="9C0B15"/>
                </a:solidFill>
                <a:sym typeface="+mn-ea"/>
              </a:rPr>
              <a:t>不可能出现应用程序和动态链接库冲突</a:t>
            </a:r>
            <a:r>
              <a:rPr lang="zh-CN" altLang="en-US" sz="2000">
                <a:sym typeface="+mn-ea"/>
              </a:rPr>
              <a:t>的</a:t>
            </a:r>
            <a:r>
              <a:rPr lang="en-US" altLang="zh-CN" sz="2000">
                <a:sym typeface="+mn-ea"/>
              </a:rPr>
              <a:t>		</a:t>
            </a:r>
            <a:r>
              <a:rPr lang="zh-CN" altLang="en-US" sz="2000">
                <a:sym typeface="+mn-ea"/>
              </a:rPr>
              <a:t>情况。但这</a:t>
            </a:r>
            <a:r>
              <a:rPr lang="zh-CN" altLang="en-US" sz="2000">
                <a:solidFill>
                  <a:srgbClr val="9C0B15"/>
                </a:solidFill>
                <a:sym typeface="+mn-ea"/>
              </a:rPr>
              <a:t>限制了应用程序的布局</a:t>
            </a:r>
            <a:r>
              <a:rPr lang="zh-CN" altLang="en-US" sz="2000">
                <a:sym typeface="+mn-ea"/>
              </a:rPr>
              <a:t>，如果应用程序需要使用</a:t>
            </a:r>
            <a:r>
              <a:rPr lang="zh-CN" altLang="en-US" sz="2000">
                <a:sym typeface="+mn-ea"/>
              </a:rPr>
              <a:t>低地址</a:t>
            </a:r>
            <a:r>
              <a:rPr lang="en-US" altLang="zh-CN" sz="2000">
                <a:sym typeface="+mn-ea"/>
              </a:rPr>
              <a:t>		</a:t>
            </a:r>
            <a:r>
              <a:rPr lang="zh-CN" altLang="en-US" sz="2000">
                <a:sym typeface="+mn-ea"/>
              </a:rPr>
              <a:t>呢？而且，</a:t>
            </a:r>
            <a:r>
              <a:rPr lang="zh-CN" altLang="en-US" sz="2000">
                <a:solidFill>
                  <a:srgbClr val="9C0B15"/>
                </a:solidFill>
                <a:sym typeface="+mn-ea"/>
              </a:rPr>
              <a:t>每一个动态链接库都必须占据一个独立的虚拟地址</a:t>
            </a:r>
            <a:r>
              <a:rPr lang="zh-CN" altLang="en-US" sz="2000">
                <a:sym typeface="+mn-ea"/>
              </a:rPr>
              <a:t>。</a:t>
            </a: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2628265"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6426"/>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73" name="组合 72"/>
          <p:cNvGrpSpPr/>
          <p:nvPr/>
        </p:nvGrpSpPr>
        <p:grpSpPr>
          <a:xfrm>
            <a:off x="7529830" y="2707005"/>
            <a:ext cx="2082800" cy="3856990"/>
            <a:chOff x="6948" y="2591"/>
            <a:chExt cx="3763" cy="6074"/>
          </a:xfrm>
        </p:grpSpPr>
        <p:sp>
          <p:nvSpPr>
            <p:cNvPr id="74" name="矩形 73"/>
            <p:cNvSpPr/>
            <p:nvPr>
              <p:custDataLst>
                <p:tags r:id="rId8"/>
              </p:custDataLst>
            </p:nvPr>
          </p:nvSpPr>
          <p:spPr>
            <a:xfrm>
              <a:off x="7311" y="3730"/>
              <a:ext cx="3040" cy="71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sp>
          <p:nvSpPr>
            <p:cNvPr id="76" name="矩形 75"/>
            <p:cNvSpPr/>
            <p:nvPr>
              <p:custDataLst>
                <p:tags r:id="rId9"/>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3</a:t>
              </a:r>
              <a:endParaRPr lang="en-US" altLang="zh-CN">
                <a:solidFill>
                  <a:schemeClr val="tx1"/>
                </a:solidFill>
              </a:endParaRPr>
            </a:p>
          </p:txBody>
        </p:sp>
      </p:grpSp>
      <p:sp>
        <p:nvSpPr>
          <p:cNvPr id="80" name="矩形 79"/>
          <p:cNvSpPr/>
          <p:nvPr>
            <p:custDataLst>
              <p:tags r:id="rId10"/>
            </p:custDataLst>
          </p:nvPr>
        </p:nvSpPr>
        <p:spPr>
          <a:xfrm>
            <a:off x="7732395" y="5139690"/>
            <a:ext cx="1682750" cy="515620"/>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grpSp>
        <p:nvGrpSpPr>
          <p:cNvPr id="85" name="组合 84"/>
          <p:cNvGrpSpPr/>
          <p:nvPr/>
        </p:nvGrpSpPr>
        <p:grpSpPr>
          <a:xfrm>
            <a:off x="5100955" y="2706370"/>
            <a:ext cx="2080178" cy="3857625"/>
            <a:chOff x="7718" y="4262"/>
            <a:chExt cx="3763" cy="6075"/>
          </a:xfrm>
        </p:grpSpPr>
        <p:sp>
          <p:nvSpPr>
            <p:cNvPr id="81" name="矩形 80"/>
            <p:cNvSpPr/>
            <p:nvPr>
              <p:custDataLst>
                <p:tags r:id="rId11"/>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12"/>
              </p:custDataLst>
            </p:nvPr>
          </p:nvSpPr>
          <p:spPr>
            <a:xfrm>
              <a:off x="8080" y="6117"/>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3"/>
              </p:custDataLst>
            </p:nvPr>
          </p:nvSpPr>
          <p:spPr>
            <a:xfrm>
              <a:off x="8083" y="8513"/>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4"/>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grpSp>
      <p:sp>
        <p:nvSpPr>
          <p:cNvPr id="87" name="矩形 86"/>
          <p:cNvSpPr/>
          <p:nvPr>
            <p:custDataLst>
              <p:tags r:id="rId15"/>
            </p:custDataLst>
          </p:nvPr>
        </p:nvSpPr>
        <p:spPr>
          <a:xfrm>
            <a:off x="5303144" y="4812030"/>
            <a:ext cx="1682623" cy="45085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cxnSp>
        <p:nvCxnSpPr>
          <p:cNvPr id="88" name="直接连接符 87"/>
          <p:cNvCxnSpPr>
            <a:stCxn id="70" idx="3"/>
            <a:endCxn id="84" idx="1"/>
          </p:cNvCxnSpPr>
          <p:nvPr>
            <p:custDataLst>
              <p:tags r:id="rId16"/>
            </p:custDataLst>
          </p:nvPr>
        </p:nvCxnSpPr>
        <p:spPr>
          <a:xfrm flipV="1">
            <a:off x="4511675" y="3430270"/>
            <a:ext cx="789305" cy="197548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80" idx="1"/>
            <a:endCxn id="84" idx="3"/>
          </p:cNvCxnSpPr>
          <p:nvPr>
            <p:custDataLst>
              <p:tags r:id="rId17"/>
            </p:custDataLst>
          </p:nvPr>
        </p:nvCxnSpPr>
        <p:spPr>
          <a:xfrm flipH="1" flipV="1">
            <a:off x="6981190" y="3430270"/>
            <a:ext cx="751205" cy="196723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custDataLst>
              <p:tags r:id="rId18"/>
            </p:custDataLst>
          </p:nvPr>
        </p:nvCxnSpPr>
        <p:spPr>
          <a:xfrm flipV="1">
            <a:off x="461645" y="5135245"/>
            <a:ext cx="8931275" cy="444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19"/>
            </p:custDataLst>
          </p:nvPr>
        </p:nvCxnSpPr>
        <p:spPr>
          <a:xfrm flipV="1">
            <a:off x="441325" y="5654675"/>
            <a:ext cx="8963025" cy="14605"/>
          </a:xfrm>
          <a:prstGeom prst="line">
            <a:avLst/>
          </a:prstGeom>
          <a:ln w="28575" cmpd="sng">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custDataLst>
      <p:tags r:id="rId20"/>
    </p:custData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322070"/>
          </a:xfrm>
          <a:prstGeom prst="rect">
            <a:avLst/>
          </a:prstGeom>
          <a:noFill/>
        </p:spPr>
        <p:txBody>
          <a:bodyPr wrap="square" rtlCol="0">
            <a:spAutoFit/>
          </a:bodyPr>
          <a:p>
            <a:pPr algn="ctr"/>
            <a:r>
              <a:rPr lang="zh-CN" altLang="en-US" sz="2000" b="1">
                <a:solidFill>
                  <a:srgbClr val="9C0B15"/>
                </a:solidFill>
                <a:sym typeface="+mn-ea"/>
              </a:rPr>
              <a:t>改进：位置无关代码（</a:t>
            </a:r>
            <a:r>
              <a:rPr lang="en-US" altLang="zh-CN" sz="2000" b="1">
                <a:solidFill>
                  <a:srgbClr val="9C0B15"/>
                </a:solidFill>
                <a:sym typeface="+mn-ea"/>
              </a:rPr>
              <a:t>Position-Independent Code</a:t>
            </a:r>
            <a:r>
              <a:rPr lang="zh-CN" altLang="en-US" sz="2000" b="1">
                <a:solidFill>
                  <a:srgbClr val="9C0B15"/>
                </a:solidFill>
                <a:sym typeface="+mn-ea"/>
              </a:rPr>
              <a:t>）</a:t>
            </a:r>
            <a:endParaRPr lang="zh-CN" altLang="en-US" sz="2000" b="1">
              <a:solidFill>
                <a:srgbClr val="9C0B15"/>
              </a:solidFill>
              <a:sym typeface="+mn-ea"/>
            </a:endParaRPr>
          </a:p>
          <a:p>
            <a:pPr algn="ctr"/>
            <a:endParaRPr lang="zh-CN" altLang="en-US" sz="2000">
              <a:sym typeface="+mn-ea"/>
            </a:endParaRPr>
          </a:p>
          <a:p>
            <a:pPr algn="l"/>
            <a:r>
              <a:rPr lang="zh-CN" altLang="en-US" sz="2000" b="1">
                <a:solidFill>
                  <a:srgbClr val="9C0B15"/>
                </a:solidFill>
                <a:sym typeface="+mn-ea"/>
              </a:rPr>
              <a:t>位置无关代码	</a:t>
            </a:r>
            <a:r>
              <a:rPr lang="zh-CN" altLang="en-US" sz="2000">
                <a:sym typeface="+mn-ea"/>
              </a:rPr>
              <a:t>加载到</a:t>
            </a:r>
            <a:r>
              <a:rPr lang="zh-CN" altLang="en-US" sz="2000">
                <a:solidFill>
                  <a:srgbClr val="9C0B15"/>
                </a:solidFill>
                <a:sym typeface="+mn-ea"/>
              </a:rPr>
              <a:t>任何绝对地址</a:t>
            </a:r>
            <a:r>
              <a:rPr lang="zh-CN" altLang="en-US" sz="2000">
                <a:sym typeface="+mn-ea"/>
              </a:rPr>
              <a:t>都可以直接运行的代码。其所有的地址访问</a:t>
            </a:r>
            <a:r>
              <a:rPr lang="zh-CN" altLang="en-US" sz="2000" b="1">
                <a:solidFill>
                  <a:srgbClr val="9C0B15"/>
                </a:solidFill>
                <a:sym typeface="+mn-ea"/>
              </a:rPr>
              <a:t>			</a:t>
            </a:r>
            <a:r>
              <a:rPr lang="zh-CN" altLang="en-US" sz="2000">
                <a:sym typeface="+mn-ea"/>
              </a:rPr>
              <a:t>（包括代码和变量）都</a:t>
            </a:r>
            <a:r>
              <a:rPr lang="zh-CN" altLang="en-US" sz="2000">
                <a:solidFill>
                  <a:srgbClr val="9C0B15"/>
                </a:solidFill>
                <a:sym typeface="+mn-ea"/>
              </a:rPr>
              <a:t>相对于某指针，常见的是</a:t>
            </a:r>
            <a:r>
              <a:rPr lang="en-US" altLang="zh-CN" sz="2000">
                <a:solidFill>
                  <a:srgbClr val="9C0B15"/>
                </a:solidFill>
                <a:sym typeface="+mn-ea"/>
              </a:rPr>
              <a:t>IP</a:t>
            </a:r>
            <a:r>
              <a:rPr lang="zh-CN" altLang="en-US" sz="2000">
                <a:solidFill>
                  <a:srgbClr val="9C0B15"/>
                </a:solidFill>
                <a:sym typeface="+mn-ea"/>
              </a:rPr>
              <a:t>、</a:t>
            </a:r>
            <a:r>
              <a:rPr lang="en-US" altLang="zh-CN" sz="2000">
                <a:solidFill>
                  <a:srgbClr val="9C0B15"/>
                </a:solidFill>
                <a:sym typeface="+mn-ea"/>
              </a:rPr>
              <a:t>SP</a:t>
            </a:r>
            <a:r>
              <a:rPr lang="zh-CN" altLang="en-US" sz="2000">
                <a:solidFill>
                  <a:srgbClr val="9C0B15"/>
                </a:solidFill>
                <a:sym typeface="+mn-ea"/>
              </a:rPr>
              <a:t>或</a:t>
            </a:r>
            <a:r>
              <a:rPr lang="en-US" altLang="zh-CN" sz="2000">
                <a:solidFill>
                  <a:srgbClr val="9C0B15"/>
                </a:solidFill>
                <a:sym typeface="+mn-ea"/>
              </a:rPr>
              <a:t>BP</a:t>
            </a:r>
            <a:r>
              <a:rPr lang="zh-CN" altLang="en-US" sz="2000">
                <a:sym typeface="+mn-ea"/>
              </a:rPr>
              <a:t>。</a:t>
            </a:r>
            <a:endParaRPr lang="zh-CN" altLang="en-US" sz="2000">
              <a:sym typeface="+mn-ea"/>
            </a:endParaRPr>
          </a:p>
        </p:txBody>
      </p:sp>
      <p:sp>
        <p:nvSpPr>
          <p:cNvPr id="79" name="矩形 78"/>
          <p:cNvSpPr/>
          <p:nvPr>
            <p:custDataLst>
              <p:tags r:id="rId2"/>
            </p:custDataLst>
          </p:nvPr>
        </p:nvSpPr>
        <p:spPr>
          <a:xfrm>
            <a:off x="333375" y="1488440"/>
            <a:ext cx="349313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333375" y="1869440"/>
            <a:ext cx="349313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r>
              <a:rPr lang="zh-CN" altLang="en-US" sz="2000" b="1">
                <a:solidFill>
                  <a:srgbClr val="00B050"/>
                </a:solidFill>
                <a:sym typeface="+mn-ea"/>
              </a:rPr>
              <a:t>RELOC	</a:t>
            </a:r>
            <a:r>
              <a:rPr lang="en-US" altLang="zh-CN" sz="2000" b="1">
                <a:solidFill>
                  <a:srgbClr val="00B050"/>
                </a:solidFill>
                <a:sym typeface="+mn-ea"/>
              </a:rPr>
              <a:t>LIB_A[0], LIB_A[1]</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[1E00H]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1900H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cxnSp>
        <p:nvCxnSpPr>
          <p:cNvPr id="6" name="直接箭头连接符 5"/>
          <p:cNvCxnSpPr/>
          <p:nvPr>
            <p:custDataLst>
              <p:tags r:id="rId4"/>
            </p:custDataLst>
          </p:nvPr>
        </p:nvCxnSpPr>
        <p:spPr>
          <a:xfrm>
            <a:off x="4311650" y="4029075"/>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5"/>
            </p:custDataLst>
          </p:nvPr>
        </p:nvSpPr>
        <p:spPr>
          <a:xfrm>
            <a:off x="5832475" y="1488440"/>
            <a:ext cx="378015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8" name="文本框 7"/>
          <p:cNvSpPr txBox="1"/>
          <p:nvPr>
            <p:custDataLst>
              <p:tags r:id="rId6"/>
            </p:custDataLst>
          </p:nvPr>
        </p:nvSpPr>
        <p:spPr>
          <a:xfrm>
            <a:off x="5832475" y="1869440"/>
            <a:ext cx="378015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sz="2000" b="1">
                <a:solidFill>
                  <a:srgbClr val="00B050"/>
                </a:solidFill>
                <a:sym typeface="+mn-ea"/>
              </a:rPr>
              <a:t>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DS:[IP+600H]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IP+0</a:t>
            </a:r>
            <a:r>
              <a:rPr lang="en-US" altLang="zh-CN" sz="2000" b="1">
                <a:solidFill>
                  <a:srgbClr val="C00000"/>
                </a:solidFill>
                <a:sym typeface="+mn-ea"/>
              </a:rPr>
              <a:t>FCH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1</a:t>
            </a:r>
            <a:r>
              <a:rPr lang="zh-CN" altLang="en-US" sz="2000" b="1">
                <a:solidFill>
                  <a:srgbClr val="00B050"/>
                </a:solidFill>
                <a:sym typeface="+mn-ea"/>
              </a:rPr>
              <a:t>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1</a:t>
            </a:r>
            <a:r>
              <a:rPr lang="zh-CN" altLang="en-US" sz="2000" b="1">
                <a:solidFill>
                  <a:srgbClr val="00B050"/>
                </a:solidFill>
                <a:sym typeface="+mn-ea"/>
              </a:rPr>
              <a:t>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sp>
        <p:nvSpPr>
          <p:cNvPr id="9" name="右箭头标注 8"/>
          <p:cNvSpPr/>
          <p:nvPr/>
        </p:nvSpPr>
        <p:spPr>
          <a:xfrm>
            <a:off x="3970020" y="2913380"/>
            <a:ext cx="2263140" cy="728345"/>
          </a:xfrm>
          <a:prstGeom prst="rightArrowCallout">
            <a:avLst>
              <a:gd name="adj1" fmla="val 18633"/>
              <a:gd name="adj2" fmla="val 19742"/>
              <a:gd name="adj3" fmla="val 36488"/>
              <a:gd name="adj4" fmla="val 73288"/>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假设这条</a:t>
            </a:r>
            <a:r>
              <a:rPr lang="en-US" altLang="zh-CN"/>
              <a:t>MOV</a:t>
            </a:r>
            <a:r>
              <a:rPr lang="zh-CN" altLang="en-US"/>
              <a:t>指令是</a:t>
            </a:r>
            <a:r>
              <a:rPr lang="en-US" altLang="zh-CN"/>
              <a:t>4</a:t>
            </a:r>
            <a:r>
              <a:rPr lang="zh-CN" altLang="en-US"/>
              <a:t>字节</a:t>
            </a:r>
            <a:endParaRPr lang="zh-CN" altLang="en-US"/>
          </a:p>
        </p:txBody>
      </p:sp>
      <p:sp>
        <p:nvSpPr>
          <p:cNvPr id="15" name="矩形 14"/>
          <p:cNvSpPr/>
          <p:nvPr/>
        </p:nvSpPr>
        <p:spPr>
          <a:xfrm>
            <a:off x="3970020" y="4570730"/>
            <a:ext cx="1765300" cy="2000250"/>
          </a:xfrm>
          <a:prstGeom prst="rect">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这段代码在真实的</a:t>
            </a:r>
            <a:r>
              <a:rPr lang="en-US" altLang="zh-CN"/>
              <a:t>8086</a:t>
            </a:r>
            <a:r>
              <a:rPr lang="zh-CN" altLang="en-US"/>
              <a:t>上根本不工作，因为</a:t>
            </a:r>
            <a:r>
              <a:rPr lang="en-US" altLang="zh-CN"/>
              <a:t>8086</a:t>
            </a:r>
            <a:r>
              <a:rPr lang="zh-CN" altLang="en-US"/>
              <a:t>不支持数据的</a:t>
            </a:r>
            <a:r>
              <a:rPr lang="en-US" altLang="zh-CN"/>
              <a:t>IP</a:t>
            </a:r>
            <a:r>
              <a:rPr lang="zh-CN" altLang="en-US"/>
              <a:t>相对寻址。仅作</a:t>
            </a:r>
            <a:r>
              <a:rPr lang="zh-CN" altLang="en-US"/>
              <a:t>示范。</a:t>
            </a:r>
            <a:endParaRPr lang="zh-CN" altLang="en-US"/>
          </a:p>
        </p:txBody>
      </p:sp>
    </p:spTree>
    <p:custDataLst>
      <p:tags r:id="rId7"/>
    </p:custData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1322070"/>
          </a:xfrm>
          <a:prstGeom prst="rect">
            <a:avLst/>
          </a:prstGeom>
          <a:noFill/>
        </p:spPr>
        <p:txBody>
          <a:bodyPr wrap="square" rtlCol="0">
            <a:spAutoFit/>
          </a:bodyPr>
          <a:p>
            <a:pPr algn="ctr"/>
            <a:r>
              <a:rPr lang="zh-CN" altLang="en-US" sz="2000" b="1">
                <a:solidFill>
                  <a:srgbClr val="9C0B15"/>
                </a:solidFill>
                <a:sym typeface="+mn-ea"/>
              </a:rPr>
              <a:t>改进：位置无关代码（</a:t>
            </a:r>
            <a:r>
              <a:rPr lang="en-US" altLang="zh-CN" sz="2000" b="1">
                <a:solidFill>
                  <a:srgbClr val="9C0B15"/>
                </a:solidFill>
                <a:sym typeface="+mn-ea"/>
              </a:rPr>
              <a:t>Position-Independent Code</a:t>
            </a:r>
            <a:r>
              <a:rPr lang="zh-CN" altLang="en-US" sz="2000" b="1">
                <a:solidFill>
                  <a:srgbClr val="9C0B15"/>
                </a:solidFill>
                <a:sym typeface="+mn-ea"/>
              </a:rPr>
              <a:t>）</a:t>
            </a:r>
            <a:endParaRPr lang="zh-CN" altLang="en-US" sz="2000" b="1">
              <a:solidFill>
                <a:srgbClr val="9C0B15"/>
              </a:solidFill>
              <a:sym typeface="+mn-ea"/>
            </a:endParaRPr>
          </a:p>
          <a:p>
            <a:pPr algn="ctr"/>
            <a:endParaRPr lang="zh-CN" altLang="en-US" sz="2000">
              <a:sym typeface="+mn-ea"/>
            </a:endParaRPr>
          </a:p>
          <a:p>
            <a:pPr algn="l"/>
            <a:r>
              <a:rPr lang="zh-CN" altLang="en-US" sz="2000" b="1">
                <a:solidFill>
                  <a:srgbClr val="9C0B15"/>
                </a:solidFill>
                <a:sym typeface="+mn-ea"/>
              </a:rPr>
              <a:t>例	</a:t>
            </a:r>
            <a:r>
              <a:rPr lang="zh-CN" altLang="en-US" sz="2000">
                <a:sym typeface="+mn-ea"/>
              </a:rPr>
              <a:t>假设</a:t>
            </a:r>
            <a:r>
              <a:rPr lang="en-US" altLang="zh-CN" sz="2000">
                <a:sym typeface="+mn-ea"/>
              </a:rPr>
              <a:t>AB.SO</a:t>
            </a:r>
            <a:r>
              <a:rPr lang="zh-CN" altLang="en-US" sz="2000">
                <a:solidFill>
                  <a:srgbClr val="9C0B15"/>
                </a:solidFill>
                <a:sym typeface="+mn-ea"/>
              </a:rPr>
              <a:t>被加载到2000H</a:t>
            </a:r>
            <a:r>
              <a:rPr lang="zh-CN" altLang="en-US" sz="2000">
                <a:sym typeface="+mn-ea"/>
              </a:rPr>
              <a:t>。现在</a:t>
            </a:r>
            <a:r>
              <a:rPr lang="en-US" altLang="zh-CN" sz="2000">
                <a:sym typeface="+mn-ea"/>
              </a:rPr>
              <a:t>LIB_A</a:t>
            </a:r>
            <a:r>
              <a:rPr lang="zh-CN" altLang="en-US" sz="2000">
                <a:sym typeface="+mn-ea"/>
              </a:rPr>
              <a:t>、</a:t>
            </a:r>
            <a:r>
              <a:rPr lang="en-US" altLang="zh-CN" sz="2000">
                <a:sym typeface="+mn-ea"/>
              </a:rPr>
              <a:t>PRV_B</a:t>
            </a:r>
            <a:r>
              <a:rPr lang="zh-CN" altLang="en-US" sz="2000">
                <a:sym typeface="+mn-ea"/>
              </a:rPr>
              <a:t>、</a:t>
            </a:r>
            <a:r>
              <a:rPr lang="en-US" altLang="zh-CN" sz="2000">
                <a:sym typeface="+mn-ea"/>
              </a:rPr>
              <a:t>PRV_C</a:t>
            </a:r>
            <a:r>
              <a:rPr lang="zh-CN" altLang="en-US" sz="2000">
                <a:sym typeface="+mn-ea"/>
              </a:rPr>
              <a:t>的地址是多少？</a:t>
            </a:r>
            <a:endParaRPr lang="zh-CN" altLang="en-US" sz="2000">
              <a:sym typeface="+mn-ea"/>
            </a:endParaRPr>
          </a:p>
          <a:p>
            <a:pPr algn="l"/>
            <a:r>
              <a:rPr lang="zh-CN" altLang="en-US" sz="2000" b="1">
                <a:solidFill>
                  <a:srgbClr val="9C0B15"/>
                </a:solidFill>
                <a:sym typeface="+mn-ea"/>
              </a:rPr>
              <a:t>	</a:t>
            </a:r>
            <a:r>
              <a:rPr lang="en-US" altLang="zh-CN" sz="2000">
                <a:sym typeface="+mn-ea"/>
              </a:rPr>
              <a:t>MOV</a:t>
            </a:r>
            <a:r>
              <a:rPr lang="zh-CN" altLang="en-US" sz="2000">
                <a:sym typeface="+mn-ea"/>
              </a:rPr>
              <a:t>指令和</a:t>
            </a:r>
            <a:r>
              <a:rPr lang="en-US" altLang="zh-CN" sz="2000">
                <a:sym typeface="+mn-ea"/>
              </a:rPr>
              <a:t>CALL</a:t>
            </a:r>
            <a:r>
              <a:rPr lang="zh-CN" altLang="en-US" sz="2000">
                <a:sym typeface="+mn-ea"/>
              </a:rPr>
              <a:t>指令能正常工作吗？为什么？</a:t>
            </a:r>
            <a:r>
              <a:rPr lang="zh-CN" altLang="en-US" sz="2000">
                <a:sym typeface="+mn-ea"/>
              </a:rPr>
              <a:t>若加载到</a:t>
            </a:r>
            <a:r>
              <a:rPr lang="en-US" altLang="zh-CN" sz="2000">
                <a:sym typeface="+mn-ea"/>
              </a:rPr>
              <a:t>5800H</a:t>
            </a:r>
            <a:r>
              <a:rPr lang="zh-CN" altLang="en-US" sz="2000">
                <a:sym typeface="+mn-ea"/>
              </a:rPr>
              <a:t>呢？</a:t>
            </a:r>
            <a:endParaRPr lang="zh-CN" altLang="en-US" sz="2000">
              <a:sym typeface="+mn-ea"/>
            </a:endParaRPr>
          </a:p>
        </p:txBody>
      </p:sp>
      <p:sp>
        <p:nvSpPr>
          <p:cNvPr id="79" name="矩形 78"/>
          <p:cNvSpPr/>
          <p:nvPr>
            <p:custDataLst>
              <p:tags r:id="rId2"/>
            </p:custDataLst>
          </p:nvPr>
        </p:nvSpPr>
        <p:spPr>
          <a:xfrm>
            <a:off x="333375" y="1488440"/>
            <a:ext cx="349313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333375" y="1869440"/>
            <a:ext cx="349313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r>
              <a:rPr lang="zh-CN" altLang="en-US" sz="2000" b="1">
                <a:solidFill>
                  <a:srgbClr val="00B050"/>
                </a:solidFill>
                <a:sym typeface="+mn-ea"/>
              </a:rPr>
              <a:t>RELOC	</a:t>
            </a:r>
            <a:r>
              <a:rPr lang="en-US" altLang="zh-CN" sz="2000" b="1">
                <a:solidFill>
                  <a:srgbClr val="00B050"/>
                </a:solidFill>
                <a:sym typeface="+mn-ea"/>
              </a:rPr>
              <a:t>LIB_A[0], LIB_A[1]</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[1E00H]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1900H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1E00H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cxnSp>
        <p:nvCxnSpPr>
          <p:cNvPr id="6" name="直接箭头连接符 5"/>
          <p:cNvCxnSpPr/>
          <p:nvPr>
            <p:custDataLst>
              <p:tags r:id="rId4"/>
            </p:custDataLst>
          </p:nvPr>
        </p:nvCxnSpPr>
        <p:spPr>
          <a:xfrm>
            <a:off x="4311650" y="4029075"/>
            <a:ext cx="991870" cy="635"/>
          </a:xfrm>
          <a:prstGeom prst="straightConnector1">
            <a:avLst/>
          </a:prstGeom>
          <a:ln w="63500">
            <a:solidFill>
              <a:srgbClr val="9C0B15"/>
            </a:solidFill>
            <a:tailEnd type="triangle"/>
          </a:ln>
        </p:spPr>
        <p:style>
          <a:lnRef idx="1">
            <a:schemeClr val="accent1"/>
          </a:lnRef>
          <a:fillRef idx="0">
            <a:schemeClr val="accent1"/>
          </a:fillRef>
          <a:effectRef idx="0">
            <a:schemeClr val="accent1"/>
          </a:effectRef>
          <a:fontRef idx="minor">
            <a:schemeClr val="tx1"/>
          </a:fontRef>
        </p:style>
      </p:cxnSp>
      <p:sp>
        <p:nvSpPr>
          <p:cNvPr id="2" name="矩形 1"/>
          <p:cNvSpPr/>
          <p:nvPr>
            <p:custDataLst>
              <p:tags r:id="rId5"/>
            </p:custDataLst>
          </p:nvPr>
        </p:nvSpPr>
        <p:spPr>
          <a:xfrm>
            <a:off x="5832475" y="1488440"/>
            <a:ext cx="3780155" cy="5081905"/>
          </a:xfrm>
          <a:prstGeom prst="rect">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en-US" altLang="zh-CN" sz="2400" b="1">
                <a:solidFill>
                  <a:schemeClr val="tx1"/>
                </a:solidFill>
                <a:latin typeface="微软雅黑" panose="020B0503020204020204" charset="-122"/>
                <a:ea typeface="微软雅黑" panose="020B0503020204020204" charset="-122"/>
              </a:rPr>
              <a:t>AB.SO</a:t>
            </a:r>
            <a:endParaRPr lang="en-US" altLang="zh-CN" sz="2400" b="1">
              <a:solidFill>
                <a:schemeClr val="tx1"/>
              </a:solidFill>
              <a:latin typeface="微软雅黑" panose="020B0503020204020204" charset="-122"/>
              <a:ea typeface="微软雅黑" panose="020B0503020204020204" charset="-122"/>
            </a:endParaRPr>
          </a:p>
        </p:txBody>
      </p:sp>
      <p:sp>
        <p:nvSpPr>
          <p:cNvPr id="4" name="文本框 3"/>
          <p:cNvSpPr txBox="1"/>
          <p:nvPr>
            <p:custDataLst>
              <p:tags r:id="rId6"/>
            </p:custDataLst>
          </p:nvPr>
        </p:nvSpPr>
        <p:spPr>
          <a:xfrm>
            <a:off x="5832475" y="1869440"/>
            <a:ext cx="3780155" cy="4700905"/>
          </a:xfrm>
          <a:prstGeom prst="rect">
            <a:avLst/>
          </a:prstGeom>
          <a:noFill/>
        </p:spPr>
        <p:txBody>
          <a:bodyPr wrap="square" rtlCol="0" anchor="t">
            <a:noAutofit/>
          </a:bodyPr>
          <a:p>
            <a:pPr algn="l">
              <a:buClrTx/>
              <a:buSzTx/>
              <a:buFontTx/>
            </a:pPr>
            <a:r>
              <a:rPr lang="zh-CN" altLang="en-US" sz="2000" b="1">
                <a:solidFill>
                  <a:srgbClr val="00B050"/>
                </a:solidFill>
                <a:sym typeface="+mn-ea"/>
              </a:rPr>
              <a:t>EXPORT	</a:t>
            </a:r>
            <a:r>
              <a:rPr lang="en-US" altLang="zh-CN" sz="2000" b="1">
                <a:solidFill>
                  <a:srgbClr val="00B050"/>
                </a:solidFill>
                <a:sym typeface="+mn-ea"/>
              </a:rPr>
              <a:t>LIB</a:t>
            </a:r>
            <a:r>
              <a:rPr lang="zh-CN" altLang="en-US" sz="2000" b="1">
                <a:solidFill>
                  <a:srgbClr val="00B050"/>
                </a:solidFill>
                <a:sym typeface="+mn-ea"/>
              </a:rPr>
              <a:t>_A</a:t>
            </a:r>
            <a:endParaRPr lang="zh-CN" altLang="en-US" sz="2000" b="1">
              <a:solidFill>
                <a:srgbClr val="00B050"/>
              </a:solidFill>
              <a:sym typeface="+mn-ea"/>
            </a:endParaRPr>
          </a:p>
          <a:p>
            <a:pPr algn="l">
              <a:buClrTx/>
              <a:buSzTx/>
              <a:buFontTx/>
            </a:pP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sz="2000" b="1">
                <a:solidFill>
                  <a:srgbClr val="00B050"/>
                </a:solidFill>
                <a:sym typeface="+mn-ea"/>
              </a:rPr>
              <a:t>18</a:t>
            </a:r>
            <a:r>
              <a:rPr lang="en-US" altLang="zh-CN" sz="2000" b="1">
                <a:solidFill>
                  <a:srgbClr val="00B050"/>
                </a:solidFill>
                <a:sym typeface="+mn-ea"/>
              </a:rPr>
              <a:t>0</a:t>
            </a:r>
            <a:r>
              <a:rPr lang="zh-CN" altLang="en-US" sz="2000" b="1">
                <a:solidFill>
                  <a:srgbClr val="00B050"/>
                </a:solidFill>
                <a:sym typeface="+mn-ea"/>
              </a:rPr>
              <a:t>0H</a:t>
            </a:r>
            <a:endParaRPr lang="en-US" altLang="zh-CN" sz="2000" b="1">
              <a:solidFill>
                <a:srgbClr val="C00000"/>
              </a:solidFill>
              <a:sym typeface="+mn-ea"/>
            </a:endParaRPr>
          </a:p>
          <a:p>
            <a:pPr algn="l">
              <a:buClrTx/>
              <a:buSzTx/>
              <a:buFontTx/>
            </a:pPr>
            <a:r>
              <a:rPr lang="en-US" altLang="zh-CN" sz="2000" b="1">
                <a:solidFill>
                  <a:srgbClr val="C00000"/>
                </a:solidFill>
                <a:sym typeface="+mn-ea"/>
              </a:rPr>
              <a:t>LIB_A	PROC</a:t>
            </a:r>
            <a:endParaRPr lang="en-US" altLang="zh-CN" sz="2000" b="1">
              <a:solidFill>
                <a:srgbClr val="C00000"/>
              </a:solidFill>
              <a:sym typeface="+mn-ea"/>
            </a:endParaRPr>
          </a:p>
          <a:p>
            <a:pPr algn="l">
              <a:buClrTx/>
              <a:buSzTx/>
              <a:buFontTx/>
            </a:pPr>
            <a:r>
              <a:rPr lang="en-US" altLang="zh-CN" sz="2000" b="1">
                <a:solidFill>
                  <a:srgbClr val="00B0F0"/>
                </a:solidFill>
                <a:sym typeface="+mn-ea"/>
              </a:rPr>
              <a:t>	MOV	AX, </a:t>
            </a:r>
            <a:r>
              <a:rPr lang="en-US" altLang="zh-CN" sz="2000" b="1">
                <a:solidFill>
                  <a:srgbClr val="92D050"/>
                </a:solidFill>
                <a:sym typeface="+mn-ea"/>
              </a:rPr>
              <a:t>DS:[IP+600H]</a:t>
            </a:r>
            <a:endParaRPr lang="en-US" altLang="zh-CN" sz="2000" b="1">
              <a:solidFill>
                <a:srgbClr val="00B0F0"/>
              </a:solidFill>
              <a:sym typeface="+mn-ea"/>
            </a:endParaRPr>
          </a:p>
          <a:p>
            <a:pPr algn="l">
              <a:buClrTx/>
              <a:buSzTx/>
              <a:buFontTx/>
            </a:pPr>
            <a:r>
              <a:rPr lang="en-US" altLang="zh-CN" sz="2000" b="1">
                <a:solidFill>
                  <a:srgbClr val="00B0F0"/>
                </a:solidFill>
                <a:sym typeface="+mn-ea"/>
              </a:rPr>
              <a:t>	CALL	</a:t>
            </a:r>
            <a:r>
              <a:rPr lang="en-US" altLang="zh-CN" sz="2000" b="1">
                <a:solidFill>
                  <a:srgbClr val="C00000"/>
                </a:solidFill>
                <a:sym typeface="+mn-ea"/>
              </a:rPr>
              <a:t>IP+0</a:t>
            </a:r>
            <a:r>
              <a:rPr lang="en-US" altLang="zh-CN" sz="2000" b="1">
                <a:solidFill>
                  <a:srgbClr val="C00000"/>
                </a:solidFill>
                <a:sym typeface="+mn-ea"/>
              </a:rPr>
              <a:t>FCH</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a:solidFill>
                  <a:srgbClr val="C00000"/>
                </a:solidFill>
                <a:sym typeface="+mn-ea"/>
              </a:rPr>
              <a:t>LIB_A</a:t>
            </a:r>
            <a:r>
              <a:rPr lang="en-US" altLang="zh-CN" sz="2000" b="1">
                <a:solidFill>
                  <a:srgbClr val="00B0F0"/>
                </a:solidFill>
                <a:sym typeface="+mn-ea"/>
              </a:rPr>
              <a:t>	</a:t>
            </a:r>
            <a:r>
              <a:rPr lang="en-US" altLang="zh-CN" sz="2000" b="1">
                <a:solidFill>
                  <a:srgbClr val="C00000"/>
                </a:solidFill>
                <a:sym typeface="+mn-ea"/>
              </a:rPr>
              <a:t>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1</a:t>
            </a:r>
            <a:r>
              <a:rPr lang="zh-CN" altLang="en-US" sz="2000" b="1">
                <a:solidFill>
                  <a:srgbClr val="00B050"/>
                </a:solidFill>
                <a:sym typeface="+mn-ea"/>
              </a:rPr>
              <a:t>900H</a:t>
            </a:r>
            <a:endParaRPr lang="en-US" altLang="zh-CN" sz="2000" b="1">
              <a:solidFill>
                <a:srgbClr val="C00000"/>
              </a:solidFill>
              <a:sym typeface="+mn-ea"/>
            </a:endParaRPr>
          </a:p>
          <a:p>
            <a:pPr algn="l">
              <a:buClrTx/>
              <a:buSzTx/>
              <a:buFontTx/>
            </a:pPr>
            <a:r>
              <a:rPr lang="en-US" altLang="zh-CN" sz="2000" b="1" strike="sngStrike">
                <a:solidFill>
                  <a:srgbClr val="C00000"/>
                </a:solidFill>
                <a:sym typeface="+mn-ea"/>
              </a:rPr>
              <a:t>PRV_B	PROC</a:t>
            </a:r>
            <a:endParaRPr lang="en-US" altLang="zh-CN" sz="2000" b="1" strike="sngStrike">
              <a:solidFill>
                <a:srgbClr val="C00000"/>
              </a:solidFill>
              <a:sym typeface="+mn-ea"/>
            </a:endParaRPr>
          </a:p>
          <a:p>
            <a:pPr algn="l">
              <a:buClrTx/>
              <a:buSzTx/>
              <a:buFontTx/>
            </a:pPr>
            <a:r>
              <a:rPr lang="en-US" altLang="zh-CN" sz="2000" b="1">
                <a:solidFill>
                  <a:srgbClr val="00B0F0"/>
                </a:solidFill>
                <a:sym typeface="+mn-ea"/>
              </a:rPr>
              <a:t>	......</a:t>
            </a:r>
            <a:endParaRPr lang="en-US" altLang="zh-CN" sz="2000" b="1">
              <a:solidFill>
                <a:srgbClr val="00B0F0"/>
              </a:solidFill>
              <a:sym typeface="+mn-ea"/>
            </a:endParaRPr>
          </a:p>
          <a:p>
            <a:pPr algn="l">
              <a:buClrTx/>
              <a:buSzTx/>
              <a:buFontTx/>
            </a:pPr>
            <a:r>
              <a:rPr lang="en-US" altLang="zh-CN" sz="2000" b="1">
                <a:solidFill>
                  <a:srgbClr val="00B0F0"/>
                </a:solidFill>
                <a:sym typeface="+mn-ea"/>
              </a:rPr>
              <a:t>	</a:t>
            </a:r>
            <a:r>
              <a:rPr lang="en-US" altLang="zh-CN" sz="2000" b="1">
                <a:solidFill>
                  <a:srgbClr val="7030A0"/>
                </a:solidFill>
                <a:sym typeface="+mn-ea"/>
              </a:rPr>
              <a:t>RET</a:t>
            </a:r>
            <a:endParaRPr lang="zh-CN" altLang="en-US" sz="2000" b="1">
              <a:solidFill>
                <a:srgbClr val="00B0F0"/>
              </a:solidFill>
              <a:sym typeface="+mn-ea"/>
            </a:endParaRPr>
          </a:p>
          <a:p>
            <a:pPr algn="l">
              <a:buClrTx/>
              <a:buSzTx/>
              <a:buFontTx/>
            </a:pPr>
            <a:r>
              <a:rPr lang="en-US" altLang="zh-CN" sz="2000" b="1" strike="sngStrike">
                <a:solidFill>
                  <a:srgbClr val="C00000"/>
                </a:solidFill>
                <a:sym typeface="+mn-ea"/>
              </a:rPr>
              <a:t>PRV_B</a:t>
            </a:r>
            <a:r>
              <a:rPr lang="en-US" altLang="zh-CN" sz="2000" b="1" strike="sngStrike">
                <a:solidFill>
                  <a:srgbClr val="C00000"/>
                </a:solidFill>
                <a:sym typeface="+mn-ea"/>
              </a:rPr>
              <a:t>	ENDP</a:t>
            </a:r>
            <a:endParaRPr lang="en-US" altLang="zh-CN" sz="2000" b="1">
              <a:solidFill>
                <a:srgbClr val="C00000"/>
              </a:solidFill>
              <a:sym typeface="+mn-ea"/>
            </a:endParaRPr>
          </a:p>
          <a:p>
            <a:pPr algn="l">
              <a:buClrTx/>
              <a:buSzTx/>
              <a:buFontTx/>
            </a:pPr>
            <a:r>
              <a:rPr lang="en-US" altLang="zh-CN" sz="2000" b="1">
                <a:solidFill>
                  <a:srgbClr val="00B0F0"/>
                </a:solidFill>
                <a:sym typeface="+mn-ea"/>
              </a:rPr>
              <a:t>	</a:t>
            </a:r>
            <a:r>
              <a:rPr lang="zh-CN" altLang="en-US" sz="2000" b="1">
                <a:solidFill>
                  <a:srgbClr val="00B050"/>
                </a:solidFill>
                <a:sym typeface="+mn-ea"/>
              </a:rPr>
              <a:t>ORG	</a:t>
            </a:r>
            <a:r>
              <a:rPr lang="en-US" altLang="zh-CN" sz="2000" b="1">
                <a:solidFill>
                  <a:srgbClr val="00B050"/>
                </a:solidFill>
                <a:sym typeface="+mn-ea"/>
              </a:rPr>
              <a:t>1</a:t>
            </a:r>
            <a:r>
              <a:rPr lang="zh-CN" altLang="en-US" sz="2000" b="1">
                <a:solidFill>
                  <a:srgbClr val="00B050"/>
                </a:solidFill>
                <a:sym typeface="+mn-ea"/>
              </a:rPr>
              <a:t>E00H</a:t>
            </a:r>
            <a:endParaRPr lang="en-US" altLang="zh-CN" sz="2000" b="1">
              <a:solidFill>
                <a:srgbClr val="C00000"/>
              </a:solidFill>
              <a:sym typeface="+mn-ea"/>
            </a:endParaRPr>
          </a:p>
          <a:p>
            <a:pPr algn="l">
              <a:buClrTx/>
              <a:buSzTx/>
              <a:buFontTx/>
            </a:pPr>
            <a:r>
              <a:rPr lang="en-US" altLang="zh-CN" sz="2000" b="1" strike="sngStrike">
                <a:solidFill>
                  <a:srgbClr val="92D050"/>
                </a:solidFill>
                <a:sym typeface="+mn-ea"/>
              </a:rPr>
              <a:t>PRV_C</a:t>
            </a:r>
            <a:r>
              <a:rPr lang="en-US" altLang="zh-CN" sz="2000" b="1">
                <a:solidFill>
                  <a:srgbClr val="92D050"/>
                </a:solidFill>
                <a:sym typeface="+mn-ea"/>
              </a:rPr>
              <a:t>	DW	0100H</a:t>
            </a:r>
            <a:endParaRPr lang="en-US" altLang="zh-CN" sz="2000" b="1">
              <a:solidFill>
                <a:srgbClr val="92D050"/>
              </a:solidFill>
              <a:sym typeface="+mn-ea"/>
            </a:endParaRPr>
          </a:p>
        </p:txBody>
      </p:sp>
      <p:sp>
        <p:nvSpPr>
          <p:cNvPr id="9" name="右箭头标注 8"/>
          <p:cNvSpPr/>
          <p:nvPr/>
        </p:nvSpPr>
        <p:spPr>
          <a:xfrm>
            <a:off x="3970020" y="2913380"/>
            <a:ext cx="2263140" cy="728345"/>
          </a:xfrm>
          <a:prstGeom prst="rightArrowCallout">
            <a:avLst>
              <a:gd name="adj1" fmla="val 18633"/>
              <a:gd name="adj2" fmla="val 19742"/>
              <a:gd name="adj3" fmla="val 36488"/>
              <a:gd name="adj4" fmla="val 73288"/>
            </a:avLst>
          </a:prstGeom>
          <a:solidFill>
            <a:srgbClr val="D02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假设这条</a:t>
            </a:r>
            <a:r>
              <a:rPr lang="en-US" altLang="zh-CN"/>
              <a:t>MOV</a:t>
            </a:r>
            <a:r>
              <a:rPr lang="zh-CN" altLang="en-US"/>
              <a:t>指令是</a:t>
            </a:r>
            <a:r>
              <a:rPr lang="en-US" altLang="zh-CN"/>
              <a:t>4</a:t>
            </a:r>
            <a:r>
              <a:rPr lang="zh-CN" altLang="en-US"/>
              <a:t>字节</a:t>
            </a:r>
            <a:endParaRPr lang="zh-CN" altLang="en-US"/>
          </a:p>
        </p:txBody>
      </p:sp>
    </p:spTree>
    <p:custDataLst>
      <p:tags r:id="rId7"/>
    </p:custData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改进：位置无关代码（</a:t>
            </a:r>
            <a:r>
              <a:rPr lang="en-US" altLang="zh-CN" sz="2000" b="1">
                <a:solidFill>
                  <a:srgbClr val="9C0B15"/>
                </a:solidFill>
                <a:sym typeface="+mn-ea"/>
              </a:rPr>
              <a:t>Position-Independent Code</a:t>
            </a:r>
            <a:r>
              <a:rPr lang="zh-CN" altLang="en-US" sz="2000" b="1">
                <a:solidFill>
                  <a:srgbClr val="9C0B15"/>
                </a:solidFill>
                <a:sym typeface="+mn-ea"/>
              </a:rPr>
              <a:t>）</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a:sym typeface="+mn-ea"/>
              </a:rPr>
              <a:t>改进后，不会再出现任何冲突问题，因为同样的一段代码不管映射到什么虚拟地址都工作，任何动态库只在物理内存中加载一次就可以了，不需要关心虚拟地址冲突问题，因为我们压根就没动库的代码段，库的代码段都是相对寻址。</a:t>
            </a:r>
            <a:endParaRPr lang="zh-CN" altLang="en-US" sz="2000">
              <a:sym typeface="+mn-ea"/>
            </a:endParaRPr>
          </a:p>
          <a:p>
            <a:pPr algn="l">
              <a:buClrTx/>
              <a:buSzTx/>
              <a:buFontTx/>
            </a:pPr>
            <a:endParaRPr lang="zh-CN" altLang="en-US" sz="2000">
              <a:sym typeface="+mn-ea"/>
            </a:endParaRPr>
          </a:p>
          <a:p>
            <a:pPr algn="ctr">
              <a:buClrTx/>
              <a:buSzTx/>
              <a:buFontTx/>
            </a:pPr>
            <a:r>
              <a:rPr lang="zh-CN" altLang="en-US" sz="2000">
                <a:sym typeface="+mn-ea"/>
              </a:rPr>
              <a:t>但是，</a:t>
            </a:r>
            <a:r>
              <a:rPr lang="zh-CN" altLang="en-US" sz="2000">
                <a:solidFill>
                  <a:srgbClr val="9C0B15"/>
                </a:solidFill>
                <a:sym typeface="+mn-ea"/>
              </a:rPr>
              <a:t>共享库的数据段</a:t>
            </a:r>
            <a:r>
              <a:rPr lang="zh-CN" altLang="en-US" sz="2000">
                <a:sym typeface="+mn-ea"/>
              </a:rPr>
              <a:t>呢？它能在多个应用程序中共享</a:t>
            </a:r>
            <a:r>
              <a:rPr lang="zh-CN" altLang="en-US" sz="2000">
                <a:sym typeface="+mn-ea"/>
              </a:rPr>
              <a:t>一个副本吗？</a:t>
            </a: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2628265"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5434"/>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73" name="组合 72"/>
          <p:cNvGrpSpPr/>
          <p:nvPr/>
        </p:nvGrpSpPr>
        <p:grpSpPr>
          <a:xfrm>
            <a:off x="7529830" y="2707005"/>
            <a:ext cx="2082800" cy="3856990"/>
            <a:chOff x="6948" y="2591"/>
            <a:chExt cx="3763" cy="6074"/>
          </a:xfrm>
        </p:grpSpPr>
        <p:sp>
          <p:nvSpPr>
            <p:cNvPr id="74" name="矩形 73"/>
            <p:cNvSpPr/>
            <p:nvPr>
              <p:custDataLst>
                <p:tags r:id="rId8"/>
              </p:custDataLst>
            </p:nvPr>
          </p:nvSpPr>
          <p:spPr>
            <a:xfrm>
              <a:off x="7311" y="6841"/>
              <a:ext cx="3040" cy="71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sp>
          <p:nvSpPr>
            <p:cNvPr id="76" name="矩形 75"/>
            <p:cNvSpPr/>
            <p:nvPr>
              <p:custDataLst>
                <p:tags r:id="rId9"/>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3</a:t>
              </a:r>
              <a:endParaRPr lang="en-US" altLang="zh-CN">
                <a:solidFill>
                  <a:schemeClr val="tx1"/>
                </a:solidFill>
              </a:endParaRPr>
            </a:p>
          </p:txBody>
        </p:sp>
      </p:grpSp>
      <p:sp>
        <p:nvSpPr>
          <p:cNvPr id="80" name="矩形 79"/>
          <p:cNvSpPr/>
          <p:nvPr>
            <p:custDataLst>
              <p:tags r:id="rId10"/>
            </p:custDataLst>
          </p:nvPr>
        </p:nvSpPr>
        <p:spPr>
          <a:xfrm>
            <a:off x="7730490" y="3456940"/>
            <a:ext cx="1682750" cy="515620"/>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grpSp>
        <p:nvGrpSpPr>
          <p:cNvPr id="85" name="组合 84"/>
          <p:cNvGrpSpPr/>
          <p:nvPr/>
        </p:nvGrpSpPr>
        <p:grpSpPr>
          <a:xfrm>
            <a:off x="5100955" y="2706370"/>
            <a:ext cx="2080178" cy="3857625"/>
            <a:chOff x="7718" y="4262"/>
            <a:chExt cx="3763" cy="6075"/>
          </a:xfrm>
        </p:grpSpPr>
        <p:sp>
          <p:nvSpPr>
            <p:cNvPr id="81" name="矩形 80"/>
            <p:cNvSpPr/>
            <p:nvPr>
              <p:custDataLst>
                <p:tags r:id="rId11"/>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12"/>
              </p:custDataLst>
            </p:nvPr>
          </p:nvSpPr>
          <p:spPr>
            <a:xfrm>
              <a:off x="8080" y="6117"/>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3"/>
              </p:custDataLst>
            </p:nvPr>
          </p:nvSpPr>
          <p:spPr>
            <a:xfrm>
              <a:off x="8083" y="8513"/>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4"/>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库内容</a:t>
              </a:r>
              <a:endParaRPr lang="en-US" altLang="zh-CN"/>
            </a:p>
          </p:txBody>
        </p:sp>
      </p:grpSp>
      <p:sp>
        <p:nvSpPr>
          <p:cNvPr id="87" name="矩形 86"/>
          <p:cNvSpPr/>
          <p:nvPr>
            <p:custDataLst>
              <p:tags r:id="rId15"/>
            </p:custDataLst>
          </p:nvPr>
        </p:nvSpPr>
        <p:spPr>
          <a:xfrm>
            <a:off x="5303144" y="4812030"/>
            <a:ext cx="1682623" cy="450850"/>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3</a:t>
            </a:r>
            <a:endParaRPr lang="en-US" altLang="zh-CN"/>
          </a:p>
        </p:txBody>
      </p:sp>
      <p:cxnSp>
        <p:nvCxnSpPr>
          <p:cNvPr id="88" name="直接连接符 87"/>
          <p:cNvCxnSpPr>
            <a:stCxn id="70" idx="3"/>
            <a:endCxn id="84" idx="1"/>
          </p:cNvCxnSpPr>
          <p:nvPr>
            <p:custDataLst>
              <p:tags r:id="rId16"/>
            </p:custDataLst>
          </p:nvPr>
        </p:nvCxnSpPr>
        <p:spPr>
          <a:xfrm flipV="1">
            <a:off x="4511675" y="3430270"/>
            <a:ext cx="789305" cy="134556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80" idx="1"/>
            <a:endCxn id="84" idx="3"/>
          </p:cNvCxnSpPr>
          <p:nvPr>
            <p:custDataLst>
              <p:tags r:id="rId17"/>
            </p:custDataLst>
          </p:nvPr>
        </p:nvCxnSpPr>
        <p:spPr>
          <a:xfrm flipH="1" flipV="1">
            <a:off x="6981190" y="3430270"/>
            <a:ext cx="749300" cy="28448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 name="直接连接符 4"/>
          <p:cNvCxnSpPr>
            <a:stCxn id="61" idx="3"/>
            <a:endCxn id="84" idx="1"/>
          </p:cNvCxnSpPr>
          <p:nvPr>
            <p:custDataLst>
              <p:tags r:id="rId18"/>
            </p:custDataLst>
          </p:nvPr>
        </p:nvCxnSpPr>
        <p:spPr>
          <a:xfrm flipV="1">
            <a:off x="2124075" y="3430270"/>
            <a:ext cx="3176905" cy="197612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9"/>
    </p:custData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247130"/>
          </a:xfrm>
          <a:prstGeom prst="rect">
            <a:avLst/>
          </a:prstGeom>
          <a:noFill/>
        </p:spPr>
        <p:txBody>
          <a:bodyPr wrap="square" rtlCol="0">
            <a:spAutoFit/>
          </a:bodyPr>
          <a:p>
            <a:pPr algn="ctr"/>
            <a:r>
              <a:rPr lang="zh-CN" altLang="en-US" sz="2000" b="1">
                <a:solidFill>
                  <a:srgbClr val="9C0B15"/>
                </a:solidFill>
                <a:sym typeface="+mn-ea"/>
              </a:rPr>
              <a:t>改进：库</a:t>
            </a:r>
            <a:r>
              <a:rPr lang="zh-CN" altLang="en-US" sz="2000" b="1">
                <a:solidFill>
                  <a:srgbClr val="9C0B15"/>
                </a:solidFill>
                <a:sym typeface="+mn-ea"/>
              </a:rPr>
              <a:t>的数据段在内存中的共享</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.rodata</a:t>
            </a:r>
            <a:r>
              <a:rPr lang="en-US" altLang="zh-CN" sz="2000">
                <a:sym typeface="+mn-ea"/>
              </a:rPr>
              <a:t>	</a:t>
            </a:r>
            <a:r>
              <a:rPr lang="zh-CN" altLang="en-US" sz="2000">
                <a:sym typeface="+mn-ea"/>
              </a:rPr>
              <a:t>本质上讲，</a:t>
            </a:r>
            <a:r>
              <a:rPr lang="en-US" altLang="zh-CN" sz="2000">
                <a:sym typeface="+mn-ea"/>
              </a:rPr>
              <a:t>.rodata</a:t>
            </a:r>
            <a:r>
              <a:rPr lang="zh-CN" altLang="en-US" sz="2000">
                <a:sym typeface="+mn-ea"/>
              </a:rPr>
              <a:t>和</a:t>
            </a:r>
            <a:r>
              <a:rPr lang="en-US" altLang="zh-CN" sz="2000">
                <a:sym typeface="+mn-ea"/>
              </a:rPr>
              <a:t>.text</a:t>
            </a:r>
            <a:r>
              <a:rPr lang="zh-CN" altLang="en-US" sz="2000">
                <a:sym typeface="+mn-ea"/>
              </a:rPr>
              <a:t>是一回事，只是</a:t>
            </a:r>
            <a:r>
              <a:rPr lang="zh-CN" altLang="en-US" sz="2000">
                <a:solidFill>
                  <a:srgbClr val="9C0B15"/>
                </a:solidFill>
                <a:sym typeface="+mn-ea"/>
              </a:rPr>
              <a:t>不能执行</a:t>
            </a:r>
            <a:r>
              <a:rPr lang="zh-CN" altLang="en-US" sz="2000">
                <a:sym typeface="+mn-ea"/>
              </a:rPr>
              <a:t>罢了。它是只读的，共享</a:t>
            </a:r>
            <a:r>
              <a:rPr lang="en-US" altLang="zh-CN" sz="2000">
                <a:sym typeface="+mn-ea"/>
              </a:rPr>
              <a:t>	</a:t>
            </a:r>
            <a:r>
              <a:rPr lang="zh-CN" altLang="en-US" sz="2000">
                <a:sym typeface="+mn-ea"/>
              </a:rPr>
              <a:t>它没有</a:t>
            </a:r>
            <a:r>
              <a:rPr lang="zh-CN" altLang="en-US" sz="2000">
                <a:sym typeface="+mn-ea"/>
              </a:rPr>
              <a:t>问题。</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.rwdata</a:t>
            </a:r>
            <a:r>
              <a:rPr lang="en-US" altLang="zh-CN" sz="2000">
                <a:sym typeface="+mn-ea"/>
              </a:rPr>
              <a:t>	</a:t>
            </a:r>
            <a:r>
              <a:rPr lang="zh-CN" altLang="en-US" sz="2000">
                <a:sym typeface="+mn-ea"/>
              </a:rPr>
              <a:t>这里包含可读写的数据，不同的应用程序可能会给库传递不同的参数，因</a:t>
            </a:r>
            <a:r>
              <a:rPr lang="en-US" altLang="zh-CN" sz="2000">
                <a:sym typeface="+mn-ea"/>
              </a:rPr>
              <a:t>		</a:t>
            </a:r>
            <a:r>
              <a:rPr lang="zh-CN" altLang="en-US" sz="2000">
                <a:sym typeface="+mn-ea"/>
              </a:rPr>
              <a:t>此其实它们在逻辑上是独立的，</a:t>
            </a:r>
            <a:r>
              <a:rPr lang="zh-CN" altLang="en-US" sz="2000">
                <a:solidFill>
                  <a:srgbClr val="9C0B15"/>
                </a:solidFill>
                <a:sym typeface="+mn-ea"/>
              </a:rPr>
              <a:t>不能共享</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.zidata</a:t>
            </a:r>
            <a:r>
              <a:rPr lang="en-US" altLang="zh-CN" sz="2000">
                <a:sym typeface="+mn-ea"/>
              </a:rPr>
              <a:t>	</a:t>
            </a:r>
            <a:r>
              <a:rPr lang="zh-CN" altLang="en-US" sz="2000">
                <a:sym typeface="+mn-ea"/>
              </a:rPr>
              <a:t>和</a:t>
            </a:r>
            <a:r>
              <a:rPr lang="en-US" altLang="zh-CN" sz="2000">
                <a:sym typeface="+mn-ea"/>
              </a:rPr>
              <a:t>.rwdata</a:t>
            </a:r>
            <a:r>
              <a:rPr lang="zh-CN" altLang="en-US" sz="2000">
                <a:sym typeface="+mn-ea"/>
              </a:rPr>
              <a:t>的情况是一样的，</a:t>
            </a:r>
            <a:r>
              <a:rPr lang="zh-CN" altLang="en-US" sz="2000">
                <a:solidFill>
                  <a:srgbClr val="9C0B15"/>
                </a:solidFill>
                <a:sym typeface="+mn-ea"/>
              </a:rPr>
              <a:t>不能共享</a:t>
            </a:r>
            <a:r>
              <a:rPr lang="zh-CN" altLang="en-US" sz="2000">
                <a:sym typeface="+mn-ea"/>
              </a:rPr>
              <a:t>。</a:t>
            </a:r>
            <a:endParaRPr lang="zh-CN" altLang="en-US" sz="2000">
              <a:sym typeface="+mn-ea"/>
            </a:endParaRPr>
          </a:p>
          <a:p>
            <a:pPr algn="l">
              <a:buClrTx/>
              <a:buSzTx/>
              <a:buFontTx/>
            </a:pPr>
            <a:endParaRPr lang="zh-CN" altLang="en-US" sz="2000">
              <a:solidFill>
                <a:srgbClr val="9C0B15"/>
              </a:solidFill>
              <a:sym typeface="+mn-ea"/>
            </a:endParaRPr>
          </a:p>
          <a:p>
            <a:pPr algn="l">
              <a:buClrTx/>
              <a:buSzTx/>
              <a:buFontTx/>
            </a:pPr>
            <a:r>
              <a:rPr lang="zh-CN" altLang="en-US" sz="2000" b="1">
                <a:solidFill>
                  <a:srgbClr val="9C0B15"/>
                </a:solidFill>
                <a:sym typeface="+mn-ea"/>
              </a:rPr>
              <a:t>.</a:t>
            </a:r>
            <a:r>
              <a:rPr lang="en-US" altLang="zh-CN" sz="2000" b="1">
                <a:solidFill>
                  <a:srgbClr val="9C0B15"/>
                </a:solidFill>
                <a:sym typeface="+mn-ea"/>
              </a:rPr>
              <a:t>heap</a:t>
            </a:r>
            <a:r>
              <a:rPr lang="en-US" altLang="zh-CN" sz="2000">
                <a:sym typeface="+mn-ea"/>
              </a:rPr>
              <a:t>	</a:t>
            </a:r>
            <a:r>
              <a:rPr lang="zh-CN" altLang="en-US" sz="2000">
                <a:sym typeface="+mn-ea"/>
              </a:rPr>
              <a:t>每个应用程序当然会以不同的方式使用堆。</a:t>
            </a:r>
            <a:r>
              <a:rPr lang="zh-CN" altLang="en-US" sz="2000">
                <a:solidFill>
                  <a:srgbClr val="9C0B15"/>
                </a:solidFill>
                <a:sym typeface="+mn-ea"/>
              </a:rPr>
              <a:t>不能共享</a:t>
            </a:r>
            <a:r>
              <a:rPr lang="zh-CN" altLang="en-US" sz="2000">
                <a:sym typeface="+mn-ea"/>
              </a:rPr>
              <a:t>。这个段在库文件中</a:t>
            </a:r>
            <a:r>
              <a:rPr lang="en-US" altLang="zh-CN" sz="2000">
                <a:sym typeface="+mn-ea"/>
              </a:rPr>
              <a:t>		</a:t>
            </a:r>
            <a:r>
              <a:rPr lang="zh-CN" altLang="en-US" sz="2000">
                <a:sym typeface="+mn-ea"/>
              </a:rPr>
              <a:t>一般是不存在的，因为应用程序才有堆。库是没有自己独立的堆</a:t>
            </a:r>
            <a:r>
              <a:rPr lang="zh-CN" altLang="en-US" sz="2000">
                <a:sym typeface="+mn-ea"/>
              </a:rPr>
              <a:t>的。</a:t>
            </a:r>
            <a:endParaRPr lang="zh-CN" altLang="en-US" sz="2000">
              <a:sym typeface="+mn-ea"/>
            </a:endParaRPr>
          </a:p>
          <a:p>
            <a:pPr algn="l">
              <a:buClrTx/>
              <a:buSzTx/>
              <a:buFontTx/>
            </a:pPr>
            <a:endParaRPr lang="zh-CN" altLang="en-US" sz="2000">
              <a:solidFill>
                <a:srgbClr val="9C0B15"/>
              </a:solidFill>
              <a:sym typeface="+mn-ea"/>
            </a:endParaRPr>
          </a:p>
          <a:p>
            <a:pPr algn="l">
              <a:buClrTx/>
              <a:buSzTx/>
              <a:buFontTx/>
            </a:pPr>
            <a:r>
              <a:rPr lang="zh-CN" altLang="en-US" sz="2000" b="1">
                <a:solidFill>
                  <a:srgbClr val="9C0B15"/>
                </a:solidFill>
                <a:sym typeface="+mn-ea"/>
              </a:rPr>
              <a:t>.</a:t>
            </a:r>
            <a:r>
              <a:rPr lang="en-US" altLang="zh-CN" sz="2000" b="1">
                <a:solidFill>
                  <a:srgbClr val="9C0B15"/>
                </a:solidFill>
                <a:sym typeface="+mn-ea"/>
              </a:rPr>
              <a:t>stack</a:t>
            </a:r>
            <a:r>
              <a:rPr lang="en-US" altLang="zh-CN" sz="2000">
                <a:sym typeface="+mn-ea"/>
              </a:rPr>
              <a:t>	</a:t>
            </a:r>
            <a:r>
              <a:rPr lang="zh-CN" altLang="en-US" sz="2000">
                <a:sym typeface="+mn-ea"/>
              </a:rPr>
              <a:t>和</a:t>
            </a:r>
            <a:r>
              <a:rPr lang="en-US" altLang="zh-CN" sz="2000">
                <a:sym typeface="+mn-ea"/>
              </a:rPr>
              <a:t>.heap</a:t>
            </a:r>
            <a:r>
              <a:rPr lang="zh-CN" altLang="en-US" sz="2000">
                <a:sym typeface="+mn-ea"/>
              </a:rPr>
              <a:t>的情况是一样的，</a:t>
            </a:r>
            <a:r>
              <a:rPr lang="zh-CN" altLang="en-US" sz="2000">
                <a:solidFill>
                  <a:srgbClr val="9C0B15"/>
                </a:solidFill>
                <a:sym typeface="+mn-ea"/>
              </a:rPr>
              <a:t>不能共享</a:t>
            </a:r>
            <a:r>
              <a:rPr lang="zh-CN" altLang="en-US" sz="2000">
                <a:sym typeface="+mn-ea"/>
              </a:rPr>
              <a:t>。这个段一般也不存在，因为栈就是应</a:t>
            </a:r>
            <a:r>
              <a:rPr lang="en-US" altLang="zh-CN" sz="2000">
                <a:sym typeface="+mn-ea"/>
              </a:rPr>
              <a:t>		</a:t>
            </a:r>
            <a:r>
              <a:rPr lang="zh-CN" altLang="en-US" sz="2000">
                <a:sym typeface="+mn-ea"/>
              </a:rPr>
              <a:t>用程序的</a:t>
            </a:r>
            <a:r>
              <a:rPr lang="zh-CN" altLang="en-US" sz="2000">
                <a:sym typeface="+mn-ea"/>
              </a:rPr>
              <a:t>栈。</a:t>
            </a:r>
            <a:endParaRPr lang="zh-CN" altLang="en-US" sz="2000">
              <a:sym typeface="+mn-ea"/>
            </a:endParaRPr>
          </a:p>
          <a:p>
            <a:pPr algn="l">
              <a:buClrTx/>
              <a:buSzTx/>
              <a:buFontTx/>
            </a:pPr>
            <a:endParaRPr lang="zh-CN" altLang="en-US" sz="2000">
              <a:sym typeface="+mn-ea"/>
            </a:endParaRPr>
          </a:p>
          <a:p>
            <a:pPr algn="l">
              <a:buClrTx/>
              <a:buSzTx/>
              <a:buFontTx/>
            </a:pPr>
            <a:r>
              <a:rPr lang="en-US" altLang="zh-CN" sz="2000" b="1">
                <a:solidFill>
                  <a:srgbClr val="9C0B15"/>
                </a:solidFill>
                <a:sym typeface="+mn-ea"/>
              </a:rPr>
              <a:t>问题</a:t>
            </a:r>
            <a:r>
              <a:rPr lang="en-US" altLang="zh-CN" sz="2000">
                <a:sym typeface="+mn-ea"/>
              </a:rPr>
              <a:t>	</a:t>
            </a:r>
            <a:r>
              <a:rPr lang="zh-CN" altLang="en-US" sz="2000">
                <a:sym typeface="+mn-ea"/>
              </a:rPr>
              <a:t>怎么处理这些不能共享的</a:t>
            </a:r>
            <a:r>
              <a:rPr lang="zh-CN" altLang="en-US" sz="2000">
                <a:sym typeface="+mn-ea"/>
              </a:rPr>
              <a:t>段？</a:t>
            </a:r>
            <a:endParaRPr lang="zh-CN" altLang="en-US" sz="2000">
              <a:sym typeface="+mn-ea"/>
            </a:endParaRPr>
          </a:p>
          <a:p>
            <a:pPr algn="l">
              <a:buClrTx/>
              <a:buSzTx/>
              <a:buFontTx/>
            </a:pPr>
            <a:endParaRPr lang="zh-CN" altLang="en-US" sz="2000">
              <a:sym typeface="+mn-ea"/>
            </a:endParaRPr>
          </a:p>
          <a:p>
            <a:pPr algn="l">
              <a:buClrTx/>
              <a:buSzTx/>
              <a:buFontTx/>
            </a:pPr>
            <a:endParaRPr lang="zh-CN" altLang="en-US" sz="2000">
              <a:sym typeface="+mn-ea"/>
            </a:endParaRPr>
          </a:p>
          <a:p>
            <a:pPr algn="l">
              <a:buClrTx/>
              <a:buSzTx/>
              <a:buFontTx/>
            </a:pPr>
            <a:r>
              <a:rPr lang="en-US" altLang="zh-CN" sz="2000" b="1">
                <a:solidFill>
                  <a:srgbClr val="9C0B15"/>
                </a:solidFill>
                <a:sym typeface="+mn-ea"/>
              </a:rPr>
              <a:t>提示</a:t>
            </a:r>
            <a:r>
              <a:rPr lang="en-US" altLang="zh-CN" sz="2000">
                <a:sym typeface="+mn-ea"/>
              </a:rPr>
              <a:t>	</a:t>
            </a:r>
            <a:r>
              <a:rPr lang="zh-CN" altLang="en-US" sz="2000">
                <a:sym typeface="+mn-ea"/>
              </a:rPr>
              <a:t>考虑虚拟地址</a:t>
            </a:r>
            <a:r>
              <a:rPr lang="zh-CN" altLang="en-US" sz="2000">
                <a:sym typeface="+mn-ea"/>
              </a:rPr>
              <a:t>空间。</a:t>
            </a:r>
            <a:endParaRPr lang="en-US" altLang="zh-CN" sz="2000">
              <a:sym typeface="+mn-ea"/>
            </a:endParaRPr>
          </a:p>
        </p:txBody>
      </p:sp>
    </p:spTree>
    <p:custDataLst>
      <p:tags r:id="rId2"/>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15" end="15"/>
                                            </p:txEl>
                                          </p:spTgt>
                                        </p:tgtEl>
                                        <p:attrNameLst>
                                          <p:attrName>style.visibility</p:attrName>
                                        </p:attrNameLst>
                                      </p:cBhvr>
                                      <p:to>
                                        <p:strVal val="visible"/>
                                      </p:to>
                                    </p:set>
                                    <p:animEffect transition="in" filter="wipe(left)">
                                      <p:cBhvr>
                                        <p:cTn id="7" dur="500"/>
                                        <p:tgtEl>
                                          <p:spTgt spid="1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改进：库</a:t>
            </a:r>
            <a:r>
              <a:rPr lang="zh-CN" altLang="en-US" sz="2000" b="1">
                <a:solidFill>
                  <a:srgbClr val="9C0B15"/>
                </a:solidFill>
                <a:sym typeface="+mn-ea"/>
              </a:rPr>
              <a:t>的数据段在内存中的共享</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解决方案</a:t>
            </a:r>
            <a:r>
              <a:rPr lang="en-US" altLang="zh-CN" sz="2000">
                <a:sym typeface="+mn-ea"/>
              </a:rPr>
              <a:t>	</a:t>
            </a:r>
            <a:r>
              <a:rPr lang="zh-CN" altLang="en-US" sz="2000">
                <a:sym typeface="+mn-ea"/>
              </a:rPr>
              <a:t>考虑虚拟地址空间，只要将</a:t>
            </a:r>
            <a:r>
              <a:rPr lang="zh-CN" altLang="en-US" sz="2000">
                <a:solidFill>
                  <a:srgbClr val="9C0B15"/>
                </a:solidFill>
                <a:sym typeface="+mn-ea"/>
              </a:rPr>
              <a:t>库的可读写段映射到不同的物理地址</a:t>
            </a:r>
            <a:r>
              <a:rPr lang="zh-CN" altLang="en-US" sz="2000">
                <a:sym typeface="+mn-ea"/>
              </a:rPr>
              <a:t>就</a:t>
            </a:r>
            <a:r>
              <a:rPr lang="en-US" altLang="zh-CN" sz="2000">
                <a:sym typeface="+mn-ea"/>
              </a:rPr>
              <a:t>		</a:t>
            </a:r>
            <a:r>
              <a:rPr lang="zh-CN" altLang="en-US" sz="2000">
                <a:sym typeface="+mn-ea"/>
              </a:rPr>
              <a:t>可以了，它们自然就分开了。当然，</a:t>
            </a:r>
            <a:r>
              <a:rPr lang="zh-CN" altLang="en-US" sz="2000">
                <a:solidFill>
                  <a:srgbClr val="9C0B15"/>
                </a:solidFill>
                <a:sym typeface="+mn-ea"/>
              </a:rPr>
              <a:t>在虚拟地址空间，各个应用程</a:t>
            </a:r>
            <a:r>
              <a:rPr lang="zh-CN" altLang="en-US" sz="2000">
                <a:solidFill>
                  <a:srgbClr val="9C0B15"/>
                </a:solidFill>
                <a:sym typeface="+mn-ea"/>
              </a:rPr>
              <a:t>		</a:t>
            </a:r>
            <a:r>
              <a:rPr lang="zh-CN" altLang="en-US" sz="2000">
                <a:solidFill>
                  <a:srgbClr val="9C0B15"/>
                </a:solidFill>
                <a:sym typeface="+mn-ea"/>
              </a:rPr>
              <a:t>序加载的库文件访问的地址还是那个地址</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a:solidFill>
                  <a:srgbClr val="9C0B15"/>
                </a:solidFill>
                <a:sym typeface="+mn-ea"/>
              </a:rPr>
              <a:t>		</a:t>
            </a:r>
            <a:r>
              <a:rPr lang="zh-CN" altLang="en-US" sz="2000">
                <a:sym typeface="+mn-ea"/>
              </a:rPr>
              <a:t>库的只读段则映射到</a:t>
            </a:r>
            <a:r>
              <a:rPr lang="zh-CN" altLang="en-US" sz="2000">
                <a:solidFill>
                  <a:srgbClr val="9C0B15"/>
                </a:solidFill>
                <a:sym typeface="+mn-ea"/>
              </a:rPr>
              <a:t>同样的物理地址</a:t>
            </a:r>
            <a:r>
              <a:rPr lang="zh-CN" altLang="en-US" sz="2000">
                <a:sym typeface="+mn-ea"/>
              </a:rPr>
              <a:t>，避免产生</a:t>
            </a:r>
            <a:r>
              <a:rPr lang="zh-CN" altLang="en-US" sz="2000">
                <a:sym typeface="+mn-ea"/>
              </a:rPr>
              <a:t>不必要的拷贝。</a:t>
            </a: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7529830"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5434"/>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85" name="组合 84"/>
          <p:cNvGrpSpPr/>
          <p:nvPr/>
        </p:nvGrpSpPr>
        <p:grpSpPr>
          <a:xfrm>
            <a:off x="4087495" y="2705735"/>
            <a:ext cx="2080178" cy="3857625"/>
            <a:chOff x="7718" y="4262"/>
            <a:chExt cx="3763" cy="6075"/>
          </a:xfrm>
        </p:grpSpPr>
        <p:sp>
          <p:nvSpPr>
            <p:cNvPr id="81" name="矩形 80"/>
            <p:cNvSpPr/>
            <p:nvPr>
              <p:custDataLst>
                <p:tags r:id="rId8"/>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9"/>
              </p:custDataLst>
            </p:nvPr>
          </p:nvSpPr>
          <p:spPr>
            <a:xfrm>
              <a:off x="8093" y="7106"/>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0"/>
              </p:custDataLst>
            </p:nvPr>
          </p:nvSpPr>
          <p:spPr>
            <a:xfrm>
              <a:off x="8088" y="9518"/>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1"/>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grpSp>
      <p:cxnSp>
        <p:nvCxnSpPr>
          <p:cNvPr id="5" name="直接连接符 4"/>
          <p:cNvCxnSpPr>
            <a:stCxn id="61" idx="3"/>
            <a:endCxn id="84" idx="1"/>
          </p:cNvCxnSpPr>
          <p:nvPr>
            <p:custDataLst>
              <p:tags r:id="rId12"/>
            </p:custDataLst>
          </p:nvPr>
        </p:nvCxnSpPr>
        <p:spPr>
          <a:xfrm flipV="1">
            <a:off x="2124075" y="3429635"/>
            <a:ext cx="2163445" cy="19767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13"/>
            </p:custDataLst>
          </p:nvPr>
        </p:nvSpPr>
        <p:spPr>
          <a:xfrm>
            <a:off x="440949" y="5822549"/>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sp>
        <p:nvSpPr>
          <p:cNvPr id="7" name="矩形 6"/>
          <p:cNvSpPr/>
          <p:nvPr>
            <p:custDataLst>
              <p:tags r:id="rId14"/>
            </p:custDataLst>
          </p:nvPr>
        </p:nvSpPr>
        <p:spPr>
          <a:xfrm>
            <a:off x="7730749" y="5166360"/>
            <a:ext cx="1682623" cy="527685"/>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cxnSp>
        <p:nvCxnSpPr>
          <p:cNvPr id="8" name="直接连接符 7"/>
          <p:cNvCxnSpPr>
            <a:stCxn id="70" idx="1"/>
            <a:endCxn id="84" idx="3"/>
          </p:cNvCxnSpPr>
          <p:nvPr>
            <p:custDataLst>
              <p:tags r:id="rId15"/>
            </p:custDataLst>
          </p:nvPr>
        </p:nvCxnSpPr>
        <p:spPr>
          <a:xfrm flipH="1" flipV="1">
            <a:off x="5967730" y="3429635"/>
            <a:ext cx="1762760" cy="134620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16"/>
            </p:custDataLst>
          </p:nvPr>
        </p:nvSpPr>
        <p:spPr>
          <a:xfrm>
            <a:off x="4285239" y="3838809"/>
            <a:ext cx="1682623" cy="527598"/>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sp>
        <p:nvSpPr>
          <p:cNvPr id="15" name="矩形 14"/>
          <p:cNvSpPr/>
          <p:nvPr>
            <p:custDataLst>
              <p:tags r:id="rId17"/>
            </p:custDataLst>
          </p:nvPr>
        </p:nvSpPr>
        <p:spPr>
          <a:xfrm>
            <a:off x="4294764" y="5406624"/>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cxnSp>
        <p:nvCxnSpPr>
          <p:cNvPr id="17" name="直接连接符 16"/>
          <p:cNvCxnSpPr>
            <a:stCxn id="6" idx="3"/>
            <a:endCxn id="15" idx="1"/>
          </p:cNvCxnSpPr>
          <p:nvPr>
            <p:custDataLst>
              <p:tags r:id="rId18"/>
            </p:custDataLst>
          </p:nvPr>
        </p:nvCxnSpPr>
        <p:spPr>
          <a:xfrm flipV="1">
            <a:off x="2123440" y="5670550"/>
            <a:ext cx="2171065" cy="41592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 idx="1"/>
            <a:endCxn id="9" idx="3"/>
          </p:cNvCxnSpPr>
          <p:nvPr>
            <p:custDataLst>
              <p:tags r:id="rId19"/>
            </p:custDataLst>
          </p:nvPr>
        </p:nvCxnSpPr>
        <p:spPr>
          <a:xfrm flipH="1" flipV="1">
            <a:off x="5967730" y="4102735"/>
            <a:ext cx="1762760" cy="132778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20"/>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wipe(left)">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wipe(left)">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245360"/>
          </a:xfrm>
          <a:prstGeom prst="rect">
            <a:avLst/>
          </a:prstGeom>
          <a:noFill/>
        </p:spPr>
        <p:txBody>
          <a:bodyPr wrap="square" rtlCol="0">
            <a:spAutoFit/>
          </a:bodyPr>
          <a:p>
            <a:pPr algn="ctr"/>
            <a:r>
              <a:rPr lang="zh-CN" altLang="en-US" sz="2000" b="1">
                <a:solidFill>
                  <a:srgbClr val="9C0B15"/>
                </a:solidFill>
                <a:sym typeface="+mn-ea"/>
              </a:rPr>
              <a:t>改进：动态链接库</a:t>
            </a:r>
            <a:r>
              <a:rPr lang="zh-CN" altLang="en-US" sz="2000" b="1">
                <a:solidFill>
                  <a:srgbClr val="9C0B15"/>
                </a:solidFill>
                <a:sym typeface="+mn-ea"/>
              </a:rPr>
              <a:t>调用动态</a:t>
            </a:r>
            <a:r>
              <a:rPr lang="zh-CN" altLang="en-US" sz="2000" b="1">
                <a:solidFill>
                  <a:srgbClr val="9C0B15"/>
                </a:solidFill>
                <a:sym typeface="+mn-ea"/>
              </a:rPr>
              <a:t>链接库</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链接库互相调用</a:t>
            </a:r>
            <a:r>
              <a:rPr lang="en-US" altLang="zh-CN" sz="2000">
                <a:sym typeface="+mn-ea"/>
              </a:rPr>
              <a:t>		</a:t>
            </a:r>
            <a:r>
              <a:rPr lang="zh-CN" altLang="en-US" sz="2000">
                <a:sym typeface="+mn-ea"/>
              </a:rPr>
              <a:t>如果一个动态链接库要调用另一个动态链接库，</a:t>
            </a:r>
            <a:r>
              <a:rPr lang="zh-CN" altLang="en-US" sz="2000">
                <a:sym typeface="+mn-ea"/>
              </a:rPr>
              <a:t>怎么办？</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注意事项</a:t>
            </a:r>
            <a:r>
              <a:rPr lang="en-US" altLang="zh-CN" sz="2000">
                <a:sym typeface="+mn-ea"/>
              </a:rPr>
              <a:t>		</a:t>
            </a:r>
            <a:r>
              <a:rPr lang="zh-CN" altLang="en-US" sz="2000">
                <a:sym typeface="+mn-ea"/>
              </a:rPr>
              <a:t>动态链接库的只读段在多个应用程序之间</a:t>
            </a:r>
            <a:r>
              <a:rPr lang="zh-CN" altLang="en-US" sz="2000">
                <a:solidFill>
                  <a:srgbClr val="9C0B15"/>
                </a:solidFill>
                <a:sym typeface="+mn-ea"/>
              </a:rPr>
              <a:t>共享，不可更改，</a:t>
            </a:r>
            <a:r>
              <a:rPr lang="en-US" altLang="zh-CN" sz="2000">
                <a:sym typeface="+mn-ea"/>
              </a:rPr>
              <a:t>			</a:t>
            </a:r>
            <a:r>
              <a:rPr lang="zh-CN" altLang="en-US" sz="2000">
                <a:solidFill>
                  <a:srgbClr val="9C0B15"/>
                </a:solidFill>
                <a:sym typeface="+mn-ea"/>
              </a:rPr>
              <a:t>无法做直接回填法</a:t>
            </a:r>
            <a:r>
              <a:rPr lang="zh-CN" altLang="en-US" sz="2000">
                <a:sym typeface="+mn-ea"/>
              </a:rPr>
              <a:t>。因为另一个动态链接库的加载地址在</a:t>
            </a:r>
            <a:r>
              <a:rPr lang="en-US" altLang="zh-CN" sz="2000">
                <a:sym typeface="+mn-ea"/>
              </a:rPr>
              <a:t>				</a:t>
            </a:r>
            <a:r>
              <a:rPr lang="zh-CN" altLang="en-US" sz="2000">
                <a:sym typeface="+mn-ea"/>
              </a:rPr>
              <a:t>不同虚拟地址空间之间</a:t>
            </a:r>
            <a:r>
              <a:rPr lang="zh-CN" altLang="en-US" sz="2000">
                <a:solidFill>
                  <a:srgbClr val="9C0B15"/>
                </a:solidFill>
                <a:sym typeface="+mn-ea"/>
              </a:rPr>
              <a:t>可能也是不一样的</a:t>
            </a:r>
            <a:r>
              <a:rPr lang="zh-CN" altLang="en-US" sz="2000">
                <a:sym typeface="+mn-ea"/>
              </a:rPr>
              <a:t>。</a:t>
            </a: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7529830"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5434"/>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85" name="组合 84"/>
          <p:cNvGrpSpPr/>
          <p:nvPr/>
        </p:nvGrpSpPr>
        <p:grpSpPr>
          <a:xfrm>
            <a:off x="4087495" y="2705735"/>
            <a:ext cx="2080178" cy="3857625"/>
            <a:chOff x="7718" y="4262"/>
            <a:chExt cx="3763" cy="6075"/>
          </a:xfrm>
        </p:grpSpPr>
        <p:sp>
          <p:nvSpPr>
            <p:cNvPr id="81" name="矩形 80"/>
            <p:cNvSpPr/>
            <p:nvPr>
              <p:custDataLst>
                <p:tags r:id="rId8"/>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9"/>
              </p:custDataLst>
            </p:nvPr>
          </p:nvSpPr>
          <p:spPr>
            <a:xfrm>
              <a:off x="8093" y="7106"/>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0"/>
              </p:custDataLst>
            </p:nvPr>
          </p:nvSpPr>
          <p:spPr>
            <a:xfrm>
              <a:off x="8088" y="9518"/>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1"/>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grpSp>
      <p:cxnSp>
        <p:nvCxnSpPr>
          <p:cNvPr id="5" name="直接连接符 4"/>
          <p:cNvCxnSpPr>
            <a:stCxn id="61" idx="3"/>
            <a:endCxn id="84" idx="1"/>
          </p:cNvCxnSpPr>
          <p:nvPr>
            <p:custDataLst>
              <p:tags r:id="rId12"/>
            </p:custDataLst>
          </p:nvPr>
        </p:nvCxnSpPr>
        <p:spPr>
          <a:xfrm flipV="1">
            <a:off x="2124075" y="3429635"/>
            <a:ext cx="2163445" cy="19767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13"/>
            </p:custDataLst>
          </p:nvPr>
        </p:nvSpPr>
        <p:spPr>
          <a:xfrm>
            <a:off x="440949" y="5822549"/>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sp>
        <p:nvSpPr>
          <p:cNvPr id="7" name="矩形 6"/>
          <p:cNvSpPr/>
          <p:nvPr>
            <p:custDataLst>
              <p:tags r:id="rId14"/>
            </p:custDataLst>
          </p:nvPr>
        </p:nvSpPr>
        <p:spPr>
          <a:xfrm>
            <a:off x="7730749" y="5166360"/>
            <a:ext cx="1682623" cy="527685"/>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cxnSp>
        <p:nvCxnSpPr>
          <p:cNvPr id="8" name="直接连接符 7"/>
          <p:cNvCxnSpPr>
            <a:stCxn id="70" idx="1"/>
            <a:endCxn id="84" idx="3"/>
          </p:cNvCxnSpPr>
          <p:nvPr>
            <p:custDataLst>
              <p:tags r:id="rId15"/>
            </p:custDataLst>
          </p:nvPr>
        </p:nvCxnSpPr>
        <p:spPr>
          <a:xfrm flipH="1" flipV="1">
            <a:off x="5967730" y="3429635"/>
            <a:ext cx="1762760" cy="134620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16"/>
            </p:custDataLst>
          </p:nvPr>
        </p:nvSpPr>
        <p:spPr>
          <a:xfrm>
            <a:off x="4285239" y="3838809"/>
            <a:ext cx="1682623" cy="527598"/>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sp>
        <p:nvSpPr>
          <p:cNvPr id="15" name="矩形 14"/>
          <p:cNvSpPr/>
          <p:nvPr>
            <p:custDataLst>
              <p:tags r:id="rId17"/>
            </p:custDataLst>
          </p:nvPr>
        </p:nvSpPr>
        <p:spPr>
          <a:xfrm>
            <a:off x="4294764" y="5406624"/>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cxnSp>
        <p:nvCxnSpPr>
          <p:cNvPr id="17" name="直接连接符 16"/>
          <p:cNvCxnSpPr>
            <a:stCxn id="6" idx="3"/>
            <a:endCxn id="15" idx="1"/>
          </p:cNvCxnSpPr>
          <p:nvPr>
            <p:custDataLst>
              <p:tags r:id="rId18"/>
            </p:custDataLst>
          </p:nvPr>
        </p:nvCxnSpPr>
        <p:spPr>
          <a:xfrm flipV="1">
            <a:off x="2123440" y="5670550"/>
            <a:ext cx="2171065" cy="41592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 idx="1"/>
            <a:endCxn id="9" idx="3"/>
          </p:cNvCxnSpPr>
          <p:nvPr>
            <p:custDataLst>
              <p:tags r:id="rId19"/>
            </p:custDataLst>
          </p:nvPr>
        </p:nvCxnSpPr>
        <p:spPr>
          <a:xfrm flipH="1" flipV="1">
            <a:off x="5967730" y="4102735"/>
            <a:ext cx="1762760" cy="132778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20"/>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wipe(left)">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wipe(left)">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rPr>
                        <a:t>3.3 内存的库共享</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endParaRPr>
                    </a:p>
                  </a:txBody>
                  <a:tcPr anchor="ctr" anchorCtr="0">
                    <a:solidFill>
                      <a:srgbClr val="9C0B15"/>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3.4 </a:t>
                      </a:r>
                      <a:r>
                        <a:rPr lang="zh-CN" altLang="en-US" sz="1800">
                          <a:latin typeface="思源黑体 CN Regular" panose="020B0500000000000000" charset="-122"/>
                          <a:ea typeface="思源黑体 CN Regular" panose="020B0500000000000000" charset="-122"/>
                          <a:sym typeface="+mn-ea"/>
                        </a:rPr>
                        <a:t>惰性动态链接</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2553335"/>
          </a:xfrm>
          <a:prstGeom prst="rect">
            <a:avLst/>
          </a:prstGeom>
          <a:noFill/>
        </p:spPr>
        <p:txBody>
          <a:bodyPr wrap="square" rtlCol="0">
            <a:spAutoFit/>
          </a:bodyPr>
          <a:p>
            <a:pPr algn="ctr"/>
            <a:r>
              <a:rPr lang="zh-CN" altLang="en-US" sz="2000" b="1">
                <a:solidFill>
                  <a:srgbClr val="9C0B15"/>
                </a:solidFill>
                <a:sym typeface="+mn-ea"/>
              </a:rPr>
              <a:t>改进：动态链接库</a:t>
            </a:r>
            <a:r>
              <a:rPr lang="zh-CN" altLang="en-US" sz="2000" b="1">
                <a:solidFill>
                  <a:srgbClr val="9C0B15"/>
                </a:solidFill>
                <a:sym typeface="+mn-ea"/>
              </a:rPr>
              <a:t>调用动态</a:t>
            </a:r>
            <a:r>
              <a:rPr lang="zh-CN" altLang="en-US" sz="2000" b="1">
                <a:solidFill>
                  <a:srgbClr val="9C0B15"/>
                </a:solidFill>
                <a:sym typeface="+mn-ea"/>
              </a:rPr>
              <a:t>链接库</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思路</a:t>
            </a:r>
            <a:r>
              <a:rPr lang="en-US" altLang="zh-CN" sz="2000">
                <a:sym typeface="+mn-ea"/>
              </a:rPr>
              <a:t>		</a:t>
            </a:r>
            <a:r>
              <a:rPr lang="zh-CN" altLang="en-US" sz="2000">
                <a:sym typeface="+mn-ea"/>
              </a:rPr>
              <a:t>利用读写段</a:t>
            </a:r>
            <a:r>
              <a:rPr lang="zh-CN" altLang="en-US" sz="2000">
                <a:solidFill>
                  <a:srgbClr val="9C0B15"/>
                </a:solidFill>
                <a:sym typeface="+mn-ea"/>
              </a:rPr>
              <a:t>多副本</a:t>
            </a:r>
            <a:r>
              <a:rPr lang="zh-CN" altLang="en-US" sz="2000">
                <a:sym typeface="+mn-ea"/>
              </a:rPr>
              <a:t>的特性，使用</a:t>
            </a:r>
            <a:r>
              <a:rPr lang="zh-CN" altLang="en-US" sz="2000">
                <a:solidFill>
                  <a:srgbClr val="9C0B15"/>
                </a:solidFill>
                <a:sym typeface="+mn-ea"/>
              </a:rPr>
              <a:t>间接地址法</a:t>
            </a:r>
            <a:r>
              <a:rPr lang="zh-CN" altLang="en-US" sz="2000">
                <a:sym typeface="+mn-ea"/>
              </a:rPr>
              <a:t>，将自己引用的所有符</a:t>
            </a:r>
            <a:r>
              <a:rPr lang="en-US" altLang="zh-CN" sz="2000">
                <a:sym typeface="+mn-ea"/>
              </a:rPr>
              <a:t>		</a:t>
            </a:r>
            <a:r>
              <a:rPr lang="zh-CN" altLang="en-US" sz="2000">
                <a:sym typeface="+mn-ea"/>
              </a:rPr>
              <a:t>号的地址都放在可读写段的</a:t>
            </a:r>
            <a:r>
              <a:rPr lang="zh-CN" altLang="en-US" sz="2000">
                <a:solidFill>
                  <a:srgbClr val="9C0B15"/>
                </a:solidFill>
                <a:sym typeface="+mn-ea"/>
              </a:rPr>
              <a:t>某个表格中</a:t>
            </a:r>
            <a:r>
              <a:rPr lang="zh-CN" altLang="en-US" sz="2000">
                <a:sym typeface="+mn-ea"/>
              </a:rPr>
              <a:t>，</a:t>
            </a:r>
            <a:r>
              <a:rPr lang="zh-CN" altLang="en-US" sz="2000">
                <a:solidFill>
                  <a:srgbClr val="9C0B15"/>
                </a:solidFill>
                <a:sym typeface="+mn-ea"/>
              </a:rPr>
              <a:t>每一次函数调用和全局变</a:t>
            </a:r>
            <a:r>
              <a:rPr lang="zh-CN" altLang="en-US" sz="2000">
                <a:solidFill>
                  <a:srgbClr val="9C0B15"/>
                </a:solidFill>
                <a:sym typeface="+mn-ea"/>
              </a:rPr>
              <a:t>		</a:t>
            </a:r>
            <a:r>
              <a:rPr lang="zh-CN" altLang="en-US" sz="2000">
                <a:solidFill>
                  <a:srgbClr val="9C0B15"/>
                </a:solidFill>
                <a:sym typeface="+mn-ea"/>
              </a:rPr>
              <a:t>量存取时都先查询这个表格得到该符号在本虚拟地址空间中的地址，</a:t>
            </a:r>
            <a:r>
              <a:rPr lang="zh-CN" altLang="en-US" sz="2000">
                <a:solidFill>
                  <a:srgbClr val="9C0B15"/>
                </a:solidFill>
                <a:sym typeface="+mn-ea"/>
              </a:rPr>
              <a:t>		</a:t>
            </a:r>
            <a:r>
              <a:rPr lang="zh-CN" altLang="en-US" sz="2000">
                <a:solidFill>
                  <a:srgbClr val="9C0B15"/>
                </a:solidFill>
                <a:sym typeface="+mn-ea"/>
              </a:rPr>
              <a:t>然后再访问那个地址即可</a:t>
            </a:r>
            <a:r>
              <a:rPr lang="zh-CN" altLang="en-US" sz="2000">
                <a:sym typeface="+mn-ea"/>
              </a:rPr>
              <a:t>。</a:t>
            </a:r>
            <a:endParaRPr lang="zh-CN" altLang="en-US" sz="2000">
              <a:sym typeface="+mn-ea"/>
            </a:endParaRPr>
          </a:p>
          <a:p>
            <a:pPr algn="l">
              <a:buClrTx/>
              <a:buSzTx/>
              <a:buFontTx/>
            </a:pPr>
            <a:r>
              <a:rPr lang="zh-CN" altLang="en-US" sz="2000">
                <a:solidFill>
                  <a:srgbClr val="9C0B15"/>
                </a:solidFill>
                <a:sym typeface="+mn-ea"/>
              </a:rPr>
              <a:t>		</a:t>
            </a:r>
            <a:r>
              <a:rPr lang="zh-CN" altLang="en-US" sz="2000">
                <a:sym typeface="+mn-ea"/>
              </a:rPr>
              <a:t>当然，调用内部的符号时只要使用</a:t>
            </a:r>
            <a:r>
              <a:rPr lang="zh-CN" altLang="en-US" sz="2000">
                <a:solidFill>
                  <a:srgbClr val="9C0B15"/>
                </a:solidFill>
                <a:sym typeface="+mn-ea"/>
              </a:rPr>
              <a:t>IP，SP或BP相对寻址</a:t>
            </a:r>
            <a:r>
              <a:rPr lang="zh-CN" altLang="en-US" sz="2000">
                <a:sym typeface="+mn-ea"/>
              </a:rPr>
              <a:t>就</a:t>
            </a:r>
            <a:r>
              <a:rPr lang="zh-CN" altLang="en-US" sz="2000">
                <a:sym typeface="+mn-ea"/>
              </a:rPr>
              <a:t>可以了。</a:t>
            </a:r>
            <a:endParaRPr lang="zh-CN" altLang="en-US" sz="2000">
              <a:sym typeface="+mn-ea"/>
            </a:endParaRPr>
          </a:p>
          <a:p>
            <a:pPr algn="l">
              <a:buClrTx/>
              <a:buSzTx/>
              <a:buFontTx/>
            </a:pPr>
            <a:endParaRPr lang="zh-CN" altLang="en-US" sz="2000">
              <a:sym typeface="+mn-ea"/>
            </a:endParaRPr>
          </a:p>
        </p:txBody>
      </p:sp>
      <p:sp>
        <p:nvSpPr>
          <p:cNvPr id="2" name="矩形 1"/>
          <p:cNvSpPr/>
          <p:nvPr>
            <p:custDataLst>
              <p:tags r:id="rId2"/>
            </p:custDataLst>
          </p:nvPr>
        </p:nvSpPr>
        <p:spPr>
          <a:xfrm>
            <a:off x="470535" y="3456940"/>
            <a:ext cx="1652905" cy="725805"/>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grpSp>
        <p:nvGrpSpPr>
          <p:cNvPr id="4" name="组合 3"/>
          <p:cNvGrpSpPr/>
          <p:nvPr/>
        </p:nvGrpSpPr>
        <p:grpSpPr>
          <a:xfrm>
            <a:off x="240665" y="2707005"/>
            <a:ext cx="2082800" cy="3856355"/>
            <a:chOff x="1174" y="2243"/>
            <a:chExt cx="3763" cy="6074"/>
          </a:xfrm>
        </p:grpSpPr>
        <p:sp>
          <p:nvSpPr>
            <p:cNvPr id="61" name="矩形 60"/>
            <p:cNvSpPr/>
            <p:nvPr>
              <p:custDataLst>
                <p:tags r:id="rId3"/>
              </p:custDataLst>
            </p:nvPr>
          </p:nvSpPr>
          <p:spPr>
            <a:xfrm>
              <a:off x="1537" y="6079"/>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67" name="矩形 66"/>
            <p:cNvSpPr/>
            <p:nvPr>
              <p:custDataLst>
                <p:tags r:id="rId4"/>
              </p:custDataLst>
            </p:nvPr>
          </p:nvSpPr>
          <p:spPr>
            <a:xfrm>
              <a:off x="1174" y="2243"/>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1</a:t>
              </a:r>
              <a:endParaRPr lang="en-US" altLang="zh-CN">
                <a:solidFill>
                  <a:schemeClr val="tx1"/>
                </a:solidFill>
              </a:endParaRPr>
            </a:p>
          </p:txBody>
        </p:sp>
      </p:grpSp>
      <p:grpSp>
        <p:nvGrpSpPr>
          <p:cNvPr id="68" name="组合 67"/>
          <p:cNvGrpSpPr/>
          <p:nvPr/>
        </p:nvGrpSpPr>
        <p:grpSpPr>
          <a:xfrm>
            <a:off x="7529830" y="2706370"/>
            <a:ext cx="2082800" cy="3856990"/>
            <a:chOff x="6948" y="2591"/>
            <a:chExt cx="3763" cy="6074"/>
          </a:xfrm>
        </p:grpSpPr>
        <p:sp>
          <p:nvSpPr>
            <p:cNvPr id="69" name="矩形 68"/>
            <p:cNvSpPr/>
            <p:nvPr>
              <p:custDataLst>
                <p:tags r:id="rId5"/>
              </p:custDataLst>
            </p:nvPr>
          </p:nvSpPr>
          <p:spPr>
            <a:xfrm>
              <a:off x="7311" y="4138"/>
              <a:ext cx="3040" cy="777"/>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70" name="矩形 69"/>
            <p:cNvSpPr/>
            <p:nvPr>
              <p:custDataLst>
                <p:tags r:id="rId6"/>
              </p:custDataLst>
            </p:nvPr>
          </p:nvSpPr>
          <p:spPr>
            <a:xfrm>
              <a:off x="7311" y="5434"/>
              <a:ext cx="3040" cy="831"/>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sp>
          <p:nvSpPr>
            <p:cNvPr id="72" name="矩形 71"/>
            <p:cNvSpPr/>
            <p:nvPr>
              <p:custDataLst>
                <p:tags r:id="rId7"/>
              </p:custDataLst>
            </p:nvPr>
          </p:nvSpPr>
          <p:spPr>
            <a:xfrm>
              <a:off x="6948" y="2591"/>
              <a:ext cx="3763" cy="6074"/>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sym typeface="+mn-ea"/>
                </a:rPr>
                <a:t>虚拟地址空间</a:t>
              </a:r>
              <a:r>
                <a:rPr lang="en-US" altLang="zh-CN">
                  <a:solidFill>
                    <a:schemeClr val="tx1"/>
                  </a:solidFill>
                </a:rPr>
                <a:t>2</a:t>
              </a:r>
              <a:endParaRPr lang="en-US" altLang="zh-CN">
                <a:solidFill>
                  <a:schemeClr val="tx1"/>
                </a:solidFill>
              </a:endParaRPr>
            </a:p>
          </p:txBody>
        </p:sp>
      </p:grpSp>
      <p:grpSp>
        <p:nvGrpSpPr>
          <p:cNvPr id="85" name="组合 84"/>
          <p:cNvGrpSpPr/>
          <p:nvPr/>
        </p:nvGrpSpPr>
        <p:grpSpPr>
          <a:xfrm>
            <a:off x="4087495" y="2705735"/>
            <a:ext cx="2080178" cy="3857625"/>
            <a:chOff x="7718" y="4262"/>
            <a:chExt cx="3763" cy="6075"/>
          </a:xfrm>
        </p:grpSpPr>
        <p:sp>
          <p:nvSpPr>
            <p:cNvPr id="81" name="矩形 80"/>
            <p:cNvSpPr/>
            <p:nvPr>
              <p:custDataLst>
                <p:tags r:id="rId8"/>
              </p:custDataLst>
            </p:nvPr>
          </p:nvSpPr>
          <p:spPr>
            <a:xfrm>
              <a:off x="7718" y="4262"/>
              <a:ext cx="3763" cy="6075"/>
            </a:xfrm>
            <a:prstGeom prst="rect">
              <a:avLst/>
            </a:prstGeom>
            <a:no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r>
                <a:rPr lang="zh-CN" altLang="en-US">
                  <a:solidFill>
                    <a:schemeClr val="tx1"/>
                  </a:solidFill>
                </a:rPr>
                <a:t>物理地址空间</a:t>
              </a:r>
              <a:endParaRPr lang="en-US" altLang="zh-CN">
                <a:solidFill>
                  <a:schemeClr val="tx1"/>
                </a:solidFill>
              </a:endParaRPr>
            </a:p>
          </p:txBody>
        </p:sp>
        <p:sp>
          <p:nvSpPr>
            <p:cNvPr id="82" name="矩形 81"/>
            <p:cNvSpPr/>
            <p:nvPr>
              <p:custDataLst>
                <p:tags r:id="rId9"/>
              </p:custDataLst>
            </p:nvPr>
          </p:nvSpPr>
          <p:spPr>
            <a:xfrm>
              <a:off x="8093" y="7106"/>
              <a:ext cx="3039" cy="1126"/>
            </a:xfrm>
            <a:prstGeom prst="rect">
              <a:avLst/>
            </a:prstGeom>
            <a:solidFill>
              <a:srgbClr val="00B05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1</a:t>
              </a:r>
              <a:endParaRPr lang="en-US" altLang="zh-CN"/>
            </a:p>
          </p:txBody>
        </p:sp>
        <p:sp>
          <p:nvSpPr>
            <p:cNvPr id="83" name="矩形 82"/>
            <p:cNvSpPr/>
            <p:nvPr>
              <p:custDataLst>
                <p:tags r:id="rId10"/>
              </p:custDataLst>
            </p:nvPr>
          </p:nvSpPr>
          <p:spPr>
            <a:xfrm>
              <a:off x="8088" y="9518"/>
              <a:ext cx="3039" cy="656"/>
            </a:xfrm>
            <a:prstGeom prst="rect">
              <a:avLst/>
            </a:prstGeom>
            <a:solidFill>
              <a:schemeClr val="accent2"/>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私有内容</a:t>
              </a:r>
              <a:r>
                <a:rPr lang="en-US" altLang="zh-CN"/>
                <a:t>2</a:t>
              </a:r>
              <a:endParaRPr lang="en-US" altLang="zh-CN"/>
            </a:p>
          </p:txBody>
        </p:sp>
        <p:sp>
          <p:nvSpPr>
            <p:cNvPr id="84" name="矩形 83"/>
            <p:cNvSpPr/>
            <p:nvPr>
              <p:custDataLst>
                <p:tags r:id="rId11"/>
              </p:custDataLst>
            </p:nvPr>
          </p:nvSpPr>
          <p:spPr>
            <a:xfrm>
              <a:off x="8080" y="4995"/>
              <a:ext cx="3040" cy="814"/>
            </a:xfrm>
            <a:prstGeom prst="rect">
              <a:avLst/>
            </a:prstGeom>
            <a:solidFill>
              <a:srgbClr val="00B0F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库的只读</a:t>
              </a:r>
              <a:r>
                <a:rPr lang="zh-CN" altLang="en-US"/>
                <a:t>段</a:t>
              </a:r>
              <a:endParaRPr lang="zh-CN" altLang="en-US"/>
            </a:p>
          </p:txBody>
        </p:sp>
      </p:grpSp>
      <p:cxnSp>
        <p:nvCxnSpPr>
          <p:cNvPr id="5" name="直接连接符 4"/>
          <p:cNvCxnSpPr>
            <a:stCxn id="61" idx="3"/>
            <a:endCxn id="84" idx="1"/>
          </p:cNvCxnSpPr>
          <p:nvPr>
            <p:custDataLst>
              <p:tags r:id="rId12"/>
            </p:custDataLst>
          </p:nvPr>
        </p:nvCxnSpPr>
        <p:spPr>
          <a:xfrm flipV="1">
            <a:off x="2124075" y="3429635"/>
            <a:ext cx="2163445" cy="197675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13"/>
            </p:custDataLst>
          </p:nvPr>
        </p:nvSpPr>
        <p:spPr>
          <a:xfrm>
            <a:off x="440949" y="5822549"/>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sp>
        <p:nvSpPr>
          <p:cNvPr id="7" name="矩形 6"/>
          <p:cNvSpPr/>
          <p:nvPr>
            <p:custDataLst>
              <p:tags r:id="rId14"/>
            </p:custDataLst>
          </p:nvPr>
        </p:nvSpPr>
        <p:spPr>
          <a:xfrm>
            <a:off x="7730749" y="5166360"/>
            <a:ext cx="1682623" cy="527685"/>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cxnSp>
        <p:nvCxnSpPr>
          <p:cNvPr id="8" name="直接连接符 7"/>
          <p:cNvCxnSpPr>
            <a:stCxn id="70" idx="1"/>
            <a:endCxn id="84" idx="3"/>
          </p:cNvCxnSpPr>
          <p:nvPr>
            <p:custDataLst>
              <p:tags r:id="rId15"/>
            </p:custDataLst>
          </p:nvPr>
        </p:nvCxnSpPr>
        <p:spPr>
          <a:xfrm flipH="1" flipV="1">
            <a:off x="5967730" y="3429635"/>
            <a:ext cx="1762760" cy="1346200"/>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16"/>
            </p:custDataLst>
          </p:nvPr>
        </p:nvSpPr>
        <p:spPr>
          <a:xfrm>
            <a:off x="4285239" y="3838809"/>
            <a:ext cx="1682623" cy="527598"/>
          </a:xfrm>
          <a:prstGeom prst="rect">
            <a:avLst/>
          </a:prstGeom>
          <a:solidFill>
            <a:srgbClr val="00206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2</a:t>
            </a:r>
            <a:endParaRPr lang="en-US" altLang="zh-CN"/>
          </a:p>
        </p:txBody>
      </p:sp>
      <p:sp>
        <p:nvSpPr>
          <p:cNvPr id="15" name="矩形 14"/>
          <p:cNvSpPr/>
          <p:nvPr>
            <p:custDataLst>
              <p:tags r:id="rId17"/>
            </p:custDataLst>
          </p:nvPr>
        </p:nvSpPr>
        <p:spPr>
          <a:xfrm>
            <a:off x="4294764" y="5406624"/>
            <a:ext cx="1682623" cy="527598"/>
          </a:xfrm>
          <a:prstGeom prst="rect">
            <a:avLst/>
          </a:prstGeom>
          <a:solidFill>
            <a:srgbClr val="7030A0"/>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库的可读写段</a:t>
            </a:r>
            <a:r>
              <a:rPr lang="en-US" altLang="zh-CN"/>
              <a:t>1</a:t>
            </a:r>
            <a:endParaRPr lang="en-US" altLang="zh-CN"/>
          </a:p>
        </p:txBody>
      </p:sp>
      <p:cxnSp>
        <p:nvCxnSpPr>
          <p:cNvPr id="17" name="直接连接符 16"/>
          <p:cNvCxnSpPr>
            <a:stCxn id="6" idx="3"/>
            <a:endCxn id="15" idx="1"/>
          </p:cNvCxnSpPr>
          <p:nvPr>
            <p:custDataLst>
              <p:tags r:id="rId18"/>
            </p:custDataLst>
          </p:nvPr>
        </p:nvCxnSpPr>
        <p:spPr>
          <a:xfrm flipV="1">
            <a:off x="2123440" y="5670550"/>
            <a:ext cx="2171065" cy="41592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 idx="1"/>
            <a:endCxn id="9" idx="3"/>
          </p:cNvCxnSpPr>
          <p:nvPr>
            <p:custDataLst>
              <p:tags r:id="rId19"/>
            </p:custDataLst>
          </p:nvPr>
        </p:nvCxnSpPr>
        <p:spPr>
          <a:xfrm flipH="1" flipV="1">
            <a:off x="5967730" y="4102735"/>
            <a:ext cx="1762760" cy="1327785"/>
          </a:xfrm>
          <a:prstGeom prst="line">
            <a:avLst/>
          </a:prstGeom>
          <a:ln w="28575" cmpd="sng">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20"/>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wipe(left)">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3" end="3"/>
                                            </p:txEl>
                                          </p:spTgt>
                                        </p:tgtEl>
                                        <p:attrNameLst>
                                          <p:attrName>style.visibility</p:attrName>
                                        </p:attrNameLst>
                                      </p:cBhvr>
                                      <p:to>
                                        <p:strVal val="visible"/>
                                      </p:to>
                                    </p:set>
                                    <p:animEffect transition="in" filter="wipe(left)">
                                      <p:cBhvr>
                                        <p:cTn id="1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rPr>
                        <a:t>3.3 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3.4 惰性动态链接</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247130"/>
          </a:xfrm>
          <a:prstGeom prst="rect">
            <a:avLst/>
          </a:prstGeom>
          <a:noFill/>
        </p:spPr>
        <p:txBody>
          <a:bodyPr wrap="square" rtlCol="0">
            <a:spAutoFit/>
          </a:bodyPr>
          <a:p>
            <a:pPr algn="ctr"/>
            <a:r>
              <a:rPr lang="zh-CN" altLang="en-US" sz="2000" b="1">
                <a:solidFill>
                  <a:srgbClr val="9C0B15"/>
                </a:solidFill>
                <a:sym typeface="+mn-ea"/>
              </a:rPr>
              <a:t>改进：推迟链接直到需要</a:t>
            </a:r>
            <a:r>
              <a:rPr lang="zh-CN" altLang="en-US" sz="2000" b="1">
                <a:solidFill>
                  <a:srgbClr val="9C0B15"/>
                </a:solidFill>
                <a:sym typeface="+mn-ea"/>
              </a:rPr>
              <a:t>之时</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问题</a:t>
            </a:r>
            <a:r>
              <a:rPr lang="en-US" altLang="zh-CN" sz="2000">
                <a:sym typeface="+mn-ea"/>
              </a:rPr>
              <a:t>		</a:t>
            </a:r>
            <a:r>
              <a:rPr lang="zh-CN" altLang="en-US" sz="2000">
                <a:sym typeface="+mn-ea"/>
              </a:rPr>
              <a:t>随着应用程序的发展，一个程序引用的动态库越来越多，这包括它</a:t>
            </a:r>
            <a:r>
              <a:rPr lang="en-US" altLang="zh-CN" sz="2000">
                <a:sym typeface="+mn-ea"/>
              </a:rPr>
              <a:t>		</a:t>
            </a:r>
            <a:r>
              <a:rPr lang="zh-CN" altLang="en-US" sz="2000">
                <a:sym typeface="+mn-ea"/>
              </a:rPr>
              <a:t>们的语言运行时库、各种第三方库，甚至还有</a:t>
            </a:r>
            <a:r>
              <a:rPr lang="zh-CN" altLang="en-US" sz="2000">
                <a:solidFill>
                  <a:srgbClr val="9C0B15"/>
                </a:solidFill>
                <a:sym typeface="+mn-ea"/>
              </a:rPr>
              <a:t>第三方库引用的第三</a:t>
            </a:r>
            <a:r>
              <a:rPr lang="zh-CN" altLang="en-US" sz="2000">
                <a:solidFill>
                  <a:srgbClr val="9C0B15"/>
                </a:solidFill>
                <a:sym typeface="+mn-ea"/>
              </a:rPr>
              <a:t>		</a:t>
            </a:r>
            <a:r>
              <a:rPr lang="zh-CN" altLang="en-US" sz="2000">
                <a:solidFill>
                  <a:srgbClr val="9C0B15"/>
                </a:solidFill>
                <a:sym typeface="+mn-ea"/>
              </a:rPr>
              <a:t>方库引用的第三方库</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en-US" altLang="zh-CN" sz="2000">
                <a:sym typeface="+mn-ea"/>
              </a:rPr>
              <a:t>		</a:t>
            </a:r>
            <a:r>
              <a:rPr lang="zh-CN" altLang="en-US" sz="2000">
                <a:sym typeface="+mn-ea"/>
              </a:rPr>
              <a:t>这些库之中有很多根本不会使用，可是为了方便编程</a:t>
            </a:r>
            <a:r>
              <a:rPr lang="zh-CN" altLang="en-US" sz="2000">
                <a:solidFill>
                  <a:srgbClr val="9C0B15"/>
                </a:solidFill>
                <a:sym typeface="+mn-ea"/>
              </a:rPr>
              <a:t>但凡是个应用</a:t>
            </a:r>
            <a:r>
              <a:rPr lang="zh-CN" altLang="en-US" sz="2000">
                <a:solidFill>
                  <a:srgbClr val="9C0B15"/>
                </a:solidFill>
                <a:sym typeface="+mn-ea"/>
              </a:rPr>
              <a:t>		</a:t>
            </a:r>
            <a:r>
              <a:rPr lang="zh-CN" altLang="en-US" sz="2000">
                <a:solidFill>
                  <a:srgbClr val="9C0B15"/>
                </a:solidFill>
                <a:sym typeface="+mn-ea"/>
              </a:rPr>
              <a:t>程序就会声明自己可能引用它们</a:t>
            </a:r>
            <a:r>
              <a:rPr lang="zh-CN" altLang="en-US" sz="2000">
                <a:sym typeface="+mn-ea"/>
              </a:rPr>
              <a:t>。如果在应用程序启动时就加载或</a:t>
            </a:r>
            <a:r>
              <a:rPr lang="en-US" altLang="zh-CN" sz="2000">
                <a:sym typeface="+mn-ea"/>
              </a:rPr>
              <a:t>		</a:t>
            </a:r>
            <a:r>
              <a:rPr lang="zh-CN" altLang="en-US" sz="2000">
                <a:sym typeface="+mn-ea"/>
              </a:rPr>
              <a:t>者映射这些库，机器就要卡死。那么，能否</a:t>
            </a:r>
            <a:r>
              <a:rPr lang="zh-CN" altLang="en-US" sz="2000">
                <a:solidFill>
                  <a:srgbClr val="9C0B15"/>
                </a:solidFill>
                <a:sym typeface="+mn-ea"/>
              </a:rPr>
              <a:t>将动态链接库的加载和</a:t>
            </a:r>
            <a:r>
              <a:rPr lang="zh-CN" altLang="en-US" sz="2000">
                <a:solidFill>
                  <a:srgbClr val="9C0B15"/>
                </a:solidFill>
                <a:sym typeface="+mn-ea"/>
              </a:rPr>
              <a:t>		</a:t>
            </a:r>
            <a:r>
              <a:rPr lang="zh-CN" altLang="en-US" sz="2000">
                <a:solidFill>
                  <a:srgbClr val="9C0B15"/>
                </a:solidFill>
                <a:sym typeface="+mn-ea"/>
              </a:rPr>
              <a:t>链接推迟到真正使用它们的一刻</a:t>
            </a:r>
            <a:r>
              <a:rPr lang="zh-CN" altLang="en-US" sz="2000">
                <a:sym typeface="+mn-ea"/>
              </a:rPr>
              <a:t>呢？</a:t>
            </a:r>
            <a:endParaRPr lang="zh-CN" altLang="en-US" sz="2000">
              <a:sym typeface="+mn-ea"/>
            </a:endParaRPr>
          </a:p>
          <a:p>
            <a:pPr algn="l">
              <a:buClrTx/>
              <a:buSzTx/>
              <a:buFontTx/>
            </a:pPr>
            <a:endParaRPr lang="zh-CN" altLang="en-US" sz="2000">
              <a:sym typeface="+mn-ea"/>
            </a:endParaRPr>
          </a:p>
          <a:p>
            <a:pPr algn="l">
              <a:buClrTx/>
              <a:buSzTx/>
              <a:buFontTx/>
            </a:pP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直接回填法</a:t>
            </a:r>
            <a:r>
              <a:rPr lang="en-US" altLang="zh-CN" sz="2000">
                <a:sym typeface="+mn-ea"/>
              </a:rPr>
              <a:t>	</a:t>
            </a:r>
            <a:r>
              <a:rPr lang="zh-CN" altLang="en-US" sz="2000">
                <a:sym typeface="+mn-ea"/>
              </a:rPr>
              <a:t>直接回填法哪怕对应用程序都做不到，因为我们不可能让应用程序</a:t>
            </a:r>
            <a:r>
              <a:rPr lang="en-US" altLang="zh-CN" sz="2000">
                <a:sym typeface="+mn-ea"/>
              </a:rPr>
              <a:t>		</a:t>
            </a:r>
            <a:r>
              <a:rPr lang="zh-CN" altLang="en-US" sz="2000">
                <a:sym typeface="+mn-ea"/>
              </a:rPr>
              <a:t>空着地址去跑。</a:t>
            </a:r>
            <a:r>
              <a:rPr lang="zh-CN" altLang="en-US" sz="2000">
                <a:solidFill>
                  <a:srgbClr val="9C0B15"/>
                </a:solidFill>
                <a:sym typeface="+mn-ea"/>
              </a:rPr>
              <a:t>一旦跑到那条没填充的指令</a:t>
            </a:r>
            <a:r>
              <a:rPr lang="zh-CN" altLang="en-US" sz="2000">
                <a:sym typeface="+mn-ea"/>
              </a:rPr>
              <a:t>就干脆</a:t>
            </a:r>
            <a:r>
              <a:rPr lang="zh-CN" altLang="en-US" sz="2000">
                <a:sym typeface="+mn-ea"/>
              </a:rPr>
              <a:t>出错了。</a:t>
            </a:r>
            <a:endParaRPr lang="zh-CN" altLang="en-US" sz="2000">
              <a:sym typeface="+mn-ea"/>
            </a:endParaRPr>
          </a:p>
          <a:p>
            <a:pPr algn="l">
              <a:buClrTx/>
              <a:buSzTx/>
              <a:buFontTx/>
            </a:pPr>
            <a:endParaRPr lang="zh-CN" altLang="en-US" sz="2000">
              <a:sym typeface="+mn-ea"/>
            </a:endParaRPr>
          </a:p>
          <a:p>
            <a:pPr algn="l">
              <a:buClrTx/>
              <a:buSzTx/>
              <a:buFontTx/>
            </a:pP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间接填充法</a:t>
            </a:r>
            <a:r>
              <a:rPr lang="en-US" altLang="zh-CN" sz="2000">
                <a:sym typeface="+mn-ea"/>
              </a:rPr>
              <a:t>	</a:t>
            </a:r>
            <a:r>
              <a:rPr lang="zh-CN" altLang="en-US" sz="2000">
                <a:sym typeface="+mn-ea"/>
              </a:rPr>
              <a:t>也有问题，因为库还没加载，那些</a:t>
            </a:r>
            <a:r>
              <a:rPr lang="zh-CN" altLang="en-US" sz="2000">
                <a:solidFill>
                  <a:srgbClr val="9C0B15"/>
                </a:solidFill>
                <a:sym typeface="+mn-ea"/>
              </a:rPr>
              <a:t>间接地址填充什么</a:t>
            </a:r>
            <a:r>
              <a:rPr lang="zh-CN" altLang="en-US" sz="2000">
                <a:sym typeface="+mn-ea"/>
              </a:rPr>
              <a:t>才好呢？填充</a:t>
            </a:r>
            <a:r>
              <a:rPr lang="en-US" altLang="zh-CN" sz="2000">
                <a:sym typeface="+mn-ea"/>
              </a:rPr>
              <a:t>		</a:t>
            </a:r>
            <a:r>
              <a:rPr lang="en-US" altLang="zh-CN" sz="2000">
                <a:sym typeface="+mn-ea"/>
              </a:rPr>
              <a:t>0</a:t>
            </a:r>
            <a:r>
              <a:rPr lang="zh-CN" altLang="en-US" sz="2000">
                <a:sym typeface="+mn-ea"/>
              </a:rPr>
              <a:t>的话，又会出</a:t>
            </a:r>
            <a:r>
              <a:rPr lang="zh-CN" altLang="en-US" sz="2000">
                <a:sym typeface="+mn-ea"/>
              </a:rPr>
              <a:t>相同的问题了。</a:t>
            </a:r>
            <a:endParaRPr lang="zh-CN" altLang="en-US" sz="2000">
              <a:sym typeface="+mn-ea"/>
            </a:endParaRPr>
          </a:p>
        </p:txBody>
      </p:sp>
    </p:spTree>
    <p:custDataLst>
      <p:tags r:id="rId2"/>
    </p:custData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wipe(left)">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wipe(left)">
                                      <p:cBhvr>
                                        <p:cTn id="12" dur="500"/>
                                        <p:tgtEl>
                                          <p:spTgt spid="1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8" end="8"/>
                                            </p:txEl>
                                          </p:spTgt>
                                        </p:tgtEl>
                                        <p:attrNameLst>
                                          <p:attrName>style.visibility</p:attrName>
                                        </p:attrNameLst>
                                      </p:cBhvr>
                                      <p:to>
                                        <p:strVal val="visible"/>
                                      </p:to>
                                    </p:set>
                                    <p:animEffect transition="in" filter="wipe(left)">
                                      <p:cBhvr>
                                        <p:cTn id="17" dur="500"/>
                                        <p:tgtEl>
                                          <p:spTgt spid="1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xEl>
                                              <p:pRg st="12" end="12"/>
                                            </p:txEl>
                                          </p:spTgt>
                                        </p:tgtEl>
                                        <p:attrNameLst>
                                          <p:attrName>style.visibility</p:attrName>
                                        </p:attrNameLst>
                                      </p:cBhvr>
                                      <p:to>
                                        <p:strVal val="visible"/>
                                      </p:to>
                                    </p:set>
                                    <p:animEffect transition="in" filter="wipe(left)">
                                      <p:cBhvr>
                                        <p:cTn id="22" dur="500"/>
                                        <p:tgtEl>
                                          <p:spTgt spid="1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rPr>
                        <a:t>3.3 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3.4 惰性动态链接</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r>
              <a:rPr lang="zh-CN" altLang="en-US" sz="2000" b="1">
                <a:solidFill>
                  <a:srgbClr val="9C0B15"/>
                </a:solidFill>
                <a:sym typeface="+mn-ea"/>
              </a:rPr>
              <a:t>改进：推迟链接直到需要</a:t>
            </a:r>
            <a:r>
              <a:rPr lang="zh-CN" altLang="en-US" sz="2000" b="1">
                <a:solidFill>
                  <a:srgbClr val="9C0B15"/>
                </a:solidFill>
                <a:sym typeface="+mn-ea"/>
              </a:rPr>
              <a:t>之时</a:t>
            </a:r>
            <a:endParaRPr lang="zh-CN" altLang="en-US" sz="2000" b="1">
              <a:solidFill>
                <a:srgbClr val="9C0B15"/>
              </a:solidFill>
              <a:sym typeface="+mn-ea"/>
            </a:endParaRPr>
          </a:p>
          <a:p>
            <a:pPr algn="ctr"/>
            <a:endParaRPr lang="zh-CN" altLang="en-US" sz="2000">
              <a:sym typeface="+mn-ea"/>
            </a:endParaRPr>
          </a:p>
          <a:p>
            <a:pPr algn="l">
              <a:buClrTx/>
              <a:buSzTx/>
              <a:buFontTx/>
            </a:pPr>
            <a:r>
              <a:rPr lang="zh-CN" altLang="en-US" sz="2000" b="1">
                <a:solidFill>
                  <a:srgbClr val="9C0B15"/>
                </a:solidFill>
                <a:sym typeface="+mn-ea"/>
              </a:rPr>
              <a:t>延迟绑定</a:t>
            </a:r>
            <a:r>
              <a:rPr lang="en-US" altLang="zh-CN" sz="2000">
                <a:sym typeface="+mn-ea"/>
              </a:rPr>
              <a:t>	</a:t>
            </a:r>
            <a:r>
              <a:rPr lang="zh-CN" altLang="en-US" sz="2000">
                <a:sym typeface="+mn-ea"/>
              </a:rPr>
              <a:t>在调用到某某符号或功能时才去查找和加载它。如果</a:t>
            </a:r>
            <a:r>
              <a:rPr lang="zh-CN" altLang="en-US" sz="2000">
                <a:solidFill>
                  <a:srgbClr val="9C0B15"/>
                </a:solidFill>
                <a:sym typeface="+mn-ea"/>
              </a:rPr>
              <a:t>该符号或功能</a:t>
            </a:r>
            <a:r>
              <a:rPr lang="zh-CN" altLang="en-US" sz="2000">
                <a:solidFill>
                  <a:srgbClr val="9C0B15"/>
                </a:solidFill>
                <a:sym typeface="+mn-ea"/>
              </a:rPr>
              <a:t>		一直</a:t>
            </a:r>
            <a:r>
              <a:rPr lang="zh-CN" altLang="en-US" sz="2000">
                <a:solidFill>
                  <a:srgbClr val="9C0B15"/>
                </a:solidFill>
                <a:sym typeface="+mn-ea"/>
              </a:rPr>
              <a:t>不被调用，那么它们就永远不会被加载</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惰性动态链接</a:t>
            </a:r>
            <a:r>
              <a:rPr lang="en-US" altLang="zh-CN" sz="2000">
                <a:sym typeface="+mn-ea"/>
              </a:rPr>
              <a:t>	</a:t>
            </a:r>
            <a:r>
              <a:rPr lang="zh-CN" altLang="en-US" sz="2000">
                <a:sym typeface="+mn-ea"/>
              </a:rPr>
              <a:t>对于</a:t>
            </a:r>
            <a:r>
              <a:rPr lang="zh-CN" altLang="en-US" sz="2000">
                <a:solidFill>
                  <a:srgbClr val="9C0B15"/>
                </a:solidFill>
                <a:sym typeface="+mn-ea"/>
              </a:rPr>
              <a:t>全局变量（一般而言不多）</a:t>
            </a:r>
            <a:r>
              <a:rPr lang="zh-CN" altLang="en-US" sz="2000">
                <a:sym typeface="+mn-ea"/>
              </a:rPr>
              <a:t>，我们在程序启动之时就向间接跳</a:t>
            </a:r>
            <a:r>
              <a:rPr lang="en-US" altLang="zh-CN" sz="2000">
                <a:sym typeface="+mn-ea"/>
              </a:rPr>
              <a:t>		</a:t>
            </a:r>
            <a:r>
              <a:rPr lang="zh-CN" altLang="en-US" sz="2000">
                <a:sym typeface="+mn-ea"/>
              </a:rPr>
              <a:t>转表填充它们的地址。对于</a:t>
            </a:r>
            <a:r>
              <a:rPr lang="zh-CN" altLang="en-US" sz="2000">
                <a:solidFill>
                  <a:srgbClr val="9C0B15"/>
                </a:solidFill>
                <a:sym typeface="+mn-ea"/>
              </a:rPr>
              <a:t>函数（动态链接库的主要成分）</a:t>
            </a:r>
            <a:r>
              <a:rPr lang="zh-CN" altLang="en-US" sz="2000">
                <a:sym typeface="+mn-ea"/>
              </a:rPr>
              <a:t>则不同，</a:t>
            </a:r>
            <a:r>
              <a:rPr lang="en-US" altLang="zh-CN" sz="2000">
                <a:sym typeface="+mn-ea"/>
              </a:rPr>
              <a:t>		</a:t>
            </a:r>
            <a:r>
              <a:rPr lang="zh-CN" altLang="en-US" sz="2000">
                <a:sym typeface="+mn-ea"/>
              </a:rPr>
              <a:t>我们可以在间接</a:t>
            </a:r>
            <a:r>
              <a:rPr lang="zh-CN" altLang="en-US" sz="2000">
                <a:sym typeface="+mn-ea"/>
              </a:rPr>
              <a:t>地址表里面</a:t>
            </a:r>
            <a:r>
              <a:rPr lang="zh-CN" altLang="en-US" sz="2000">
                <a:solidFill>
                  <a:srgbClr val="9C0B15"/>
                </a:solidFill>
                <a:sym typeface="+mn-ea"/>
              </a:rPr>
              <a:t>填充一段专门用来查找函数真实地址的</a:t>
            </a:r>
            <a:r>
              <a:rPr lang="zh-CN" altLang="en-US" sz="2000">
                <a:solidFill>
                  <a:srgbClr val="9C0B15"/>
                </a:solidFill>
                <a:sym typeface="+mn-ea"/>
              </a:rPr>
              <a:t>		</a:t>
            </a:r>
            <a:r>
              <a:rPr lang="zh-CN" altLang="en-US" sz="2000">
                <a:solidFill>
                  <a:srgbClr val="9C0B15"/>
                </a:solidFill>
                <a:sym typeface="+mn-ea"/>
              </a:rPr>
              <a:t>代码</a:t>
            </a:r>
            <a:r>
              <a:rPr lang="zh-CN" altLang="en-US" sz="2000">
                <a:sym typeface="+mn-ea"/>
              </a:rPr>
              <a:t>。</a:t>
            </a:r>
            <a:endParaRPr lang="zh-CN" altLang="en-US" sz="2000">
              <a:sym typeface="+mn-ea"/>
            </a:endParaRPr>
          </a:p>
          <a:p>
            <a:pPr algn="l">
              <a:buClrTx/>
              <a:buSzTx/>
              <a:buFontTx/>
            </a:pPr>
            <a:r>
              <a:rPr lang="en-US" altLang="zh-CN" sz="2000">
                <a:sym typeface="+mn-ea"/>
              </a:rPr>
              <a:t>		</a:t>
            </a:r>
            <a:r>
              <a:rPr lang="zh-CN" altLang="en-US" sz="2000">
                <a:sym typeface="+mn-ea"/>
              </a:rPr>
              <a:t>这样，</a:t>
            </a:r>
            <a:r>
              <a:rPr lang="zh-CN" altLang="en-US" sz="2000">
                <a:solidFill>
                  <a:srgbClr val="9C0B15"/>
                </a:solidFill>
                <a:sym typeface="+mn-ea"/>
              </a:rPr>
              <a:t>第一次函数调用将会跳转到查找代码</a:t>
            </a:r>
            <a:r>
              <a:rPr lang="zh-CN" altLang="en-US" sz="2000">
                <a:sym typeface="+mn-ea"/>
              </a:rPr>
              <a:t>，由查找代码来查找函</a:t>
            </a:r>
            <a:r>
              <a:rPr lang="en-US" altLang="zh-CN" sz="2000">
                <a:sym typeface="+mn-ea"/>
              </a:rPr>
              <a:t>		</a:t>
            </a:r>
            <a:r>
              <a:rPr lang="zh-CN" altLang="en-US" sz="2000">
                <a:sym typeface="+mn-ea"/>
              </a:rPr>
              <a:t>数的真实地址，</a:t>
            </a:r>
            <a:r>
              <a:rPr lang="zh-CN" altLang="en-US" sz="2000">
                <a:solidFill>
                  <a:srgbClr val="9C0B15"/>
                </a:solidFill>
                <a:sym typeface="+mn-ea"/>
              </a:rPr>
              <a:t>再回填到间接地址表里面</a:t>
            </a:r>
            <a:r>
              <a:rPr lang="zh-CN" altLang="en-US" sz="2000">
                <a:sym typeface="+mn-ea"/>
              </a:rPr>
              <a:t>，最后再调用那个真实函</a:t>
            </a:r>
            <a:r>
              <a:rPr lang="en-US" altLang="zh-CN" sz="2000">
                <a:sym typeface="+mn-ea"/>
              </a:rPr>
              <a:t>		</a:t>
            </a:r>
            <a:r>
              <a:rPr lang="zh-CN" altLang="en-US" sz="2000">
                <a:sym typeface="+mn-ea"/>
              </a:rPr>
              <a:t>数。下一次访问间接地址表进行函数调用的时候，就会</a:t>
            </a:r>
            <a:r>
              <a:rPr lang="zh-CN" altLang="en-US" sz="2000">
                <a:solidFill>
                  <a:srgbClr val="9C0B15"/>
                </a:solidFill>
                <a:sym typeface="+mn-ea"/>
              </a:rPr>
              <a:t>直接调用到</a:t>
            </a:r>
            <a:r>
              <a:rPr lang="zh-CN" altLang="en-US" sz="2000">
                <a:solidFill>
                  <a:srgbClr val="9C0B15"/>
                </a:solidFill>
                <a:sym typeface="+mn-ea"/>
              </a:rPr>
              <a:t>		</a:t>
            </a:r>
            <a:r>
              <a:rPr lang="zh-CN" altLang="en-US" sz="2000">
                <a:solidFill>
                  <a:srgbClr val="9C0B15"/>
                </a:solidFill>
                <a:sym typeface="+mn-ea"/>
              </a:rPr>
              <a:t>真实函数</a:t>
            </a:r>
            <a:r>
              <a:rPr lang="zh-CN" altLang="en-US" sz="2000">
                <a:sym typeface="+mn-ea"/>
              </a:rPr>
              <a:t>。</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惰性动态加载</a:t>
            </a:r>
            <a:r>
              <a:rPr lang="en-US" altLang="zh-CN" sz="2000">
                <a:sym typeface="+mn-ea"/>
              </a:rPr>
              <a:t>	</a:t>
            </a:r>
            <a:r>
              <a:rPr lang="zh-CN" altLang="en-US" sz="2000">
                <a:sym typeface="+mn-ea"/>
              </a:rPr>
              <a:t>没有必要在程序启动时就映射整个动态库，仅</a:t>
            </a:r>
            <a:r>
              <a:rPr lang="zh-CN" altLang="en-US" sz="2000">
                <a:solidFill>
                  <a:srgbClr val="9C0B15"/>
                </a:solidFill>
                <a:sym typeface="+mn-ea"/>
              </a:rPr>
              <a:t>加载其间接地址表</a:t>
            </a:r>
            <a:r>
              <a:rPr lang="zh-CN" altLang="en-US" sz="2000">
                <a:sym typeface="+mn-ea"/>
              </a:rPr>
              <a:t>就</a:t>
            </a:r>
            <a:r>
              <a:rPr lang="en-US" altLang="zh-CN" sz="2000">
                <a:sym typeface="+mn-ea"/>
              </a:rPr>
              <a:t>		</a:t>
            </a:r>
            <a:r>
              <a:rPr lang="zh-CN" altLang="en-US" sz="2000">
                <a:sym typeface="+mn-ea"/>
              </a:rPr>
              <a:t>足够了。当程序访问间接地址表指向的地址，发现那里没有加载</a:t>
            </a:r>
            <a:r>
              <a:rPr lang="en-US" altLang="zh-CN" sz="2000">
                <a:sym typeface="+mn-ea"/>
              </a:rPr>
              <a:t>			</a:t>
            </a:r>
            <a:r>
              <a:rPr lang="zh-CN" altLang="en-US" sz="2000">
                <a:sym typeface="+mn-ea"/>
              </a:rPr>
              <a:t>（映射）动态库，就会抛出异常，操作系统截获这个异常，在异常</a:t>
            </a:r>
            <a:r>
              <a:rPr lang="en-US" altLang="zh-CN" sz="2000">
                <a:sym typeface="+mn-ea"/>
              </a:rPr>
              <a:t>		</a:t>
            </a:r>
            <a:r>
              <a:rPr lang="zh-CN" altLang="en-US" sz="2000">
                <a:sym typeface="+mn-ea"/>
              </a:rPr>
              <a:t>处理中再加载动态库的对应</a:t>
            </a:r>
            <a:r>
              <a:rPr lang="zh-CN" altLang="en-US" sz="2000">
                <a:sym typeface="+mn-ea"/>
              </a:rPr>
              <a:t>部分就可以了。</a:t>
            </a:r>
            <a:endParaRPr lang="zh-CN" altLang="en-US" sz="2000">
              <a:sym typeface="+mn-ea"/>
            </a:endParaRPr>
          </a:p>
          <a:p>
            <a:pPr algn="l">
              <a:buClrTx/>
              <a:buSzTx/>
              <a:buFontTx/>
            </a:pPr>
            <a:endParaRPr lang="zh-CN" altLang="en-US" sz="2000">
              <a:sym typeface="+mn-ea"/>
            </a:endParaRPr>
          </a:p>
          <a:p>
            <a:pPr algn="l">
              <a:buClrTx/>
              <a:buSzTx/>
              <a:buFontTx/>
            </a:pPr>
            <a:r>
              <a:rPr lang="zh-CN" altLang="en-US" sz="2000" b="1">
                <a:solidFill>
                  <a:srgbClr val="9C0B15"/>
                </a:solidFill>
                <a:sym typeface="+mn-ea"/>
              </a:rPr>
              <a:t>改进效果</a:t>
            </a:r>
            <a:r>
              <a:rPr lang="en-US" altLang="zh-CN" sz="2000">
                <a:sym typeface="+mn-ea"/>
              </a:rPr>
              <a:t>	</a:t>
            </a:r>
            <a:r>
              <a:rPr lang="zh-CN" altLang="en-US" sz="2000">
                <a:sym typeface="+mn-ea"/>
              </a:rPr>
              <a:t>加载进来的仅仅是</a:t>
            </a:r>
            <a:r>
              <a:rPr lang="zh-CN" altLang="en-US" sz="2000">
                <a:solidFill>
                  <a:srgbClr val="9C0B15"/>
                </a:solidFill>
                <a:sym typeface="+mn-ea"/>
              </a:rPr>
              <a:t>间接地址表</a:t>
            </a:r>
            <a:r>
              <a:rPr lang="zh-CN" altLang="en-US" sz="2000">
                <a:sym typeface="+mn-ea"/>
              </a:rPr>
              <a:t>，而且就连它也</a:t>
            </a:r>
            <a:r>
              <a:rPr lang="zh-CN" altLang="en-US" sz="2000">
                <a:solidFill>
                  <a:srgbClr val="9C0B15"/>
                </a:solidFill>
                <a:sym typeface="+mn-ea"/>
              </a:rPr>
              <a:t>只加载了全局变量的</a:t>
            </a:r>
            <a:r>
              <a:rPr lang="zh-CN" altLang="en-US" sz="2000">
                <a:solidFill>
                  <a:srgbClr val="9C0B15"/>
                </a:solidFill>
                <a:sym typeface="+mn-ea"/>
              </a:rPr>
              <a:t>		</a:t>
            </a:r>
            <a:r>
              <a:rPr lang="zh-CN" altLang="en-US" sz="2000">
                <a:solidFill>
                  <a:srgbClr val="9C0B15"/>
                </a:solidFill>
                <a:sym typeface="+mn-ea"/>
              </a:rPr>
              <a:t>地址，函数地址则未加载</a:t>
            </a:r>
            <a:r>
              <a:rPr lang="zh-CN" altLang="en-US" sz="2000">
                <a:sym typeface="+mn-ea"/>
              </a:rPr>
              <a:t>。其它</a:t>
            </a:r>
            <a:r>
              <a:rPr lang="zh-CN" altLang="en-US" sz="2000">
                <a:sym typeface="+mn-ea"/>
              </a:rPr>
              <a:t>一切都是用到了才会加载</a:t>
            </a:r>
            <a:r>
              <a:rPr lang="zh-CN" altLang="en-US" sz="2000">
                <a:sym typeface="+mn-ea"/>
              </a:rPr>
              <a:t>的。</a:t>
            </a:r>
            <a:endParaRPr lang="zh-CN" altLang="en-US" sz="2000">
              <a:sym typeface="+mn-ea"/>
            </a:endParaRPr>
          </a:p>
        </p:txBody>
      </p:sp>
    </p:spTree>
    <p:custDataLst>
      <p:tags r:id="rId2"/>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wipe(left)">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wipe(left)">
                                      <p:cBhvr>
                                        <p:cTn id="12" dur="500"/>
                                        <p:tgtEl>
                                          <p:spTgt spid="1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5" end="5"/>
                                            </p:txEl>
                                          </p:spTgt>
                                        </p:tgtEl>
                                        <p:attrNameLst>
                                          <p:attrName>style.visibility</p:attrName>
                                        </p:attrNameLst>
                                      </p:cBhvr>
                                      <p:to>
                                        <p:strVal val="visible"/>
                                      </p:to>
                                    </p:set>
                                    <p:animEffect transition="in" filter="wipe(left)">
                                      <p:cBhvr>
                                        <p:cTn id="17" dur="500"/>
                                        <p:tgtEl>
                                          <p:spTgt spid="1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xEl>
                                              <p:pRg st="7" end="7"/>
                                            </p:txEl>
                                          </p:spTgt>
                                        </p:tgtEl>
                                        <p:attrNameLst>
                                          <p:attrName>style.visibility</p:attrName>
                                        </p:attrNameLst>
                                      </p:cBhvr>
                                      <p:to>
                                        <p:strVal val="visible"/>
                                      </p:to>
                                    </p:set>
                                    <p:animEffect transition="in" filter="wipe(left)">
                                      <p:cBhvr>
                                        <p:cTn id="22" dur="500"/>
                                        <p:tgtEl>
                                          <p:spTgt spid="1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xEl>
                                              <p:pRg st="9" end="9"/>
                                            </p:txEl>
                                          </p:spTgt>
                                        </p:tgtEl>
                                        <p:attrNameLst>
                                          <p:attrName>style.visibility</p:attrName>
                                        </p:attrNameLst>
                                      </p:cBhvr>
                                      <p:to>
                                        <p:strVal val="visible"/>
                                      </p:to>
                                    </p:set>
                                    <p:animEffect transition="in" filter="wipe(left)">
                                      <p:cBhvr>
                                        <p:cTn id="27" dur="500"/>
                                        <p:tgtEl>
                                          <p:spTgt spid="1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rPr>
                        <a:t>3.3 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3.4 惰性动态链接</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37160" y="166370"/>
            <a:ext cx="9475470" cy="6554470"/>
          </a:xfrm>
          <a:prstGeom prst="rect">
            <a:avLst/>
          </a:prstGeom>
          <a:noFill/>
        </p:spPr>
        <p:txBody>
          <a:bodyPr wrap="square" rtlCol="0">
            <a:spAutoFit/>
          </a:bodyPr>
          <a:p>
            <a:pPr algn="ctr">
              <a:buClrTx/>
              <a:buSzTx/>
              <a:buFontTx/>
            </a:pPr>
            <a:r>
              <a:rPr lang="zh-CN" altLang="en-US" sz="2000" b="1">
                <a:solidFill>
                  <a:srgbClr val="9C0B15"/>
                </a:solidFill>
                <a:sym typeface="+mn-ea"/>
              </a:rPr>
              <a:t>思考：链接方法越灵活、</a:t>
            </a:r>
            <a:r>
              <a:rPr lang="zh-CN" altLang="en-US" sz="2000" b="1">
                <a:solidFill>
                  <a:srgbClr val="9C0B15"/>
                </a:solidFill>
                <a:sym typeface="+mn-ea"/>
              </a:rPr>
              <a:t>功能越多越好吗？静态链接是否仍有</a:t>
            </a:r>
            <a:r>
              <a:rPr lang="zh-CN" altLang="en-US" sz="2000" b="1">
                <a:solidFill>
                  <a:srgbClr val="9C0B15"/>
                </a:solidFill>
                <a:sym typeface="+mn-ea"/>
              </a:rPr>
              <a:t>一席之地？</a:t>
            </a: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ctr">
              <a:buClrTx/>
              <a:buSzTx/>
              <a:buFontTx/>
            </a:pPr>
            <a:endParaRPr lang="zh-CN" altLang="en-US" sz="2000" b="1">
              <a:solidFill>
                <a:srgbClr val="9C0B15"/>
              </a:solidFill>
              <a:sym typeface="+mn-ea"/>
            </a:endParaRPr>
          </a:p>
          <a:p>
            <a:pPr algn="l">
              <a:buClrTx/>
              <a:buSzTx/>
              <a:buFontTx/>
            </a:pPr>
            <a:r>
              <a:rPr lang="zh-CN" altLang="en-US" sz="2000" b="1">
                <a:solidFill>
                  <a:srgbClr val="9C0B15"/>
                </a:solidFill>
                <a:sym typeface="+mn-ea"/>
              </a:rPr>
              <a:t>版本管理</a:t>
            </a:r>
            <a:r>
              <a:rPr lang="en-US" altLang="zh-CN" sz="2000" b="1">
                <a:solidFill>
                  <a:srgbClr val="9C0B15"/>
                </a:solidFill>
                <a:sym typeface="+mn-ea"/>
              </a:rPr>
              <a:t>	</a:t>
            </a:r>
            <a:r>
              <a:rPr lang="zh-CN" altLang="en-US" sz="2000">
                <a:sym typeface="+mn-ea"/>
              </a:rPr>
              <a:t>动态链接库的二进制（</a:t>
            </a:r>
            <a:r>
              <a:rPr lang="zh-CN" altLang="en-US" sz="2000">
                <a:solidFill>
                  <a:srgbClr val="9C0B15"/>
                </a:solidFill>
                <a:sym typeface="+mn-ea"/>
              </a:rPr>
              <a:t>制品</a:t>
            </a:r>
            <a:r>
              <a:rPr lang="zh-CN" altLang="en-US" sz="2000">
                <a:sym typeface="+mn-ea"/>
              </a:rPr>
              <a:t>）版本管理是老大难。哪个版本的DLL</a:t>
            </a:r>
            <a:r>
              <a:rPr lang="zh-CN" altLang="en-US" sz="2000">
                <a:sym typeface="+mn-ea"/>
              </a:rPr>
              <a:t>			</a:t>
            </a:r>
            <a:r>
              <a:rPr lang="zh-CN" altLang="en-US" sz="2000">
                <a:sym typeface="+mn-ea"/>
              </a:rPr>
              <a:t>才能工作？我要到哪去找呢？（</a:t>
            </a:r>
            <a:r>
              <a:rPr lang="zh-CN" altLang="en-US" sz="2000">
                <a:solidFill>
                  <a:srgbClr val="9C0B15"/>
                </a:solidFill>
                <a:sym typeface="+mn-ea"/>
              </a:rPr>
              <a:t>DLL地狱；</a:t>
            </a:r>
            <a:r>
              <a:rPr lang="zh-CN" altLang="en-US" sz="2000">
                <a:solidFill>
                  <a:srgbClr val="9C0B15"/>
                </a:solidFill>
                <a:sym typeface="+mn-ea"/>
              </a:rPr>
              <a:t>部分企业惯用静态库</a:t>
            </a:r>
            <a:r>
              <a:rPr lang="zh-CN" altLang="en-US" sz="2000">
                <a:sym typeface="+mn-ea"/>
              </a:rPr>
              <a:t>）</a:t>
            </a:r>
            <a:endParaRPr lang="zh-CN" altLang="en-US" sz="2000">
              <a:sym typeface="+mn-ea"/>
            </a:endParaRPr>
          </a:p>
          <a:p>
            <a:pPr algn="l">
              <a:buClrTx/>
              <a:buSzTx/>
              <a:buFontTx/>
            </a:pPr>
            <a:r>
              <a:rPr lang="zh-CN" altLang="en-US" sz="2000" b="1">
                <a:solidFill>
                  <a:srgbClr val="9C0B15"/>
                </a:solidFill>
                <a:sym typeface="+mn-ea"/>
              </a:rPr>
              <a:t>安全性</a:t>
            </a:r>
            <a:r>
              <a:rPr lang="en-US" altLang="zh-CN" sz="2000">
                <a:sym typeface="+mn-ea"/>
              </a:rPr>
              <a:t>		</a:t>
            </a:r>
            <a:r>
              <a:rPr lang="zh-CN" altLang="en-US" sz="2000">
                <a:solidFill>
                  <a:srgbClr val="9C0B15"/>
                </a:solidFill>
                <a:sym typeface="+mn-ea"/>
              </a:rPr>
              <a:t>共享得越多越不安全。</a:t>
            </a:r>
            <a:r>
              <a:rPr lang="zh-CN" altLang="en-US" sz="2000">
                <a:sym typeface="+mn-ea"/>
              </a:rPr>
              <a:t>一旦外存库被</a:t>
            </a:r>
            <a:r>
              <a:rPr lang="zh-CN" altLang="en-US" sz="2000">
                <a:solidFill>
                  <a:srgbClr val="9C0B15"/>
                </a:solidFill>
                <a:sym typeface="+mn-ea"/>
              </a:rPr>
              <a:t>恶意修改</a:t>
            </a:r>
            <a:r>
              <a:rPr lang="zh-CN" altLang="en-US" sz="2000">
                <a:sym typeface="+mn-ea"/>
              </a:rPr>
              <a:t>，</a:t>
            </a:r>
            <a:r>
              <a:rPr lang="zh-CN" altLang="en-US" sz="2000">
                <a:sym typeface="+mn-ea"/>
              </a:rPr>
              <a:t>所有动态加载这个</a:t>
            </a:r>
            <a:r>
              <a:rPr lang="en-US" altLang="zh-CN" sz="2000">
                <a:sym typeface="+mn-ea"/>
              </a:rPr>
              <a:t>		</a:t>
            </a:r>
            <a:r>
              <a:rPr lang="zh-CN" altLang="en-US" sz="2000">
                <a:sym typeface="+mn-ea"/>
              </a:rPr>
              <a:t>库的程序下次打开就会遭殃；一旦</a:t>
            </a:r>
            <a:r>
              <a:rPr lang="zh-CN" altLang="en-US" sz="2000">
                <a:solidFill>
                  <a:srgbClr val="9C0B15"/>
                </a:solidFill>
                <a:sym typeface="+mn-ea"/>
              </a:rPr>
              <a:t>内存库代码段</a:t>
            </a:r>
            <a:r>
              <a:rPr lang="zh-CN" altLang="en-US" sz="2000">
                <a:sym typeface="+mn-ea"/>
              </a:rPr>
              <a:t>被恶意修改，当前</a:t>
            </a:r>
            <a:r>
              <a:rPr lang="zh-CN" altLang="en-US" sz="2000">
                <a:solidFill>
                  <a:srgbClr val="9C0B15"/>
                </a:solidFill>
                <a:sym typeface="+mn-ea"/>
              </a:rPr>
              <a:t>		</a:t>
            </a:r>
            <a:r>
              <a:rPr lang="zh-CN" altLang="en-US" sz="2000">
                <a:sym typeface="+mn-ea"/>
              </a:rPr>
              <a:t>正在使用这个库的</a:t>
            </a:r>
            <a:r>
              <a:rPr lang="zh-CN" altLang="en-US" sz="2000">
                <a:sym typeface="+mn-ea"/>
              </a:rPr>
              <a:t>所有程序</a:t>
            </a:r>
            <a:r>
              <a:rPr lang="zh-CN" altLang="en-US" sz="2000">
                <a:solidFill>
                  <a:srgbClr val="9C0B15"/>
                </a:solidFill>
                <a:sym typeface="+mn-ea"/>
              </a:rPr>
              <a:t>立刻遭殃</a:t>
            </a:r>
            <a:r>
              <a:rPr lang="zh-CN" altLang="en-US" sz="2000">
                <a:sym typeface="+mn-ea"/>
              </a:rPr>
              <a:t>。</a:t>
            </a:r>
            <a:endParaRPr lang="en-US" altLang="zh-CN" sz="2000">
              <a:sym typeface="+mn-ea"/>
            </a:endParaRPr>
          </a:p>
          <a:p>
            <a:pPr algn="l">
              <a:buClrTx/>
              <a:buSzTx/>
              <a:buFontTx/>
            </a:pPr>
            <a:r>
              <a:rPr lang="zh-CN" altLang="en-US" sz="2000" b="1">
                <a:solidFill>
                  <a:srgbClr val="9C0B15"/>
                </a:solidFill>
                <a:sym typeface="+mn-ea"/>
              </a:rPr>
              <a:t>运行效率</a:t>
            </a:r>
            <a:r>
              <a:rPr lang="en-US" altLang="zh-CN" sz="2000">
                <a:sym typeface="+mn-ea"/>
              </a:rPr>
              <a:t>	</a:t>
            </a:r>
            <a:r>
              <a:rPr lang="zh-CN" altLang="en-US" sz="2000">
                <a:sym typeface="+mn-ea"/>
              </a:rPr>
              <a:t>越灵活，运行时经过的</a:t>
            </a:r>
            <a:r>
              <a:rPr lang="zh-CN" altLang="en-US" sz="2000">
                <a:solidFill>
                  <a:srgbClr val="9C0B15"/>
                </a:solidFill>
                <a:sym typeface="+mn-ea"/>
              </a:rPr>
              <a:t>中间层越多，效率越低</a:t>
            </a:r>
            <a:r>
              <a:rPr lang="zh-CN" altLang="en-US" sz="2000">
                <a:sym typeface="+mn-ea"/>
              </a:rPr>
              <a:t>。</a:t>
            </a:r>
            <a:endParaRPr lang="zh-CN" altLang="en-US" sz="2000">
              <a:sym typeface="+mn-ea"/>
            </a:endParaRPr>
          </a:p>
          <a:p>
            <a:pPr algn="l">
              <a:buClrTx/>
              <a:buSzTx/>
              <a:buFontTx/>
            </a:pPr>
            <a:r>
              <a:rPr lang="zh-CN" altLang="en-US" sz="2000" b="1">
                <a:solidFill>
                  <a:srgbClr val="9C0B15"/>
                </a:solidFill>
                <a:sym typeface="+mn-ea"/>
              </a:rPr>
              <a:t>实时性</a:t>
            </a:r>
            <a:r>
              <a:rPr lang="en-US" altLang="zh-CN" sz="2000">
                <a:sym typeface="+mn-ea"/>
              </a:rPr>
              <a:t>		</a:t>
            </a:r>
            <a:r>
              <a:rPr lang="zh-CN" altLang="en-US" sz="2000">
                <a:sym typeface="+mn-ea"/>
              </a:rPr>
              <a:t>初始加载越不彻底，</a:t>
            </a:r>
            <a:r>
              <a:rPr lang="zh-CN" altLang="en-US" sz="2000">
                <a:solidFill>
                  <a:srgbClr val="9C0B15"/>
                </a:solidFill>
                <a:sym typeface="+mn-ea"/>
              </a:rPr>
              <a:t>中间临时加载发生卡顿</a:t>
            </a:r>
            <a:r>
              <a:rPr lang="zh-CN" altLang="en-US" sz="2000">
                <a:sym typeface="+mn-ea"/>
              </a:rPr>
              <a:t>的可能性就越大。</a:t>
            </a:r>
            <a:r>
              <a:rPr lang="en-US" altLang="zh-CN" sz="2000">
                <a:sym typeface="+mn-ea"/>
              </a:rPr>
              <a:t>	</a:t>
            </a:r>
            <a:endParaRPr lang="en-US" altLang="zh-CN" sz="2000">
              <a:sym typeface="+mn-ea"/>
            </a:endParaRPr>
          </a:p>
        </p:txBody>
      </p:sp>
      <p:graphicFrame>
        <p:nvGraphicFramePr>
          <p:cNvPr id="2" name="表格 1"/>
          <p:cNvGraphicFramePr/>
          <p:nvPr>
            <p:custDataLst>
              <p:tags r:id="rId2"/>
            </p:custDataLst>
          </p:nvPr>
        </p:nvGraphicFramePr>
        <p:xfrm>
          <a:off x="220345" y="676910"/>
          <a:ext cx="9346565" cy="3566160"/>
        </p:xfrm>
        <a:graphic>
          <a:graphicData uri="http://schemas.openxmlformats.org/drawingml/2006/table">
            <a:tbl>
              <a:tblPr firstRow="1" bandRow="1">
                <a:tableStyleId>{21E4AEA4-8DFA-4A89-87EB-49C32662AFE0}</a:tableStyleId>
              </a:tblPr>
              <a:tblGrid>
                <a:gridCol w="2215515"/>
                <a:gridCol w="727710"/>
                <a:gridCol w="708025"/>
                <a:gridCol w="702310"/>
                <a:gridCol w="701040"/>
                <a:gridCol w="709930"/>
                <a:gridCol w="699135"/>
                <a:gridCol w="702945"/>
                <a:gridCol w="711569"/>
                <a:gridCol w="733425"/>
                <a:gridCol w="734961"/>
              </a:tblGrid>
              <a:tr h="0">
                <a:tc rowSpan="2">
                  <a:txBody>
                    <a:bodyPr/>
                    <a:p>
                      <a:pPr algn="ctr">
                        <a:buNone/>
                      </a:pPr>
                      <a:r>
                        <a:rPr lang="zh-CN" altLang="en-US" sz="2000">
                          <a:latin typeface="思源黑体 CN Regular" panose="020B0500000000000000" charset="-122"/>
                          <a:ea typeface="思源黑体 CN Regular" panose="020B0500000000000000" charset="-122"/>
                        </a:rPr>
                        <a:t>链接方式</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None/>
                      </a:pPr>
                      <a:r>
                        <a:rPr lang="zh-CN" altLang="en-US" sz="2000">
                          <a:latin typeface="思源黑体 CN Regular" panose="020B0500000000000000" charset="-122"/>
                          <a:ea typeface="思源黑体 CN Regular" panose="020B0500000000000000" charset="-122"/>
                        </a:rPr>
                        <a:t>复杂</a:t>
                      </a:r>
                      <a:r>
                        <a:rPr lang="zh-CN" altLang="en-US" sz="2000">
                          <a:latin typeface="思源黑体 CN Regular" panose="020B0500000000000000" charset="-122"/>
                          <a:ea typeface="思源黑体 CN Regular" panose="020B0500000000000000" charset="-122"/>
                        </a:rPr>
                        <a:t>程度</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细节隐藏</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gridSpan="3">
                  <a:txBody>
                    <a:bodyPr/>
                    <a:p>
                      <a:pPr algn="ctr">
                        <a:buNone/>
                      </a:pPr>
                      <a:r>
                        <a:rPr lang="zh-CN" altLang="en-US" sz="2000">
                          <a:latin typeface="思源黑体 CN Regular" panose="020B0500000000000000" charset="-122"/>
                          <a:ea typeface="思源黑体 CN Regular" panose="020B0500000000000000" charset="-122"/>
                        </a:rPr>
                        <a:t>共享</a:t>
                      </a:r>
                      <a:r>
                        <a:rPr lang="zh-CN" altLang="en-US" sz="2000">
                          <a:latin typeface="思源黑体 CN Regular" panose="020B0500000000000000" charset="-122"/>
                          <a:ea typeface="思源黑体 CN Regular" panose="020B0500000000000000" charset="-122"/>
                        </a:rPr>
                        <a:t>程度</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hMerge="1">
                  <a:tcPr anchor="ctr" anchorCtr="0">
                    <a:solidFill>
                      <a:srgbClr val="9C0B15">
                        <a:alpha val="50000"/>
                      </a:srgbClr>
                    </a:solidFill>
                  </a:tcPr>
                </a:tc>
                <a:tc hMerge="1">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加载效率</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运行效率</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实时性</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安全性</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c rowSpan="2">
                  <a:txBody>
                    <a:bodyPr/>
                    <a:p>
                      <a:pPr algn="ctr">
                        <a:buClrTx/>
                        <a:buSzTx/>
                        <a:buFontTx/>
                        <a:buNone/>
                      </a:pPr>
                      <a:r>
                        <a:rPr lang="zh-CN" altLang="en-US" sz="2000">
                          <a:latin typeface="思源黑体 CN Regular" panose="020B0500000000000000" charset="-122"/>
                          <a:ea typeface="思源黑体 CN Regular" panose="020B0500000000000000" charset="-122"/>
                        </a:rPr>
                        <a:t>版本管理</a:t>
                      </a:r>
                      <a:endParaRPr lang="zh-CN" altLang="en-US" sz="2000">
                        <a:latin typeface="思源黑体 CN Regular" panose="020B0500000000000000" charset="-122"/>
                        <a:ea typeface="思源黑体 CN Regular" panose="020B0500000000000000" charset="-122"/>
                      </a:endParaRPr>
                    </a:p>
                  </a:txBody>
                  <a:tcPr anchor="ctr" anchorCtr="0">
                    <a:solidFill>
                      <a:srgbClr val="9C0B15">
                        <a:alpha val="50000"/>
                      </a:srgbClr>
                    </a:solidFill>
                  </a:tcPr>
                </a:tc>
              </a:tr>
              <a:tr h="292100">
                <a:tc vMerge="1">
                  <a:tcPr anchor="ctr" anchorCtr="0">
                    <a:solidFill>
                      <a:srgbClr val="9C0B15">
                        <a:alpha val="50000"/>
                      </a:srgbClr>
                    </a:solidFill>
                  </a:tcPr>
                </a:tc>
                <a:tc vMerge="1">
                  <a:tcPr anchor="ctr" anchorCtr="0">
                    <a:solidFill>
                      <a:srgbClr val="9C0B15">
                        <a:alpha val="50000"/>
                      </a:srgbClr>
                    </a:solidFill>
                  </a:tcPr>
                </a:tc>
                <a:tc vMerge="1">
                  <a:tcPr anchor="ctr" anchorCtr="0">
                    <a:solidFill>
                      <a:srgbClr val="9C0B15">
                        <a:alpha val="50000"/>
                      </a:srgbClr>
                    </a:solidFill>
                  </a:tcPr>
                </a:tc>
                <a:tc>
                  <a:txBody>
                    <a:bodyPr/>
                    <a:p>
                      <a:pPr algn="ctr">
                        <a:buClrTx/>
                        <a:buSzTx/>
                        <a:buFontTx/>
                        <a:buNone/>
                      </a:pPr>
                      <a:r>
                        <a:rPr lang="zh-CN" altLang="en-US" sz="2000" b="1">
                          <a:solidFill>
                            <a:schemeClr val="lt1"/>
                          </a:solidFill>
                          <a:latin typeface="思源黑体 CN Regular" panose="020B0500000000000000" charset="-122"/>
                          <a:ea typeface="思源黑体 CN Regular" panose="020B0500000000000000" charset="-122"/>
                          <a:sym typeface="+mn-ea"/>
                        </a:rPr>
                        <a:t>工程</a:t>
                      </a:r>
                      <a:endParaRPr lang="zh-CN" altLang="en-US" sz="2000" b="1">
                        <a:solidFill>
                          <a:schemeClr val="lt1"/>
                        </a:solidFill>
                        <a:latin typeface="思源黑体 CN Regular" panose="020B0500000000000000" charset="-122"/>
                        <a:ea typeface="思源黑体 CN Regular" panose="020B0500000000000000" charset="-122"/>
                        <a:sym typeface="+mn-ea"/>
                      </a:endParaRPr>
                    </a:p>
                  </a:txBody>
                  <a:tcPr anchor="ctr" anchorCtr="0">
                    <a:solidFill>
                      <a:srgbClr val="9C0B15">
                        <a:alpha val="50000"/>
                      </a:srgbClr>
                    </a:solidFill>
                  </a:tcPr>
                </a:tc>
                <a:tc>
                  <a:txBody>
                    <a:bodyPr/>
                    <a:p>
                      <a:pPr algn="ctr">
                        <a:buClrTx/>
                        <a:buSzTx/>
                        <a:buFontTx/>
                        <a:buNone/>
                      </a:pPr>
                      <a:r>
                        <a:rPr lang="zh-CN" altLang="en-US" sz="2000" b="1">
                          <a:solidFill>
                            <a:schemeClr val="lt1"/>
                          </a:solidFill>
                          <a:latin typeface="思源黑体 CN Regular" panose="020B0500000000000000" charset="-122"/>
                          <a:ea typeface="思源黑体 CN Regular" panose="020B0500000000000000" charset="-122"/>
                          <a:sym typeface="+mn-ea"/>
                        </a:rPr>
                        <a:t>外存</a:t>
                      </a:r>
                      <a:endParaRPr lang="zh-CN" altLang="en-US" sz="2000" b="1">
                        <a:solidFill>
                          <a:schemeClr val="lt1"/>
                        </a:solidFill>
                        <a:latin typeface="思源黑体 CN Regular" panose="020B0500000000000000" charset="-122"/>
                        <a:ea typeface="思源黑体 CN Regular" panose="020B0500000000000000" charset="-122"/>
                        <a:sym typeface="+mn-ea"/>
                      </a:endParaRPr>
                    </a:p>
                  </a:txBody>
                  <a:tcPr anchor="ctr" anchorCtr="0">
                    <a:solidFill>
                      <a:srgbClr val="9C0B15">
                        <a:alpha val="50000"/>
                      </a:srgbClr>
                    </a:solidFill>
                  </a:tcPr>
                </a:tc>
                <a:tc>
                  <a:txBody>
                    <a:bodyPr/>
                    <a:p>
                      <a:pPr algn="ctr">
                        <a:buClrTx/>
                        <a:buSzTx/>
                        <a:buFontTx/>
                        <a:buNone/>
                      </a:pPr>
                      <a:r>
                        <a:rPr lang="zh-CN" altLang="en-US" sz="2000" b="1">
                          <a:solidFill>
                            <a:schemeClr val="lt1"/>
                          </a:solidFill>
                          <a:latin typeface="思源黑体 CN Regular" panose="020B0500000000000000" charset="-122"/>
                          <a:ea typeface="思源黑体 CN Regular" panose="020B0500000000000000" charset="-122"/>
                          <a:sym typeface="+mn-ea"/>
                        </a:rPr>
                        <a:t>内存</a:t>
                      </a:r>
                      <a:endParaRPr lang="zh-CN" altLang="en-US" sz="2000" b="1">
                        <a:solidFill>
                          <a:schemeClr val="lt1"/>
                        </a:solidFill>
                        <a:latin typeface="思源黑体 CN Regular" panose="020B0500000000000000" charset="-122"/>
                        <a:ea typeface="思源黑体 CN Regular" panose="020B0500000000000000" charset="-122"/>
                        <a:sym typeface="+mn-ea"/>
                      </a:endParaRPr>
                    </a:p>
                  </a:txBody>
                  <a:tcPr anchor="ctr" anchorCtr="0">
                    <a:solidFill>
                      <a:srgbClr val="9C0B15">
                        <a:alpha val="50000"/>
                      </a:srgbClr>
                    </a:solidFill>
                  </a:tcPr>
                </a:tc>
                <a:tc vMerge="1">
                  <a:tcPr anchor="ctr" anchorCtr="0">
                    <a:solidFill>
                      <a:srgbClr val="9C0B15">
                        <a:alpha val="50000"/>
                      </a:srgbClr>
                    </a:solidFill>
                  </a:tcPr>
                </a:tc>
                <a:tc vMerge="1">
                  <a:tcPr anchor="ctr" anchorCtr="0">
                    <a:solidFill>
                      <a:srgbClr val="9C0B15">
                        <a:alpha val="50000"/>
                      </a:srgbClr>
                    </a:solidFill>
                  </a:tcPr>
                </a:tc>
                <a:tc vMerge="1">
                  <a:tcPr anchor="ctr" anchorCtr="0">
                    <a:solidFill>
                      <a:srgbClr val="9C0B15">
                        <a:alpha val="50000"/>
                      </a:srgbClr>
                    </a:solidFill>
                  </a:tcPr>
                </a:tc>
                <a:tc vMerge="1">
                  <a:tcPr anchor="ctr" anchorCtr="0">
                    <a:solidFill>
                      <a:srgbClr val="9C0B15">
                        <a:alpha val="50000"/>
                      </a:srgbClr>
                    </a:solidFill>
                  </a:tcPr>
                </a:tc>
                <a:tc vMerge="1">
                  <a:tcPr anchor="ctr" anchorCtr="0">
                    <a:solidFill>
                      <a:srgbClr val="9C0B15">
                        <a:alpha val="50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目标文件</a:t>
                      </a:r>
                      <a:r>
                        <a:rPr lang="zh-CN" altLang="en-US" sz="2000">
                          <a:latin typeface="思源黑体 CN Regular" panose="020B0500000000000000" charset="-122"/>
                          <a:ea typeface="思源黑体 CN Regular" panose="020B0500000000000000" charset="-122"/>
                          <a:cs typeface="思源黑体 CN Regular" panose="020B0500000000000000" charset="-122"/>
                        </a:rPr>
                        <a:t>直接链接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易</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静态链接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易</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提前静态</a:t>
                      </a: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易</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回填动态</a:t>
                      </a: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是</a:t>
                      </a:r>
                      <a:endParaRPr lang="en-US" altLang="zh-CN"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否</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难</a:t>
                      </a:r>
                      <a:endParaRPr lang="zh-CN" altLang="en-US" sz="2000">
                        <a:latin typeface="思源黑体 CN Regular" panose="020B0500000000000000" charset="-122"/>
                        <a:ea typeface="思源黑体 CN Regular" panose="020B0500000000000000" charset="-122"/>
                        <a:cs typeface="思源黑体 CN Regular" panose="020B0500000000000000" charset="-122"/>
                        <a:sym typeface="+mn-ea"/>
                      </a:endParaRPr>
                    </a:p>
                  </a:txBody>
                  <a:tcPr anchor="ctr" anchorCtr="0">
                    <a:solidFill>
                      <a:srgbClr val="FF0000">
                        <a:alpha val="25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重定位动态</a:t>
                      </a: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部分</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难</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r>
              <a:tr h="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位置无关动态链接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中</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C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难</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r>
              <a:tr h="396240">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惰性动态链接</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9C0B15">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是</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高</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00B05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rPr>
                        <a:t>低</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c>
                  <a:txBody>
                    <a:bodyPr/>
                    <a:p>
                      <a:pPr algn="ctr">
                        <a:buClrTx/>
                        <a:buSzTx/>
                        <a:buFontTx/>
                        <a:buNone/>
                      </a:pPr>
                      <a:r>
                        <a:rPr lang="zh-CN" altLang="en-US" sz="2000">
                          <a:latin typeface="思源黑体 CN Regular" panose="020B0500000000000000" charset="-122"/>
                          <a:ea typeface="思源黑体 CN Regular" panose="020B0500000000000000" charset="-122"/>
                          <a:cs typeface="思源黑体 CN Regular" panose="020B0500000000000000" charset="-122"/>
                          <a:sym typeface="+mn-ea"/>
                        </a:rPr>
                        <a:t>难</a:t>
                      </a:r>
                      <a:endParaRPr lang="zh-CN" altLang="en-US" sz="2000">
                        <a:latin typeface="思源黑体 CN Regular" panose="020B0500000000000000" charset="-122"/>
                        <a:ea typeface="思源黑体 CN Regular" panose="020B0500000000000000" charset="-122"/>
                        <a:cs typeface="思源黑体 CN Regular" panose="020B0500000000000000" charset="-122"/>
                      </a:endParaRPr>
                    </a:p>
                  </a:txBody>
                  <a:tcPr anchor="ctr" anchorCtr="0">
                    <a:solidFill>
                      <a:srgbClr val="FF0000">
                        <a:alpha val="25000"/>
                      </a:srgbClr>
                    </a:solidFill>
                  </a:tcPr>
                </a:tc>
              </a:tr>
            </a:tbl>
          </a:graphicData>
        </a:graphic>
      </p:graphicFrame>
    </p:spTree>
    <p:custDataLst>
      <p:tags r:id="rId3"/>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13">
                                            <p:txEl>
                                              <p:pRg st="14" end="14"/>
                                            </p:txEl>
                                          </p:spTgt>
                                        </p:tgtEl>
                                        <p:attrNameLst>
                                          <p:attrName>style.visibility</p:attrName>
                                        </p:attrNameLst>
                                      </p:cBhvr>
                                      <p:to>
                                        <p:strVal val="visible"/>
                                      </p:to>
                                    </p:set>
                                    <p:animEffect transition="in" filter="wipe(up)">
                                      <p:cBhvr>
                                        <p:cTn id="10" dur="500"/>
                                        <p:tgtEl>
                                          <p:spTgt spid="13">
                                            <p:txEl>
                                              <p:pRg st="14" end="14"/>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xEl>
                                              <p:pRg st="15" end="15"/>
                                            </p:txEl>
                                          </p:spTgt>
                                        </p:tgtEl>
                                        <p:attrNameLst>
                                          <p:attrName>style.visibility</p:attrName>
                                        </p:attrNameLst>
                                      </p:cBhvr>
                                      <p:to>
                                        <p:strVal val="visible"/>
                                      </p:to>
                                    </p:set>
                                    <p:animEffect transition="in" filter="wipe(up)">
                                      <p:cBhvr>
                                        <p:cTn id="13" dur="500"/>
                                        <p:tgtEl>
                                          <p:spTgt spid="13">
                                            <p:txEl>
                                              <p:pRg st="15" end="15"/>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13">
                                            <p:txEl>
                                              <p:pRg st="16" end="16"/>
                                            </p:txEl>
                                          </p:spTgt>
                                        </p:tgtEl>
                                        <p:attrNameLst>
                                          <p:attrName>style.visibility</p:attrName>
                                        </p:attrNameLst>
                                      </p:cBhvr>
                                      <p:to>
                                        <p:strVal val="visible"/>
                                      </p:to>
                                    </p:set>
                                    <p:animEffect transition="in" filter="wipe(up)">
                                      <p:cBhvr>
                                        <p:cTn id="16" dur="500"/>
                                        <p:tgtEl>
                                          <p:spTgt spid="13">
                                            <p:txEl>
                                              <p:pRg st="16" end="16"/>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13">
                                            <p:txEl>
                                              <p:pRg st="17" end="17"/>
                                            </p:txEl>
                                          </p:spTgt>
                                        </p:tgtEl>
                                        <p:attrNameLst>
                                          <p:attrName>style.visibility</p:attrName>
                                        </p:attrNameLst>
                                      </p:cBhvr>
                                      <p:to>
                                        <p:strVal val="visible"/>
                                      </p:to>
                                    </p:set>
                                    <p:animEffect transition="in" filter="wipe(up)">
                                      <p:cBhvr>
                                        <p:cTn id="19" dur="500"/>
                                        <p:tgtEl>
                                          <p:spTgt spid="1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2.2 分段与分页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3.1 动态链接库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3.2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rPr>
                        <a:t>3.3 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3.4 惰性动态链接</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 name="圆角矩形 1"/>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ext Box 2"/>
          <p:cNvSpPr txBox="1"/>
          <p:nvPr>
            <p:custDataLst>
              <p:tags r:id="rId2"/>
            </p:custDataLst>
          </p:nvPr>
        </p:nvSpPr>
        <p:spPr>
          <a:xfrm>
            <a:off x="554990" y="140335"/>
            <a:ext cx="8625205" cy="6085840"/>
          </a:xfrm>
          <a:prstGeom prst="rect">
            <a:avLst/>
          </a:prstGeom>
          <a:noFill/>
          <a:ln w="12700">
            <a:noFill/>
          </a:ln>
        </p:spPr>
        <p:txBody>
          <a:bodyPr wrap="square" anchor="t" anchorCtr="0">
            <a:spAutoFit/>
          </a:bodyPr>
          <a:p>
            <a:pPr algn="ctr">
              <a:spcBef>
                <a:spcPct val="20000"/>
              </a:spcBef>
              <a:buClrTx/>
              <a:buSzTx/>
              <a:buFontTx/>
            </a:pPr>
            <a:r>
              <a:rPr lang="en-US" altLang="zh-CN" sz="2000" b="1">
                <a:solidFill>
                  <a:srgbClr val="9C0B15"/>
                </a:solidFill>
                <a:sym typeface="+mn-ea"/>
              </a:rPr>
              <a:t>6</a:t>
            </a:r>
            <a:r>
              <a:rPr lang="zh-CN" altLang="en-US" sz="2000" b="1">
                <a:solidFill>
                  <a:srgbClr val="9C0B15"/>
                </a:solidFill>
                <a:sym typeface="+mn-ea"/>
              </a:rPr>
              <a:t>号测验：第</a:t>
            </a:r>
            <a:r>
              <a:rPr lang="en-US" altLang="zh-CN" sz="2000" b="1">
                <a:solidFill>
                  <a:srgbClr val="9C0B15"/>
                </a:solidFill>
                <a:sym typeface="+mn-ea"/>
              </a:rPr>
              <a:t>4</a:t>
            </a:r>
            <a:r>
              <a:rPr lang="zh-CN" altLang="en-US" sz="2000" b="1">
                <a:solidFill>
                  <a:srgbClr val="9C0B15"/>
                </a:solidFill>
                <a:sym typeface="+mn-ea"/>
              </a:rPr>
              <a:t>周第</a:t>
            </a:r>
            <a:r>
              <a:rPr lang="en-US" altLang="zh-CN" sz="2000" b="1">
                <a:solidFill>
                  <a:srgbClr val="9C0B15"/>
                </a:solidFill>
                <a:sym typeface="+mn-ea"/>
              </a:rPr>
              <a:t>1</a:t>
            </a:r>
            <a:r>
              <a:rPr lang="zh-CN" altLang="en-US" sz="2000" b="1">
                <a:solidFill>
                  <a:srgbClr val="9C0B15"/>
                </a:solidFill>
                <a:sym typeface="+mn-ea"/>
              </a:rPr>
              <a:t>节</a:t>
            </a:r>
            <a:endParaRPr lang="zh-CN" altLang="en-US" sz="2000" b="1">
              <a:solidFill>
                <a:srgbClr val="9C0B15"/>
              </a:solidFill>
              <a:sym typeface="+mn-ea"/>
            </a:endParaRPr>
          </a:p>
          <a:p>
            <a:pPr algn="ctr">
              <a:spcBef>
                <a:spcPct val="20000"/>
              </a:spcBef>
              <a:buClrTx/>
              <a:buSzTx/>
              <a:buFontTx/>
            </a:pPr>
            <a:endParaRPr lang="zh-CN" altLang="en-US" sz="4400">
              <a:sym typeface="+mn-ea"/>
            </a:endParaRPr>
          </a:p>
          <a:p>
            <a:pPr algn="ctr">
              <a:spcBef>
                <a:spcPct val="20000"/>
              </a:spcBef>
              <a:buClrTx/>
              <a:buSzTx/>
              <a:buFontTx/>
            </a:pPr>
            <a:r>
              <a:rPr lang="zh-CN" sz="4400">
                <a:sym typeface="+mn-ea"/>
              </a:rPr>
              <a:t>在过程调用约定中，</a:t>
            </a:r>
            <a:endParaRPr lang="zh-CN" sz="4400">
              <a:sym typeface="+mn-ea"/>
            </a:endParaRPr>
          </a:p>
          <a:p>
            <a:pPr algn="ctr">
              <a:spcBef>
                <a:spcPct val="20000"/>
              </a:spcBef>
              <a:buClrTx/>
              <a:buSzTx/>
              <a:buFontTx/>
            </a:pPr>
            <a:r>
              <a:rPr lang="zh-CN" sz="4400">
                <a:sym typeface="+mn-ea"/>
              </a:rPr>
              <a:t>调用者保存寄存器</a:t>
            </a:r>
            <a:endParaRPr lang="zh-CN" sz="4400">
              <a:sym typeface="+mn-ea"/>
            </a:endParaRPr>
          </a:p>
          <a:p>
            <a:pPr algn="ctr">
              <a:spcBef>
                <a:spcPct val="20000"/>
              </a:spcBef>
              <a:buClrTx/>
              <a:buSzTx/>
              <a:buFontTx/>
            </a:pPr>
            <a:r>
              <a:rPr lang="zh-CN" sz="4400">
                <a:sym typeface="+mn-ea"/>
              </a:rPr>
              <a:t>和</a:t>
            </a:r>
            <a:endParaRPr lang="zh-CN" sz="4400">
              <a:sym typeface="+mn-ea"/>
            </a:endParaRPr>
          </a:p>
          <a:p>
            <a:pPr algn="ctr">
              <a:spcBef>
                <a:spcPct val="20000"/>
              </a:spcBef>
              <a:buClrTx/>
              <a:buSzTx/>
              <a:buFontTx/>
            </a:pPr>
            <a:r>
              <a:rPr lang="zh-CN" sz="4400">
                <a:sym typeface="+mn-ea"/>
              </a:rPr>
              <a:t>被调用者保存寄存器</a:t>
            </a:r>
            <a:endParaRPr lang="zh-CN" sz="4400">
              <a:sym typeface="+mn-ea"/>
            </a:endParaRPr>
          </a:p>
          <a:p>
            <a:pPr algn="ctr">
              <a:spcBef>
                <a:spcPct val="20000"/>
              </a:spcBef>
              <a:buClrTx/>
              <a:buSzTx/>
              <a:buFontTx/>
            </a:pPr>
            <a:r>
              <a:rPr lang="zh-CN" sz="4400">
                <a:sym typeface="+mn-ea"/>
              </a:rPr>
              <a:t>各有什么优势和</a:t>
            </a:r>
            <a:r>
              <a:rPr lang="zh-CN" sz="4400">
                <a:sym typeface="+mn-ea"/>
              </a:rPr>
              <a:t>劣势</a:t>
            </a:r>
            <a:endParaRPr lang="zh-CN" sz="4400">
              <a:sym typeface="+mn-ea"/>
            </a:endParaRPr>
          </a:p>
          <a:p>
            <a:pPr algn="ctr">
              <a:spcBef>
                <a:spcPct val="20000"/>
              </a:spcBef>
              <a:buClrTx/>
              <a:buSzTx/>
              <a:buFontTx/>
            </a:pPr>
            <a:r>
              <a:rPr lang="zh-CN" altLang="en-US" sz="4400">
                <a:sym typeface="+mn-ea"/>
              </a:rPr>
              <a:t>（</a:t>
            </a:r>
            <a:r>
              <a:rPr lang="en-US" altLang="zh-CN" sz="4400">
                <a:sym typeface="+mn-ea"/>
              </a:rPr>
              <a:t>5</a:t>
            </a:r>
            <a:r>
              <a:rPr lang="zh-CN" altLang="en-US" sz="4400">
                <a:sym typeface="+mn-ea"/>
              </a:rPr>
              <a:t>分钟）</a:t>
            </a:r>
            <a:endParaRPr lang="zh-CN" altLang="en-US" sz="4400">
              <a:sym typeface="+mn-ea"/>
            </a:endParaRPr>
          </a:p>
        </p:txBody>
      </p:sp>
    </p:spTree>
    <p:custDataLst>
      <p:tags r:id="rId3"/>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a:grpSpLocks noChangeAspect="1"/>
          </p:cNvGrpSpPr>
          <p:nvPr/>
        </p:nvGrpSpPr>
        <p:grpSpPr>
          <a:xfrm>
            <a:off x="9878060" y="36830"/>
            <a:ext cx="2168525" cy="572770"/>
            <a:chOff x="232331" y="483409"/>
            <a:chExt cx="1887300" cy="498475"/>
          </a:xfrm>
          <a:solidFill>
            <a:srgbClr val="9C0B15"/>
          </a:solidFill>
        </p:grpSpPr>
        <p:sp>
          <p:nvSpPr>
            <p:cNvPr id="14" name="Freeform 5"/>
            <p:cNvSpPr/>
            <p:nvPr/>
          </p:nvSpPr>
          <p:spPr bwMode="auto">
            <a:xfrm>
              <a:off x="951343" y="578788"/>
              <a:ext cx="47906" cy="149758"/>
            </a:xfrm>
            <a:custGeom>
              <a:avLst/>
              <a:gdLst>
                <a:gd name="T0" fmla="*/ 0 w 47"/>
                <a:gd name="T1" fmla="*/ 138 h 146"/>
                <a:gd name="T2" fmla="*/ 8 w 47"/>
                <a:gd name="T3" fmla="*/ 145 h 146"/>
                <a:gd name="T4" fmla="*/ 28 w 47"/>
                <a:gd name="T5" fmla="*/ 113 h 146"/>
                <a:gd name="T6" fmla="*/ 46 w 47"/>
                <a:gd name="T7" fmla="*/ 40 h 146"/>
                <a:gd name="T8" fmla="*/ 18 w 47"/>
                <a:gd name="T9" fmla="*/ 0 h 146"/>
                <a:gd name="T10" fmla="*/ 9 w 47"/>
                <a:gd name="T11" fmla="*/ 8 h 146"/>
                <a:gd name="T12" fmla="*/ 15 w 47"/>
                <a:gd name="T13" fmla="*/ 49 h 146"/>
                <a:gd name="T14" fmla="*/ 8 w 47"/>
                <a:gd name="T15" fmla="*/ 112 h 146"/>
                <a:gd name="T16" fmla="*/ 0 w 47"/>
                <a:gd name="T17"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46">
                  <a:moveTo>
                    <a:pt x="0" y="138"/>
                  </a:moveTo>
                  <a:cubicBezTo>
                    <a:pt x="0" y="138"/>
                    <a:pt x="0" y="146"/>
                    <a:pt x="8" y="145"/>
                  </a:cubicBezTo>
                  <a:cubicBezTo>
                    <a:pt x="8" y="145"/>
                    <a:pt x="27" y="129"/>
                    <a:pt x="28" y="113"/>
                  </a:cubicBezTo>
                  <a:cubicBezTo>
                    <a:pt x="28" y="113"/>
                    <a:pt x="35" y="61"/>
                    <a:pt x="46" y="40"/>
                  </a:cubicBezTo>
                  <a:cubicBezTo>
                    <a:pt x="46" y="40"/>
                    <a:pt x="47" y="27"/>
                    <a:pt x="18" y="0"/>
                  </a:cubicBezTo>
                  <a:cubicBezTo>
                    <a:pt x="18" y="0"/>
                    <a:pt x="8" y="3"/>
                    <a:pt x="9" y="8"/>
                  </a:cubicBezTo>
                  <a:cubicBezTo>
                    <a:pt x="9" y="13"/>
                    <a:pt x="23" y="19"/>
                    <a:pt x="15" y="49"/>
                  </a:cubicBezTo>
                  <a:cubicBezTo>
                    <a:pt x="8" y="112"/>
                    <a:pt x="8" y="112"/>
                    <a:pt x="8" y="112"/>
                  </a:cubicBezTo>
                  <a:cubicBezTo>
                    <a:pt x="8" y="112"/>
                    <a:pt x="7" y="131"/>
                    <a:pt x="0" y="13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1" name="Freeform 6"/>
            <p:cNvSpPr/>
            <p:nvPr/>
          </p:nvSpPr>
          <p:spPr bwMode="auto">
            <a:xfrm>
              <a:off x="1007449" y="715167"/>
              <a:ext cx="91927" cy="94516"/>
            </a:xfrm>
            <a:custGeom>
              <a:avLst/>
              <a:gdLst>
                <a:gd name="T0" fmla="*/ 83 w 90"/>
                <a:gd name="T1" fmla="*/ 39 h 92"/>
                <a:gd name="T2" fmla="*/ 54 w 90"/>
                <a:gd name="T3" fmla="*/ 6 h 92"/>
                <a:gd name="T4" fmla="*/ 42 w 90"/>
                <a:gd name="T5" fmla="*/ 14 h 92"/>
                <a:gd name="T6" fmla="*/ 4 w 90"/>
                <a:gd name="T7" fmla="*/ 77 h 92"/>
                <a:gd name="T8" fmla="*/ 16 w 90"/>
                <a:gd name="T9" fmla="*/ 82 h 92"/>
                <a:gd name="T10" fmla="*/ 73 w 90"/>
                <a:gd name="T11" fmla="*/ 56 h 92"/>
                <a:gd name="T12" fmla="*/ 83 w 90"/>
                <a:gd name="T13" fmla="*/ 39 h 92"/>
              </a:gdLst>
              <a:ahLst/>
              <a:cxnLst>
                <a:cxn ang="0">
                  <a:pos x="T0" y="T1"/>
                </a:cxn>
                <a:cxn ang="0">
                  <a:pos x="T2" y="T3"/>
                </a:cxn>
                <a:cxn ang="0">
                  <a:pos x="T4" y="T5"/>
                </a:cxn>
                <a:cxn ang="0">
                  <a:pos x="T6" y="T7"/>
                </a:cxn>
                <a:cxn ang="0">
                  <a:pos x="T8" y="T9"/>
                </a:cxn>
                <a:cxn ang="0">
                  <a:pos x="T10" y="T11"/>
                </a:cxn>
                <a:cxn ang="0">
                  <a:pos x="T12" y="T13"/>
                </a:cxn>
              </a:cxnLst>
              <a:rect l="0" t="0" r="r" b="b"/>
              <a:pathLst>
                <a:path w="90" h="92">
                  <a:moveTo>
                    <a:pt x="83" y="39"/>
                  </a:moveTo>
                  <a:cubicBezTo>
                    <a:pt x="54" y="6"/>
                    <a:pt x="54" y="6"/>
                    <a:pt x="54" y="6"/>
                  </a:cubicBezTo>
                  <a:cubicBezTo>
                    <a:pt x="54" y="6"/>
                    <a:pt x="39" y="0"/>
                    <a:pt x="42" y="14"/>
                  </a:cubicBezTo>
                  <a:cubicBezTo>
                    <a:pt x="42" y="14"/>
                    <a:pt x="28" y="64"/>
                    <a:pt x="4" y="77"/>
                  </a:cubicBezTo>
                  <a:cubicBezTo>
                    <a:pt x="4" y="77"/>
                    <a:pt x="0" y="92"/>
                    <a:pt x="16" y="82"/>
                  </a:cubicBezTo>
                  <a:cubicBezTo>
                    <a:pt x="16" y="82"/>
                    <a:pt x="60" y="54"/>
                    <a:pt x="73" y="56"/>
                  </a:cubicBezTo>
                  <a:cubicBezTo>
                    <a:pt x="73" y="56"/>
                    <a:pt x="90" y="51"/>
                    <a:pt x="83" y="39"/>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6" name="Freeform 7"/>
            <p:cNvSpPr/>
            <p:nvPr/>
          </p:nvSpPr>
          <p:spPr bwMode="auto">
            <a:xfrm>
              <a:off x="818417" y="733726"/>
              <a:ext cx="176948" cy="144579"/>
            </a:xfrm>
            <a:custGeom>
              <a:avLst/>
              <a:gdLst>
                <a:gd name="T0" fmla="*/ 167 w 173"/>
                <a:gd name="T1" fmla="*/ 12 h 141"/>
                <a:gd name="T2" fmla="*/ 160 w 173"/>
                <a:gd name="T3" fmla="*/ 3 h 141"/>
                <a:gd name="T4" fmla="*/ 114 w 173"/>
                <a:gd name="T5" fmla="*/ 42 h 141"/>
                <a:gd name="T6" fmla="*/ 73 w 173"/>
                <a:gd name="T7" fmla="*/ 77 h 141"/>
                <a:gd name="T8" fmla="*/ 46 w 173"/>
                <a:gd name="T9" fmla="*/ 98 h 141"/>
                <a:gd name="T10" fmla="*/ 42 w 173"/>
                <a:gd name="T11" fmla="*/ 95 h 141"/>
                <a:gd name="T12" fmla="*/ 38 w 173"/>
                <a:gd name="T13" fmla="*/ 21 h 141"/>
                <a:gd name="T14" fmla="*/ 33 w 173"/>
                <a:gd name="T15" fmla="*/ 33 h 141"/>
                <a:gd name="T16" fmla="*/ 0 w 173"/>
                <a:gd name="T17" fmla="*/ 109 h 141"/>
                <a:gd name="T18" fmla="*/ 27 w 173"/>
                <a:gd name="T19" fmla="*/ 141 h 141"/>
                <a:gd name="T20" fmla="*/ 97 w 173"/>
                <a:gd name="T21" fmla="*/ 104 h 141"/>
                <a:gd name="T22" fmla="*/ 131 w 173"/>
                <a:gd name="T23" fmla="*/ 67 h 141"/>
                <a:gd name="T24" fmla="*/ 167 w 173"/>
                <a:gd name="T25" fmla="*/ 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41">
                  <a:moveTo>
                    <a:pt x="167" y="12"/>
                  </a:moveTo>
                  <a:cubicBezTo>
                    <a:pt x="167" y="12"/>
                    <a:pt x="173" y="0"/>
                    <a:pt x="160" y="3"/>
                  </a:cubicBezTo>
                  <a:cubicBezTo>
                    <a:pt x="160" y="3"/>
                    <a:pt x="132" y="38"/>
                    <a:pt x="114" y="42"/>
                  </a:cubicBezTo>
                  <a:cubicBezTo>
                    <a:pt x="114" y="42"/>
                    <a:pt x="84" y="72"/>
                    <a:pt x="73" y="77"/>
                  </a:cubicBezTo>
                  <a:cubicBezTo>
                    <a:pt x="73" y="77"/>
                    <a:pt x="49" y="92"/>
                    <a:pt x="46" y="98"/>
                  </a:cubicBezTo>
                  <a:cubicBezTo>
                    <a:pt x="42" y="95"/>
                    <a:pt x="42" y="95"/>
                    <a:pt x="42" y="95"/>
                  </a:cubicBezTo>
                  <a:cubicBezTo>
                    <a:pt x="42" y="95"/>
                    <a:pt x="69" y="33"/>
                    <a:pt x="38" y="21"/>
                  </a:cubicBezTo>
                  <a:cubicBezTo>
                    <a:pt x="38" y="21"/>
                    <a:pt x="32" y="24"/>
                    <a:pt x="33" y="33"/>
                  </a:cubicBezTo>
                  <a:cubicBezTo>
                    <a:pt x="33" y="33"/>
                    <a:pt x="15" y="100"/>
                    <a:pt x="0" y="109"/>
                  </a:cubicBezTo>
                  <a:cubicBezTo>
                    <a:pt x="0" y="109"/>
                    <a:pt x="12" y="128"/>
                    <a:pt x="27" y="141"/>
                  </a:cubicBezTo>
                  <a:cubicBezTo>
                    <a:pt x="27" y="141"/>
                    <a:pt x="81" y="116"/>
                    <a:pt x="97" y="104"/>
                  </a:cubicBezTo>
                  <a:cubicBezTo>
                    <a:pt x="97" y="104"/>
                    <a:pt x="125" y="78"/>
                    <a:pt x="131" y="67"/>
                  </a:cubicBezTo>
                  <a:cubicBezTo>
                    <a:pt x="131" y="67"/>
                    <a:pt x="159" y="30"/>
                    <a:pt x="167" y="1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2" name="Freeform 8"/>
            <p:cNvSpPr/>
            <p:nvPr/>
          </p:nvSpPr>
          <p:spPr bwMode="auto">
            <a:xfrm>
              <a:off x="1475282" y="575767"/>
              <a:ext cx="252043" cy="315917"/>
            </a:xfrm>
            <a:custGeom>
              <a:avLst/>
              <a:gdLst>
                <a:gd name="T0" fmla="*/ 231 w 247"/>
                <a:gd name="T1" fmla="*/ 13 h 308"/>
                <a:gd name="T2" fmla="*/ 217 w 247"/>
                <a:gd name="T3" fmla="*/ 23 h 308"/>
                <a:gd name="T4" fmla="*/ 193 w 247"/>
                <a:gd name="T5" fmla="*/ 36 h 308"/>
                <a:gd name="T6" fmla="*/ 165 w 247"/>
                <a:gd name="T7" fmla="*/ 7 h 308"/>
                <a:gd name="T8" fmla="*/ 148 w 247"/>
                <a:gd name="T9" fmla="*/ 9 h 308"/>
                <a:gd name="T10" fmla="*/ 156 w 247"/>
                <a:gd name="T11" fmla="*/ 42 h 308"/>
                <a:gd name="T12" fmla="*/ 156 w 247"/>
                <a:gd name="T13" fmla="*/ 58 h 308"/>
                <a:gd name="T14" fmla="*/ 105 w 247"/>
                <a:gd name="T15" fmla="*/ 95 h 308"/>
                <a:gd name="T16" fmla="*/ 105 w 247"/>
                <a:gd name="T17" fmla="*/ 65 h 308"/>
                <a:gd name="T18" fmla="*/ 91 w 247"/>
                <a:gd name="T19" fmla="*/ 67 h 308"/>
                <a:gd name="T20" fmla="*/ 93 w 247"/>
                <a:gd name="T21" fmla="*/ 125 h 308"/>
                <a:gd name="T22" fmla="*/ 132 w 247"/>
                <a:gd name="T23" fmla="*/ 129 h 308"/>
                <a:gd name="T24" fmla="*/ 104 w 247"/>
                <a:gd name="T25" fmla="*/ 177 h 308"/>
                <a:gd name="T26" fmla="*/ 16 w 247"/>
                <a:gd name="T27" fmla="*/ 288 h 308"/>
                <a:gd name="T28" fmla="*/ 27 w 247"/>
                <a:gd name="T29" fmla="*/ 298 h 308"/>
                <a:gd name="T30" fmla="*/ 116 w 247"/>
                <a:gd name="T31" fmla="*/ 216 h 308"/>
                <a:gd name="T32" fmla="*/ 200 w 247"/>
                <a:gd name="T33" fmla="*/ 66 h 308"/>
                <a:gd name="T34" fmla="*/ 247 w 247"/>
                <a:gd name="T35" fmla="*/ 33 h 308"/>
                <a:gd name="T36" fmla="*/ 231 w 247"/>
                <a:gd name="T37" fmla="*/ 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7" h="308">
                  <a:moveTo>
                    <a:pt x="231" y="13"/>
                  </a:moveTo>
                  <a:cubicBezTo>
                    <a:pt x="223" y="12"/>
                    <a:pt x="217" y="23"/>
                    <a:pt x="217" y="23"/>
                  </a:cubicBezTo>
                  <a:cubicBezTo>
                    <a:pt x="193" y="36"/>
                    <a:pt x="193" y="36"/>
                    <a:pt x="193" y="36"/>
                  </a:cubicBezTo>
                  <a:cubicBezTo>
                    <a:pt x="196" y="27"/>
                    <a:pt x="165" y="7"/>
                    <a:pt x="165" y="7"/>
                  </a:cubicBezTo>
                  <a:cubicBezTo>
                    <a:pt x="151" y="0"/>
                    <a:pt x="148" y="9"/>
                    <a:pt x="148" y="9"/>
                  </a:cubicBezTo>
                  <a:cubicBezTo>
                    <a:pt x="144" y="20"/>
                    <a:pt x="156" y="42"/>
                    <a:pt x="156" y="42"/>
                  </a:cubicBezTo>
                  <a:cubicBezTo>
                    <a:pt x="156" y="58"/>
                    <a:pt x="156" y="58"/>
                    <a:pt x="156" y="58"/>
                  </a:cubicBezTo>
                  <a:cubicBezTo>
                    <a:pt x="105" y="95"/>
                    <a:pt x="105" y="95"/>
                    <a:pt x="105" y="95"/>
                  </a:cubicBezTo>
                  <a:cubicBezTo>
                    <a:pt x="89" y="87"/>
                    <a:pt x="105" y="65"/>
                    <a:pt x="105" y="65"/>
                  </a:cubicBezTo>
                  <a:cubicBezTo>
                    <a:pt x="103" y="47"/>
                    <a:pt x="91" y="67"/>
                    <a:pt x="91" y="67"/>
                  </a:cubicBezTo>
                  <a:cubicBezTo>
                    <a:pt x="78" y="97"/>
                    <a:pt x="93" y="125"/>
                    <a:pt x="93" y="125"/>
                  </a:cubicBezTo>
                  <a:cubicBezTo>
                    <a:pt x="106" y="146"/>
                    <a:pt x="127" y="133"/>
                    <a:pt x="132" y="129"/>
                  </a:cubicBezTo>
                  <a:cubicBezTo>
                    <a:pt x="125" y="137"/>
                    <a:pt x="104" y="177"/>
                    <a:pt x="104" y="177"/>
                  </a:cubicBezTo>
                  <a:cubicBezTo>
                    <a:pt x="80" y="242"/>
                    <a:pt x="16" y="288"/>
                    <a:pt x="16" y="288"/>
                  </a:cubicBezTo>
                  <a:cubicBezTo>
                    <a:pt x="0" y="308"/>
                    <a:pt x="27" y="298"/>
                    <a:pt x="27" y="298"/>
                  </a:cubicBezTo>
                  <a:cubicBezTo>
                    <a:pt x="51" y="288"/>
                    <a:pt x="116" y="216"/>
                    <a:pt x="116" y="216"/>
                  </a:cubicBezTo>
                  <a:cubicBezTo>
                    <a:pt x="206" y="108"/>
                    <a:pt x="200" y="66"/>
                    <a:pt x="200" y="66"/>
                  </a:cubicBezTo>
                  <a:cubicBezTo>
                    <a:pt x="222" y="56"/>
                    <a:pt x="247" y="33"/>
                    <a:pt x="247" y="33"/>
                  </a:cubicBezTo>
                  <a:lnTo>
                    <a:pt x="231" y="1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8" name="Freeform 9"/>
            <p:cNvSpPr/>
            <p:nvPr/>
          </p:nvSpPr>
          <p:spPr bwMode="auto">
            <a:xfrm>
              <a:off x="1689777" y="747968"/>
              <a:ext cx="69485" cy="122137"/>
            </a:xfrm>
            <a:custGeom>
              <a:avLst/>
              <a:gdLst>
                <a:gd name="T0" fmla="*/ 10 w 68"/>
                <a:gd name="T1" fmla="*/ 26 h 119"/>
                <a:gd name="T2" fmla="*/ 10 w 68"/>
                <a:gd name="T3" fmla="*/ 100 h 119"/>
                <a:gd name="T4" fmla="*/ 16 w 68"/>
                <a:gd name="T5" fmla="*/ 112 h 119"/>
                <a:gd name="T6" fmla="*/ 60 w 68"/>
                <a:gd name="T7" fmla="*/ 58 h 119"/>
                <a:gd name="T8" fmla="*/ 24 w 68"/>
                <a:gd name="T9" fmla="*/ 13 h 119"/>
                <a:gd name="T10" fmla="*/ 10 w 68"/>
                <a:gd name="T11" fmla="*/ 26 h 119"/>
              </a:gdLst>
              <a:ahLst/>
              <a:cxnLst>
                <a:cxn ang="0">
                  <a:pos x="T0" y="T1"/>
                </a:cxn>
                <a:cxn ang="0">
                  <a:pos x="T2" y="T3"/>
                </a:cxn>
                <a:cxn ang="0">
                  <a:pos x="T4" y="T5"/>
                </a:cxn>
                <a:cxn ang="0">
                  <a:pos x="T6" y="T7"/>
                </a:cxn>
                <a:cxn ang="0">
                  <a:pos x="T8" y="T9"/>
                </a:cxn>
                <a:cxn ang="0">
                  <a:pos x="T10" y="T11"/>
                </a:cxn>
              </a:cxnLst>
              <a:rect l="0" t="0" r="r" b="b"/>
              <a:pathLst>
                <a:path w="68" h="119">
                  <a:moveTo>
                    <a:pt x="10" y="26"/>
                  </a:moveTo>
                  <a:cubicBezTo>
                    <a:pt x="10" y="26"/>
                    <a:pt x="27" y="85"/>
                    <a:pt x="10" y="100"/>
                  </a:cubicBezTo>
                  <a:cubicBezTo>
                    <a:pt x="10" y="100"/>
                    <a:pt x="0" y="119"/>
                    <a:pt x="16" y="112"/>
                  </a:cubicBezTo>
                  <a:cubicBezTo>
                    <a:pt x="16" y="112"/>
                    <a:pt x="40" y="72"/>
                    <a:pt x="60" y="58"/>
                  </a:cubicBezTo>
                  <a:cubicBezTo>
                    <a:pt x="60" y="58"/>
                    <a:pt x="68" y="28"/>
                    <a:pt x="24" y="13"/>
                  </a:cubicBezTo>
                  <a:cubicBezTo>
                    <a:pt x="24" y="13"/>
                    <a:pt x="1" y="0"/>
                    <a:pt x="10" y="2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19" name="Freeform 10"/>
            <p:cNvSpPr>
              <a:spLocks noEditPoints="1"/>
            </p:cNvSpPr>
            <p:nvPr/>
          </p:nvSpPr>
          <p:spPr bwMode="auto">
            <a:xfrm>
              <a:off x="1856367" y="483409"/>
              <a:ext cx="263264" cy="451433"/>
            </a:xfrm>
            <a:custGeom>
              <a:avLst/>
              <a:gdLst>
                <a:gd name="T0" fmla="*/ 166 w 258"/>
                <a:gd name="T1" fmla="*/ 8 h 440"/>
                <a:gd name="T2" fmla="*/ 160 w 258"/>
                <a:gd name="T3" fmla="*/ 17 h 440"/>
                <a:gd name="T4" fmla="*/ 133 w 258"/>
                <a:gd name="T5" fmla="*/ 40 h 440"/>
                <a:gd name="T6" fmla="*/ 104 w 258"/>
                <a:gd name="T7" fmla="*/ 52 h 440"/>
                <a:gd name="T8" fmla="*/ 93 w 258"/>
                <a:gd name="T9" fmla="*/ 69 h 440"/>
                <a:gd name="T10" fmla="*/ 46 w 258"/>
                <a:gd name="T11" fmla="*/ 113 h 440"/>
                <a:gd name="T12" fmla="*/ 27 w 258"/>
                <a:gd name="T13" fmla="*/ 97 h 440"/>
                <a:gd name="T14" fmla="*/ 14 w 258"/>
                <a:gd name="T15" fmla="*/ 105 h 440"/>
                <a:gd name="T16" fmla="*/ 21 w 258"/>
                <a:gd name="T17" fmla="*/ 147 h 440"/>
                <a:gd name="T18" fmla="*/ 52 w 258"/>
                <a:gd name="T19" fmla="*/ 131 h 440"/>
                <a:gd name="T20" fmla="*/ 99 w 258"/>
                <a:gd name="T21" fmla="*/ 83 h 440"/>
                <a:gd name="T22" fmla="*/ 133 w 258"/>
                <a:gd name="T23" fmla="*/ 91 h 440"/>
                <a:gd name="T24" fmla="*/ 122 w 258"/>
                <a:gd name="T25" fmla="*/ 117 h 440"/>
                <a:gd name="T26" fmla="*/ 34 w 258"/>
                <a:gd name="T27" fmla="*/ 223 h 440"/>
                <a:gd name="T28" fmla="*/ 33 w 258"/>
                <a:gd name="T29" fmla="*/ 259 h 440"/>
                <a:gd name="T30" fmla="*/ 61 w 258"/>
                <a:gd name="T31" fmla="*/ 260 h 440"/>
                <a:gd name="T32" fmla="*/ 90 w 258"/>
                <a:gd name="T33" fmla="*/ 229 h 440"/>
                <a:gd name="T34" fmla="*/ 80 w 258"/>
                <a:gd name="T35" fmla="*/ 273 h 440"/>
                <a:gd name="T36" fmla="*/ 107 w 258"/>
                <a:gd name="T37" fmla="*/ 288 h 440"/>
                <a:gd name="T38" fmla="*/ 148 w 258"/>
                <a:gd name="T39" fmla="*/ 301 h 440"/>
                <a:gd name="T40" fmla="*/ 4 w 258"/>
                <a:gd name="T41" fmla="*/ 364 h 440"/>
                <a:gd name="T42" fmla="*/ 121 w 258"/>
                <a:gd name="T43" fmla="*/ 426 h 440"/>
                <a:gd name="T44" fmla="*/ 176 w 258"/>
                <a:gd name="T45" fmla="*/ 384 h 440"/>
                <a:gd name="T46" fmla="*/ 176 w 258"/>
                <a:gd name="T47" fmla="*/ 340 h 440"/>
                <a:gd name="T48" fmla="*/ 182 w 258"/>
                <a:gd name="T49" fmla="*/ 331 h 440"/>
                <a:gd name="T50" fmla="*/ 212 w 258"/>
                <a:gd name="T51" fmla="*/ 338 h 440"/>
                <a:gd name="T52" fmla="*/ 228 w 258"/>
                <a:gd name="T53" fmla="*/ 338 h 440"/>
                <a:gd name="T54" fmla="*/ 222 w 258"/>
                <a:gd name="T55" fmla="*/ 309 h 440"/>
                <a:gd name="T56" fmla="*/ 168 w 258"/>
                <a:gd name="T57" fmla="*/ 302 h 440"/>
                <a:gd name="T58" fmla="*/ 118 w 258"/>
                <a:gd name="T59" fmla="*/ 264 h 440"/>
                <a:gd name="T60" fmla="*/ 135 w 258"/>
                <a:gd name="T61" fmla="*/ 191 h 440"/>
                <a:gd name="T62" fmla="*/ 89 w 258"/>
                <a:gd name="T63" fmla="*/ 198 h 440"/>
                <a:gd name="T64" fmla="*/ 132 w 258"/>
                <a:gd name="T65" fmla="*/ 152 h 440"/>
                <a:gd name="T66" fmla="*/ 142 w 258"/>
                <a:gd name="T67" fmla="*/ 131 h 440"/>
                <a:gd name="T68" fmla="*/ 167 w 258"/>
                <a:gd name="T69" fmla="*/ 94 h 440"/>
                <a:gd name="T70" fmla="*/ 204 w 258"/>
                <a:gd name="T71" fmla="*/ 15 h 440"/>
                <a:gd name="T72" fmla="*/ 166 w 258"/>
                <a:gd name="T73" fmla="*/ 8 h 440"/>
                <a:gd name="T74" fmla="*/ 153 w 258"/>
                <a:gd name="T75" fmla="*/ 371 h 440"/>
                <a:gd name="T76" fmla="*/ 75 w 258"/>
                <a:gd name="T77" fmla="*/ 389 h 440"/>
                <a:gd name="T78" fmla="*/ 94 w 258"/>
                <a:gd name="T79" fmla="*/ 355 h 440"/>
                <a:gd name="T80" fmla="*/ 135 w 258"/>
                <a:gd name="T81" fmla="*/ 334 h 440"/>
                <a:gd name="T82" fmla="*/ 153 w 258"/>
                <a:gd name="T83" fmla="*/ 371 h 440"/>
                <a:gd name="T84" fmla="*/ 141 w 258"/>
                <a:gd name="T85" fmla="*/ 58 h 440"/>
                <a:gd name="T86" fmla="*/ 146 w 258"/>
                <a:gd name="T87" fmla="*/ 49 h 440"/>
                <a:gd name="T88" fmla="*/ 161 w 258"/>
                <a:gd name="T89" fmla="*/ 38 h 440"/>
                <a:gd name="T90" fmla="*/ 141 w 258"/>
                <a:gd name="T91" fmla="*/ 58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440">
                  <a:moveTo>
                    <a:pt x="166" y="8"/>
                  </a:moveTo>
                  <a:cubicBezTo>
                    <a:pt x="160" y="17"/>
                    <a:pt x="160" y="17"/>
                    <a:pt x="160" y="17"/>
                  </a:cubicBezTo>
                  <a:cubicBezTo>
                    <a:pt x="133" y="40"/>
                    <a:pt x="133" y="40"/>
                    <a:pt x="133" y="40"/>
                  </a:cubicBezTo>
                  <a:cubicBezTo>
                    <a:pt x="133" y="40"/>
                    <a:pt x="134" y="61"/>
                    <a:pt x="104" y="52"/>
                  </a:cubicBezTo>
                  <a:cubicBezTo>
                    <a:pt x="104" y="52"/>
                    <a:pt x="94" y="52"/>
                    <a:pt x="93" y="69"/>
                  </a:cubicBezTo>
                  <a:cubicBezTo>
                    <a:pt x="46" y="113"/>
                    <a:pt x="46" y="113"/>
                    <a:pt x="46" y="113"/>
                  </a:cubicBezTo>
                  <a:cubicBezTo>
                    <a:pt x="46" y="113"/>
                    <a:pt x="31" y="127"/>
                    <a:pt x="27" y="97"/>
                  </a:cubicBezTo>
                  <a:cubicBezTo>
                    <a:pt x="27" y="97"/>
                    <a:pt x="21" y="74"/>
                    <a:pt x="14" y="105"/>
                  </a:cubicBezTo>
                  <a:cubicBezTo>
                    <a:pt x="14" y="105"/>
                    <a:pt x="12" y="142"/>
                    <a:pt x="21" y="147"/>
                  </a:cubicBezTo>
                  <a:cubicBezTo>
                    <a:pt x="21" y="147"/>
                    <a:pt x="49" y="156"/>
                    <a:pt x="52" y="131"/>
                  </a:cubicBezTo>
                  <a:cubicBezTo>
                    <a:pt x="52" y="131"/>
                    <a:pt x="92" y="90"/>
                    <a:pt x="99" y="83"/>
                  </a:cubicBezTo>
                  <a:cubicBezTo>
                    <a:pt x="99" y="83"/>
                    <a:pt x="123" y="96"/>
                    <a:pt x="133" y="91"/>
                  </a:cubicBezTo>
                  <a:cubicBezTo>
                    <a:pt x="133" y="91"/>
                    <a:pt x="143" y="96"/>
                    <a:pt x="122" y="117"/>
                  </a:cubicBezTo>
                  <a:cubicBezTo>
                    <a:pt x="122" y="117"/>
                    <a:pt x="53" y="222"/>
                    <a:pt x="34" y="223"/>
                  </a:cubicBezTo>
                  <a:cubicBezTo>
                    <a:pt x="34" y="223"/>
                    <a:pt x="25" y="246"/>
                    <a:pt x="33" y="259"/>
                  </a:cubicBezTo>
                  <a:cubicBezTo>
                    <a:pt x="33" y="259"/>
                    <a:pt x="56" y="265"/>
                    <a:pt x="61" y="260"/>
                  </a:cubicBezTo>
                  <a:cubicBezTo>
                    <a:pt x="90" y="229"/>
                    <a:pt x="90" y="229"/>
                    <a:pt x="90" y="229"/>
                  </a:cubicBezTo>
                  <a:cubicBezTo>
                    <a:pt x="90" y="229"/>
                    <a:pt x="95" y="245"/>
                    <a:pt x="80" y="273"/>
                  </a:cubicBezTo>
                  <a:cubicBezTo>
                    <a:pt x="80" y="273"/>
                    <a:pt x="79" y="303"/>
                    <a:pt x="107" y="288"/>
                  </a:cubicBezTo>
                  <a:cubicBezTo>
                    <a:pt x="107" y="288"/>
                    <a:pt x="140" y="278"/>
                    <a:pt x="148" y="301"/>
                  </a:cubicBezTo>
                  <a:cubicBezTo>
                    <a:pt x="148" y="301"/>
                    <a:pt x="91" y="290"/>
                    <a:pt x="4" y="364"/>
                  </a:cubicBezTo>
                  <a:cubicBezTo>
                    <a:pt x="4" y="364"/>
                    <a:pt x="0" y="392"/>
                    <a:pt x="121" y="426"/>
                  </a:cubicBezTo>
                  <a:cubicBezTo>
                    <a:pt x="121" y="426"/>
                    <a:pt x="170" y="440"/>
                    <a:pt x="176" y="384"/>
                  </a:cubicBezTo>
                  <a:cubicBezTo>
                    <a:pt x="176" y="340"/>
                    <a:pt x="176" y="340"/>
                    <a:pt x="176" y="340"/>
                  </a:cubicBezTo>
                  <a:cubicBezTo>
                    <a:pt x="176" y="340"/>
                    <a:pt x="170" y="334"/>
                    <a:pt x="182" y="331"/>
                  </a:cubicBezTo>
                  <a:cubicBezTo>
                    <a:pt x="212" y="338"/>
                    <a:pt x="212" y="338"/>
                    <a:pt x="212" y="338"/>
                  </a:cubicBezTo>
                  <a:cubicBezTo>
                    <a:pt x="212" y="338"/>
                    <a:pt x="220" y="353"/>
                    <a:pt x="228" y="338"/>
                  </a:cubicBezTo>
                  <a:cubicBezTo>
                    <a:pt x="228" y="338"/>
                    <a:pt x="258" y="326"/>
                    <a:pt x="222" y="309"/>
                  </a:cubicBezTo>
                  <a:cubicBezTo>
                    <a:pt x="168" y="302"/>
                    <a:pt x="168" y="302"/>
                    <a:pt x="168" y="302"/>
                  </a:cubicBezTo>
                  <a:cubicBezTo>
                    <a:pt x="168" y="302"/>
                    <a:pt x="179" y="269"/>
                    <a:pt x="118" y="264"/>
                  </a:cubicBezTo>
                  <a:cubicBezTo>
                    <a:pt x="135" y="191"/>
                    <a:pt x="135" y="191"/>
                    <a:pt x="135" y="191"/>
                  </a:cubicBezTo>
                  <a:cubicBezTo>
                    <a:pt x="135" y="191"/>
                    <a:pt x="122" y="167"/>
                    <a:pt x="89" y="198"/>
                  </a:cubicBezTo>
                  <a:cubicBezTo>
                    <a:pt x="89" y="198"/>
                    <a:pt x="116" y="161"/>
                    <a:pt x="132" y="152"/>
                  </a:cubicBezTo>
                  <a:cubicBezTo>
                    <a:pt x="132" y="152"/>
                    <a:pt x="140" y="152"/>
                    <a:pt x="142" y="131"/>
                  </a:cubicBezTo>
                  <a:cubicBezTo>
                    <a:pt x="142" y="131"/>
                    <a:pt x="154" y="129"/>
                    <a:pt x="167" y="94"/>
                  </a:cubicBezTo>
                  <a:cubicBezTo>
                    <a:pt x="167" y="94"/>
                    <a:pt x="186" y="94"/>
                    <a:pt x="204" y="15"/>
                  </a:cubicBezTo>
                  <a:cubicBezTo>
                    <a:pt x="204" y="15"/>
                    <a:pt x="180" y="0"/>
                    <a:pt x="166" y="8"/>
                  </a:cubicBezTo>
                  <a:close/>
                  <a:moveTo>
                    <a:pt x="153" y="371"/>
                  </a:moveTo>
                  <a:cubicBezTo>
                    <a:pt x="145" y="420"/>
                    <a:pt x="75" y="389"/>
                    <a:pt x="75" y="389"/>
                  </a:cubicBezTo>
                  <a:cubicBezTo>
                    <a:pt x="38" y="383"/>
                    <a:pt x="94" y="355"/>
                    <a:pt x="94" y="355"/>
                  </a:cubicBezTo>
                  <a:cubicBezTo>
                    <a:pt x="135" y="334"/>
                    <a:pt x="135" y="334"/>
                    <a:pt x="135" y="334"/>
                  </a:cubicBezTo>
                  <a:cubicBezTo>
                    <a:pt x="172" y="319"/>
                    <a:pt x="153" y="371"/>
                    <a:pt x="153" y="371"/>
                  </a:cubicBezTo>
                  <a:close/>
                  <a:moveTo>
                    <a:pt x="141" y="58"/>
                  </a:moveTo>
                  <a:cubicBezTo>
                    <a:pt x="141" y="58"/>
                    <a:pt x="140" y="53"/>
                    <a:pt x="146" y="49"/>
                  </a:cubicBezTo>
                  <a:cubicBezTo>
                    <a:pt x="161" y="38"/>
                    <a:pt x="161" y="38"/>
                    <a:pt x="161" y="38"/>
                  </a:cubicBezTo>
                  <a:cubicBezTo>
                    <a:pt x="161" y="38"/>
                    <a:pt x="152" y="74"/>
                    <a:pt x="141" y="5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0" name="Freeform 11"/>
            <p:cNvSpPr>
              <a:spLocks noEditPoints="1"/>
            </p:cNvSpPr>
            <p:nvPr/>
          </p:nvSpPr>
          <p:spPr bwMode="auto">
            <a:xfrm>
              <a:off x="1180081" y="497651"/>
              <a:ext cx="237801" cy="423812"/>
            </a:xfrm>
            <a:custGeom>
              <a:avLst/>
              <a:gdLst>
                <a:gd name="T0" fmla="*/ 136 w 233"/>
                <a:gd name="T1" fmla="*/ 295 h 413"/>
                <a:gd name="T2" fmla="*/ 171 w 233"/>
                <a:gd name="T3" fmla="*/ 228 h 413"/>
                <a:gd name="T4" fmla="*/ 167 w 233"/>
                <a:gd name="T5" fmla="*/ 210 h 413"/>
                <a:gd name="T6" fmla="*/ 172 w 233"/>
                <a:gd name="T7" fmla="*/ 199 h 413"/>
                <a:gd name="T8" fmla="*/ 162 w 233"/>
                <a:gd name="T9" fmla="*/ 191 h 413"/>
                <a:gd name="T10" fmla="*/ 141 w 233"/>
                <a:gd name="T11" fmla="*/ 171 h 413"/>
                <a:gd name="T12" fmla="*/ 153 w 233"/>
                <a:gd name="T13" fmla="*/ 156 h 413"/>
                <a:gd name="T14" fmla="*/ 202 w 233"/>
                <a:gd name="T15" fmla="*/ 127 h 413"/>
                <a:gd name="T16" fmla="*/ 226 w 233"/>
                <a:gd name="T17" fmla="*/ 71 h 413"/>
                <a:gd name="T18" fmla="*/ 214 w 233"/>
                <a:gd name="T19" fmla="*/ 54 h 413"/>
                <a:gd name="T20" fmla="*/ 199 w 233"/>
                <a:gd name="T21" fmla="*/ 73 h 413"/>
                <a:gd name="T22" fmla="*/ 157 w 233"/>
                <a:gd name="T23" fmla="*/ 106 h 413"/>
                <a:gd name="T24" fmla="*/ 179 w 233"/>
                <a:gd name="T25" fmla="*/ 41 h 413"/>
                <a:gd name="T26" fmla="*/ 176 w 233"/>
                <a:gd name="T27" fmla="*/ 18 h 413"/>
                <a:gd name="T28" fmla="*/ 162 w 233"/>
                <a:gd name="T29" fmla="*/ 35 h 413"/>
                <a:gd name="T30" fmla="*/ 106 w 233"/>
                <a:gd name="T31" fmla="*/ 145 h 413"/>
                <a:gd name="T32" fmla="*/ 72 w 233"/>
                <a:gd name="T33" fmla="*/ 163 h 413"/>
                <a:gd name="T34" fmla="*/ 53 w 233"/>
                <a:gd name="T35" fmla="*/ 181 h 413"/>
                <a:gd name="T36" fmla="*/ 82 w 233"/>
                <a:gd name="T37" fmla="*/ 204 h 413"/>
                <a:gd name="T38" fmla="*/ 48 w 233"/>
                <a:gd name="T39" fmla="*/ 276 h 413"/>
                <a:gd name="T40" fmla="*/ 38 w 233"/>
                <a:gd name="T41" fmla="*/ 296 h 413"/>
                <a:gd name="T42" fmla="*/ 62 w 233"/>
                <a:gd name="T43" fmla="*/ 313 h 413"/>
                <a:gd name="T44" fmla="*/ 101 w 233"/>
                <a:gd name="T45" fmla="*/ 291 h 413"/>
                <a:gd name="T46" fmla="*/ 104 w 233"/>
                <a:gd name="T47" fmla="*/ 299 h 413"/>
                <a:gd name="T48" fmla="*/ 93 w 233"/>
                <a:gd name="T49" fmla="*/ 331 h 413"/>
                <a:gd name="T50" fmla="*/ 58 w 233"/>
                <a:gd name="T51" fmla="*/ 357 h 413"/>
                <a:gd name="T52" fmla="*/ 40 w 233"/>
                <a:gd name="T53" fmla="*/ 361 h 413"/>
                <a:gd name="T54" fmla="*/ 37 w 233"/>
                <a:gd name="T55" fmla="*/ 400 h 413"/>
                <a:gd name="T56" fmla="*/ 61 w 233"/>
                <a:gd name="T57" fmla="*/ 392 h 413"/>
                <a:gd name="T58" fmla="*/ 78 w 233"/>
                <a:gd name="T59" fmla="*/ 365 h 413"/>
                <a:gd name="T60" fmla="*/ 127 w 233"/>
                <a:gd name="T61" fmla="*/ 403 h 413"/>
                <a:gd name="T62" fmla="*/ 136 w 233"/>
                <a:gd name="T63" fmla="*/ 365 h 413"/>
                <a:gd name="T64" fmla="*/ 136 w 233"/>
                <a:gd name="T65" fmla="*/ 295 h 413"/>
                <a:gd name="T66" fmla="*/ 100 w 233"/>
                <a:gd name="T67" fmla="*/ 260 h 413"/>
                <a:gd name="T68" fmla="*/ 79 w 233"/>
                <a:gd name="T69" fmla="*/ 273 h 413"/>
                <a:gd name="T70" fmla="*/ 97 w 233"/>
                <a:gd name="T71" fmla="*/ 210 h 413"/>
                <a:gd name="T72" fmla="*/ 125 w 233"/>
                <a:gd name="T73" fmla="*/ 181 h 413"/>
                <a:gd name="T74" fmla="*/ 112 w 233"/>
                <a:gd name="T75" fmla="*/ 233 h 413"/>
                <a:gd name="T76" fmla="*/ 100 w 233"/>
                <a:gd name="T77" fmla="*/ 26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413">
                  <a:moveTo>
                    <a:pt x="136" y="295"/>
                  </a:moveTo>
                  <a:cubicBezTo>
                    <a:pt x="136" y="295"/>
                    <a:pt x="129" y="275"/>
                    <a:pt x="171" y="228"/>
                  </a:cubicBezTo>
                  <a:cubicBezTo>
                    <a:pt x="167" y="210"/>
                    <a:pt x="167" y="210"/>
                    <a:pt x="167" y="210"/>
                  </a:cubicBezTo>
                  <a:cubicBezTo>
                    <a:pt x="172" y="199"/>
                    <a:pt x="172" y="199"/>
                    <a:pt x="172" y="199"/>
                  </a:cubicBezTo>
                  <a:cubicBezTo>
                    <a:pt x="162" y="191"/>
                    <a:pt x="162" y="191"/>
                    <a:pt x="162" y="191"/>
                  </a:cubicBezTo>
                  <a:cubicBezTo>
                    <a:pt x="162" y="191"/>
                    <a:pt x="161" y="171"/>
                    <a:pt x="141" y="171"/>
                  </a:cubicBezTo>
                  <a:cubicBezTo>
                    <a:pt x="141" y="171"/>
                    <a:pt x="130" y="168"/>
                    <a:pt x="153" y="156"/>
                  </a:cubicBezTo>
                  <a:cubicBezTo>
                    <a:pt x="202" y="127"/>
                    <a:pt x="202" y="127"/>
                    <a:pt x="202" y="127"/>
                  </a:cubicBezTo>
                  <a:cubicBezTo>
                    <a:pt x="226" y="71"/>
                    <a:pt x="226" y="71"/>
                    <a:pt x="226" y="71"/>
                  </a:cubicBezTo>
                  <a:cubicBezTo>
                    <a:pt x="226" y="71"/>
                    <a:pt x="233" y="61"/>
                    <a:pt x="214" y="54"/>
                  </a:cubicBezTo>
                  <a:cubicBezTo>
                    <a:pt x="214" y="54"/>
                    <a:pt x="212" y="67"/>
                    <a:pt x="199" y="73"/>
                  </a:cubicBezTo>
                  <a:cubicBezTo>
                    <a:pt x="186" y="79"/>
                    <a:pt x="167" y="96"/>
                    <a:pt x="157" y="106"/>
                  </a:cubicBezTo>
                  <a:cubicBezTo>
                    <a:pt x="157" y="106"/>
                    <a:pt x="177" y="53"/>
                    <a:pt x="179" y="41"/>
                  </a:cubicBezTo>
                  <a:cubicBezTo>
                    <a:pt x="176" y="18"/>
                    <a:pt x="176" y="18"/>
                    <a:pt x="176" y="18"/>
                  </a:cubicBezTo>
                  <a:cubicBezTo>
                    <a:pt x="176" y="18"/>
                    <a:pt x="164" y="0"/>
                    <a:pt x="162" y="35"/>
                  </a:cubicBezTo>
                  <a:cubicBezTo>
                    <a:pt x="106" y="145"/>
                    <a:pt x="106" y="145"/>
                    <a:pt x="106" y="145"/>
                  </a:cubicBezTo>
                  <a:cubicBezTo>
                    <a:pt x="72" y="163"/>
                    <a:pt x="72" y="163"/>
                    <a:pt x="72" y="163"/>
                  </a:cubicBezTo>
                  <a:cubicBezTo>
                    <a:pt x="72" y="163"/>
                    <a:pt x="38" y="156"/>
                    <a:pt x="53" y="181"/>
                  </a:cubicBezTo>
                  <a:cubicBezTo>
                    <a:pt x="82" y="204"/>
                    <a:pt x="82" y="204"/>
                    <a:pt x="82" y="204"/>
                  </a:cubicBezTo>
                  <a:cubicBezTo>
                    <a:pt x="48" y="276"/>
                    <a:pt x="48" y="276"/>
                    <a:pt x="48" y="276"/>
                  </a:cubicBezTo>
                  <a:cubicBezTo>
                    <a:pt x="38" y="296"/>
                    <a:pt x="38" y="296"/>
                    <a:pt x="38" y="296"/>
                  </a:cubicBezTo>
                  <a:cubicBezTo>
                    <a:pt x="62" y="313"/>
                    <a:pt x="62" y="313"/>
                    <a:pt x="62" y="313"/>
                  </a:cubicBezTo>
                  <a:cubicBezTo>
                    <a:pt x="101" y="291"/>
                    <a:pt x="101" y="291"/>
                    <a:pt x="101" y="291"/>
                  </a:cubicBezTo>
                  <a:cubicBezTo>
                    <a:pt x="101" y="291"/>
                    <a:pt x="106" y="291"/>
                    <a:pt x="104" y="299"/>
                  </a:cubicBezTo>
                  <a:cubicBezTo>
                    <a:pt x="93" y="331"/>
                    <a:pt x="93" y="331"/>
                    <a:pt x="93" y="331"/>
                  </a:cubicBezTo>
                  <a:cubicBezTo>
                    <a:pt x="93" y="331"/>
                    <a:pt x="67" y="358"/>
                    <a:pt x="58" y="357"/>
                  </a:cubicBezTo>
                  <a:cubicBezTo>
                    <a:pt x="58" y="357"/>
                    <a:pt x="54" y="357"/>
                    <a:pt x="40" y="361"/>
                  </a:cubicBezTo>
                  <a:cubicBezTo>
                    <a:pt x="40" y="361"/>
                    <a:pt x="0" y="381"/>
                    <a:pt x="37" y="400"/>
                  </a:cubicBezTo>
                  <a:cubicBezTo>
                    <a:pt x="37" y="400"/>
                    <a:pt x="48" y="413"/>
                    <a:pt x="61" y="392"/>
                  </a:cubicBezTo>
                  <a:cubicBezTo>
                    <a:pt x="78" y="365"/>
                    <a:pt x="78" y="365"/>
                    <a:pt x="78" y="365"/>
                  </a:cubicBezTo>
                  <a:cubicBezTo>
                    <a:pt x="127" y="403"/>
                    <a:pt x="127" y="403"/>
                    <a:pt x="127" y="403"/>
                  </a:cubicBezTo>
                  <a:cubicBezTo>
                    <a:pt x="127" y="403"/>
                    <a:pt x="138" y="390"/>
                    <a:pt x="136" y="365"/>
                  </a:cubicBezTo>
                  <a:lnTo>
                    <a:pt x="136" y="295"/>
                  </a:lnTo>
                  <a:close/>
                  <a:moveTo>
                    <a:pt x="100" y="260"/>
                  </a:moveTo>
                  <a:cubicBezTo>
                    <a:pt x="79" y="273"/>
                    <a:pt x="79" y="273"/>
                    <a:pt x="79" y="273"/>
                  </a:cubicBezTo>
                  <a:cubicBezTo>
                    <a:pt x="97" y="210"/>
                    <a:pt x="97" y="210"/>
                    <a:pt x="97" y="210"/>
                  </a:cubicBezTo>
                  <a:cubicBezTo>
                    <a:pt x="104" y="190"/>
                    <a:pt x="125" y="181"/>
                    <a:pt x="125" y="181"/>
                  </a:cubicBezTo>
                  <a:cubicBezTo>
                    <a:pt x="125" y="200"/>
                    <a:pt x="112" y="233"/>
                    <a:pt x="112" y="233"/>
                  </a:cubicBezTo>
                  <a:cubicBezTo>
                    <a:pt x="107" y="250"/>
                    <a:pt x="100" y="260"/>
                    <a:pt x="100" y="26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sp>
          <p:nvSpPr>
            <p:cNvPr id="22" name="Freeform 12"/>
            <p:cNvSpPr/>
            <p:nvPr/>
          </p:nvSpPr>
          <p:spPr bwMode="auto">
            <a:xfrm>
              <a:off x="1313008" y="816589"/>
              <a:ext cx="84590" cy="75095"/>
            </a:xfrm>
            <a:custGeom>
              <a:avLst/>
              <a:gdLst>
                <a:gd name="T0" fmla="*/ 61 w 83"/>
                <a:gd name="T1" fmla="*/ 10 h 73"/>
                <a:gd name="T2" fmla="*/ 26 w 83"/>
                <a:gd name="T3" fmla="*/ 0 h 73"/>
                <a:gd name="T4" fmla="*/ 21 w 83"/>
                <a:gd name="T5" fmla="*/ 13 h 73"/>
                <a:gd name="T6" fmla="*/ 44 w 83"/>
                <a:gd name="T7" fmla="*/ 46 h 73"/>
                <a:gd name="T8" fmla="*/ 68 w 83"/>
                <a:gd name="T9" fmla="*/ 52 h 73"/>
                <a:gd name="T10" fmla="*/ 76 w 83"/>
                <a:gd name="T11" fmla="*/ 35 h 73"/>
                <a:gd name="T12" fmla="*/ 61 w 83"/>
                <a:gd name="T13" fmla="*/ 10 h 73"/>
              </a:gdLst>
              <a:ahLst/>
              <a:cxnLst>
                <a:cxn ang="0">
                  <a:pos x="T0" y="T1"/>
                </a:cxn>
                <a:cxn ang="0">
                  <a:pos x="T2" y="T3"/>
                </a:cxn>
                <a:cxn ang="0">
                  <a:pos x="T4" y="T5"/>
                </a:cxn>
                <a:cxn ang="0">
                  <a:pos x="T6" y="T7"/>
                </a:cxn>
                <a:cxn ang="0">
                  <a:pos x="T8" y="T9"/>
                </a:cxn>
                <a:cxn ang="0">
                  <a:pos x="T10" y="T11"/>
                </a:cxn>
                <a:cxn ang="0">
                  <a:pos x="T12" y="T13"/>
                </a:cxn>
              </a:cxnLst>
              <a:rect l="0" t="0" r="r" b="b"/>
              <a:pathLst>
                <a:path w="83" h="73">
                  <a:moveTo>
                    <a:pt x="61" y="10"/>
                  </a:moveTo>
                  <a:cubicBezTo>
                    <a:pt x="26" y="0"/>
                    <a:pt x="26" y="0"/>
                    <a:pt x="26" y="0"/>
                  </a:cubicBezTo>
                  <a:cubicBezTo>
                    <a:pt x="26" y="0"/>
                    <a:pt x="0" y="0"/>
                    <a:pt x="21" y="13"/>
                  </a:cubicBezTo>
                  <a:cubicBezTo>
                    <a:pt x="21" y="13"/>
                    <a:pt x="39" y="31"/>
                    <a:pt x="44" y="46"/>
                  </a:cubicBezTo>
                  <a:cubicBezTo>
                    <a:pt x="44" y="46"/>
                    <a:pt x="49" y="73"/>
                    <a:pt x="68" y="52"/>
                  </a:cubicBezTo>
                  <a:cubicBezTo>
                    <a:pt x="76" y="35"/>
                    <a:pt x="76" y="35"/>
                    <a:pt x="76" y="35"/>
                  </a:cubicBezTo>
                  <a:cubicBezTo>
                    <a:pt x="76" y="35"/>
                    <a:pt x="83" y="19"/>
                    <a:pt x="61" y="10"/>
                  </a:cubicBezTo>
                  <a:close/>
                </a:path>
              </a:pathLst>
            </a:custGeom>
            <a:grpFill/>
            <a:ln w="9525">
              <a:noFill/>
              <a:round/>
            </a:ln>
          </p:spPr>
          <p:txBody>
            <a:bodyPr vert="horz" wrap="square" lIns="51445" tIns="25721" rIns="51445" bIns="25721" numCol="1" anchor="t" anchorCtr="0" compatLnSpc="1"/>
            <a:lstStyle/>
            <a:p>
              <a:pPr defTabSz="685800"/>
              <a:endParaRPr lang="zh-CN" altLang="en-US" sz="1015" dirty="0">
                <a:solidFill>
                  <a:prstClr val="black"/>
                </a:solidFill>
                <a:latin typeface="等线" panose="02010600030101010101" charset="-122"/>
                <a:ea typeface="等线" panose="02010600030101010101" charset="-122"/>
              </a:endParaRPr>
            </a:p>
          </p:txBody>
        </p:sp>
        <p:grpSp>
          <p:nvGrpSpPr>
            <p:cNvPr id="23" name="组合 28"/>
            <p:cNvGrpSpPr/>
            <p:nvPr/>
          </p:nvGrpSpPr>
          <p:grpSpPr>
            <a:xfrm>
              <a:off x="232331" y="500672"/>
              <a:ext cx="476896" cy="481212"/>
              <a:chOff x="232331" y="500672"/>
              <a:chExt cx="476896" cy="481212"/>
            </a:xfrm>
            <a:grpFill/>
          </p:grpSpPr>
          <p:sp>
            <p:nvSpPr>
              <p:cNvPr id="24" name="Freeform 13"/>
              <p:cNvSpPr>
                <a:spLocks noEditPoints="1"/>
              </p:cNvSpPr>
              <p:nvPr/>
            </p:nvSpPr>
            <p:spPr bwMode="auto">
              <a:xfrm>
                <a:off x="232331" y="500672"/>
                <a:ext cx="476896" cy="481212"/>
              </a:xfrm>
              <a:custGeom>
                <a:avLst/>
                <a:gdLst>
                  <a:gd name="T0" fmla="*/ 234 w 467"/>
                  <a:gd name="T1" fmla="*/ 0 h 469"/>
                  <a:gd name="T2" fmla="*/ 0 w 467"/>
                  <a:gd name="T3" fmla="*/ 235 h 469"/>
                  <a:gd name="T4" fmla="*/ 234 w 467"/>
                  <a:gd name="T5" fmla="*/ 469 h 469"/>
                  <a:gd name="T6" fmla="*/ 467 w 467"/>
                  <a:gd name="T7" fmla="*/ 235 h 469"/>
                  <a:gd name="T8" fmla="*/ 234 w 467"/>
                  <a:gd name="T9" fmla="*/ 0 h 469"/>
                  <a:gd name="T10" fmla="*/ 234 w 467"/>
                  <a:gd name="T11" fmla="*/ 461 h 469"/>
                  <a:gd name="T12" fmla="*/ 9 w 467"/>
                  <a:gd name="T13" fmla="*/ 235 h 469"/>
                  <a:gd name="T14" fmla="*/ 234 w 467"/>
                  <a:gd name="T15" fmla="*/ 9 h 469"/>
                  <a:gd name="T16" fmla="*/ 459 w 467"/>
                  <a:gd name="T17" fmla="*/ 235 h 469"/>
                  <a:gd name="T18" fmla="*/ 234 w 467"/>
                  <a:gd name="T19"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7" h="469">
                    <a:moveTo>
                      <a:pt x="234" y="0"/>
                    </a:moveTo>
                    <a:cubicBezTo>
                      <a:pt x="105" y="0"/>
                      <a:pt x="0" y="105"/>
                      <a:pt x="0" y="235"/>
                    </a:cubicBezTo>
                    <a:cubicBezTo>
                      <a:pt x="0" y="364"/>
                      <a:pt x="105" y="469"/>
                      <a:pt x="234" y="469"/>
                    </a:cubicBezTo>
                    <a:cubicBezTo>
                      <a:pt x="363" y="469"/>
                      <a:pt x="467" y="364"/>
                      <a:pt x="467" y="235"/>
                    </a:cubicBezTo>
                    <a:cubicBezTo>
                      <a:pt x="467" y="105"/>
                      <a:pt x="363" y="0"/>
                      <a:pt x="234" y="0"/>
                    </a:cubicBezTo>
                    <a:close/>
                    <a:moveTo>
                      <a:pt x="234" y="461"/>
                    </a:moveTo>
                    <a:cubicBezTo>
                      <a:pt x="109" y="461"/>
                      <a:pt x="9" y="360"/>
                      <a:pt x="9" y="235"/>
                    </a:cubicBezTo>
                    <a:cubicBezTo>
                      <a:pt x="9" y="110"/>
                      <a:pt x="109" y="9"/>
                      <a:pt x="234" y="9"/>
                    </a:cubicBezTo>
                    <a:cubicBezTo>
                      <a:pt x="358" y="9"/>
                      <a:pt x="459" y="110"/>
                      <a:pt x="459" y="235"/>
                    </a:cubicBezTo>
                    <a:cubicBezTo>
                      <a:pt x="459" y="360"/>
                      <a:pt x="358" y="461"/>
                      <a:pt x="234" y="46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7" name="Freeform 14"/>
              <p:cNvSpPr/>
              <p:nvPr/>
            </p:nvSpPr>
            <p:spPr bwMode="auto">
              <a:xfrm>
                <a:off x="427405" y="919305"/>
                <a:ext cx="29779" cy="32800"/>
              </a:xfrm>
              <a:custGeom>
                <a:avLst/>
                <a:gdLst>
                  <a:gd name="T0" fmla="*/ 15 w 29"/>
                  <a:gd name="T1" fmla="*/ 20 h 32"/>
                  <a:gd name="T2" fmla="*/ 15 w 29"/>
                  <a:gd name="T3" fmla="*/ 15 h 32"/>
                  <a:gd name="T4" fmla="*/ 29 w 29"/>
                  <a:gd name="T5" fmla="*/ 17 h 32"/>
                  <a:gd name="T6" fmla="*/ 27 w 29"/>
                  <a:gd name="T7" fmla="*/ 29 h 32"/>
                  <a:gd name="T8" fmla="*/ 21 w 29"/>
                  <a:gd name="T9" fmla="*/ 31 h 32"/>
                  <a:gd name="T10" fmla="*/ 13 w 29"/>
                  <a:gd name="T11" fmla="*/ 31 h 32"/>
                  <a:gd name="T12" fmla="*/ 5 w 29"/>
                  <a:gd name="T13" fmla="*/ 28 h 32"/>
                  <a:gd name="T14" fmla="*/ 1 w 29"/>
                  <a:gd name="T15" fmla="*/ 22 h 32"/>
                  <a:gd name="T16" fmla="*/ 0 w 29"/>
                  <a:gd name="T17" fmla="*/ 14 h 32"/>
                  <a:gd name="T18" fmla="*/ 3 w 29"/>
                  <a:gd name="T19" fmla="*/ 6 h 32"/>
                  <a:gd name="T20" fmla="*/ 10 w 29"/>
                  <a:gd name="T21" fmla="*/ 1 h 32"/>
                  <a:gd name="T22" fmla="*/ 18 w 29"/>
                  <a:gd name="T23" fmla="*/ 1 h 32"/>
                  <a:gd name="T24" fmla="*/ 26 w 29"/>
                  <a:gd name="T25" fmla="*/ 4 h 32"/>
                  <a:gd name="T26" fmla="*/ 29 w 29"/>
                  <a:gd name="T27" fmla="*/ 11 h 32"/>
                  <a:gd name="T28" fmla="*/ 23 w 29"/>
                  <a:gd name="T29" fmla="*/ 11 h 32"/>
                  <a:gd name="T30" fmla="*/ 21 w 29"/>
                  <a:gd name="T31" fmla="*/ 8 h 32"/>
                  <a:gd name="T32" fmla="*/ 17 w 29"/>
                  <a:gd name="T33" fmla="*/ 6 h 32"/>
                  <a:gd name="T34" fmla="*/ 10 w 29"/>
                  <a:gd name="T35" fmla="*/ 7 h 32"/>
                  <a:gd name="T36" fmla="*/ 7 w 29"/>
                  <a:gd name="T37" fmla="*/ 14 h 32"/>
                  <a:gd name="T38" fmla="*/ 8 w 29"/>
                  <a:gd name="T39" fmla="*/ 23 h 32"/>
                  <a:gd name="T40" fmla="*/ 14 w 29"/>
                  <a:gd name="T41" fmla="*/ 26 h 32"/>
                  <a:gd name="T42" fmla="*/ 17 w 29"/>
                  <a:gd name="T43" fmla="*/ 26 h 32"/>
                  <a:gd name="T44" fmla="*/ 21 w 29"/>
                  <a:gd name="T45" fmla="*/ 25 h 32"/>
                  <a:gd name="T46" fmla="*/ 22 w 29"/>
                  <a:gd name="T47" fmla="*/ 21 h 32"/>
                  <a:gd name="T48" fmla="*/ 15 w 29"/>
                  <a:gd name="T4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32">
                    <a:moveTo>
                      <a:pt x="15" y="20"/>
                    </a:moveTo>
                    <a:cubicBezTo>
                      <a:pt x="15" y="15"/>
                      <a:pt x="15" y="15"/>
                      <a:pt x="15" y="15"/>
                    </a:cubicBezTo>
                    <a:cubicBezTo>
                      <a:pt x="29" y="17"/>
                      <a:pt x="29" y="17"/>
                      <a:pt x="29" y="17"/>
                    </a:cubicBezTo>
                    <a:cubicBezTo>
                      <a:pt x="27" y="29"/>
                      <a:pt x="27" y="29"/>
                      <a:pt x="27" y="29"/>
                    </a:cubicBezTo>
                    <a:cubicBezTo>
                      <a:pt x="25" y="30"/>
                      <a:pt x="23" y="30"/>
                      <a:pt x="21" y="31"/>
                    </a:cubicBezTo>
                    <a:cubicBezTo>
                      <a:pt x="18" y="32"/>
                      <a:pt x="16" y="32"/>
                      <a:pt x="13" y="31"/>
                    </a:cubicBezTo>
                    <a:cubicBezTo>
                      <a:pt x="10" y="31"/>
                      <a:pt x="7" y="30"/>
                      <a:pt x="5" y="28"/>
                    </a:cubicBezTo>
                    <a:cubicBezTo>
                      <a:pt x="3" y="26"/>
                      <a:pt x="2" y="24"/>
                      <a:pt x="1" y="22"/>
                    </a:cubicBezTo>
                    <a:cubicBezTo>
                      <a:pt x="0" y="19"/>
                      <a:pt x="0" y="16"/>
                      <a:pt x="0" y="14"/>
                    </a:cubicBezTo>
                    <a:cubicBezTo>
                      <a:pt x="1" y="11"/>
                      <a:pt x="2" y="8"/>
                      <a:pt x="3" y="6"/>
                    </a:cubicBezTo>
                    <a:cubicBezTo>
                      <a:pt x="5" y="3"/>
                      <a:pt x="7" y="2"/>
                      <a:pt x="10" y="1"/>
                    </a:cubicBezTo>
                    <a:cubicBezTo>
                      <a:pt x="12" y="0"/>
                      <a:pt x="15" y="0"/>
                      <a:pt x="18" y="1"/>
                    </a:cubicBezTo>
                    <a:cubicBezTo>
                      <a:pt x="21" y="1"/>
                      <a:pt x="24" y="2"/>
                      <a:pt x="26" y="4"/>
                    </a:cubicBezTo>
                    <a:cubicBezTo>
                      <a:pt x="28" y="6"/>
                      <a:pt x="29" y="8"/>
                      <a:pt x="29" y="11"/>
                    </a:cubicBezTo>
                    <a:cubicBezTo>
                      <a:pt x="23" y="11"/>
                      <a:pt x="23" y="11"/>
                      <a:pt x="23" y="11"/>
                    </a:cubicBezTo>
                    <a:cubicBezTo>
                      <a:pt x="23" y="10"/>
                      <a:pt x="22" y="9"/>
                      <a:pt x="21" y="8"/>
                    </a:cubicBezTo>
                    <a:cubicBezTo>
                      <a:pt x="20" y="7"/>
                      <a:pt x="18" y="6"/>
                      <a:pt x="17" y="6"/>
                    </a:cubicBezTo>
                    <a:cubicBezTo>
                      <a:pt x="14" y="5"/>
                      <a:pt x="12" y="6"/>
                      <a:pt x="10" y="7"/>
                    </a:cubicBezTo>
                    <a:cubicBezTo>
                      <a:pt x="8" y="9"/>
                      <a:pt x="7" y="11"/>
                      <a:pt x="7" y="14"/>
                    </a:cubicBezTo>
                    <a:cubicBezTo>
                      <a:pt x="6" y="18"/>
                      <a:pt x="6" y="21"/>
                      <a:pt x="8" y="23"/>
                    </a:cubicBezTo>
                    <a:cubicBezTo>
                      <a:pt x="9" y="25"/>
                      <a:pt x="11" y="26"/>
                      <a:pt x="14" y="26"/>
                    </a:cubicBezTo>
                    <a:cubicBezTo>
                      <a:pt x="15" y="26"/>
                      <a:pt x="16" y="26"/>
                      <a:pt x="17" y="26"/>
                    </a:cubicBezTo>
                    <a:cubicBezTo>
                      <a:pt x="19" y="26"/>
                      <a:pt x="20" y="25"/>
                      <a:pt x="21" y="25"/>
                    </a:cubicBezTo>
                    <a:cubicBezTo>
                      <a:pt x="22" y="21"/>
                      <a:pt x="22" y="21"/>
                      <a:pt x="22" y="21"/>
                    </a:cubicBezTo>
                    <a:lnTo>
                      <a:pt x="15" y="2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29" name="Freeform 15"/>
              <p:cNvSpPr/>
              <p:nvPr/>
            </p:nvSpPr>
            <p:spPr bwMode="auto">
              <a:xfrm>
                <a:off x="391584" y="908947"/>
                <a:ext cx="34095" cy="37116"/>
              </a:xfrm>
              <a:custGeom>
                <a:avLst/>
                <a:gdLst>
                  <a:gd name="T0" fmla="*/ 0 w 79"/>
                  <a:gd name="T1" fmla="*/ 67 h 86"/>
                  <a:gd name="T2" fmla="*/ 24 w 79"/>
                  <a:gd name="T3" fmla="*/ 0 h 86"/>
                  <a:gd name="T4" fmla="*/ 36 w 79"/>
                  <a:gd name="T5" fmla="*/ 5 h 86"/>
                  <a:gd name="T6" fmla="*/ 48 w 79"/>
                  <a:gd name="T7" fmla="*/ 60 h 86"/>
                  <a:gd name="T8" fmla="*/ 64 w 79"/>
                  <a:gd name="T9" fmla="*/ 14 h 86"/>
                  <a:gd name="T10" fmla="*/ 79 w 79"/>
                  <a:gd name="T11" fmla="*/ 19 h 86"/>
                  <a:gd name="T12" fmla="*/ 55 w 79"/>
                  <a:gd name="T13" fmla="*/ 86 h 86"/>
                  <a:gd name="T14" fmla="*/ 41 w 79"/>
                  <a:gd name="T15" fmla="*/ 81 h 86"/>
                  <a:gd name="T16" fmla="*/ 29 w 79"/>
                  <a:gd name="T17" fmla="*/ 26 h 86"/>
                  <a:gd name="T18" fmla="*/ 12 w 79"/>
                  <a:gd name="T19" fmla="*/ 72 h 86"/>
                  <a:gd name="T20" fmla="*/ 0 w 79"/>
                  <a:gd name="T21"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86">
                    <a:moveTo>
                      <a:pt x="0" y="67"/>
                    </a:moveTo>
                    <a:lnTo>
                      <a:pt x="24" y="0"/>
                    </a:lnTo>
                    <a:lnTo>
                      <a:pt x="36" y="5"/>
                    </a:lnTo>
                    <a:lnTo>
                      <a:pt x="48" y="60"/>
                    </a:lnTo>
                    <a:lnTo>
                      <a:pt x="64" y="14"/>
                    </a:lnTo>
                    <a:lnTo>
                      <a:pt x="79" y="19"/>
                    </a:lnTo>
                    <a:lnTo>
                      <a:pt x="55" y="86"/>
                    </a:lnTo>
                    <a:lnTo>
                      <a:pt x="41" y="81"/>
                    </a:lnTo>
                    <a:lnTo>
                      <a:pt x="29" y="26"/>
                    </a:lnTo>
                    <a:lnTo>
                      <a:pt x="12" y="72"/>
                    </a:lnTo>
                    <a:lnTo>
                      <a:pt x="0" y="6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0" name="Freeform 16"/>
              <p:cNvSpPr/>
              <p:nvPr/>
            </p:nvSpPr>
            <p:spPr bwMode="auto">
              <a:xfrm>
                <a:off x="303110" y="850684"/>
                <a:ext cx="39705" cy="38842"/>
              </a:xfrm>
              <a:custGeom>
                <a:avLst/>
                <a:gdLst>
                  <a:gd name="T0" fmla="*/ 0 w 92"/>
                  <a:gd name="T1" fmla="*/ 47 h 90"/>
                  <a:gd name="T2" fmla="*/ 56 w 92"/>
                  <a:gd name="T3" fmla="*/ 0 h 90"/>
                  <a:gd name="T4" fmla="*/ 66 w 92"/>
                  <a:gd name="T5" fmla="*/ 12 h 90"/>
                  <a:gd name="T6" fmla="*/ 47 w 92"/>
                  <a:gd name="T7" fmla="*/ 64 h 90"/>
                  <a:gd name="T8" fmla="*/ 85 w 92"/>
                  <a:gd name="T9" fmla="*/ 33 h 90"/>
                  <a:gd name="T10" fmla="*/ 92 w 92"/>
                  <a:gd name="T11" fmla="*/ 43 h 90"/>
                  <a:gd name="T12" fmla="*/ 37 w 92"/>
                  <a:gd name="T13" fmla="*/ 90 h 90"/>
                  <a:gd name="T14" fmla="*/ 28 w 92"/>
                  <a:gd name="T15" fmla="*/ 78 h 90"/>
                  <a:gd name="T16" fmla="*/ 45 w 92"/>
                  <a:gd name="T17" fmla="*/ 26 h 90"/>
                  <a:gd name="T18" fmla="*/ 9 w 92"/>
                  <a:gd name="T19" fmla="*/ 57 h 90"/>
                  <a:gd name="T20" fmla="*/ 0 w 92"/>
                  <a:gd name="T21" fmla="*/ 4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0">
                    <a:moveTo>
                      <a:pt x="0" y="47"/>
                    </a:moveTo>
                    <a:lnTo>
                      <a:pt x="56" y="0"/>
                    </a:lnTo>
                    <a:lnTo>
                      <a:pt x="66" y="12"/>
                    </a:lnTo>
                    <a:lnTo>
                      <a:pt x="47" y="64"/>
                    </a:lnTo>
                    <a:lnTo>
                      <a:pt x="85" y="33"/>
                    </a:lnTo>
                    <a:lnTo>
                      <a:pt x="92" y="43"/>
                    </a:lnTo>
                    <a:lnTo>
                      <a:pt x="37" y="90"/>
                    </a:lnTo>
                    <a:lnTo>
                      <a:pt x="28" y="78"/>
                    </a:lnTo>
                    <a:lnTo>
                      <a:pt x="45" y="26"/>
                    </a:lnTo>
                    <a:lnTo>
                      <a:pt x="9" y="57"/>
                    </a:lnTo>
                    <a:lnTo>
                      <a:pt x="0" y="4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1" name="Freeform 17"/>
              <p:cNvSpPr>
                <a:spLocks noEditPoints="1"/>
              </p:cNvSpPr>
              <p:nvPr/>
            </p:nvSpPr>
            <p:spPr bwMode="auto">
              <a:xfrm>
                <a:off x="360079" y="896863"/>
                <a:ext cx="32800" cy="32800"/>
              </a:xfrm>
              <a:custGeom>
                <a:avLst/>
                <a:gdLst>
                  <a:gd name="T0" fmla="*/ 15 w 32"/>
                  <a:gd name="T1" fmla="*/ 6 h 32"/>
                  <a:gd name="T2" fmla="*/ 21 w 32"/>
                  <a:gd name="T3" fmla="*/ 7 h 32"/>
                  <a:gd name="T4" fmla="*/ 25 w 32"/>
                  <a:gd name="T5" fmla="*/ 13 h 32"/>
                  <a:gd name="T6" fmla="*/ 23 w 32"/>
                  <a:gd name="T7" fmla="*/ 20 h 32"/>
                  <a:gd name="T8" fmla="*/ 17 w 32"/>
                  <a:gd name="T9" fmla="*/ 26 h 32"/>
                  <a:gd name="T10" fmla="*/ 11 w 32"/>
                  <a:gd name="T11" fmla="*/ 25 h 32"/>
                  <a:gd name="T12" fmla="*/ 7 w 32"/>
                  <a:gd name="T13" fmla="*/ 20 h 32"/>
                  <a:gd name="T14" fmla="*/ 9 w 32"/>
                  <a:gd name="T15" fmla="*/ 12 h 32"/>
                  <a:gd name="T16" fmla="*/ 15 w 32"/>
                  <a:gd name="T17" fmla="*/ 6 h 32"/>
                  <a:gd name="T18" fmla="*/ 1 w 32"/>
                  <a:gd name="T19" fmla="*/ 20 h 32"/>
                  <a:gd name="T20" fmla="*/ 8 w 32"/>
                  <a:gd name="T21" fmla="*/ 29 h 32"/>
                  <a:gd name="T22" fmla="*/ 19 w 32"/>
                  <a:gd name="T23" fmla="*/ 31 h 32"/>
                  <a:gd name="T24" fmla="*/ 29 w 32"/>
                  <a:gd name="T25" fmla="*/ 24 h 32"/>
                  <a:gd name="T26" fmla="*/ 31 w 32"/>
                  <a:gd name="T27" fmla="*/ 12 h 32"/>
                  <a:gd name="T28" fmla="*/ 24 w 32"/>
                  <a:gd name="T29" fmla="*/ 3 h 32"/>
                  <a:gd name="T30" fmla="*/ 18 w 32"/>
                  <a:gd name="T31" fmla="*/ 1 h 32"/>
                  <a:gd name="T32" fmla="*/ 13 w 32"/>
                  <a:gd name="T33" fmla="*/ 1 h 32"/>
                  <a:gd name="T34" fmla="*/ 8 w 32"/>
                  <a:gd name="T35" fmla="*/ 3 h 32"/>
                  <a:gd name="T36" fmla="*/ 3 w 32"/>
                  <a:gd name="T37" fmla="*/ 9 h 32"/>
                  <a:gd name="T38" fmla="*/ 1 w 32"/>
                  <a:gd name="T3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32">
                    <a:moveTo>
                      <a:pt x="15" y="6"/>
                    </a:moveTo>
                    <a:cubicBezTo>
                      <a:pt x="17" y="6"/>
                      <a:pt x="19" y="6"/>
                      <a:pt x="21" y="7"/>
                    </a:cubicBezTo>
                    <a:cubicBezTo>
                      <a:pt x="24" y="9"/>
                      <a:pt x="25" y="10"/>
                      <a:pt x="25" y="13"/>
                    </a:cubicBezTo>
                    <a:cubicBezTo>
                      <a:pt x="26" y="15"/>
                      <a:pt x="25" y="17"/>
                      <a:pt x="23" y="20"/>
                    </a:cubicBezTo>
                    <a:cubicBezTo>
                      <a:pt x="21" y="23"/>
                      <a:pt x="19" y="25"/>
                      <a:pt x="17" y="26"/>
                    </a:cubicBezTo>
                    <a:cubicBezTo>
                      <a:pt x="15" y="27"/>
                      <a:pt x="13" y="26"/>
                      <a:pt x="11" y="25"/>
                    </a:cubicBezTo>
                    <a:cubicBezTo>
                      <a:pt x="8" y="24"/>
                      <a:pt x="7" y="22"/>
                      <a:pt x="7" y="20"/>
                    </a:cubicBezTo>
                    <a:cubicBezTo>
                      <a:pt x="6" y="17"/>
                      <a:pt x="7" y="15"/>
                      <a:pt x="9" y="12"/>
                    </a:cubicBezTo>
                    <a:cubicBezTo>
                      <a:pt x="11" y="9"/>
                      <a:pt x="13" y="7"/>
                      <a:pt x="15" y="6"/>
                    </a:cubicBezTo>
                    <a:close/>
                    <a:moveTo>
                      <a:pt x="1" y="20"/>
                    </a:moveTo>
                    <a:cubicBezTo>
                      <a:pt x="2" y="24"/>
                      <a:pt x="4" y="27"/>
                      <a:pt x="8" y="29"/>
                    </a:cubicBezTo>
                    <a:cubicBezTo>
                      <a:pt x="12" y="32"/>
                      <a:pt x="15" y="32"/>
                      <a:pt x="19" y="31"/>
                    </a:cubicBezTo>
                    <a:cubicBezTo>
                      <a:pt x="23" y="30"/>
                      <a:pt x="26" y="28"/>
                      <a:pt x="29" y="24"/>
                    </a:cubicBezTo>
                    <a:cubicBezTo>
                      <a:pt x="31" y="20"/>
                      <a:pt x="32" y="16"/>
                      <a:pt x="31" y="12"/>
                    </a:cubicBezTo>
                    <a:cubicBezTo>
                      <a:pt x="30" y="8"/>
                      <a:pt x="28" y="5"/>
                      <a:pt x="24" y="3"/>
                    </a:cubicBezTo>
                    <a:cubicBezTo>
                      <a:pt x="22" y="2"/>
                      <a:pt x="20" y="1"/>
                      <a:pt x="18" y="1"/>
                    </a:cubicBezTo>
                    <a:cubicBezTo>
                      <a:pt x="16" y="0"/>
                      <a:pt x="15" y="0"/>
                      <a:pt x="13" y="1"/>
                    </a:cubicBezTo>
                    <a:cubicBezTo>
                      <a:pt x="11" y="1"/>
                      <a:pt x="10" y="2"/>
                      <a:pt x="8" y="3"/>
                    </a:cubicBezTo>
                    <a:cubicBezTo>
                      <a:pt x="7" y="4"/>
                      <a:pt x="5" y="6"/>
                      <a:pt x="3" y="9"/>
                    </a:cubicBezTo>
                    <a:cubicBezTo>
                      <a:pt x="1" y="13"/>
                      <a:pt x="0" y="17"/>
                      <a:pt x="1" y="2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2" name="Freeform 18"/>
              <p:cNvSpPr>
                <a:spLocks noEditPoints="1"/>
              </p:cNvSpPr>
              <p:nvPr/>
            </p:nvSpPr>
            <p:spPr bwMode="auto">
              <a:xfrm>
                <a:off x="327279" y="873989"/>
                <a:ext cx="34958" cy="34958"/>
              </a:xfrm>
              <a:custGeom>
                <a:avLst/>
                <a:gdLst>
                  <a:gd name="T0" fmla="*/ 24 w 34"/>
                  <a:gd name="T1" fmla="*/ 9 h 34"/>
                  <a:gd name="T2" fmla="*/ 27 w 34"/>
                  <a:gd name="T3" fmla="*/ 13 h 34"/>
                  <a:gd name="T4" fmla="*/ 28 w 34"/>
                  <a:gd name="T5" fmla="*/ 15 h 34"/>
                  <a:gd name="T6" fmla="*/ 28 w 34"/>
                  <a:gd name="T7" fmla="*/ 19 h 34"/>
                  <a:gd name="T8" fmla="*/ 25 w 34"/>
                  <a:gd name="T9" fmla="*/ 23 h 34"/>
                  <a:gd name="T10" fmla="*/ 21 w 34"/>
                  <a:gd name="T11" fmla="*/ 27 h 34"/>
                  <a:gd name="T12" fmla="*/ 18 w 34"/>
                  <a:gd name="T13" fmla="*/ 28 h 34"/>
                  <a:gd name="T14" fmla="*/ 15 w 34"/>
                  <a:gd name="T15" fmla="*/ 28 h 34"/>
                  <a:gd name="T16" fmla="*/ 12 w 34"/>
                  <a:gd name="T17" fmla="*/ 25 h 34"/>
                  <a:gd name="T18" fmla="*/ 8 w 34"/>
                  <a:gd name="T19" fmla="*/ 23 h 34"/>
                  <a:gd name="T20" fmla="*/ 21 w 34"/>
                  <a:gd name="T21" fmla="*/ 7 h 34"/>
                  <a:gd name="T22" fmla="*/ 24 w 34"/>
                  <a:gd name="T23" fmla="*/ 9 h 34"/>
                  <a:gd name="T24" fmla="*/ 0 w 34"/>
                  <a:gd name="T25" fmla="*/ 23 h 34"/>
                  <a:gd name="T26" fmla="*/ 9 w 34"/>
                  <a:gd name="T27" fmla="*/ 30 h 34"/>
                  <a:gd name="T28" fmla="*/ 14 w 34"/>
                  <a:gd name="T29" fmla="*/ 33 h 34"/>
                  <a:gd name="T30" fmla="*/ 19 w 34"/>
                  <a:gd name="T31" fmla="*/ 34 h 34"/>
                  <a:gd name="T32" fmla="*/ 25 w 34"/>
                  <a:gd name="T33" fmla="*/ 32 h 34"/>
                  <a:gd name="T34" fmla="*/ 29 w 34"/>
                  <a:gd name="T35" fmla="*/ 28 h 34"/>
                  <a:gd name="T36" fmla="*/ 33 w 34"/>
                  <a:gd name="T37" fmla="*/ 21 h 34"/>
                  <a:gd name="T38" fmla="*/ 34 w 34"/>
                  <a:gd name="T39" fmla="*/ 16 h 34"/>
                  <a:gd name="T40" fmla="*/ 33 w 34"/>
                  <a:gd name="T41" fmla="*/ 11 h 34"/>
                  <a:gd name="T42" fmla="*/ 29 w 34"/>
                  <a:gd name="T43" fmla="*/ 7 h 34"/>
                  <a:gd name="T44" fmla="*/ 20 w 34"/>
                  <a:gd name="T45" fmla="*/ 0 h 34"/>
                  <a:gd name="T46" fmla="*/ 0 w 34"/>
                  <a:gd name="T47"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34">
                    <a:moveTo>
                      <a:pt x="24" y="9"/>
                    </a:moveTo>
                    <a:cubicBezTo>
                      <a:pt x="25" y="11"/>
                      <a:pt x="27" y="12"/>
                      <a:pt x="27" y="13"/>
                    </a:cubicBezTo>
                    <a:cubicBezTo>
                      <a:pt x="28" y="14"/>
                      <a:pt x="28" y="14"/>
                      <a:pt x="28" y="15"/>
                    </a:cubicBezTo>
                    <a:cubicBezTo>
                      <a:pt x="29" y="16"/>
                      <a:pt x="28" y="18"/>
                      <a:pt x="28" y="19"/>
                    </a:cubicBezTo>
                    <a:cubicBezTo>
                      <a:pt x="27" y="20"/>
                      <a:pt x="26" y="22"/>
                      <a:pt x="25" y="23"/>
                    </a:cubicBezTo>
                    <a:cubicBezTo>
                      <a:pt x="23" y="25"/>
                      <a:pt x="22" y="26"/>
                      <a:pt x="21" y="27"/>
                    </a:cubicBezTo>
                    <a:cubicBezTo>
                      <a:pt x="20" y="28"/>
                      <a:pt x="18" y="28"/>
                      <a:pt x="18" y="28"/>
                    </a:cubicBezTo>
                    <a:cubicBezTo>
                      <a:pt x="17" y="28"/>
                      <a:pt x="16" y="28"/>
                      <a:pt x="15" y="28"/>
                    </a:cubicBezTo>
                    <a:cubicBezTo>
                      <a:pt x="14" y="27"/>
                      <a:pt x="13" y="27"/>
                      <a:pt x="12" y="25"/>
                    </a:cubicBezTo>
                    <a:cubicBezTo>
                      <a:pt x="8" y="23"/>
                      <a:pt x="8" y="23"/>
                      <a:pt x="8" y="23"/>
                    </a:cubicBezTo>
                    <a:cubicBezTo>
                      <a:pt x="21" y="7"/>
                      <a:pt x="21" y="7"/>
                      <a:pt x="21" y="7"/>
                    </a:cubicBezTo>
                    <a:lnTo>
                      <a:pt x="24" y="9"/>
                    </a:lnTo>
                    <a:close/>
                    <a:moveTo>
                      <a:pt x="0" y="23"/>
                    </a:moveTo>
                    <a:cubicBezTo>
                      <a:pt x="9" y="30"/>
                      <a:pt x="9" y="30"/>
                      <a:pt x="9" y="30"/>
                    </a:cubicBezTo>
                    <a:cubicBezTo>
                      <a:pt x="11" y="31"/>
                      <a:pt x="12" y="32"/>
                      <a:pt x="14" y="33"/>
                    </a:cubicBezTo>
                    <a:cubicBezTo>
                      <a:pt x="15" y="34"/>
                      <a:pt x="17" y="34"/>
                      <a:pt x="19" y="34"/>
                    </a:cubicBezTo>
                    <a:cubicBezTo>
                      <a:pt x="21" y="34"/>
                      <a:pt x="23" y="33"/>
                      <a:pt x="25" y="32"/>
                    </a:cubicBezTo>
                    <a:cubicBezTo>
                      <a:pt x="26" y="31"/>
                      <a:pt x="28" y="29"/>
                      <a:pt x="29" y="28"/>
                    </a:cubicBezTo>
                    <a:cubicBezTo>
                      <a:pt x="31" y="25"/>
                      <a:pt x="33" y="23"/>
                      <a:pt x="33" y="21"/>
                    </a:cubicBezTo>
                    <a:cubicBezTo>
                      <a:pt x="34" y="20"/>
                      <a:pt x="34" y="18"/>
                      <a:pt x="34" y="16"/>
                    </a:cubicBezTo>
                    <a:cubicBezTo>
                      <a:pt x="34" y="14"/>
                      <a:pt x="34" y="12"/>
                      <a:pt x="33" y="11"/>
                    </a:cubicBezTo>
                    <a:cubicBezTo>
                      <a:pt x="32" y="10"/>
                      <a:pt x="31" y="8"/>
                      <a:pt x="29" y="7"/>
                    </a:cubicBezTo>
                    <a:cubicBezTo>
                      <a:pt x="20" y="0"/>
                      <a:pt x="20" y="0"/>
                      <a:pt x="20" y="0"/>
                    </a:cubicBezTo>
                    <a:lnTo>
                      <a:pt x="0" y="2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3" name="Freeform 19"/>
              <p:cNvSpPr>
                <a:spLocks noEditPoints="1"/>
              </p:cNvSpPr>
              <p:nvPr/>
            </p:nvSpPr>
            <p:spPr bwMode="auto">
              <a:xfrm>
                <a:off x="282394" y="832126"/>
                <a:ext cx="36684" cy="31937"/>
              </a:xfrm>
              <a:custGeom>
                <a:avLst/>
                <a:gdLst>
                  <a:gd name="T0" fmla="*/ 38 w 85"/>
                  <a:gd name="T1" fmla="*/ 19 h 74"/>
                  <a:gd name="T2" fmla="*/ 67 w 85"/>
                  <a:gd name="T3" fmla="*/ 14 h 74"/>
                  <a:gd name="T4" fmla="*/ 50 w 85"/>
                  <a:gd name="T5" fmla="*/ 36 h 74"/>
                  <a:gd name="T6" fmla="*/ 38 w 85"/>
                  <a:gd name="T7" fmla="*/ 19 h 74"/>
                  <a:gd name="T8" fmla="*/ 85 w 85"/>
                  <a:gd name="T9" fmla="*/ 14 h 74"/>
                  <a:gd name="T10" fmla="*/ 78 w 85"/>
                  <a:gd name="T11" fmla="*/ 0 h 74"/>
                  <a:gd name="T12" fmla="*/ 0 w 85"/>
                  <a:gd name="T13" fmla="*/ 12 h 74"/>
                  <a:gd name="T14" fmla="*/ 10 w 85"/>
                  <a:gd name="T15" fmla="*/ 24 h 74"/>
                  <a:gd name="T16" fmla="*/ 26 w 85"/>
                  <a:gd name="T17" fmla="*/ 21 h 74"/>
                  <a:gd name="T18" fmla="*/ 40 w 85"/>
                  <a:gd name="T19" fmla="*/ 47 h 74"/>
                  <a:gd name="T20" fmla="*/ 29 w 85"/>
                  <a:gd name="T21" fmla="*/ 59 h 74"/>
                  <a:gd name="T22" fmla="*/ 38 w 85"/>
                  <a:gd name="T23" fmla="*/ 74 h 74"/>
                  <a:gd name="T24" fmla="*/ 85 w 85"/>
                  <a:gd name="T25"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4">
                    <a:moveTo>
                      <a:pt x="38" y="19"/>
                    </a:moveTo>
                    <a:lnTo>
                      <a:pt x="67" y="14"/>
                    </a:lnTo>
                    <a:lnTo>
                      <a:pt x="50" y="36"/>
                    </a:lnTo>
                    <a:lnTo>
                      <a:pt x="38" y="19"/>
                    </a:lnTo>
                    <a:close/>
                    <a:moveTo>
                      <a:pt x="85" y="14"/>
                    </a:moveTo>
                    <a:lnTo>
                      <a:pt x="78" y="0"/>
                    </a:lnTo>
                    <a:lnTo>
                      <a:pt x="0" y="12"/>
                    </a:lnTo>
                    <a:lnTo>
                      <a:pt x="10" y="24"/>
                    </a:lnTo>
                    <a:lnTo>
                      <a:pt x="26" y="21"/>
                    </a:lnTo>
                    <a:lnTo>
                      <a:pt x="40" y="47"/>
                    </a:lnTo>
                    <a:lnTo>
                      <a:pt x="29" y="59"/>
                    </a:lnTo>
                    <a:lnTo>
                      <a:pt x="38" y="74"/>
                    </a:lnTo>
                    <a:lnTo>
                      <a:pt x="85" y="1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4" name="Freeform 20"/>
              <p:cNvSpPr/>
              <p:nvPr/>
            </p:nvSpPr>
            <p:spPr bwMode="auto">
              <a:xfrm>
                <a:off x="271173" y="796305"/>
                <a:ext cx="37979" cy="32800"/>
              </a:xfrm>
              <a:custGeom>
                <a:avLst/>
                <a:gdLst>
                  <a:gd name="T0" fmla="*/ 0 w 88"/>
                  <a:gd name="T1" fmla="*/ 24 h 76"/>
                  <a:gd name="T2" fmla="*/ 66 w 88"/>
                  <a:gd name="T3" fmla="*/ 0 h 76"/>
                  <a:gd name="T4" fmla="*/ 71 w 88"/>
                  <a:gd name="T5" fmla="*/ 12 h 76"/>
                  <a:gd name="T6" fmla="*/ 45 w 88"/>
                  <a:gd name="T7" fmla="*/ 24 h 76"/>
                  <a:gd name="T8" fmla="*/ 55 w 88"/>
                  <a:gd name="T9" fmla="*/ 50 h 76"/>
                  <a:gd name="T10" fmla="*/ 83 w 88"/>
                  <a:gd name="T11" fmla="*/ 40 h 76"/>
                  <a:gd name="T12" fmla="*/ 88 w 88"/>
                  <a:gd name="T13" fmla="*/ 52 h 76"/>
                  <a:gd name="T14" fmla="*/ 19 w 88"/>
                  <a:gd name="T15" fmla="*/ 76 h 76"/>
                  <a:gd name="T16" fmla="*/ 14 w 88"/>
                  <a:gd name="T17" fmla="*/ 64 h 76"/>
                  <a:gd name="T18" fmla="*/ 43 w 88"/>
                  <a:gd name="T19" fmla="*/ 52 h 76"/>
                  <a:gd name="T20" fmla="*/ 33 w 88"/>
                  <a:gd name="T21" fmla="*/ 26 h 76"/>
                  <a:gd name="T22" fmla="*/ 5 w 88"/>
                  <a:gd name="T23" fmla="*/ 38 h 76"/>
                  <a:gd name="T24" fmla="*/ 0 w 88"/>
                  <a:gd name="T25" fmla="*/ 2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6">
                    <a:moveTo>
                      <a:pt x="0" y="24"/>
                    </a:moveTo>
                    <a:lnTo>
                      <a:pt x="66" y="0"/>
                    </a:lnTo>
                    <a:lnTo>
                      <a:pt x="71" y="12"/>
                    </a:lnTo>
                    <a:lnTo>
                      <a:pt x="45" y="24"/>
                    </a:lnTo>
                    <a:lnTo>
                      <a:pt x="55" y="50"/>
                    </a:lnTo>
                    <a:lnTo>
                      <a:pt x="83" y="40"/>
                    </a:lnTo>
                    <a:lnTo>
                      <a:pt x="88" y="52"/>
                    </a:lnTo>
                    <a:lnTo>
                      <a:pt x="19" y="76"/>
                    </a:lnTo>
                    <a:lnTo>
                      <a:pt x="14" y="64"/>
                    </a:lnTo>
                    <a:lnTo>
                      <a:pt x="43" y="52"/>
                    </a:lnTo>
                    <a:lnTo>
                      <a:pt x="33" y="26"/>
                    </a:lnTo>
                    <a:lnTo>
                      <a:pt x="5" y="38"/>
                    </a:lnTo>
                    <a:lnTo>
                      <a:pt x="0" y="24"/>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5" name="Freeform 21"/>
              <p:cNvSpPr/>
              <p:nvPr/>
            </p:nvSpPr>
            <p:spPr bwMode="auto">
              <a:xfrm>
                <a:off x="264268" y="768683"/>
                <a:ext cx="33663" cy="26326"/>
              </a:xfrm>
              <a:custGeom>
                <a:avLst/>
                <a:gdLst>
                  <a:gd name="T0" fmla="*/ 9 w 33"/>
                  <a:gd name="T1" fmla="*/ 1 h 26"/>
                  <a:gd name="T2" fmla="*/ 11 w 33"/>
                  <a:gd name="T3" fmla="*/ 7 h 26"/>
                  <a:gd name="T4" fmla="*/ 7 w 33"/>
                  <a:gd name="T5" fmla="*/ 10 h 26"/>
                  <a:gd name="T6" fmla="*/ 6 w 33"/>
                  <a:gd name="T7" fmla="*/ 15 h 26"/>
                  <a:gd name="T8" fmla="*/ 8 w 33"/>
                  <a:gd name="T9" fmla="*/ 19 h 26"/>
                  <a:gd name="T10" fmla="*/ 11 w 33"/>
                  <a:gd name="T11" fmla="*/ 20 h 26"/>
                  <a:gd name="T12" fmla="*/ 13 w 33"/>
                  <a:gd name="T13" fmla="*/ 19 h 26"/>
                  <a:gd name="T14" fmla="*/ 14 w 33"/>
                  <a:gd name="T15" fmla="*/ 16 h 26"/>
                  <a:gd name="T16" fmla="*/ 14 w 33"/>
                  <a:gd name="T17" fmla="*/ 11 h 26"/>
                  <a:gd name="T18" fmla="*/ 16 w 33"/>
                  <a:gd name="T19" fmla="*/ 4 h 26"/>
                  <a:gd name="T20" fmla="*/ 22 w 33"/>
                  <a:gd name="T21" fmla="*/ 0 h 26"/>
                  <a:gd name="T22" fmla="*/ 26 w 33"/>
                  <a:gd name="T23" fmla="*/ 1 h 26"/>
                  <a:gd name="T24" fmla="*/ 30 w 33"/>
                  <a:gd name="T25" fmla="*/ 4 h 26"/>
                  <a:gd name="T26" fmla="*/ 32 w 33"/>
                  <a:gd name="T27" fmla="*/ 10 h 26"/>
                  <a:gd name="T28" fmla="*/ 31 w 33"/>
                  <a:gd name="T29" fmla="*/ 18 h 26"/>
                  <a:gd name="T30" fmla="*/ 25 w 33"/>
                  <a:gd name="T31" fmla="*/ 22 h 26"/>
                  <a:gd name="T32" fmla="*/ 24 w 33"/>
                  <a:gd name="T33" fmla="*/ 17 h 26"/>
                  <a:gd name="T34" fmla="*/ 27 w 33"/>
                  <a:gd name="T35" fmla="*/ 14 h 26"/>
                  <a:gd name="T36" fmla="*/ 27 w 33"/>
                  <a:gd name="T37" fmla="*/ 10 h 26"/>
                  <a:gd name="T38" fmla="*/ 25 w 33"/>
                  <a:gd name="T39" fmla="*/ 7 h 26"/>
                  <a:gd name="T40" fmla="*/ 23 w 33"/>
                  <a:gd name="T41" fmla="*/ 6 h 26"/>
                  <a:gd name="T42" fmla="*/ 21 w 33"/>
                  <a:gd name="T43" fmla="*/ 7 h 26"/>
                  <a:gd name="T44" fmla="*/ 20 w 33"/>
                  <a:gd name="T45" fmla="*/ 13 h 26"/>
                  <a:gd name="T46" fmla="*/ 19 w 33"/>
                  <a:gd name="T47" fmla="*/ 20 h 26"/>
                  <a:gd name="T48" fmla="*/ 17 w 33"/>
                  <a:gd name="T49" fmla="*/ 24 h 26"/>
                  <a:gd name="T50" fmla="*/ 12 w 33"/>
                  <a:gd name="T51" fmla="*/ 26 h 26"/>
                  <a:gd name="T52" fmla="*/ 7 w 33"/>
                  <a:gd name="T53" fmla="*/ 25 h 26"/>
                  <a:gd name="T54" fmla="*/ 3 w 33"/>
                  <a:gd name="T55" fmla="*/ 22 h 26"/>
                  <a:gd name="T56" fmla="*/ 1 w 33"/>
                  <a:gd name="T57" fmla="*/ 15 h 26"/>
                  <a:gd name="T58" fmla="*/ 2 w 33"/>
                  <a:gd name="T59" fmla="*/ 6 h 26"/>
                  <a:gd name="T60" fmla="*/ 9 w 33"/>
                  <a:gd name="T6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6">
                    <a:moveTo>
                      <a:pt x="9" y="1"/>
                    </a:moveTo>
                    <a:cubicBezTo>
                      <a:pt x="11" y="7"/>
                      <a:pt x="11" y="7"/>
                      <a:pt x="11" y="7"/>
                    </a:cubicBezTo>
                    <a:cubicBezTo>
                      <a:pt x="9" y="8"/>
                      <a:pt x="7" y="9"/>
                      <a:pt x="7" y="10"/>
                    </a:cubicBezTo>
                    <a:cubicBezTo>
                      <a:pt x="6" y="11"/>
                      <a:pt x="6" y="13"/>
                      <a:pt x="6" y="15"/>
                    </a:cubicBezTo>
                    <a:cubicBezTo>
                      <a:pt x="6" y="16"/>
                      <a:pt x="7" y="18"/>
                      <a:pt x="8" y="19"/>
                    </a:cubicBezTo>
                    <a:cubicBezTo>
                      <a:pt x="9" y="19"/>
                      <a:pt x="10" y="20"/>
                      <a:pt x="11" y="20"/>
                    </a:cubicBezTo>
                    <a:cubicBezTo>
                      <a:pt x="12" y="19"/>
                      <a:pt x="12" y="19"/>
                      <a:pt x="13" y="19"/>
                    </a:cubicBezTo>
                    <a:cubicBezTo>
                      <a:pt x="13" y="18"/>
                      <a:pt x="14" y="17"/>
                      <a:pt x="14" y="16"/>
                    </a:cubicBezTo>
                    <a:cubicBezTo>
                      <a:pt x="14" y="16"/>
                      <a:pt x="14" y="14"/>
                      <a:pt x="14" y="11"/>
                    </a:cubicBezTo>
                    <a:cubicBezTo>
                      <a:pt x="14" y="8"/>
                      <a:pt x="15" y="6"/>
                      <a:pt x="16" y="4"/>
                    </a:cubicBezTo>
                    <a:cubicBezTo>
                      <a:pt x="17" y="2"/>
                      <a:pt x="19" y="1"/>
                      <a:pt x="22" y="0"/>
                    </a:cubicBezTo>
                    <a:cubicBezTo>
                      <a:pt x="23" y="0"/>
                      <a:pt x="25" y="0"/>
                      <a:pt x="26" y="1"/>
                    </a:cubicBezTo>
                    <a:cubicBezTo>
                      <a:pt x="28" y="1"/>
                      <a:pt x="29" y="2"/>
                      <a:pt x="30" y="4"/>
                    </a:cubicBezTo>
                    <a:cubicBezTo>
                      <a:pt x="31" y="5"/>
                      <a:pt x="31" y="7"/>
                      <a:pt x="32" y="10"/>
                    </a:cubicBezTo>
                    <a:cubicBezTo>
                      <a:pt x="33" y="13"/>
                      <a:pt x="32" y="16"/>
                      <a:pt x="31" y="18"/>
                    </a:cubicBezTo>
                    <a:cubicBezTo>
                      <a:pt x="30" y="20"/>
                      <a:pt x="28" y="22"/>
                      <a:pt x="25" y="22"/>
                    </a:cubicBezTo>
                    <a:cubicBezTo>
                      <a:pt x="24" y="17"/>
                      <a:pt x="24" y="17"/>
                      <a:pt x="24" y="17"/>
                    </a:cubicBezTo>
                    <a:cubicBezTo>
                      <a:pt x="25" y="16"/>
                      <a:pt x="26" y="15"/>
                      <a:pt x="27" y="14"/>
                    </a:cubicBezTo>
                    <a:cubicBezTo>
                      <a:pt x="27" y="13"/>
                      <a:pt x="27" y="12"/>
                      <a:pt x="27" y="10"/>
                    </a:cubicBezTo>
                    <a:cubicBezTo>
                      <a:pt x="27" y="9"/>
                      <a:pt x="26" y="7"/>
                      <a:pt x="25" y="7"/>
                    </a:cubicBezTo>
                    <a:cubicBezTo>
                      <a:pt x="24" y="6"/>
                      <a:pt x="24" y="6"/>
                      <a:pt x="23" y="6"/>
                    </a:cubicBezTo>
                    <a:cubicBezTo>
                      <a:pt x="22" y="6"/>
                      <a:pt x="22" y="6"/>
                      <a:pt x="21" y="7"/>
                    </a:cubicBezTo>
                    <a:cubicBezTo>
                      <a:pt x="21" y="8"/>
                      <a:pt x="21" y="10"/>
                      <a:pt x="20" y="13"/>
                    </a:cubicBezTo>
                    <a:cubicBezTo>
                      <a:pt x="20" y="16"/>
                      <a:pt x="20" y="18"/>
                      <a:pt x="19" y="20"/>
                    </a:cubicBezTo>
                    <a:cubicBezTo>
                      <a:pt x="19" y="21"/>
                      <a:pt x="18" y="23"/>
                      <a:pt x="17" y="24"/>
                    </a:cubicBezTo>
                    <a:cubicBezTo>
                      <a:pt x="16" y="25"/>
                      <a:pt x="14" y="25"/>
                      <a:pt x="12" y="26"/>
                    </a:cubicBezTo>
                    <a:cubicBezTo>
                      <a:pt x="11" y="26"/>
                      <a:pt x="9" y="26"/>
                      <a:pt x="7" y="25"/>
                    </a:cubicBezTo>
                    <a:cubicBezTo>
                      <a:pt x="6" y="24"/>
                      <a:pt x="4" y="23"/>
                      <a:pt x="3" y="22"/>
                    </a:cubicBezTo>
                    <a:cubicBezTo>
                      <a:pt x="2" y="20"/>
                      <a:pt x="1" y="18"/>
                      <a:pt x="1" y="15"/>
                    </a:cubicBezTo>
                    <a:cubicBezTo>
                      <a:pt x="0" y="12"/>
                      <a:pt x="0" y="9"/>
                      <a:pt x="2" y="6"/>
                    </a:cubicBezTo>
                    <a:cubicBezTo>
                      <a:pt x="3" y="4"/>
                      <a:pt x="6" y="2"/>
                      <a:pt x="9"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6" name="Freeform 22"/>
              <p:cNvSpPr/>
              <p:nvPr/>
            </p:nvSpPr>
            <p:spPr bwMode="auto">
              <a:xfrm>
                <a:off x="477469" y="920168"/>
                <a:ext cx="26758" cy="32800"/>
              </a:xfrm>
              <a:custGeom>
                <a:avLst/>
                <a:gdLst>
                  <a:gd name="T0" fmla="*/ 0 w 26"/>
                  <a:gd name="T1" fmla="*/ 3 h 32"/>
                  <a:gd name="T2" fmla="*/ 6 w 26"/>
                  <a:gd name="T3" fmla="*/ 2 h 32"/>
                  <a:gd name="T4" fmla="*/ 8 w 26"/>
                  <a:gd name="T5" fmla="*/ 18 h 32"/>
                  <a:gd name="T6" fmla="*/ 8 w 26"/>
                  <a:gd name="T7" fmla="*/ 23 h 32"/>
                  <a:gd name="T8" fmla="*/ 10 w 26"/>
                  <a:gd name="T9" fmla="*/ 26 h 32"/>
                  <a:gd name="T10" fmla="*/ 14 w 26"/>
                  <a:gd name="T11" fmla="*/ 27 h 32"/>
                  <a:gd name="T12" fmla="*/ 18 w 26"/>
                  <a:gd name="T13" fmla="*/ 25 h 32"/>
                  <a:gd name="T14" fmla="*/ 20 w 26"/>
                  <a:gd name="T15" fmla="*/ 23 h 32"/>
                  <a:gd name="T16" fmla="*/ 19 w 26"/>
                  <a:gd name="T17" fmla="*/ 17 h 32"/>
                  <a:gd name="T18" fmla="*/ 18 w 26"/>
                  <a:gd name="T19" fmla="*/ 1 h 32"/>
                  <a:gd name="T20" fmla="*/ 24 w 26"/>
                  <a:gd name="T21" fmla="*/ 0 h 32"/>
                  <a:gd name="T22" fmla="*/ 25 w 26"/>
                  <a:gd name="T23" fmla="*/ 16 h 32"/>
                  <a:gd name="T24" fmla="*/ 26 w 26"/>
                  <a:gd name="T25" fmla="*/ 24 h 32"/>
                  <a:gd name="T26" fmla="*/ 24 w 26"/>
                  <a:gd name="T27" fmla="*/ 28 h 32"/>
                  <a:gd name="T28" fmla="*/ 21 w 26"/>
                  <a:gd name="T29" fmla="*/ 30 h 32"/>
                  <a:gd name="T30" fmla="*/ 15 w 26"/>
                  <a:gd name="T31" fmla="*/ 32 h 32"/>
                  <a:gd name="T32" fmla="*/ 8 w 26"/>
                  <a:gd name="T33" fmla="*/ 31 h 32"/>
                  <a:gd name="T34" fmla="*/ 5 w 26"/>
                  <a:gd name="T35" fmla="*/ 29 h 32"/>
                  <a:gd name="T36" fmla="*/ 3 w 26"/>
                  <a:gd name="T37" fmla="*/ 26 h 32"/>
                  <a:gd name="T38" fmla="*/ 1 w 26"/>
                  <a:gd name="T39" fmla="*/ 18 h 32"/>
                  <a:gd name="T40" fmla="*/ 0 w 26"/>
                  <a:gd name="T41"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0" y="3"/>
                    </a:moveTo>
                    <a:cubicBezTo>
                      <a:pt x="6" y="2"/>
                      <a:pt x="6" y="2"/>
                      <a:pt x="6" y="2"/>
                    </a:cubicBezTo>
                    <a:cubicBezTo>
                      <a:pt x="8" y="18"/>
                      <a:pt x="8" y="18"/>
                      <a:pt x="8" y="18"/>
                    </a:cubicBezTo>
                    <a:cubicBezTo>
                      <a:pt x="8" y="21"/>
                      <a:pt x="8" y="22"/>
                      <a:pt x="8" y="23"/>
                    </a:cubicBezTo>
                    <a:cubicBezTo>
                      <a:pt x="9" y="24"/>
                      <a:pt x="9" y="25"/>
                      <a:pt x="10" y="26"/>
                    </a:cubicBezTo>
                    <a:cubicBezTo>
                      <a:pt x="11" y="27"/>
                      <a:pt x="13" y="27"/>
                      <a:pt x="14" y="27"/>
                    </a:cubicBezTo>
                    <a:cubicBezTo>
                      <a:pt x="16" y="27"/>
                      <a:pt x="17" y="26"/>
                      <a:pt x="18" y="25"/>
                    </a:cubicBezTo>
                    <a:cubicBezTo>
                      <a:pt x="19" y="25"/>
                      <a:pt x="20" y="24"/>
                      <a:pt x="20" y="23"/>
                    </a:cubicBezTo>
                    <a:cubicBezTo>
                      <a:pt x="20" y="22"/>
                      <a:pt x="20" y="20"/>
                      <a:pt x="19" y="17"/>
                    </a:cubicBezTo>
                    <a:cubicBezTo>
                      <a:pt x="18" y="1"/>
                      <a:pt x="18" y="1"/>
                      <a:pt x="18" y="1"/>
                    </a:cubicBezTo>
                    <a:cubicBezTo>
                      <a:pt x="24" y="0"/>
                      <a:pt x="24" y="0"/>
                      <a:pt x="24" y="0"/>
                    </a:cubicBezTo>
                    <a:cubicBezTo>
                      <a:pt x="25" y="16"/>
                      <a:pt x="25" y="16"/>
                      <a:pt x="25" y="16"/>
                    </a:cubicBezTo>
                    <a:cubicBezTo>
                      <a:pt x="26" y="20"/>
                      <a:pt x="26" y="22"/>
                      <a:pt x="26" y="24"/>
                    </a:cubicBezTo>
                    <a:cubicBezTo>
                      <a:pt x="25" y="25"/>
                      <a:pt x="25" y="27"/>
                      <a:pt x="24" y="28"/>
                    </a:cubicBezTo>
                    <a:cubicBezTo>
                      <a:pt x="23" y="29"/>
                      <a:pt x="22" y="30"/>
                      <a:pt x="21" y="30"/>
                    </a:cubicBezTo>
                    <a:cubicBezTo>
                      <a:pt x="19" y="31"/>
                      <a:pt x="17" y="32"/>
                      <a:pt x="15" y="32"/>
                    </a:cubicBezTo>
                    <a:cubicBezTo>
                      <a:pt x="12" y="32"/>
                      <a:pt x="10" y="32"/>
                      <a:pt x="8" y="31"/>
                    </a:cubicBezTo>
                    <a:cubicBezTo>
                      <a:pt x="7" y="31"/>
                      <a:pt x="6" y="30"/>
                      <a:pt x="5" y="29"/>
                    </a:cubicBezTo>
                    <a:cubicBezTo>
                      <a:pt x="4" y="28"/>
                      <a:pt x="3" y="27"/>
                      <a:pt x="3" y="26"/>
                    </a:cubicBezTo>
                    <a:cubicBezTo>
                      <a:pt x="2" y="24"/>
                      <a:pt x="2" y="22"/>
                      <a:pt x="1" y="18"/>
                    </a:cubicBezTo>
                    <a:lnTo>
                      <a:pt x="0" y="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7" name="Freeform 23"/>
              <p:cNvSpPr/>
              <p:nvPr/>
            </p:nvSpPr>
            <p:spPr bwMode="auto">
              <a:xfrm>
                <a:off x="508111" y="913263"/>
                <a:ext cx="32800" cy="35821"/>
              </a:xfrm>
              <a:custGeom>
                <a:avLst/>
                <a:gdLst>
                  <a:gd name="T0" fmla="*/ 21 w 76"/>
                  <a:gd name="T1" fmla="*/ 83 h 83"/>
                  <a:gd name="T2" fmla="*/ 0 w 76"/>
                  <a:gd name="T3" fmla="*/ 14 h 83"/>
                  <a:gd name="T4" fmla="*/ 14 w 76"/>
                  <a:gd name="T5" fmla="*/ 12 h 83"/>
                  <a:gd name="T6" fmla="*/ 57 w 76"/>
                  <a:gd name="T7" fmla="*/ 50 h 83"/>
                  <a:gd name="T8" fmla="*/ 43 w 76"/>
                  <a:gd name="T9" fmla="*/ 2 h 83"/>
                  <a:gd name="T10" fmla="*/ 55 w 76"/>
                  <a:gd name="T11" fmla="*/ 0 h 83"/>
                  <a:gd name="T12" fmla="*/ 76 w 76"/>
                  <a:gd name="T13" fmla="*/ 69 h 83"/>
                  <a:gd name="T14" fmla="*/ 62 w 76"/>
                  <a:gd name="T15" fmla="*/ 71 h 83"/>
                  <a:gd name="T16" fmla="*/ 21 w 76"/>
                  <a:gd name="T17" fmla="*/ 35 h 83"/>
                  <a:gd name="T18" fmla="*/ 33 w 76"/>
                  <a:gd name="T19" fmla="*/ 81 h 83"/>
                  <a:gd name="T20" fmla="*/ 21 w 76"/>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3">
                    <a:moveTo>
                      <a:pt x="21" y="83"/>
                    </a:moveTo>
                    <a:lnTo>
                      <a:pt x="0" y="14"/>
                    </a:lnTo>
                    <a:lnTo>
                      <a:pt x="14" y="12"/>
                    </a:lnTo>
                    <a:lnTo>
                      <a:pt x="57" y="50"/>
                    </a:lnTo>
                    <a:lnTo>
                      <a:pt x="43" y="2"/>
                    </a:lnTo>
                    <a:lnTo>
                      <a:pt x="55" y="0"/>
                    </a:lnTo>
                    <a:lnTo>
                      <a:pt x="76" y="69"/>
                    </a:lnTo>
                    <a:lnTo>
                      <a:pt x="62" y="71"/>
                    </a:lnTo>
                    <a:lnTo>
                      <a:pt x="21" y="35"/>
                    </a:lnTo>
                    <a:lnTo>
                      <a:pt x="33" y="81"/>
                    </a:lnTo>
                    <a:lnTo>
                      <a:pt x="21" y="83"/>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8" name="Freeform 24"/>
              <p:cNvSpPr/>
              <p:nvPr/>
            </p:nvSpPr>
            <p:spPr bwMode="auto">
              <a:xfrm>
                <a:off x="538753" y="908084"/>
                <a:ext cx="17263" cy="30642"/>
              </a:xfrm>
              <a:custGeom>
                <a:avLst/>
                <a:gdLst>
                  <a:gd name="T0" fmla="*/ 26 w 40"/>
                  <a:gd name="T1" fmla="*/ 71 h 71"/>
                  <a:gd name="T2" fmla="*/ 0 w 40"/>
                  <a:gd name="T3" fmla="*/ 5 h 71"/>
                  <a:gd name="T4" fmla="*/ 12 w 40"/>
                  <a:gd name="T5" fmla="*/ 0 h 71"/>
                  <a:gd name="T6" fmla="*/ 40 w 40"/>
                  <a:gd name="T7" fmla="*/ 66 h 71"/>
                  <a:gd name="T8" fmla="*/ 26 w 40"/>
                  <a:gd name="T9" fmla="*/ 71 h 71"/>
                </a:gdLst>
                <a:ahLst/>
                <a:cxnLst>
                  <a:cxn ang="0">
                    <a:pos x="T0" y="T1"/>
                  </a:cxn>
                  <a:cxn ang="0">
                    <a:pos x="T2" y="T3"/>
                  </a:cxn>
                  <a:cxn ang="0">
                    <a:pos x="T4" y="T5"/>
                  </a:cxn>
                  <a:cxn ang="0">
                    <a:pos x="T6" y="T7"/>
                  </a:cxn>
                  <a:cxn ang="0">
                    <a:pos x="T8" y="T9"/>
                  </a:cxn>
                </a:cxnLst>
                <a:rect l="0" t="0" r="r" b="b"/>
                <a:pathLst>
                  <a:path w="40" h="71">
                    <a:moveTo>
                      <a:pt x="26" y="71"/>
                    </a:moveTo>
                    <a:lnTo>
                      <a:pt x="0" y="5"/>
                    </a:lnTo>
                    <a:lnTo>
                      <a:pt x="12" y="0"/>
                    </a:lnTo>
                    <a:lnTo>
                      <a:pt x="40" y="66"/>
                    </a:lnTo>
                    <a:lnTo>
                      <a:pt x="26" y="7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39" name="Freeform 25"/>
              <p:cNvSpPr/>
              <p:nvPr/>
            </p:nvSpPr>
            <p:spPr bwMode="auto">
              <a:xfrm>
                <a:off x="546953" y="893842"/>
                <a:ext cx="30642" cy="34526"/>
              </a:xfrm>
              <a:custGeom>
                <a:avLst/>
                <a:gdLst>
                  <a:gd name="T0" fmla="*/ 57 w 71"/>
                  <a:gd name="T1" fmla="*/ 80 h 80"/>
                  <a:gd name="T2" fmla="*/ 0 w 71"/>
                  <a:gd name="T3" fmla="*/ 30 h 80"/>
                  <a:gd name="T4" fmla="*/ 14 w 71"/>
                  <a:gd name="T5" fmla="*/ 23 h 80"/>
                  <a:gd name="T6" fmla="*/ 57 w 71"/>
                  <a:gd name="T7" fmla="*/ 61 h 80"/>
                  <a:gd name="T8" fmla="*/ 45 w 71"/>
                  <a:gd name="T9" fmla="*/ 7 h 80"/>
                  <a:gd name="T10" fmla="*/ 59 w 71"/>
                  <a:gd name="T11" fmla="*/ 0 h 80"/>
                  <a:gd name="T12" fmla="*/ 71 w 71"/>
                  <a:gd name="T13" fmla="*/ 73 h 80"/>
                  <a:gd name="T14" fmla="*/ 57 w 71"/>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80">
                    <a:moveTo>
                      <a:pt x="57" y="80"/>
                    </a:moveTo>
                    <a:lnTo>
                      <a:pt x="0" y="30"/>
                    </a:lnTo>
                    <a:lnTo>
                      <a:pt x="14" y="23"/>
                    </a:lnTo>
                    <a:lnTo>
                      <a:pt x="57" y="61"/>
                    </a:lnTo>
                    <a:lnTo>
                      <a:pt x="45" y="7"/>
                    </a:lnTo>
                    <a:lnTo>
                      <a:pt x="59" y="0"/>
                    </a:lnTo>
                    <a:lnTo>
                      <a:pt x="71" y="73"/>
                    </a:lnTo>
                    <a:lnTo>
                      <a:pt x="57" y="80"/>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0" name="Freeform 26"/>
              <p:cNvSpPr/>
              <p:nvPr/>
            </p:nvSpPr>
            <p:spPr bwMode="auto">
              <a:xfrm>
                <a:off x="574574" y="877442"/>
                <a:ext cx="37979" cy="37547"/>
              </a:xfrm>
              <a:custGeom>
                <a:avLst/>
                <a:gdLst>
                  <a:gd name="T0" fmla="*/ 45 w 88"/>
                  <a:gd name="T1" fmla="*/ 87 h 87"/>
                  <a:gd name="T2" fmla="*/ 0 w 88"/>
                  <a:gd name="T3" fmla="*/ 33 h 87"/>
                  <a:gd name="T4" fmla="*/ 43 w 88"/>
                  <a:gd name="T5" fmla="*/ 0 h 87"/>
                  <a:gd name="T6" fmla="*/ 50 w 88"/>
                  <a:gd name="T7" fmla="*/ 9 h 87"/>
                  <a:gd name="T8" fmla="*/ 19 w 88"/>
                  <a:gd name="T9" fmla="*/ 33 h 87"/>
                  <a:gd name="T10" fmla="*/ 28 w 88"/>
                  <a:gd name="T11" fmla="*/ 45 h 87"/>
                  <a:gd name="T12" fmla="*/ 57 w 88"/>
                  <a:gd name="T13" fmla="*/ 23 h 87"/>
                  <a:gd name="T14" fmla="*/ 66 w 88"/>
                  <a:gd name="T15" fmla="*/ 33 h 87"/>
                  <a:gd name="T16" fmla="*/ 38 w 88"/>
                  <a:gd name="T17" fmla="*/ 54 h 87"/>
                  <a:gd name="T18" fmla="*/ 50 w 88"/>
                  <a:gd name="T19" fmla="*/ 68 h 87"/>
                  <a:gd name="T20" fmla="*/ 80 w 88"/>
                  <a:gd name="T21" fmla="*/ 45 h 87"/>
                  <a:gd name="T22" fmla="*/ 88 w 88"/>
                  <a:gd name="T23" fmla="*/ 54 h 87"/>
                  <a:gd name="T24" fmla="*/ 45 w 88"/>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45" y="87"/>
                    </a:moveTo>
                    <a:lnTo>
                      <a:pt x="0" y="33"/>
                    </a:lnTo>
                    <a:lnTo>
                      <a:pt x="43" y="0"/>
                    </a:lnTo>
                    <a:lnTo>
                      <a:pt x="50" y="9"/>
                    </a:lnTo>
                    <a:lnTo>
                      <a:pt x="19" y="33"/>
                    </a:lnTo>
                    <a:lnTo>
                      <a:pt x="28" y="45"/>
                    </a:lnTo>
                    <a:lnTo>
                      <a:pt x="57" y="23"/>
                    </a:lnTo>
                    <a:lnTo>
                      <a:pt x="66" y="33"/>
                    </a:lnTo>
                    <a:lnTo>
                      <a:pt x="38" y="54"/>
                    </a:lnTo>
                    <a:lnTo>
                      <a:pt x="50" y="68"/>
                    </a:lnTo>
                    <a:lnTo>
                      <a:pt x="80" y="45"/>
                    </a:lnTo>
                    <a:lnTo>
                      <a:pt x="88" y="54"/>
                    </a:lnTo>
                    <a:lnTo>
                      <a:pt x="45" y="8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1" name="Freeform 27"/>
              <p:cNvSpPr>
                <a:spLocks noEditPoints="1"/>
              </p:cNvSpPr>
              <p:nvPr/>
            </p:nvSpPr>
            <p:spPr bwMode="auto">
              <a:xfrm>
                <a:off x="597016" y="857589"/>
                <a:ext cx="41863" cy="36253"/>
              </a:xfrm>
              <a:custGeom>
                <a:avLst/>
                <a:gdLst>
                  <a:gd name="T0" fmla="*/ 8 w 41"/>
                  <a:gd name="T1" fmla="*/ 14 h 35"/>
                  <a:gd name="T2" fmla="*/ 11 w 41"/>
                  <a:gd name="T3" fmla="*/ 11 h 35"/>
                  <a:gd name="T4" fmla="*/ 14 w 41"/>
                  <a:gd name="T5" fmla="*/ 7 h 35"/>
                  <a:gd name="T6" fmla="*/ 17 w 41"/>
                  <a:gd name="T7" fmla="*/ 7 h 35"/>
                  <a:gd name="T8" fmla="*/ 19 w 41"/>
                  <a:gd name="T9" fmla="*/ 8 h 35"/>
                  <a:gd name="T10" fmla="*/ 21 w 41"/>
                  <a:gd name="T11" fmla="*/ 10 h 35"/>
                  <a:gd name="T12" fmla="*/ 20 w 41"/>
                  <a:gd name="T13" fmla="*/ 12 h 35"/>
                  <a:gd name="T14" fmla="*/ 17 w 41"/>
                  <a:gd name="T15" fmla="*/ 16 h 35"/>
                  <a:gd name="T16" fmla="*/ 14 w 41"/>
                  <a:gd name="T17" fmla="*/ 19 h 35"/>
                  <a:gd name="T18" fmla="*/ 8 w 41"/>
                  <a:gd name="T19" fmla="*/ 14 h 35"/>
                  <a:gd name="T20" fmla="*/ 27 w 41"/>
                  <a:gd name="T21" fmla="*/ 31 h 35"/>
                  <a:gd name="T22" fmla="*/ 17 w 41"/>
                  <a:gd name="T23" fmla="*/ 22 h 35"/>
                  <a:gd name="T24" fmla="*/ 18 w 41"/>
                  <a:gd name="T25" fmla="*/ 22 h 35"/>
                  <a:gd name="T26" fmla="*/ 21 w 41"/>
                  <a:gd name="T27" fmla="*/ 19 h 35"/>
                  <a:gd name="T28" fmla="*/ 23 w 41"/>
                  <a:gd name="T29" fmla="*/ 19 h 35"/>
                  <a:gd name="T30" fmla="*/ 28 w 41"/>
                  <a:gd name="T31" fmla="*/ 20 h 35"/>
                  <a:gd name="T32" fmla="*/ 36 w 41"/>
                  <a:gd name="T33" fmla="*/ 21 h 35"/>
                  <a:gd name="T34" fmla="*/ 41 w 41"/>
                  <a:gd name="T35" fmla="*/ 15 h 35"/>
                  <a:gd name="T36" fmla="*/ 34 w 41"/>
                  <a:gd name="T37" fmla="*/ 14 h 35"/>
                  <a:gd name="T38" fmla="*/ 28 w 41"/>
                  <a:gd name="T39" fmla="*/ 13 h 35"/>
                  <a:gd name="T40" fmla="*/ 24 w 41"/>
                  <a:gd name="T41" fmla="*/ 14 h 35"/>
                  <a:gd name="T42" fmla="*/ 26 w 41"/>
                  <a:gd name="T43" fmla="*/ 8 h 35"/>
                  <a:gd name="T44" fmla="*/ 23 w 41"/>
                  <a:gd name="T45" fmla="*/ 3 h 35"/>
                  <a:gd name="T46" fmla="*/ 19 w 41"/>
                  <a:gd name="T47" fmla="*/ 0 h 35"/>
                  <a:gd name="T48" fmla="*/ 14 w 41"/>
                  <a:gd name="T49" fmla="*/ 1 h 35"/>
                  <a:gd name="T50" fmla="*/ 9 w 41"/>
                  <a:gd name="T51" fmla="*/ 6 h 35"/>
                  <a:gd name="T52" fmla="*/ 0 w 41"/>
                  <a:gd name="T53" fmla="*/ 15 h 35"/>
                  <a:gd name="T54" fmla="*/ 23 w 41"/>
                  <a:gd name="T55" fmla="*/ 35 h 35"/>
                  <a:gd name="T56" fmla="*/ 27 w 41"/>
                  <a:gd name="T57"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5">
                    <a:moveTo>
                      <a:pt x="8" y="14"/>
                    </a:moveTo>
                    <a:cubicBezTo>
                      <a:pt x="11" y="11"/>
                      <a:pt x="11" y="11"/>
                      <a:pt x="11" y="11"/>
                    </a:cubicBezTo>
                    <a:cubicBezTo>
                      <a:pt x="13" y="9"/>
                      <a:pt x="14" y="8"/>
                      <a:pt x="14" y="7"/>
                    </a:cubicBezTo>
                    <a:cubicBezTo>
                      <a:pt x="15" y="7"/>
                      <a:pt x="16" y="6"/>
                      <a:pt x="17" y="7"/>
                    </a:cubicBezTo>
                    <a:cubicBezTo>
                      <a:pt x="18" y="7"/>
                      <a:pt x="18" y="7"/>
                      <a:pt x="19" y="8"/>
                    </a:cubicBezTo>
                    <a:cubicBezTo>
                      <a:pt x="20" y="8"/>
                      <a:pt x="20" y="9"/>
                      <a:pt x="21" y="10"/>
                    </a:cubicBezTo>
                    <a:cubicBezTo>
                      <a:pt x="21" y="10"/>
                      <a:pt x="21" y="11"/>
                      <a:pt x="20" y="12"/>
                    </a:cubicBezTo>
                    <a:cubicBezTo>
                      <a:pt x="20" y="12"/>
                      <a:pt x="19" y="14"/>
                      <a:pt x="17" y="16"/>
                    </a:cubicBezTo>
                    <a:cubicBezTo>
                      <a:pt x="14" y="19"/>
                      <a:pt x="14" y="19"/>
                      <a:pt x="14" y="19"/>
                    </a:cubicBezTo>
                    <a:lnTo>
                      <a:pt x="8" y="14"/>
                    </a:lnTo>
                    <a:close/>
                    <a:moveTo>
                      <a:pt x="27" y="31"/>
                    </a:moveTo>
                    <a:cubicBezTo>
                      <a:pt x="17" y="22"/>
                      <a:pt x="17" y="22"/>
                      <a:pt x="17" y="22"/>
                    </a:cubicBezTo>
                    <a:cubicBezTo>
                      <a:pt x="18" y="22"/>
                      <a:pt x="18" y="22"/>
                      <a:pt x="18" y="22"/>
                    </a:cubicBezTo>
                    <a:cubicBezTo>
                      <a:pt x="19" y="20"/>
                      <a:pt x="20" y="20"/>
                      <a:pt x="21" y="19"/>
                    </a:cubicBezTo>
                    <a:cubicBezTo>
                      <a:pt x="21" y="19"/>
                      <a:pt x="22" y="19"/>
                      <a:pt x="23" y="19"/>
                    </a:cubicBezTo>
                    <a:cubicBezTo>
                      <a:pt x="24" y="19"/>
                      <a:pt x="25" y="19"/>
                      <a:pt x="28" y="20"/>
                    </a:cubicBezTo>
                    <a:cubicBezTo>
                      <a:pt x="36" y="21"/>
                      <a:pt x="36" y="21"/>
                      <a:pt x="36" y="21"/>
                    </a:cubicBezTo>
                    <a:cubicBezTo>
                      <a:pt x="41" y="15"/>
                      <a:pt x="41" y="15"/>
                      <a:pt x="41" y="15"/>
                    </a:cubicBezTo>
                    <a:cubicBezTo>
                      <a:pt x="34" y="14"/>
                      <a:pt x="34" y="14"/>
                      <a:pt x="34" y="14"/>
                    </a:cubicBezTo>
                    <a:cubicBezTo>
                      <a:pt x="31" y="14"/>
                      <a:pt x="29" y="13"/>
                      <a:pt x="28" y="13"/>
                    </a:cubicBezTo>
                    <a:cubicBezTo>
                      <a:pt x="27" y="13"/>
                      <a:pt x="26" y="14"/>
                      <a:pt x="24" y="14"/>
                    </a:cubicBezTo>
                    <a:cubicBezTo>
                      <a:pt x="26" y="12"/>
                      <a:pt x="26" y="10"/>
                      <a:pt x="26" y="8"/>
                    </a:cubicBezTo>
                    <a:cubicBezTo>
                      <a:pt x="26" y="6"/>
                      <a:pt x="25" y="4"/>
                      <a:pt x="23" y="3"/>
                    </a:cubicBezTo>
                    <a:cubicBezTo>
                      <a:pt x="22" y="2"/>
                      <a:pt x="20" y="1"/>
                      <a:pt x="19" y="0"/>
                    </a:cubicBezTo>
                    <a:cubicBezTo>
                      <a:pt x="17" y="0"/>
                      <a:pt x="16" y="0"/>
                      <a:pt x="14" y="1"/>
                    </a:cubicBezTo>
                    <a:cubicBezTo>
                      <a:pt x="13" y="2"/>
                      <a:pt x="11" y="3"/>
                      <a:pt x="9" y="6"/>
                    </a:cubicBezTo>
                    <a:cubicBezTo>
                      <a:pt x="0" y="15"/>
                      <a:pt x="0" y="15"/>
                      <a:pt x="0" y="15"/>
                    </a:cubicBezTo>
                    <a:cubicBezTo>
                      <a:pt x="23" y="35"/>
                      <a:pt x="23" y="35"/>
                      <a:pt x="23" y="35"/>
                    </a:cubicBezTo>
                    <a:lnTo>
                      <a:pt x="27" y="3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2" name="Freeform 28"/>
              <p:cNvSpPr/>
              <p:nvPr/>
            </p:nvSpPr>
            <p:spPr bwMode="auto">
              <a:xfrm>
                <a:off x="620322" y="834284"/>
                <a:ext cx="32800" cy="30642"/>
              </a:xfrm>
              <a:custGeom>
                <a:avLst/>
                <a:gdLst>
                  <a:gd name="T0" fmla="*/ 13 w 32"/>
                  <a:gd name="T1" fmla="*/ 28 h 30"/>
                  <a:gd name="T2" fmla="*/ 16 w 32"/>
                  <a:gd name="T3" fmla="*/ 22 h 30"/>
                  <a:gd name="T4" fmla="*/ 21 w 32"/>
                  <a:gd name="T5" fmla="*/ 23 h 30"/>
                  <a:gd name="T6" fmla="*/ 25 w 32"/>
                  <a:gd name="T7" fmla="*/ 20 h 30"/>
                  <a:gd name="T8" fmla="*/ 26 w 32"/>
                  <a:gd name="T9" fmla="*/ 16 h 30"/>
                  <a:gd name="T10" fmla="*/ 25 w 32"/>
                  <a:gd name="T11" fmla="*/ 13 h 30"/>
                  <a:gd name="T12" fmla="*/ 23 w 32"/>
                  <a:gd name="T13" fmla="*/ 13 h 30"/>
                  <a:gd name="T14" fmla="*/ 20 w 32"/>
                  <a:gd name="T15" fmla="*/ 14 h 30"/>
                  <a:gd name="T16" fmla="*/ 17 w 32"/>
                  <a:gd name="T17" fmla="*/ 17 h 30"/>
                  <a:gd name="T18" fmla="*/ 10 w 32"/>
                  <a:gd name="T19" fmla="*/ 21 h 30"/>
                  <a:gd name="T20" fmla="*/ 4 w 32"/>
                  <a:gd name="T21" fmla="*/ 20 h 30"/>
                  <a:gd name="T22" fmla="*/ 1 w 32"/>
                  <a:gd name="T23" fmla="*/ 16 h 30"/>
                  <a:gd name="T24" fmla="*/ 0 w 32"/>
                  <a:gd name="T25" fmla="*/ 12 h 30"/>
                  <a:gd name="T26" fmla="*/ 3 w 32"/>
                  <a:gd name="T27" fmla="*/ 6 h 30"/>
                  <a:gd name="T28" fmla="*/ 10 w 32"/>
                  <a:gd name="T29" fmla="*/ 1 h 30"/>
                  <a:gd name="T30" fmla="*/ 17 w 32"/>
                  <a:gd name="T31" fmla="*/ 2 h 30"/>
                  <a:gd name="T32" fmla="*/ 14 w 32"/>
                  <a:gd name="T33" fmla="*/ 7 h 30"/>
                  <a:gd name="T34" fmla="*/ 10 w 32"/>
                  <a:gd name="T35" fmla="*/ 6 h 30"/>
                  <a:gd name="T36" fmla="*/ 7 w 32"/>
                  <a:gd name="T37" fmla="*/ 9 h 30"/>
                  <a:gd name="T38" fmla="*/ 5 w 32"/>
                  <a:gd name="T39" fmla="*/ 13 h 30"/>
                  <a:gd name="T40" fmla="*/ 6 w 32"/>
                  <a:gd name="T41" fmla="*/ 15 h 30"/>
                  <a:gd name="T42" fmla="*/ 9 w 32"/>
                  <a:gd name="T43" fmla="*/ 15 h 30"/>
                  <a:gd name="T44" fmla="*/ 13 w 32"/>
                  <a:gd name="T45" fmla="*/ 12 h 30"/>
                  <a:gd name="T46" fmla="*/ 19 w 32"/>
                  <a:gd name="T47" fmla="*/ 7 h 30"/>
                  <a:gd name="T48" fmla="*/ 23 w 32"/>
                  <a:gd name="T49" fmla="*/ 6 h 30"/>
                  <a:gd name="T50" fmla="*/ 28 w 32"/>
                  <a:gd name="T51" fmla="*/ 8 h 30"/>
                  <a:gd name="T52" fmla="*/ 31 w 32"/>
                  <a:gd name="T53" fmla="*/ 12 h 30"/>
                  <a:gd name="T54" fmla="*/ 32 w 32"/>
                  <a:gd name="T55" fmla="*/ 17 h 30"/>
                  <a:gd name="T56" fmla="*/ 29 w 32"/>
                  <a:gd name="T57" fmla="*/ 23 h 30"/>
                  <a:gd name="T58" fmla="*/ 22 w 32"/>
                  <a:gd name="T59" fmla="*/ 29 h 30"/>
                  <a:gd name="T60" fmla="*/ 13 w 32"/>
                  <a:gd name="T61"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30">
                    <a:moveTo>
                      <a:pt x="13" y="28"/>
                    </a:moveTo>
                    <a:cubicBezTo>
                      <a:pt x="16" y="22"/>
                      <a:pt x="16" y="22"/>
                      <a:pt x="16" y="22"/>
                    </a:cubicBezTo>
                    <a:cubicBezTo>
                      <a:pt x="18" y="23"/>
                      <a:pt x="20" y="23"/>
                      <a:pt x="21" y="23"/>
                    </a:cubicBezTo>
                    <a:cubicBezTo>
                      <a:pt x="23" y="23"/>
                      <a:pt x="24" y="22"/>
                      <a:pt x="25" y="20"/>
                    </a:cubicBezTo>
                    <a:cubicBezTo>
                      <a:pt x="26" y="19"/>
                      <a:pt x="26" y="17"/>
                      <a:pt x="26" y="16"/>
                    </a:cubicBezTo>
                    <a:cubicBezTo>
                      <a:pt x="26" y="15"/>
                      <a:pt x="26" y="14"/>
                      <a:pt x="25" y="13"/>
                    </a:cubicBezTo>
                    <a:cubicBezTo>
                      <a:pt x="24" y="13"/>
                      <a:pt x="23" y="13"/>
                      <a:pt x="23" y="13"/>
                    </a:cubicBezTo>
                    <a:cubicBezTo>
                      <a:pt x="22" y="13"/>
                      <a:pt x="21" y="13"/>
                      <a:pt x="20" y="14"/>
                    </a:cubicBezTo>
                    <a:cubicBezTo>
                      <a:pt x="20" y="14"/>
                      <a:pt x="19" y="15"/>
                      <a:pt x="17" y="17"/>
                    </a:cubicBezTo>
                    <a:cubicBezTo>
                      <a:pt x="14" y="19"/>
                      <a:pt x="12" y="20"/>
                      <a:pt x="10" y="21"/>
                    </a:cubicBezTo>
                    <a:cubicBezTo>
                      <a:pt x="8" y="22"/>
                      <a:pt x="6" y="21"/>
                      <a:pt x="4" y="20"/>
                    </a:cubicBezTo>
                    <a:cubicBezTo>
                      <a:pt x="2" y="19"/>
                      <a:pt x="1" y="18"/>
                      <a:pt x="1" y="16"/>
                    </a:cubicBezTo>
                    <a:cubicBezTo>
                      <a:pt x="0" y="15"/>
                      <a:pt x="0" y="13"/>
                      <a:pt x="0" y="12"/>
                    </a:cubicBezTo>
                    <a:cubicBezTo>
                      <a:pt x="1" y="10"/>
                      <a:pt x="1" y="8"/>
                      <a:pt x="3" y="6"/>
                    </a:cubicBezTo>
                    <a:cubicBezTo>
                      <a:pt x="5" y="3"/>
                      <a:pt x="7" y="1"/>
                      <a:pt x="10" y="1"/>
                    </a:cubicBezTo>
                    <a:cubicBezTo>
                      <a:pt x="12" y="0"/>
                      <a:pt x="14" y="0"/>
                      <a:pt x="17" y="2"/>
                    </a:cubicBezTo>
                    <a:cubicBezTo>
                      <a:pt x="14" y="7"/>
                      <a:pt x="14" y="7"/>
                      <a:pt x="14" y="7"/>
                    </a:cubicBezTo>
                    <a:cubicBezTo>
                      <a:pt x="12" y="6"/>
                      <a:pt x="11" y="6"/>
                      <a:pt x="10" y="6"/>
                    </a:cubicBezTo>
                    <a:cubicBezTo>
                      <a:pt x="9" y="7"/>
                      <a:pt x="8" y="8"/>
                      <a:pt x="7" y="9"/>
                    </a:cubicBezTo>
                    <a:cubicBezTo>
                      <a:pt x="6" y="10"/>
                      <a:pt x="5" y="12"/>
                      <a:pt x="5" y="13"/>
                    </a:cubicBezTo>
                    <a:cubicBezTo>
                      <a:pt x="5" y="14"/>
                      <a:pt x="6" y="14"/>
                      <a:pt x="6" y="15"/>
                    </a:cubicBezTo>
                    <a:cubicBezTo>
                      <a:pt x="7" y="15"/>
                      <a:pt x="8" y="15"/>
                      <a:pt x="9" y="15"/>
                    </a:cubicBezTo>
                    <a:cubicBezTo>
                      <a:pt x="9" y="15"/>
                      <a:pt x="11" y="14"/>
                      <a:pt x="13" y="12"/>
                    </a:cubicBezTo>
                    <a:cubicBezTo>
                      <a:pt x="16" y="10"/>
                      <a:pt x="17" y="8"/>
                      <a:pt x="19" y="7"/>
                    </a:cubicBezTo>
                    <a:cubicBezTo>
                      <a:pt x="20" y="7"/>
                      <a:pt x="22" y="6"/>
                      <a:pt x="23" y="6"/>
                    </a:cubicBezTo>
                    <a:cubicBezTo>
                      <a:pt x="25" y="6"/>
                      <a:pt x="26" y="7"/>
                      <a:pt x="28" y="8"/>
                    </a:cubicBezTo>
                    <a:cubicBezTo>
                      <a:pt x="30" y="9"/>
                      <a:pt x="31" y="10"/>
                      <a:pt x="31" y="12"/>
                    </a:cubicBezTo>
                    <a:cubicBezTo>
                      <a:pt x="32" y="13"/>
                      <a:pt x="32" y="15"/>
                      <a:pt x="32" y="17"/>
                    </a:cubicBezTo>
                    <a:cubicBezTo>
                      <a:pt x="32" y="19"/>
                      <a:pt x="31" y="21"/>
                      <a:pt x="29" y="23"/>
                    </a:cubicBezTo>
                    <a:cubicBezTo>
                      <a:pt x="27" y="26"/>
                      <a:pt x="25" y="28"/>
                      <a:pt x="22" y="29"/>
                    </a:cubicBezTo>
                    <a:cubicBezTo>
                      <a:pt x="19" y="30"/>
                      <a:pt x="17" y="29"/>
                      <a:pt x="13" y="2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3" name="Freeform 29"/>
              <p:cNvSpPr/>
              <p:nvPr/>
            </p:nvSpPr>
            <p:spPr bwMode="auto">
              <a:xfrm>
                <a:off x="632837" y="819610"/>
                <a:ext cx="30642" cy="19853"/>
              </a:xfrm>
              <a:custGeom>
                <a:avLst/>
                <a:gdLst>
                  <a:gd name="T0" fmla="*/ 64 w 71"/>
                  <a:gd name="T1" fmla="*/ 46 h 46"/>
                  <a:gd name="T2" fmla="*/ 0 w 71"/>
                  <a:gd name="T3" fmla="*/ 15 h 46"/>
                  <a:gd name="T4" fmla="*/ 5 w 71"/>
                  <a:gd name="T5" fmla="*/ 0 h 46"/>
                  <a:gd name="T6" fmla="*/ 71 w 71"/>
                  <a:gd name="T7" fmla="*/ 31 h 46"/>
                  <a:gd name="T8" fmla="*/ 64 w 71"/>
                  <a:gd name="T9" fmla="*/ 46 h 46"/>
                </a:gdLst>
                <a:ahLst/>
                <a:cxnLst>
                  <a:cxn ang="0">
                    <a:pos x="T0" y="T1"/>
                  </a:cxn>
                  <a:cxn ang="0">
                    <a:pos x="T2" y="T3"/>
                  </a:cxn>
                  <a:cxn ang="0">
                    <a:pos x="T4" y="T5"/>
                  </a:cxn>
                  <a:cxn ang="0">
                    <a:pos x="T6" y="T7"/>
                  </a:cxn>
                  <a:cxn ang="0">
                    <a:pos x="T8" y="T9"/>
                  </a:cxn>
                </a:cxnLst>
                <a:rect l="0" t="0" r="r" b="b"/>
                <a:pathLst>
                  <a:path w="71" h="46">
                    <a:moveTo>
                      <a:pt x="64" y="46"/>
                    </a:moveTo>
                    <a:lnTo>
                      <a:pt x="0" y="15"/>
                    </a:lnTo>
                    <a:lnTo>
                      <a:pt x="5" y="0"/>
                    </a:lnTo>
                    <a:lnTo>
                      <a:pt x="71" y="31"/>
                    </a:lnTo>
                    <a:lnTo>
                      <a:pt x="64" y="4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4" name="Freeform 30"/>
              <p:cNvSpPr/>
              <p:nvPr/>
            </p:nvSpPr>
            <p:spPr bwMode="auto">
              <a:xfrm>
                <a:off x="636722" y="794147"/>
                <a:ext cx="34958" cy="24600"/>
              </a:xfrm>
              <a:custGeom>
                <a:avLst/>
                <a:gdLst>
                  <a:gd name="T0" fmla="*/ 76 w 81"/>
                  <a:gd name="T1" fmla="*/ 57 h 57"/>
                  <a:gd name="T2" fmla="*/ 19 w 81"/>
                  <a:gd name="T3" fmla="*/ 36 h 57"/>
                  <a:gd name="T4" fmla="*/ 12 w 81"/>
                  <a:gd name="T5" fmla="*/ 57 h 57"/>
                  <a:gd name="T6" fmla="*/ 0 w 81"/>
                  <a:gd name="T7" fmla="*/ 52 h 57"/>
                  <a:gd name="T8" fmla="*/ 19 w 81"/>
                  <a:gd name="T9" fmla="*/ 0 h 57"/>
                  <a:gd name="T10" fmla="*/ 31 w 81"/>
                  <a:gd name="T11" fmla="*/ 2 h 57"/>
                  <a:gd name="T12" fmla="*/ 24 w 81"/>
                  <a:gd name="T13" fmla="*/ 24 h 57"/>
                  <a:gd name="T14" fmla="*/ 81 w 81"/>
                  <a:gd name="T15" fmla="*/ 43 h 57"/>
                  <a:gd name="T16" fmla="*/ 76 w 81"/>
                  <a:gd name="T1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57">
                    <a:moveTo>
                      <a:pt x="76" y="57"/>
                    </a:moveTo>
                    <a:lnTo>
                      <a:pt x="19" y="36"/>
                    </a:lnTo>
                    <a:lnTo>
                      <a:pt x="12" y="57"/>
                    </a:lnTo>
                    <a:lnTo>
                      <a:pt x="0" y="52"/>
                    </a:lnTo>
                    <a:lnTo>
                      <a:pt x="19" y="0"/>
                    </a:lnTo>
                    <a:lnTo>
                      <a:pt x="31" y="2"/>
                    </a:lnTo>
                    <a:lnTo>
                      <a:pt x="24" y="24"/>
                    </a:lnTo>
                    <a:lnTo>
                      <a:pt x="81" y="43"/>
                    </a:lnTo>
                    <a:lnTo>
                      <a:pt x="76" y="57"/>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5" name="Freeform 31"/>
              <p:cNvSpPr/>
              <p:nvPr/>
            </p:nvSpPr>
            <p:spPr bwMode="auto">
              <a:xfrm>
                <a:off x="646216" y="764368"/>
                <a:ext cx="33663" cy="28916"/>
              </a:xfrm>
              <a:custGeom>
                <a:avLst/>
                <a:gdLst>
                  <a:gd name="T0" fmla="*/ 75 w 78"/>
                  <a:gd name="T1" fmla="*/ 52 h 67"/>
                  <a:gd name="T2" fmla="*/ 45 w 78"/>
                  <a:gd name="T3" fmla="*/ 48 h 67"/>
                  <a:gd name="T4" fmla="*/ 0 w 78"/>
                  <a:gd name="T5" fmla="*/ 67 h 67"/>
                  <a:gd name="T6" fmla="*/ 2 w 78"/>
                  <a:gd name="T7" fmla="*/ 50 h 67"/>
                  <a:gd name="T8" fmla="*/ 33 w 78"/>
                  <a:gd name="T9" fmla="*/ 38 h 67"/>
                  <a:gd name="T10" fmla="*/ 9 w 78"/>
                  <a:gd name="T11" fmla="*/ 17 h 67"/>
                  <a:gd name="T12" fmla="*/ 11 w 78"/>
                  <a:gd name="T13" fmla="*/ 0 h 67"/>
                  <a:gd name="T14" fmla="*/ 47 w 78"/>
                  <a:gd name="T15" fmla="*/ 33 h 67"/>
                  <a:gd name="T16" fmla="*/ 78 w 78"/>
                  <a:gd name="T17" fmla="*/ 38 h 67"/>
                  <a:gd name="T18" fmla="*/ 75 w 78"/>
                  <a:gd name="T19"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67">
                    <a:moveTo>
                      <a:pt x="75" y="52"/>
                    </a:moveTo>
                    <a:lnTo>
                      <a:pt x="45" y="48"/>
                    </a:lnTo>
                    <a:lnTo>
                      <a:pt x="0" y="67"/>
                    </a:lnTo>
                    <a:lnTo>
                      <a:pt x="2" y="50"/>
                    </a:lnTo>
                    <a:lnTo>
                      <a:pt x="33" y="38"/>
                    </a:lnTo>
                    <a:lnTo>
                      <a:pt x="9" y="17"/>
                    </a:lnTo>
                    <a:lnTo>
                      <a:pt x="11" y="0"/>
                    </a:lnTo>
                    <a:lnTo>
                      <a:pt x="47" y="33"/>
                    </a:lnTo>
                    <a:lnTo>
                      <a:pt x="78" y="38"/>
                    </a:lnTo>
                    <a:lnTo>
                      <a:pt x="75" y="52"/>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6" name="Freeform 32"/>
              <p:cNvSpPr>
                <a:spLocks noEditPoints="1"/>
              </p:cNvSpPr>
              <p:nvPr/>
            </p:nvSpPr>
            <p:spPr bwMode="auto">
              <a:xfrm>
                <a:off x="306131" y="576630"/>
                <a:ext cx="328864" cy="327138"/>
              </a:xfrm>
              <a:custGeom>
                <a:avLst/>
                <a:gdLst>
                  <a:gd name="T0" fmla="*/ 161 w 322"/>
                  <a:gd name="T1" fmla="*/ 0 h 319"/>
                  <a:gd name="T2" fmla="*/ 0 w 322"/>
                  <a:gd name="T3" fmla="*/ 159 h 319"/>
                  <a:gd name="T4" fmla="*/ 161 w 322"/>
                  <a:gd name="T5" fmla="*/ 319 h 319"/>
                  <a:gd name="T6" fmla="*/ 322 w 322"/>
                  <a:gd name="T7" fmla="*/ 159 h 319"/>
                  <a:gd name="T8" fmla="*/ 161 w 322"/>
                  <a:gd name="T9" fmla="*/ 0 h 319"/>
                  <a:gd name="T10" fmla="*/ 161 w 322"/>
                  <a:gd name="T11" fmla="*/ 6 h 319"/>
                  <a:gd name="T12" fmla="*/ 316 w 322"/>
                  <a:gd name="T13" fmla="*/ 159 h 319"/>
                  <a:gd name="T14" fmla="*/ 299 w 322"/>
                  <a:gd name="T15" fmla="*/ 228 h 319"/>
                  <a:gd name="T16" fmla="*/ 23 w 322"/>
                  <a:gd name="T17" fmla="*/ 228 h 319"/>
                  <a:gd name="T18" fmla="*/ 23 w 322"/>
                  <a:gd name="T19" fmla="*/ 229 h 319"/>
                  <a:gd name="T20" fmla="*/ 6 w 322"/>
                  <a:gd name="T21" fmla="*/ 159 h 319"/>
                  <a:gd name="T22" fmla="*/ 161 w 322"/>
                  <a:gd name="T23" fmla="*/ 6 h 319"/>
                  <a:gd name="T24" fmla="*/ 161 w 322"/>
                  <a:gd name="T25" fmla="*/ 313 h 319"/>
                  <a:gd name="T26" fmla="*/ 27 w 322"/>
                  <a:gd name="T27" fmla="*/ 236 h 319"/>
                  <a:gd name="T28" fmla="*/ 295 w 322"/>
                  <a:gd name="T29" fmla="*/ 236 h 319"/>
                  <a:gd name="T30" fmla="*/ 161 w 322"/>
                  <a:gd name="T31" fmla="*/ 31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319">
                    <a:moveTo>
                      <a:pt x="161" y="0"/>
                    </a:moveTo>
                    <a:cubicBezTo>
                      <a:pt x="72" y="0"/>
                      <a:pt x="0" y="71"/>
                      <a:pt x="0" y="159"/>
                    </a:cubicBezTo>
                    <a:cubicBezTo>
                      <a:pt x="0" y="248"/>
                      <a:pt x="72" y="319"/>
                      <a:pt x="161" y="319"/>
                    </a:cubicBezTo>
                    <a:cubicBezTo>
                      <a:pt x="250" y="319"/>
                      <a:pt x="322" y="248"/>
                      <a:pt x="322" y="159"/>
                    </a:cubicBezTo>
                    <a:cubicBezTo>
                      <a:pt x="322" y="71"/>
                      <a:pt x="250" y="0"/>
                      <a:pt x="161" y="0"/>
                    </a:cubicBezTo>
                    <a:close/>
                    <a:moveTo>
                      <a:pt x="161" y="6"/>
                    </a:moveTo>
                    <a:cubicBezTo>
                      <a:pt x="247" y="6"/>
                      <a:pt x="316" y="75"/>
                      <a:pt x="316" y="159"/>
                    </a:cubicBezTo>
                    <a:cubicBezTo>
                      <a:pt x="316" y="184"/>
                      <a:pt x="310" y="208"/>
                      <a:pt x="299" y="228"/>
                    </a:cubicBezTo>
                    <a:cubicBezTo>
                      <a:pt x="23" y="228"/>
                      <a:pt x="23" y="228"/>
                      <a:pt x="23" y="228"/>
                    </a:cubicBezTo>
                    <a:cubicBezTo>
                      <a:pt x="23" y="229"/>
                      <a:pt x="23" y="229"/>
                      <a:pt x="23" y="229"/>
                    </a:cubicBezTo>
                    <a:cubicBezTo>
                      <a:pt x="12" y="208"/>
                      <a:pt x="6" y="184"/>
                      <a:pt x="6" y="159"/>
                    </a:cubicBezTo>
                    <a:cubicBezTo>
                      <a:pt x="6" y="75"/>
                      <a:pt x="75" y="6"/>
                      <a:pt x="161" y="6"/>
                    </a:cubicBezTo>
                    <a:close/>
                    <a:moveTo>
                      <a:pt x="161" y="313"/>
                    </a:moveTo>
                    <a:cubicBezTo>
                      <a:pt x="104" y="313"/>
                      <a:pt x="54" y="282"/>
                      <a:pt x="27" y="236"/>
                    </a:cubicBezTo>
                    <a:cubicBezTo>
                      <a:pt x="295" y="236"/>
                      <a:pt x="295" y="236"/>
                      <a:pt x="295" y="236"/>
                    </a:cubicBezTo>
                    <a:cubicBezTo>
                      <a:pt x="269" y="282"/>
                      <a:pt x="218" y="313"/>
                      <a:pt x="161" y="3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7" name="Freeform 33"/>
              <p:cNvSpPr>
                <a:spLocks noEditPoints="1"/>
              </p:cNvSpPr>
              <p:nvPr/>
            </p:nvSpPr>
            <p:spPr bwMode="auto">
              <a:xfrm>
                <a:off x="327279" y="596051"/>
                <a:ext cx="286138" cy="212337"/>
              </a:xfrm>
              <a:custGeom>
                <a:avLst/>
                <a:gdLst>
                  <a:gd name="T0" fmla="*/ 236 w 280"/>
                  <a:gd name="T1" fmla="*/ 171 h 207"/>
                  <a:gd name="T2" fmla="*/ 158 w 280"/>
                  <a:gd name="T3" fmla="*/ 183 h 207"/>
                  <a:gd name="T4" fmla="*/ 187 w 280"/>
                  <a:gd name="T5" fmla="*/ 139 h 207"/>
                  <a:gd name="T6" fmla="*/ 214 w 280"/>
                  <a:gd name="T7" fmla="*/ 153 h 207"/>
                  <a:gd name="T8" fmla="*/ 232 w 280"/>
                  <a:gd name="T9" fmla="*/ 139 h 207"/>
                  <a:gd name="T10" fmla="*/ 259 w 280"/>
                  <a:gd name="T11" fmla="*/ 152 h 207"/>
                  <a:gd name="T12" fmla="*/ 271 w 280"/>
                  <a:gd name="T13" fmla="*/ 139 h 207"/>
                  <a:gd name="T14" fmla="*/ 242 w 280"/>
                  <a:gd name="T15" fmla="*/ 120 h 207"/>
                  <a:gd name="T16" fmla="*/ 179 w 280"/>
                  <a:gd name="T17" fmla="*/ 78 h 207"/>
                  <a:gd name="T18" fmla="*/ 101 w 280"/>
                  <a:gd name="T19" fmla="*/ 78 h 207"/>
                  <a:gd name="T20" fmla="*/ 46 w 280"/>
                  <a:gd name="T21" fmla="*/ 106 h 207"/>
                  <a:gd name="T22" fmla="*/ 9 w 280"/>
                  <a:gd name="T23" fmla="*/ 125 h 207"/>
                  <a:gd name="T24" fmla="*/ 24 w 280"/>
                  <a:gd name="T25" fmla="*/ 149 h 207"/>
                  <a:gd name="T26" fmla="*/ 56 w 280"/>
                  <a:gd name="T27" fmla="*/ 124 h 207"/>
                  <a:gd name="T28" fmla="*/ 69 w 280"/>
                  <a:gd name="T29" fmla="*/ 149 h 207"/>
                  <a:gd name="T30" fmla="*/ 100 w 280"/>
                  <a:gd name="T31" fmla="*/ 124 h 207"/>
                  <a:gd name="T32" fmla="*/ 120 w 280"/>
                  <a:gd name="T33" fmla="*/ 138 h 207"/>
                  <a:gd name="T34" fmla="*/ 123 w 280"/>
                  <a:gd name="T35" fmla="*/ 182 h 207"/>
                  <a:gd name="T36" fmla="*/ 44 w 280"/>
                  <a:gd name="T37" fmla="*/ 171 h 207"/>
                  <a:gd name="T38" fmla="*/ 0 w 280"/>
                  <a:gd name="T39" fmla="*/ 186 h 207"/>
                  <a:gd name="T40" fmla="*/ 98 w 280"/>
                  <a:gd name="T41" fmla="*/ 188 h 207"/>
                  <a:gd name="T42" fmla="*/ 183 w 280"/>
                  <a:gd name="T43" fmla="*/ 188 h 207"/>
                  <a:gd name="T44" fmla="*/ 280 w 280"/>
                  <a:gd name="T45" fmla="*/ 186 h 207"/>
                  <a:gd name="T46" fmla="*/ 203 w 280"/>
                  <a:gd name="T47" fmla="*/ 79 h 207"/>
                  <a:gd name="T48" fmla="*/ 199 w 280"/>
                  <a:gd name="T49" fmla="*/ 122 h 207"/>
                  <a:gd name="T50" fmla="*/ 203 w 280"/>
                  <a:gd name="T51" fmla="*/ 79 h 207"/>
                  <a:gd name="T52" fmla="*/ 65 w 280"/>
                  <a:gd name="T53" fmla="*/ 105 h 207"/>
                  <a:gd name="T54" fmla="*/ 93 w 280"/>
                  <a:gd name="T55" fmla="*/ 95 h 207"/>
                  <a:gd name="T56" fmla="*/ 148 w 280"/>
                  <a:gd name="T57" fmla="*/ 108 h 207"/>
                  <a:gd name="T58" fmla="*/ 136 w 280"/>
                  <a:gd name="T59" fmla="*/ 84 h 207"/>
                  <a:gd name="T60" fmla="*/ 108 w 280"/>
                  <a:gd name="T61" fmla="*/ 107 h 207"/>
                  <a:gd name="T62" fmla="*/ 179 w 280"/>
                  <a:gd name="T63" fmla="*/ 122 h 207"/>
                  <a:gd name="T64" fmla="*/ 161 w 280"/>
                  <a:gd name="T65" fmla="*/ 10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0" h="207">
                    <a:moveTo>
                      <a:pt x="275" y="174"/>
                    </a:moveTo>
                    <a:cubicBezTo>
                      <a:pt x="253" y="191"/>
                      <a:pt x="236" y="171"/>
                      <a:pt x="236" y="171"/>
                    </a:cubicBezTo>
                    <a:cubicBezTo>
                      <a:pt x="207" y="198"/>
                      <a:pt x="184" y="172"/>
                      <a:pt x="184" y="172"/>
                    </a:cubicBezTo>
                    <a:cubicBezTo>
                      <a:pt x="166" y="185"/>
                      <a:pt x="158" y="183"/>
                      <a:pt x="158" y="183"/>
                    </a:cubicBezTo>
                    <a:cubicBezTo>
                      <a:pt x="152" y="139"/>
                      <a:pt x="152" y="139"/>
                      <a:pt x="152" y="139"/>
                    </a:cubicBezTo>
                    <a:cubicBezTo>
                      <a:pt x="187" y="139"/>
                      <a:pt x="187" y="139"/>
                      <a:pt x="187" y="139"/>
                    </a:cubicBezTo>
                    <a:cubicBezTo>
                      <a:pt x="193" y="153"/>
                      <a:pt x="193" y="153"/>
                      <a:pt x="193" y="153"/>
                    </a:cubicBezTo>
                    <a:cubicBezTo>
                      <a:pt x="214" y="153"/>
                      <a:pt x="214" y="153"/>
                      <a:pt x="214" y="153"/>
                    </a:cubicBezTo>
                    <a:cubicBezTo>
                      <a:pt x="208" y="139"/>
                      <a:pt x="208" y="139"/>
                      <a:pt x="208" y="139"/>
                    </a:cubicBezTo>
                    <a:cubicBezTo>
                      <a:pt x="232" y="139"/>
                      <a:pt x="232" y="139"/>
                      <a:pt x="232" y="139"/>
                    </a:cubicBezTo>
                    <a:cubicBezTo>
                      <a:pt x="238" y="153"/>
                      <a:pt x="238" y="153"/>
                      <a:pt x="238" y="153"/>
                    </a:cubicBezTo>
                    <a:cubicBezTo>
                      <a:pt x="259" y="152"/>
                      <a:pt x="259" y="152"/>
                      <a:pt x="259" y="152"/>
                    </a:cubicBezTo>
                    <a:cubicBezTo>
                      <a:pt x="253" y="139"/>
                      <a:pt x="253" y="139"/>
                      <a:pt x="253" y="139"/>
                    </a:cubicBezTo>
                    <a:cubicBezTo>
                      <a:pt x="271" y="139"/>
                      <a:pt x="271" y="139"/>
                      <a:pt x="271" y="139"/>
                    </a:cubicBezTo>
                    <a:cubicBezTo>
                      <a:pt x="271" y="119"/>
                      <a:pt x="271" y="119"/>
                      <a:pt x="271" y="119"/>
                    </a:cubicBezTo>
                    <a:cubicBezTo>
                      <a:pt x="242" y="120"/>
                      <a:pt x="242" y="120"/>
                      <a:pt x="242" y="120"/>
                    </a:cubicBezTo>
                    <a:cubicBezTo>
                      <a:pt x="207" y="49"/>
                      <a:pt x="207" y="49"/>
                      <a:pt x="207" y="49"/>
                    </a:cubicBezTo>
                    <a:cubicBezTo>
                      <a:pt x="179" y="78"/>
                      <a:pt x="179" y="78"/>
                      <a:pt x="179" y="78"/>
                    </a:cubicBezTo>
                    <a:cubicBezTo>
                      <a:pt x="141" y="0"/>
                      <a:pt x="141" y="0"/>
                      <a:pt x="141" y="0"/>
                    </a:cubicBezTo>
                    <a:cubicBezTo>
                      <a:pt x="101" y="78"/>
                      <a:pt x="101" y="78"/>
                      <a:pt x="101" y="78"/>
                    </a:cubicBezTo>
                    <a:cubicBezTo>
                      <a:pt x="74" y="49"/>
                      <a:pt x="74" y="49"/>
                      <a:pt x="74" y="49"/>
                    </a:cubicBezTo>
                    <a:cubicBezTo>
                      <a:pt x="46" y="106"/>
                      <a:pt x="46" y="106"/>
                      <a:pt x="46" y="106"/>
                    </a:cubicBezTo>
                    <a:cubicBezTo>
                      <a:pt x="10" y="105"/>
                      <a:pt x="10" y="105"/>
                      <a:pt x="10" y="105"/>
                    </a:cubicBezTo>
                    <a:cubicBezTo>
                      <a:pt x="9" y="125"/>
                      <a:pt x="9" y="125"/>
                      <a:pt x="9" y="125"/>
                    </a:cubicBezTo>
                    <a:cubicBezTo>
                      <a:pt x="36" y="124"/>
                      <a:pt x="36" y="124"/>
                      <a:pt x="36" y="124"/>
                    </a:cubicBezTo>
                    <a:cubicBezTo>
                      <a:pt x="24" y="149"/>
                      <a:pt x="24" y="149"/>
                      <a:pt x="24" y="149"/>
                    </a:cubicBezTo>
                    <a:cubicBezTo>
                      <a:pt x="44" y="149"/>
                      <a:pt x="44" y="149"/>
                      <a:pt x="44" y="149"/>
                    </a:cubicBezTo>
                    <a:cubicBezTo>
                      <a:pt x="56" y="124"/>
                      <a:pt x="56" y="124"/>
                      <a:pt x="56" y="124"/>
                    </a:cubicBezTo>
                    <a:cubicBezTo>
                      <a:pt x="80" y="124"/>
                      <a:pt x="80" y="124"/>
                      <a:pt x="80" y="124"/>
                    </a:cubicBezTo>
                    <a:cubicBezTo>
                      <a:pt x="69" y="149"/>
                      <a:pt x="69" y="149"/>
                      <a:pt x="69" y="149"/>
                    </a:cubicBezTo>
                    <a:cubicBezTo>
                      <a:pt x="89" y="149"/>
                      <a:pt x="89" y="149"/>
                      <a:pt x="89" y="149"/>
                    </a:cubicBezTo>
                    <a:cubicBezTo>
                      <a:pt x="100" y="124"/>
                      <a:pt x="100" y="124"/>
                      <a:pt x="100" y="124"/>
                    </a:cubicBezTo>
                    <a:cubicBezTo>
                      <a:pt x="131" y="124"/>
                      <a:pt x="131" y="124"/>
                      <a:pt x="131" y="124"/>
                    </a:cubicBezTo>
                    <a:cubicBezTo>
                      <a:pt x="120" y="138"/>
                      <a:pt x="120" y="138"/>
                      <a:pt x="120" y="138"/>
                    </a:cubicBezTo>
                    <a:cubicBezTo>
                      <a:pt x="129" y="139"/>
                      <a:pt x="129" y="139"/>
                      <a:pt x="129" y="139"/>
                    </a:cubicBezTo>
                    <a:cubicBezTo>
                      <a:pt x="123" y="182"/>
                      <a:pt x="123" y="182"/>
                      <a:pt x="123" y="182"/>
                    </a:cubicBezTo>
                    <a:cubicBezTo>
                      <a:pt x="113" y="185"/>
                      <a:pt x="98" y="172"/>
                      <a:pt x="98" y="172"/>
                    </a:cubicBezTo>
                    <a:cubicBezTo>
                      <a:pt x="69" y="198"/>
                      <a:pt x="44" y="171"/>
                      <a:pt x="44" y="171"/>
                    </a:cubicBezTo>
                    <a:cubicBezTo>
                      <a:pt x="26" y="191"/>
                      <a:pt x="5" y="174"/>
                      <a:pt x="5" y="174"/>
                    </a:cubicBezTo>
                    <a:cubicBezTo>
                      <a:pt x="0" y="186"/>
                      <a:pt x="0" y="186"/>
                      <a:pt x="0" y="186"/>
                    </a:cubicBezTo>
                    <a:cubicBezTo>
                      <a:pt x="23" y="201"/>
                      <a:pt x="45" y="187"/>
                      <a:pt x="45" y="187"/>
                    </a:cubicBezTo>
                    <a:cubicBezTo>
                      <a:pt x="74" y="206"/>
                      <a:pt x="98" y="188"/>
                      <a:pt x="98" y="188"/>
                    </a:cubicBezTo>
                    <a:cubicBezTo>
                      <a:pt x="127" y="207"/>
                      <a:pt x="140" y="189"/>
                      <a:pt x="140" y="189"/>
                    </a:cubicBezTo>
                    <a:cubicBezTo>
                      <a:pt x="159" y="206"/>
                      <a:pt x="183" y="188"/>
                      <a:pt x="183" y="188"/>
                    </a:cubicBezTo>
                    <a:cubicBezTo>
                      <a:pt x="207" y="207"/>
                      <a:pt x="235" y="187"/>
                      <a:pt x="235" y="187"/>
                    </a:cubicBezTo>
                    <a:cubicBezTo>
                      <a:pt x="259" y="202"/>
                      <a:pt x="280" y="186"/>
                      <a:pt x="280" y="186"/>
                    </a:cubicBezTo>
                    <a:lnTo>
                      <a:pt x="275" y="174"/>
                    </a:lnTo>
                    <a:close/>
                    <a:moveTo>
                      <a:pt x="203" y="79"/>
                    </a:moveTo>
                    <a:cubicBezTo>
                      <a:pt x="223" y="121"/>
                      <a:pt x="223" y="121"/>
                      <a:pt x="223" y="121"/>
                    </a:cubicBezTo>
                    <a:cubicBezTo>
                      <a:pt x="199" y="122"/>
                      <a:pt x="199" y="122"/>
                      <a:pt x="199" y="122"/>
                    </a:cubicBezTo>
                    <a:cubicBezTo>
                      <a:pt x="187" y="95"/>
                      <a:pt x="187" y="95"/>
                      <a:pt x="187" y="95"/>
                    </a:cubicBezTo>
                    <a:lnTo>
                      <a:pt x="203" y="79"/>
                    </a:lnTo>
                    <a:close/>
                    <a:moveTo>
                      <a:pt x="88" y="106"/>
                    </a:moveTo>
                    <a:cubicBezTo>
                      <a:pt x="65" y="105"/>
                      <a:pt x="65" y="105"/>
                      <a:pt x="65" y="105"/>
                    </a:cubicBezTo>
                    <a:cubicBezTo>
                      <a:pt x="78" y="79"/>
                      <a:pt x="78" y="79"/>
                      <a:pt x="78" y="79"/>
                    </a:cubicBezTo>
                    <a:cubicBezTo>
                      <a:pt x="93" y="95"/>
                      <a:pt x="93" y="95"/>
                      <a:pt x="93" y="95"/>
                    </a:cubicBezTo>
                    <a:lnTo>
                      <a:pt x="88" y="106"/>
                    </a:lnTo>
                    <a:close/>
                    <a:moveTo>
                      <a:pt x="148" y="108"/>
                    </a:moveTo>
                    <a:cubicBezTo>
                      <a:pt x="145" y="84"/>
                      <a:pt x="145" y="84"/>
                      <a:pt x="145" y="84"/>
                    </a:cubicBezTo>
                    <a:cubicBezTo>
                      <a:pt x="136" y="84"/>
                      <a:pt x="136" y="84"/>
                      <a:pt x="136" y="84"/>
                    </a:cubicBezTo>
                    <a:cubicBezTo>
                      <a:pt x="132" y="108"/>
                      <a:pt x="132" y="108"/>
                      <a:pt x="132" y="108"/>
                    </a:cubicBezTo>
                    <a:cubicBezTo>
                      <a:pt x="108" y="107"/>
                      <a:pt x="108" y="107"/>
                      <a:pt x="108" y="107"/>
                    </a:cubicBezTo>
                    <a:cubicBezTo>
                      <a:pt x="141" y="39"/>
                      <a:pt x="141" y="39"/>
                      <a:pt x="141" y="39"/>
                    </a:cubicBezTo>
                    <a:cubicBezTo>
                      <a:pt x="179" y="122"/>
                      <a:pt x="179" y="122"/>
                      <a:pt x="179" y="122"/>
                    </a:cubicBezTo>
                    <a:cubicBezTo>
                      <a:pt x="150" y="123"/>
                      <a:pt x="150" y="123"/>
                      <a:pt x="150" y="123"/>
                    </a:cubicBezTo>
                    <a:cubicBezTo>
                      <a:pt x="161" y="108"/>
                      <a:pt x="161" y="108"/>
                      <a:pt x="161" y="108"/>
                    </a:cubicBezTo>
                    <a:lnTo>
                      <a:pt x="148" y="108"/>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8" name="Freeform 34"/>
              <p:cNvSpPr/>
              <p:nvPr/>
            </p:nvSpPr>
            <p:spPr bwMode="auto">
              <a:xfrm>
                <a:off x="271173" y="644388"/>
                <a:ext cx="17263" cy="19421"/>
              </a:xfrm>
              <a:custGeom>
                <a:avLst/>
                <a:gdLst>
                  <a:gd name="T0" fmla="*/ 15 w 17"/>
                  <a:gd name="T1" fmla="*/ 18 h 19"/>
                  <a:gd name="T2" fmla="*/ 17 w 17"/>
                  <a:gd name="T3" fmla="*/ 18 h 19"/>
                  <a:gd name="T4" fmla="*/ 16 w 17"/>
                  <a:gd name="T5" fmla="*/ 12 h 19"/>
                  <a:gd name="T6" fmla="*/ 9 w 17"/>
                  <a:gd name="T7" fmla="*/ 1 h 19"/>
                  <a:gd name="T8" fmla="*/ 1 w 17"/>
                  <a:gd name="T9" fmla="*/ 0 h 19"/>
                  <a:gd name="T10" fmla="*/ 1 w 17"/>
                  <a:gd name="T11" fmla="*/ 2 h 19"/>
                  <a:gd name="T12" fmla="*/ 7 w 17"/>
                  <a:gd name="T13" fmla="*/ 6 h 19"/>
                  <a:gd name="T14" fmla="*/ 13 w 17"/>
                  <a:gd name="T15" fmla="*/ 14 h 19"/>
                  <a:gd name="T16" fmla="*/ 15 w 17"/>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15" y="18"/>
                    </a:moveTo>
                    <a:cubicBezTo>
                      <a:pt x="15" y="18"/>
                      <a:pt x="16" y="19"/>
                      <a:pt x="17" y="18"/>
                    </a:cubicBezTo>
                    <a:cubicBezTo>
                      <a:pt x="17" y="18"/>
                      <a:pt x="17" y="14"/>
                      <a:pt x="16" y="12"/>
                    </a:cubicBezTo>
                    <a:cubicBezTo>
                      <a:pt x="16" y="12"/>
                      <a:pt x="10" y="5"/>
                      <a:pt x="9" y="1"/>
                    </a:cubicBezTo>
                    <a:cubicBezTo>
                      <a:pt x="9" y="1"/>
                      <a:pt x="8" y="0"/>
                      <a:pt x="1" y="0"/>
                    </a:cubicBezTo>
                    <a:cubicBezTo>
                      <a:pt x="1" y="0"/>
                      <a:pt x="0" y="1"/>
                      <a:pt x="1" y="2"/>
                    </a:cubicBezTo>
                    <a:cubicBezTo>
                      <a:pt x="2" y="2"/>
                      <a:pt x="4" y="1"/>
                      <a:pt x="7" y="6"/>
                    </a:cubicBezTo>
                    <a:cubicBezTo>
                      <a:pt x="13" y="14"/>
                      <a:pt x="13" y="14"/>
                      <a:pt x="13" y="14"/>
                    </a:cubicBezTo>
                    <a:cubicBezTo>
                      <a:pt x="13" y="14"/>
                      <a:pt x="15" y="17"/>
                      <a:pt x="15" y="18"/>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49" name="Freeform 35"/>
              <p:cNvSpPr/>
              <p:nvPr/>
            </p:nvSpPr>
            <p:spPr bwMode="auto">
              <a:xfrm>
                <a:off x="297931" y="650430"/>
                <a:ext cx="12084" cy="17695"/>
              </a:xfrm>
              <a:custGeom>
                <a:avLst/>
                <a:gdLst>
                  <a:gd name="T0" fmla="*/ 10 w 12"/>
                  <a:gd name="T1" fmla="*/ 1 h 17"/>
                  <a:gd name="T2" fmla="*/ 3 w 12"/>
                  <a:gd name="T3" fmla="*/ 0 h 17"/>
                  <a:gd name="T4" fmla="*/ 2 w 12"/>
                  <a:gd name="T5" fmla="*/ 2 h 17"/>
                  <a:gd name="T6" fmla="*/ 5 w 12"/>
                  <a:gd name="T7" fmla="*/ 15 h 17"/>
                  <a:gd name="T8" fmla="*/ 7 w 12"/>
                  <a:gd name="T9" fmla="*/ 14 h 17"/>
                  <a:gd name="T10" fmla="*/ 11 w 12"/>
                  <a:gd name="T11" fmla="*/ 4 h 17"/>
                  <a:gd name="T12" fmla="*/ 10 w 12"/>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2" h="17">
                    <a:moveTo>
                      <a:pt x="10" y="1"/>
                    </a:moveTo>
                    <a:cubicBezTo>
                      <a:pt x="3" y="0"/>
                      <a:pt x="3" y="0"/>
                      <a:pt x="3" y="0"/>
                    </a:cubicBezTo>
                    <a:cubicBezTo>
                      <a:pt x="3" y="0"/>
                      <a:pt x="0" y="1"/>
                      <a:pt x="2" y="2"/>
                    </a:cubicBezTo>
                    <a:cubicBezTo>
                      <a:pt x="2" y="2"/>
                      <a:pt x="6" y="10"/>
                      <a:pt x="5" y="15"/>
                    </a:cubicBezTo>
                    <a:cubicBezTo>
                      <a:pt x="5" y="15"/>
                      <a:pt x="6" y="17"/>
                      <a:pt x="7" y="14"/>
                    </a:cubicBezTo>
                    <a:cubicBezTo>
                      <a:pt x="7" y="14"/>
                      <a:pt x="9" y="5"/>
                      <a:pt x="11" y="4"/>
                    </a:cubicBezTo>
                    <a:cubicBezTo>
                      <a:pt x="11" y="4"/>
                      <a:pt x="12" y="1"/>
                      <a:pt x="10" y="1"/>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0" name="Freeform 36"/>
              <p:cNvSpPr/>
              <p:nvPr/>
            </p:nvSpPr>
            <p:spPr bwMode="auto">
              <a:xfrm>
                <a:off x="278510" y="659925"/>
                <a:ext cx="18126" cy="34526"/>
              </a:xfrm>
              <a:custGeom>
                <a:avLst/>
                <a:gdLst>
                  <a:gd name="T0" fmla="*/ 15 w 18"/>
                  <a:gd name="T1" fmla="*/ 2 h 34"/>
                  <a:gd name="T2" fmla="*/ 14 w 18"/>
                  <a:gd name="T3" fmla="*/ 2 h 34"/>
                  <a:gd name="T4" fmla="*/ 12 w 18"/>
                  <a:gd name="T5" fmla="*/ 12 h 34"/>
                  <a:gd name="T6" fmla="*/ 12 w 18"/>
                  <a:gd name="T7" fmla="*/ 21 h 34"/>
                  <a:gd name="T8" fmla="*/ 11 w 18"/>
                  <a:gd name="T9" fmla="*/ 27 h 34"/>
                  <a:gd name="T10" fmla="*/ 10 w 18"/>
                  <a:gd name="T11" fmla="*/ 27 h 34"/>
                  <a:gd name="T12" fmla="*/ 1 w 18"/>
                  <a:gd name="T13" fmla="*/ 18 h 34"/>
                  <a:gd name="T14" fmla="*/ 2 w 18"/>
                  <a:gd name="T15" fmla="*/ 20 h 34"/>
                  <a:gd name="T16" fmla="*/ 6 w 18"/>
                  <a:gd name="T17" fmla="*/ 33 h 34"/>
                  <a:gd name="T18" fmla="*/ 13 w 18"/>
                  <a:gd name="T19" fmla="*/ 34 h 34"/>
                  <a:gd name="T20" fmla="*/ 18 w 18"/>
                  <a:gd name="T21" fmla="*/ 21 h 34"/>
                  <a:gd name="T22" fmla="*/ 17 w 18"/>
                  <a:gd name="T23" fmla="*/ 13 h 34"/>
                  <a:gd name="T24" fmla="*/ 15 w 18"/>
                  <a:gd name="T2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4">
                    <a:moveTo>
                      <a:pt x="15" y="2"/>
                    </a:moveTo>
                    <a:cubicBezTo>
                      <a:pt x="15" y="2"/>
                      <a:pt x="15" y="0"/>
                      <a:pt x="14" y="2"/>
                    </a:cubicBezTo>
                    <a:cubicBezTo>
                      <a:pt x="14" y="2"/>
                      <a:pt x="14" y="9"/>
                      <a:pt x="12" y="12"/>
                    </a:cubicBezTo>
                    <a:cubicBezTo>
                      <a:pt x="12" y="12"/>
                      <a:pt x="12" y="19"/>
                      <a:pt x="12" y="21"/>
                    </a:cubicBezTo>
                    <a:cubicBezTo>
                      <a:pt x="12" y="21"/>
                      <a:pt x="10" y="26"/>
                      <a:pt x="11" y="27"/>
                    </a:cubicBezTo>
                    <a:cubicBezTo>
                      <a:pt x="10" y="27"/>
                      <a:pt x="10" y="27"/>
                      <a:pt x="10" y="27"/>
                    </a:cubicBezTo>
                    <a:cubicBezTo>
                      <a:pt x="10" y="27"/>
                      <a:pt x="6" y="16"/>
                      <a:pt x="1" y="18"/>
                    </a:cubicBezTo>
                    <a:cubicBezTo>
                      <a:pt x="1" y="18"/>
                      <a:pt x="0" y="19"/>
                      <a:pt x="2" y="20"/>
                    </a:cubicBezTo>
                    <a:cubicBezTo>
                      <a:pt x="2" y="20"/>
                      <a:pt x="7" y="30"/>
                      <a:pt x="6" y="33"/>
                    </a:cubicBezTo>
                    <a:cubicBezTo>
                      <a:pt x="6" y="33"/>
                      <a:pt x="10" y="34"/>
                      <a:pt x="13" y="34"/>
                    </a:cubicBezTo>
                    <a:cubicBezTo>
                      <a:pt x="13" y="34"/>
                      <a:pt x="17" y="25"/>
                      <a:pt x="18" y="21"/>
                    </a:cubicBezTo>
                    <a:cubicBezTo>
                      <a:pt x="18" y="21"/>
                      <a:pt x="18" y="15"/>
                      <a:pt x="17" y="13"/>
                    </a:cubicBezTo>
                    <a:cubicBezTo>
                      <a:pt x="17" y="13"/>
                      <a:pt x="17" y="5"/>
                      <a:pt x="15" y="2"/>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1" name="Freeform 37"/>
              <p:cNvSpPr/>
              <p:nvPr/>
            </p:nvSpPr>
            <p:spPr bwMode="auto">
              <a:xfrm>
                <a:off x="508111" y="546851"/>
                <a:ext cx="59127" cy="27621"/>
              </a:xfrm>
              <a:custGeom>
                <a:avLst/>
                <a:gdLst>
                  <a:gd name="T0" fmla="*/ 58 w 58"/>
                  <a:gd name="T1" fmla="*/ 9 h 27"/>
                  <a:gd name="T2" fmla="*/ 55 w 58"/>
                  <a:gd name="T3" fmla="*/ 9 h 27"/>
                  <a:gd name="T4" fmla="*/ 51 w 58"/>
                  <a:gd name="T5" fmla="*/ 8 h 27"/>
                  <a:gd name="T6" fmla="*/ 50 w 58"/>
                  <a:gd name="T7" fmla="*/ 2 h 27"/>
                  <a:gd name="T8" fmla="*/ 47 w 58"/>
                  <a:gd name="T9" fmla="*/ 0 h 27"/>
                  <a:gd name="T10" fmla="*/ 45 w 58"/>
                  <a:gd name="T11" fmla="*/ 5 h 27"/>
                  <a:gd name="T12" fmla="*/ 44 w 58"/>
                  <a:gd name="T13" fmla="*/ 7 h 27"/>
                  <a:gd name="T14" fmla="*/ 34 w 58"/>
                  <a:gd name="T15" fmla="*/ 7 h 27"/>
                  <a:gd name="T16" fmla="*/ 37 w 58"/>
                  <a:gd name="T17" fmla="*/ 4 h 27"/>
                  <a:gd name="T18" fmla="*/ 35 w 58"/>
                  <a:gd name="T19" fmla="*/ 3 h 27"/>
                  <a:gd name="T20" fmla="*/ 30 w 58"/>
                  <a:gd name="T21" fmla="*/ 10 h 27"/>
                  <a:gd name="T22" fmla="*/ 34 w 58"/>
                  <a:gd name="T23" fmla="*/ 14 h 27"/>
                  <a:gd name="T24" fmla="*/ 26 w 58"/>
                  <a:gd name="T25" fmla="*/ 18 h 27"/>
                  <a:gd name="T26" fmla="*/ 4 w 58"/>
                  <a:gd name="T27" fmla="*/ 24 h 27"/>
                  <a:gd name="T28" fmla="*/ 5 w 58"/>
                  <a:gd name="T29" fmla="*/ 26 h 27"/>
                  <a:gd name="T30" fmla="*/ 24 w 58"/>
                  <a:gd name="T31" fmla="*/ 24 h 27"/>
                  <a:gd name="T32" fmla="*/ 49 w 58"/>
                  <a:gd name="T33" fmla="*/ 13 h 27"/>
                  <a:gd name="T34" fmla="*/ 58 w 58"/>
                  <a:gd name="T35" fmla="*/ 13 h 27"/>
                  <a:gd name="T36" fmla="*/ 58 w 58"/>
                  <a:gd name="T3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27">
                    <a:moveTo>
                      <a:pt x="58" y="9"/>
                    </a:moveTo>
                    <a:cubicBezTo>
                      <a:pt x="57" y="8"/>
                      <a:pt x="55" y="9"/>
                      <a:pt x="55" y="9"/>
                    </a:cubicBezTo>
                    <a:cubicBezTo>
                      <a:pt x="51" y="8"/>
                      <a:pt x="51" y="8"/>
                      <a:pt x="51" y="8"/>
                    </a:cubicBezTo>
                    <a:cubicBezTo>
                      <a:pt x="52" y="7"/>
                      <a:pt x="50" y="2"/>
                      <a:pt x="50" y="2"/>
                    </a:cubicBezTo>
                    <a:cubicBezTo>
                      <a:pt x="49" y="0"/>
                      <a:pt x="47" y="0"/>
                      <a:pt x="47" y="0"/>
                    </a:cubicBezTo>
                    <a:cubicBezTo>
                      <a:pt x="46" y="1"/>
                      <a:pt x="45" y="5"/>
                      <a:pt x="45" y="5"/>
                    </a:cubicBezTo>
                    <a:cubicBezTo>
                      <a:pt x="44" y="7"/>
                      <a:pt x="44" y="7"/>
                      <a:pt x="44" y="7"/>
                    </a:cubicBezTo>
                    <a:cubicBezTo>
                      <a:pt x="34" y="7"/>
                      <a:pt x="34" y="7"/>
                      <a:pt x="34" y="7"/>
                    </a:cubicBezTo>
                    <a:cubicBezTo>
                      <a:pt x="33" y="5"/>
                      <a:pt x="37" y="4"/>
                      <a:pt x="37" y="4"/>
                    </a:cubicBezTo>
                    <a:cubicBezTo>
                      <a:pt x="38" y="1"/>
                      <a:pt x="35" y="3"/>
                      <a:pt x="35" y="3"/>
                    </a:cubicBezTo>
                    <a:cubicBezTo>
                      <a:pt x="30" y="5"/>
                      <a:pt x="30" y="10"/>
                      <a:pt x="30" y="10"/>
                    </a:cubicBezTo>
                    <a:cubicBezTo>
                      <a:pt x="29" y="14"/>
                      <a:pt x="33" y="14"/>
                      <a:pt x="34" y="14"/>
                    </a:cubicBezTo>
                    <a:cubicBezTo>
                      <a:pt x="33" y="15"/>
                      <a:pt x="26" y="18"/>
                      <a:pt x="26" y="18"/>
                    </a:cubicBezTo>
                    <a:cubicBezTo>
                      <a:pt x="17" y="24"/>
                      <a:pt x="4" y="24"/>
                      <a:pt x="4" y="24"/>
                    </a:cubicBezTo>
                    <a:cubicBezTo>
                      <a:pt x="0" y="25"/>
                      <a:pt x="5" y="26"/>
                      <a:pt x="5" y="26"/>
                    </a:cubicBezTo>
                    <a:cubicBezTo>
                      <a:pt x="9" y="27"/>
                      <a:pt x="24" y="24"/>
                      <a:pt x="24" y="24"/>
                    </a:cubicBezTo>
                    <a:cubicBezTo>
                      <a:pt x="46" y="18"/>
                      <a:pt x="49" y="13"/>
                      <a:pt x="49" y="13"/>
                    </a:cubicBezTo>
                    <a:cubicBezTo>
                      <a:pt x="53" y="13"/>
                      <a:pt x="58" y="13"/>
                      <a:pt x="58" y="13"/>
                    </a:cubicBezTo>
                    <a:lnTo>
                      <a:pt x="58" y="9"/>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2" name="Freeform 38"/>
              <p:cNvSpPr/>
              <p:nvPr/>
            </p:nvSpPr>
            <p:spPr bwMode="auto">
              <a:xfrm>
                <a:off x="537890" y="573609"/>
                <a:ext cx="18126" cy="16400"/>
              </a:xfrm>
              <a:custGeom>
                <a:avLst/>
                <a:gdLst>
                  <a:gd name="T0" fmla="*/ 10 w 18"/>
                  <a:gd name="T1" fmla="*/ 5 h 16"/>
                  <a:gd name="T2" fmla="*/ 4 w 18"/>
                  <a:gd name="T3" fmla="*/ 14 h 16"/>
                  <a:gd name="T4" fmla="*/ 3 w 18"/>
                  <a:gd name="T5" fmla="*/ 16 h 16"/>
                  <a:gd name="T6" fmla="*/ 14 w 18"/>
                  <a:gd name="T7" fmla="*/ 13 h 16"/>
                  <a:gd name="T8" fmla="*/ 14 w 18"/>
                  <a:gd name="T9" fmla="*/ 4 h 16"/>
                  <a:gd name="T10" fmla="*/ 10 w 18"/>
                  <a:gd name="T11" fmla="*/ 5 h 16"/>
                </a:gdLst>
                <a:ahLst/>
                <a:cxnLst>
                  <a:cxn ang="0">
                    <a:pos x="T0" y="T1"/>
                  </a:cxn>
                  <a:cxn ang="0">
                    <a:pos x="T2" y="T3"/>
                  </a:cxn>
                  <a:cxn ang="0">
                    <a:pos x="T4" y="T5"/>
                  </a:cxn>
                  <a:cxn ang="0">
                    <a:pos x="T6" y="T7"/>
                  </a:cxn>
                  <a:cxn ang="0">
                    <a:pos x="T8" y="T9"/>
                  </a:cxn>
                  <a:cxn ang="0">
                    <a:pos x="T10" y="T11"/>
                  </a:cxn>
                </a:cxnLst>
                <a:rect l="0" t="0" r="r" b="b"/>
                <a:pathLst>
                  <a:path w="18" h="16">
                    <a:moveTo>
                      <a:pt x="10" y="5"/>
                    </a:moveTo>
                    <a:cubicBezTo>
                      <a:pt x="10" y="5"/>
                      <a:pt x="7" y="14"/>
                      <a:pt x="4" y="14"/>
                    </a:cubicBezTo>
                    <a:cubicBezTo>
                      <a:pt x="4" y="14"/>
                      <a:pt x="0" y="16"/>
                      <a:pt x="3" y="16"/>
                    </a:cubicBezTo>
                    <a:cubicBezTo>
                      <a:pt x="3" y="16"/>
                      <a:pt x="10" y="13"/>
                      <a:pt x="14" y="13"/>
                    </a:cubicBezTo>
                    <a:cubicBezTo>
                      <a:pt x="14" y="13"/>
                      <a:pt x="18" y="10"/>
                      <a:pt x="14" y="4"/>
                    </a:cubicBezTo>
                    <a:cubicBezTo>
                      <a:pt x="14" y="4"/>
                      <a:pt x="12" y="0"/>
                      <a:pt x="10" y="5"/>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3" name="Freeform 39"/>
              <p:cNvSpPr>
                <a:spLocks noEditPoints="1"/>
              </p:cNvSpPr>
              <p:nvPr/>
            </p:nvSpPr>
            <p:spPr bwMode="auto">
              <a:xfrm>
                <a:off x="625501" y="652588"/>
                <a:ext cx="61284" cy="38842"/>
              </a:xfrm>
              <a:custGeom>
                <a:avLst/>
                <a:gdLst>
                  <a:gd name="T0" fmla="*/ 59 w 60"/>
                  <a:gd name="T1" fmla="*/ 18 h 38"/>
                  <a:gd name="T2" fmla="*/ 58 w 60"/>
                  <a:gd name="T3" fmla="*/ 18 h 38"/>
                  <a:gd name="T4" fmla="*/ 54 w 60"/>
                  <a:gd name="T5" fmla="*/ 15 h 38"/>
                  <a:gd name="T6" fmla="*/ 52 w 60"/>
                  <a:gd name="T7" fmla="*/ 11 h 38"/>
                  <a:gd name="T8" fmla="*/ 49 w 60"/>
                  <a:gd name="T9" fmla="*/ 10 h 38"/>
                  <a:gd name="T10" fmla="*/ 42 w 60"/>
                  <a:gd name="T11" fmla="*/ 5 h 38"/>
                  <a:gd name="T12" fmla="*/ 44 w 60"/>
                  <a:gd name="T13" fmla="*/ 2 h 38"/>
                  <a:gd name="T14" fmla="*/ 42 w 60"/>
                  <a:gd name="T15" fmla="*/ 0 h 38"/>
                  <a:gd name="T16" fmla="*/ 36 w 60"/>
                  <a:gd name="T17" fmla="*/ 2 h 38"/>
                  <a:gd name="T18" fmla="*/ 39 w 60"/>
                  <a:gd name="T19" fmla="*/ 6 h 38"/>
                  <a:gd name="T20" fmla="*/ 47 w 60"/>
                  <a:gd name="T21" fmla="*/ 11 h 38"/>
                  <a:gd name="T22" fmla="*/ 47 w 60"/>
                  <a:gd name="T23" fmla="*/ 16 h 38"/>
                  <a:gd name="T24" fmla="*/ 43 w 60"/>
                  <a:gd name="T25" fmla="*/ 15 h 38"/>
                  <a:gd name="T26" fmla="*/ 26 w 60"/>
                  <a:gd name="T27" fmla="*/ 5 h 38"/>
                  <a:gd name="T28" fmla="*/ 21 w 60"/>
                  <a:gd name="T29" fmla="*/ 6 h 38"/>
                  <a:gd name="T30" fmla="*/ 22 w 60"/>
                  <a:gd name="T31" fmla="*/ 10 h 38"/>
                  <a:gd name="T32" fmla="*/ 27 w 60"/>
                  <a:gd name="T33" fmla="*/ 13 h 38"/>
                  <a:gd name="T34" fmla="*/ 21 w 60"/>
                  <a:gd name="T35" fmla="*/ 13 h 38"/>
                  <a:gd name="T36" fmla="*/ 19 w 60"/>
                  <a:gd name="T37" fmla="*/ 17 h 38"/>
                  <a:gd name="T38" fmla="*/ 18 w 60"/>
                  <a:gd name="T39" fmla="*/ 23 h 38"/>
                  <a:gd name="T40" fmla="*/ 6 w 60"/>
                  <a:gd name="T41" fmla="*/ 5 h 38"/>
                  <a:gd name="T42" fmla="*/ 1 w 60"/>
                  <a:gd name="T43" fmla="*/ 22 h 38"/>
                  <a:gd name="T44" fmla="*/ 8 w 60"/>
                  <a:gd name="T45" fmla="*/ 29 h 38"/>
                  <a:gd name="T46" fmla="*/ 14 w 60"/>
                  <a:gd name="T47" fmla="*/ 28 h 38"/>
                  <a:gd name="T48" fmla="*/ 15 w 60"/>
                  <a:gd name="T49" fmla="*/ 28 h 38"/>
                  <a:gd name="T50" fmla="*/ 15 w 60"/>
                  <a:gd name="T51" fmla="*/ 32 h 38"/>
                  <a:gd name="T52" fmla="*/ 15 w 60"/>
                  <a:gd name="T53" fmla="*/ 35 h 38"/>
                  <a:gd name="T54" fmla="*/ 19 w 60"/>
                  <a:gd name="T55" fmla="*/ 33 h 38"/>
                  <a:gd name="T56" fmla="*/ 19 w 60"/>
                  <a:gd name="T57" fmla="*/ 26 h 38"/>
                  <a:gd name="T58" fmla="*/ 23 w 60"/>
                  <a:gd name="T59" fmla="*/ 18 h 38"/>
                  <a:gd name="T60" fmla="*/ 33 w 60"/>
                  <a:gd name="T61" fmla="*/ 18 h 38"/>
                  <a:gd name="T62" fmla="*/ 31 w 60"/>
                  <a:gd name="T63" fmla="*/ 12 h 38"/>
                  <a:gd name="T64" fmla="*/ 38 w 60"/>
                  <a:gd name="T65" fmla="*/ 17 h 38"/>
                  <a:gd name="T66" fmla="*/ 42 w 60"/>
                  <a:gd name="T67" fmla="*/ 18 h 38"/>
                  <a:gd name="T68" fmla="*/ 47 w 60"/>
                  <a:gd name="T69" fmla="*/ 21 h 38"/>
                  <a:gd name="T70" fmla="*/ 59 w 60"/>
                  <a:gd name="T71" fmla="*/ 24 h 38"/>
                  <a:gd name="T72" fmla="*/ 59 w 60"/>
                  <a:gd name="T73" fmla="*/ 18 h 38"/>
                  <a:gd name="T74" fmla="*/ 9 w 60"/>
                  <a:gd name="T75" fmla="*/ 25 h 38"/>
                  <a:gd name="T76" fmla="*/ 5 w 60"/>
                  <a:gd name="T77" fmla="*/ 15 h 38"/>
                  <a:gd name="T78" fmla="*/ 10 w 60"/>
                  <a:gd name="T79" fmla="*/ 17 h 38"/>
                  <a:gd name="T80" fmla="*/ 14 w 60"/>
                  <a:gd name="T81" fmla="*/ 22 h 38"/>
                  <a:gd name="T82" fmla="*/ 9 w 60"/>
                  <a:gd name="T83" fmla="*/ 25 h 38"/>
                  <a:gd name="T84" fmla="*/ 52 w 60"/>
                  <a:gd name="T85" fmla="*/ 16 h 38"/>
                  <a:gd name="T86" fmla="*/ 53 w 60"/>
                  <a:gd name="T87" fmla="*/ 17 h 38"/>
                  <a:gd name="T88" fmla="*/ 55 w 60"/>
                  <a:gd name="T89" fmla="*/ 18 h 38"/>
                  <a:gd name="T90" fmla="*/ 52 w 60"/>
                  <a:gd name="T91"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 h="38">
                    <a:moveTo>
                      <a:pt x="59" y="18"/>
                    </a:moveTo>
                    <a:cubicBezTo>
                      <a:pt x="58" y="18"/>
                      <a:pt x="58" y="18"/>
                      <a:pt x="58" y="18"/>
                    </a:cubicBezTo>
                    <a:cubicBezTo>
                      <a:pt x="54" y="15"/>
                      <a:pt x="54" y="15"/>
                      <a:pt x="54" y="15"/>
                    </a:cubicBezTo>
                    <a:cubicBezTo>
                      <a:pt x="54" y="15"/>
                      <a:pt x="51" y="15"/>
                      <a:pt x="52" y="11"/>
                    </a:cubicBezTo>
                    <a:cubicBezTo>
                      <a:pt x="52" y="11"/>
                      <a:pt x="51" y="10"/>
                      <a:pt x="49" y="10"/>
                    </a:cubicBezTo>
                    <a:cubicBezTo>
                      <a:pt x="42" y="5"/>
                      <a:pt x="42" y="5"/>
                      <a:pt x="42" y="5"/>
                    </a:cubicBezTo>
                    <a:cubicBezTo>
                      <a:pt x="42" y="5"/>
                      <a:pt x="40" y="3"/>
                      <a:pt x="44" y="2"/>
                    </a:cubicBezTo>
                    <a:cubicBezTo>
                      <a:pt x="44" y="2"/>
                      <a:pt x="47" y="0"/>
                      <a:pt x="42" y="0"/>
                    </a:cubicBezTo>
                    <a:cubicBezTo>
                      <a:pt x="42" y="0"/>
                      <a:pt x="37" y="1"/>
                      <a:pt x="36" y="2"/>
                    </a:cubicBezTo>
                    <a:cubicBezTo>
                      <a:pt x="36" y="2"/>
                      <a:pt x="36" y="6"/>
                      <a:pt x="39" y="6"/>
                    </a:cubicBezTo>
                    <a:cubicBezTo>
                      <a:pt x="39" y="6"/>
                      <a:pt x="46" y="10"/>
                      <a:pt x="47" y="11"/>
                    </a:cubicBezTo>
                    <a:cubicBezTo>
                      <a:pt x="47" y="11"/>
                      <a:pt x="46" y="15"/>
                      <a:pt x="47" y="16"/>
                    </a:cubicBezTo>
                    <a:cubicBezTo>
                      <a:pt x="47" y="16"/>
                      <a:pt x="46" y="17"/>
                      <a:pt x="43" y="15"/>
                    </a:cubicBezTo>
                    <a:cubicBezTo>
                      <a:pt x="43" y="15"/>
                      <a:pt x="27" y="8"/>
                      <a:pt x="26" y="5"/>
                    </a:cubicBezTo>
                    <a:cubicBezTo>
                      <a:pt x="26" y="5"/>
                      <a:pt x="23" y="5"/>
                      <a:pt x="21" y="6"/>
                    </a:cubicBezTo>
                    <a:cubicBezTo>
                      <a:pt x="21" y="6"/>
                      <a:pt x="21" y="9"/>
                      <a:pt x="22" y="10"/>
                    </a:cubicBezTo>
                    <a:cubicBezTo>
                      <a:pt x="27" y="13"/>
                      <a:pt x="27" y="13"/>
                      <a:pt x="27" y="13"/>
                    </a:cubicBezTo>
                    <a:cubicBezTo>
                      <a:pt x="27" y="13"/>
                      <a:pt x="25" y="14"/>
                      <a:pt x="21" y="13"/>
                    </a:cubicBezTo>
                    <a:cubicBezTo>
                      <a:pt x="21" y="13"/>
                      <a:pt x="17" y="14"/>
                      <a:pt x="19" y="17"/>
                    </a:cubicBezTo>
                    <a:cubicBezTo>
                      <a:pt x="19" y="17"/>
                      <a:pt x="21" y="21"/>
                      <a:pt x="18" y="23"/>
                    </a:cubicBezTo>
                    <a:cubicBezTo>
                      <a:pt x="18" y="23"/>
                      <a:pt x="19" y="15"/>
                      <a:pt x="6" y="5"/>
                    </a:cubicBezTo>
                    <a:cubicBezTo>
                      <a:pt x="6" y="5"/>
                      <a:pt x="3" y="5"/>
                      <a:pt x="1" y="22"/>
                    </a:cubicBezTo>
                    <a:cubicBezTo>
                      <a:pt x="1" y="22"/>
                      <a:pt x="0" y="29"/>
                      <a:pt x="8" y="29"/>
                    </a:cubicBezTo>
                    <a:cubicBezTo>
                      <a:pt x="14" y="28"/>
                      <a:pt x="14" y="28"/>
                      <a:pt x="14" y="28"/>
                    </a:cubicBezTo>
                    <a:cubicBezTo>
                      <a:pt x="14" y="28"/>
                      <a:pt x="14" y="27"/>
                      <a:pt x="15" y="28"/>
                    </a:cubicBezTo>
                    <a:cubicBezTo>
                      <a:pt x="15" y="32"/>
                      <a:pt x="15" y="32"/>
                      <a:pt x="15" y="32"/>
                    </a:cubicBezTo>
                    <a:cubicBezTo>
                      <a:pt x="15" y="32"/>
                      <a:pt x="13" y="34"/>
                      <a:pt x="15" y="35"/>
                    </a:cubicBezTo>
                    <a:cubicBezTo>
                      <a:pt x="15" y="35"/>
                      <a:pt x="18" y="38"/>
                      <a:pt x="19" y="33"/>
                    </a:cubicBezTo>
                    <a:cubicBezTo>
                      <a:pt x="19" y="26"/>
                      <a:pt x="19" y="26"/>
                      <a:pt x="19" y="26"/>
                    </a:cubicBezTo>
                    <a:cubicBezTo>
                      <a:pt x="19" y="26"/>
                      <a:pt x="24" y="26"/>
                      <a:pt x="23" y="18"/>
                    </a:cubicBezTo>
                    <a:cubicBezTo>
                      <a:pt x="33" y="18"/>
                      <a:pt x="33" y="18"/>
                      <a:pt x="33" y="18"/>
                    </a:cubicBezTo>
                    <a:cubicBezTo>
                      <a:pt x="33" y="18"/>
                      <a:pt x="36" y="16"/>
                      <a:pt x="31" y="12"/>
                    </a:cubicBezTo>
                    <a:cubicBezTo>
                      <a:pt x="31" y="12"/>
                      <a:pt x="37" y="15"/>
                      <a:pt x="38" y="17"/>
                    </a:cubicBezTo>
                    <a:cubicBezTo>
                      <a:pt x="38" y="17"/>
                      <a:pt x="39" y="18"/>
                      <a:pt x="42" y="18"/>
                    </a:cubicBezTo>
                    <a:cubicBezTo>
                      <a:pt x="42" y="18"/>
                      <a:pt x="42" y="20"/>
                      <a:pt x="47" y="21"/>
                    </a:cubicBezTo>
                    <a:cubicBezTo>
                      <a:pt x="47" y="21"/>
                      <a:pt x="48" y="23"/>
                      <a:pt x="59" y="24"/>
                    </a:cubicBezTo>
                    <a:cubicBezTo>
                      <a:pt x="59" y="24"/>
                      <a:pt x="60" y="20"/>
                      <a:pt x="59" y="18"/>
                    </a:cubicBezTo>
                    <a:close/>
                    <a:moveTo>
                      <a:pt x="9" y="25"/>
                    </a:moveTo>
                    <a:cubicBezTo>
                      <a:pt x="2" y="25"/>
                      <a:pt x="5" y="15"/>
                      <a:pt x="5" y="15"/>
                    </a:cubicBezTo>
                    <a:cubicBezTo>
                      <a:pt x="5" y="10"/>
                      <a:pt x="10" y="17"/>
                      <a:pt x="10" y="17"/>
                    </a:cubicBezTo>
                    <a:cubicBezTo>
                      <a:pt x="14" y="22"/>
                      <a:pt x="14" y="22"/>
                      <a:pt x="14" y="22"/>
                    </a:cubicBezTo>
                    <a:cubicBezTo>
                      <a:pt x="17" y="26"/>
                      <a:pt x="9" y="25"/>
                      <a:pt x="9" y="25"/>
                    </a:cubicBezTo>
                    <a:close/>
                    <a:moveTo>
                      <a:pt x="52" y="16"/>
                    </a:moveTo>
                    <a:cubicBezTo>
                      <a:pt x="52" y="16"/>
                      <a:pt x="52" y="16"/>
                      <a:pt x="53" y="17"/>
                    </a:cubicBezTo>
                    <a:cubicBezTo>
                      <a:pt x="55" y="18"/>
                      <a:pt x="55" y="18"/>
                      <a:pt x="55" y="18"/>
                    </a:cubicBezTo>
                    <a:cubicBezTo>
                      <a:pt x="55" y="18"/>
                      <a:pt x="50" y="18"/>
                      <a:pt x="52" y="1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4" name="Freeform 40"/>
              <p:cNvSpPr>
                <a:spLocks noEditPoints="1"/>
              </p:cNvSpPr>
              <p:nvPr/>
            </p:nvSpPr>
            <p:spPr bwMode="auto">
              <a:xfrm>
                <a:off x="371300" y="535630"/>
                <a:ext cx="27621" cy="59558"/>
              </a:xfrm>
              <a:custGeom>
                <a:avLst/>
                <a:gdLst>
                  <a:gd name="T0" fmla="*/ 21 w 27"/>
                  <a:gd name="T1" fmla="*/ 38 h 58"/>
                  <a:gd name="T2" fmla="*/ 21 w 27"/>
                  <a:gd name="T3" fmla="*/ 28 h 58"/>
                  <a:gd name="T4" fmla="*/ 20 w 27"/>
                  <a:gd name="T5" fmla="*/ 26 h 58"/>
                  <a:gd name="T6" fmla="*/ 19 w 27"/>
                  <a:gd name="T7" fmla="*/ 24 h 58"/>
                  <a:gd name="T8" fmla="*/ 18 w 27"/>
                  <a:gd name="T9" fmla="*/ 24 h 58"/>
                  <a:gd name="T10" fmla="*/ 14 w 27"/>
                  <a:gd name="T11" fmla="*/ 23 h 58"/>
                  <a:gd name="T12" fmla="*/ 14 w 27"/>
                  <a:gd name="T13" fmla="*/ 20 h 58"/>
                  <a:gd name="T14" fmla="*/ 19 w 27"/>
                  <a:gd name="T15" fmla="*/ 13 h 58"/>
                  <a:gd name="T16" fmla="*/ 18 w 27"/>
                  <a:gd name="T17" fmla="*/ 5 h 58"/>
                  <a:gd name="T18" fmla="*/ 16 w 27"/>
                  <a:gd name="T19" fmla="*/ 4 h 58"/>
                  <a:gd name="T20" fmla="*/ 15 w 27"/>
                  <a:gd name="T21" fmla="*/ 7 h 58"/>
                  <a:gd name="T22" fmla="*/ 12 w 27"/>
                  <a:gd name="T23" fmla="*/ 14 h 58"/>
                  <a:gd name="T24" fmla="*/ 10 w 27"/>
                  <a:gd name="T25" fmla="*/ 4 h 58"/>
                  <a:gd name="T26" fmla="*/ 9 w 27"/>
                  <a:gd name="T27" fmla="*/ 2 h 58"/>
                  <a:gd name="T28" fmla="*/ 8 w 27"/>
                  <a:gd name="T29" fmla="*/ 5 h 58"/>
                  <a:gd name="T30" fmla="*/ 8 w 27"/>
                  <a:gd name="T31" fmla="*/ 22 h 58"/>
                  <a:gd name="T32" fmla="*/ 5 w 27"/>
                  <a:gd name="T33" fmla="*/ 26 h 58"/>
                  <a:gd name="T34" fmla="*/ 4 w 27"/>
                  <a:gd name="T35" fmla="*/ 29 h 58"/>
                  <a:gd name="T36" fmla="*/ 9 w 27"/>
                  <a:gd name="T37" fmla="*/ 30 h 58"/>
                  <a:gd name="T38" fmla="*/ 9 w 27"/>
                  <a:gd name="T39" fmla="*/ 41 h 58"/>
                  <a:gd name="T40" fmla="*/ 9 w 27"/>
                  <a:gd name="T41" fmla="*/ 44 h 58"/>
                  <a:gd name="T42" fmla="*/ 13 w 27"/>
                  <a:gd name="T43" fmla="*/ 45 h 58"/>
                  <a:gd name="T44" fmla="*/ 16 w 27"/>
                  <a:gd name="T45" fmla="*/ 40 h 58"/>
                  <a:gd name="T46" fmla="*/ 17 w 27"/>
                  <a:gd name="T47" fmla="*/ 41 h 58"/>
                  <a:gd name="T48" fmla="*/ 18 w 27"/>
                  <a:gd name="T49" fmla="*/ 45 h 58"/>
                  <a:gd name="T50" fmla="*/ 15 w 27"/>
                  <a:gd name="T51" fmla="*/ 51 h 58"/>
                  <a:gd name="T52" fmla="*/ 13 w 27"/>
                  <a:gd name="T53" fmla="*/ 52 h 58"/>
                  <a:gd name="T54" fmla="*/ 15 w 27"/>
                  <a:gd name="T55" fmla="*/ 57 h 58"/>
                  <a:gd name="T56" fmla="*/ 18 w 27"/>
                  <a:gd name="T57" fmla="*/ 55 h 58"/>
                  <a:gd name="T58" fmla="*/ 18 w 27"/>
                  <a:gd name="T59" fmla="*/ 50 h 58"/>
                  <a:gd name="T60" fmla="*/ 27 w 27"/>
                  <a:gd name="T61" fmla="*/ 52 h 58"/>
                  <a:gd name="T62" fmla="*/ 25 w 27"/>
                  <a:gd name="T63" fmla="*/ 47 h 58"/>
                  <a:gd name="T64" fmla="*/ 21 w 27"/>
                  <a:gd name="T65" fmla="*/ 38 h 58"/>
                  <a:gd name="T66" fmla="*/ 14 w 27"/>
                  <a:gd name="T67" fmla="*/ 36 h 58"/>
                  <a:gd name="T68" fmla="*/ 13 w 27"/>
                  <a:gd name="T69" fmla="*/ 39 h 58"/>
                  <a:gd name="T70" fmla="*/ 11 w 27"/>
                  <a:gd name="T71" fmla="*/ 30 h 58"/>
                  <a:gd name="T72" fmla="*/ 13 w 27"/>
                  <a:gd name="T73" fmla="*/ 25 h 58"/>
                  <a:gd name="T74" fmla="*/ 14 w 27"/>
                  <a:gd name="T75" fmla="*/ 32 h 58"/>
                  <a:gd name="T76" fmla="*/ 14 w 27"/>
                  <a:gd name="T7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58">
                    <a:moveTo>
                      <a:pt x="21" y="38"/>
                    </a:moveTo>
                    <a:cubicBezTo>
                      <a:pt x="21" y="38"/>
                      <a:pt x="19" y="36"/>
                      <a:pt x="21" y="28"/>
                    </a:cubicBezTo>
                    <a:cubicBezTo>
                      <a:pt x="20" y="26"/>
                      <a:pt x="20" y="26"/>
                      <a:pt x="20" y="26"/>
                    </a:cubicBezTo>
                    <a:cubicBezTo>
                      <a:pt x="19" y="24"/>
                      <a:pt x="19" y="24"/>
                      <a:pt x="19" y="24"/>
                    </a:cubicBezTo>
                    <a:cubicBezTo>
                      <a:pt x="18" y="24"/>
                      <a:pt x="18" y="24"/>
                      <a:pt x="18" y="24"/>
                    </a:cubicBezTo>
                    <a:cubicBezTo>
                      <a:pt x="18" y="24"/>
                      <a:pt x="16" y="21"/>
                      <a:pt x="14" y="23"/>
                    </a:cubicBezTo>
                    <a:cubicBezTo>
                      <a:pt x="14" y="23"/>
                      <a:pt x="12" y="23"/>
                      <a:pt x="14" y="20"/>
                    </a:cubicBezTo>
                    <a:cubicBezTo>
                      <a:pt x="19" y="13"/>
                      <a:pt x="19" y="13"/>
                      <a:pt x="19" y="13"/>
                    </a:cubicBezTo>
                    <a:cubicBezTo>
                      <a:pt x="18" y="5"/>
                      <a:pt x="18" y="5"/>
                      <a:pt x="18" y="5"/>
                    </a:cubicBezTo>
                    <a:cubicBezTo>
                      <a:pt x="18" y="5"/>
                      <a:pt x="18" y="3"/>
                      <a:pt x="16" y="4"/>
                    </a:cubicBezTo>
                    <a:cubicBezTo>
                      <a:pt x="16" y="4"/>
                      <a:pt x="16" y="5"/>
                      <a:pt x="15" y="7"/>
                    </a:cubicBezTo>
                    <a:cubicBezTo>
                      <a:pt x="14" y="9"/>
                      <a:pt x="12" y="12"/>
                      <a:pt x="12" y="14"/>
                    </a:cubicBezTo>
                    <a:cubicBezTo>
                      <a:pt x="12" y="14"/>
                      <a:pt x="11" y="6"/>
                      <a:pt x="10" y="4"/>
                    </a:cubicBezTo>
                    <a:cubicBezTo>
                      <a:pt x="9" y="2"/>
                      <a:pt x="9" y="2"/>
                      <a:pt x="9" y="2"/>
                    </a:cubicBezTo>
                    <a:cubicBezTo>
                      <a:pt x="9" y="2"/>
                      <a:pt x="6" y="0"/>
                      <a:pt x="8" y="5"/>
                    </a:cubicBezTo>
                    <a:cubicBezTo>
                      <a:pt x="8" y="22"/>
                      <a:pt x="8" y="22"/>
                      <a:pt x="8" y="22"/>
                    </a:cubicBezTo>
                    <a:cubicBezTo>
                      <a:pt x="5" y="26"/>
                      <a:pt x="5" y="26"/>
                      <a:pt x="5" y="26"/>
                    </a:cubicBezTo>
                    <a:cubicBezTo>
                      <a:pt x="5" y="26"/>
                      <a:pt x="0" y="27"/>
                      <a:pt x="4" y="29"/>
                    </a:cubicBezTo>
                    <a:cubicBezTo>
                      <a:pt x="9" y="30"/>
                      <a:pt x="9" y="30"/>
                      <a:pt x="9" y="30"/>
                    </a:cubicBezTo>
                    <a:cubicBezTo>
                      <a:pt x="9" y="41"/>
                      <a:pt x="9" y="41"/>
                      <a:pt x="9" y="41"/>
                    </a:cubicBezTo>
                    <a:cubicBezTo>
                      <a:pt x="9" y="44"/>
                      <a:pt x="9" y="44"/>
                      <a:pt x="9" y="44"/>
                    </a:cubicBezTo>
                    <a:cubicBezTo>
                      <a:pt x="13" y="45"/>
                      <a:pt x="13" y="45"/>
                      <a:pt x="13" y="45"/>
                    </a:cubicBezTo>
                    <a:cubicBezTo>
                      <a:pt x="16" y="40"/>
                      <a:pt x="16" y="40"/>
                      <a:pt x="16" y="40"/>
                    </a:cubicBezTo>
                    <a:cubicBezTo>
                      <a:pt x="16" y="40"/>
                      <a:pt x="17" y="40"/>
                      <a:pt x="17" y="41"/>
                    </a:cubicBezTo>
                    <a:cubicBezTo>
                      <a:pt x="18" y="45"/>
                      <a:pt x="18" y="45"/>
                      <a:pt x="18" y="45"/>
                    </a:cubicBezTo>
                    <a:cubicBezTo>
                      <a:pt x="18" y="45"/>
                      <a:pt x="16" y="50"/>
                      <a:pt x="15" y="51"/>
                    </a:cubicBezTo>
                    <a:cubicBezTo>
                      <a:pt x="15" y="51"/>
                      <a:pt x="15" y="51"/>
                      <a:pt x="13" y="52"/>
                    </a:cubicBezTo>
                    <a:cubicBezTo>
                      <a:pt x="13" y="52"/>
                      <a:pt x="10" y="57"/>
                      <a:pt x="15" y="57"/>
                    </a:cubicBezTo>
                    <a:cubicBezTo>
                      <a:pt x="15" y="57"/>
                      <a:pt x="18" y="58"/>
                      <a:pt x="18" y="55"/>
                    </a:cubicBezTo>
                    <a:cubicBezTo>
                      <a:pt x="18" y="50"/>
                      <a:pt x="18" y="50"/>
                      <a:pt x="18" y="50"/>
                    </a:cubicBezTo>
                    <a:cubicBezTo>
                      <a:pt x="27" y="52"/>
                      <a:pt x="27" y="52"/>
                      <a:pt x="27" y="52"/>
                    </a:cubicBezTo>
                    <a:cubicBezTo>
                      <a:pt x="27" y="52"/>
                      <a:pt x="27" y="50"/>
                      <a:pt x="25" y="47"/>
                    </a:cubicBezTo>
                    <a:lnTo>
                      <a:pt x="21" y="38"/>
                    </a:lnTo>
                    <a:close/>
                    <a:moveTo>
                      <a:pt x="14" y="36"/>
                    </a:moveTo>
                    <a:cubicBezTo>
                      <a:pt x="13" y="39"/>
                      <a:pt x="13" y="39"/>
                      <a:pt x="13" y="39"/>
                    </a:cubicBezTo>
                    <a:cubicBezTo>
                      <a:pt x="11" y="30"/>
                      <a:pt x="11" y="30"/>
                      <a:pt x="11" y="30"/>
                    </a:cubicBezTo>
                    <a:cubicBezTo>
                      <a:pt x="10" y="27"/>
                      <a:pt x="13" y="25"/>
                      <a:pt x="13" y="25"/>
                    </a:cubicBezTo>
                    <a:cubicBezTo>
                      <a:pt x="14" y="27"/>
                      <a:pt x="14" y="32"/>
                      <a:pt x="14" y="32"/>
                    </a:cubicBezTo>
                    <a:cubicBezTo>
                      <a:pt x="15" y="35"/>
                      <a:pt x="14" y="36"/>
                      <a:pt x="14" y="36"/>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5" name="Freeform 41"/>
              <p:cNvSpPr/>
              <p:nvPr/>
            </p:nvSpPr>
            <p:spPr bwMode="auto">
              <a:xfrm>
                <a:off x="392879" y="574472"/>
                <a:ext cx="12084" cy="8200"/>
              </a:xfrm>
              <a:custGeom>
                <a:avLst/>
                <a:gdLst>
                  <a:gd name="T0" fmla="*/ 8 w 12"/>
                  <a:gd name="T1" fmla="*/ 0 h 8"/>
                  <a:gd name="T2" fmla="*/ 4 w 12"/>
                  <a:gd name="T3" fmla="*/ 1 h 8"/>
                  <a:gd name="T4" fmla="*/ 4 w 12"/>
                  <a:gd name="T5" fmla="*/ 3 h 8"/>
                  <a:gd name="T6" fmla="*/ 9 w 12"/>
                  <a:gd name="T7" fmla="*/ 5 h 8"/>
                  <a:gd name="T8" fmla="*/ 12 w 12"/>
                  <a:gd name="T9" fmla="*/ 5 h 8"/>
                  <a:gd name="T10" fmla="*/ 12 w 12"/>
                  <a:gd name="T11" fmla="*/ 2 h 8"/>
                  <a:gd name="T12" fmla="*/ 8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0"/>
                    </a:moveTo>
                    <a:cubicBezTo>
                      <a:pt x="4" y="1"/>
                      <a:pt x="4" y="1"/>
                      <a:pt x="4" y="1"/>
                    </a:cubicBezTo>
                    <a:cubicBezTo>
                      <a:pt x="4" y="1"/>
                      <a:pt x="0" y="3"/>
                      <a:pt x="4" y="3"/>
                    </a:cubicBezTo>
                    <a:cubicBezTo>
                      <a:pt x="4" y="3"/>
                      <a:pt x="7" y="4"/>
                      <a:pt x="9" y="5"/>
                    </a:cubicBezTo>
                    <a:cubicBezTo>
                      <a:pt x="9" y="5"/>
                      <a:pt x="11" y="8"/>
                      <a:pt x="12" y="5"/>
                    </a:cubicBezTo>
                    <a:cubicBezTo>
                      <a:pt x="12" y="2"/>
                      <a:pt x="12" y="2"/>
                      <a:pt x="12" y="2"/>
                    </a:cubicBezTo>
                    <a:cubicBezTo>
                      <a:pt x="12" y="2"/>
                      <a:pt x="12" y="0"/>
                      <a:pt x="8" y="0"/>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6" name="Freeform 42"/>
              <p:cNvSpPr/>
              <p:nvPr/>
            </p:nvSpPr>
            <p:spPr bwMode="auto">
              <a:xfrm>
                <a:off x="416184" y="837305"/>
                <a:ext cx="10358" cy="32800"/>
              </a:xfrm>
              <a:custGeom>
                <a:avLst/>
                <a:gdLst>
                  <a:gd name="T0" fmla="*/ 14 w 24"/>
                  <a:gd name="T1" fmla="*/ 16 h 76"/>
                  <a:gd name="T2" fmla="*/ 5 w 24"/>
                  <a:gd name="T3" fmla="*/ 24 h 76"/>
                  <a:gd name="T4" fmla="*/ 0 w 24"/>
                  <a:gd name="T5" fmla="*/ 14 h 76"/>
                  <a:gd name="T6" fmla="*/ 19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9"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7" name="Freeform 43"/>
              <p:cNvSpPr/>
              <p:nvPr/>
            </p:nvSpPr>
            <p:spPr bwMode="auto">
              <a:xfrm>
                <a:off x="510269" y="837305"/>
                <a:ext cx="10358" cy="32800"/>
              </a:xfrm>
              <a:custGeom>
                <a:avLst/>
                <a:gdLst>
                  <a:gd name="T0" fmla="*/ 14 w 24"/>
                  <a:gd name="T1" fmla="*/ 16 h 76"/>
                  <a:gd name="T2" fmla="*/ 5 w 24"/>
                  <a:gd name="T3" fmla="*/ 24 h 76"/>
                  <a:gd name="T4" fmla="*/ 0 w 24"/>
                  <a:gd name="T5" fmla="*/ 14 h 76"/>
                  <a:gd name="T6" fmla="*/ 16 w 24"/>
                  <a:gd name="T7" fmla="*/ 0 h 76"/>
                  <a:gd name="T8" fmla="*/ 24 w 24"/>
                  <a:gd name="T9" fmla="*/ 5 h 76"/>
                  <a:gd name="T10" fmla="*/ 24 w 24"/>
                  <a:gd name="T11" fmla="*/ 76 h 76"/>
                  <a:gd name="T12" fmla="*/ 14 w 24"/>
                  <a:gd name="T13" fmla="*/ 76 h 76"/>
                  <a:gd name="T14" fmla="*/ 14 w 24"/>
                  <a:gd name="T15" fmla="*/ 16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6">
                    <a:moveTo>
                      <a:pt x="14" y="16"/>
                    </a:moveTo>
                    <a:lnTo>
                      <a:pt x="5" y="24"/>
                    </a:lnTo>
                    <a:lnTo>
                      <a:pt x="0" y="14"/>
                    </a:lnTo>
                    <a:lnTo>
                      <a:pt x="16" y="0"/>
                    </a:lnTo>
                    <a:lnTo>
                      <a:pt x="24" y="5"/>
                    </a:lnTo>
                    <a:lnTo>
                      <a:pt x="24" y="76"/>
                    </a:lnTo>
                    <a:lnTo>
                      <a:pt x="14" y="76"/>
                    </a:lnTo>
                    <a:lnTo>
                      <a:pt x="14" y="16"/>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8" name="Freeform 44"/>
              <p:cNvSpPr>
                <a:spLocks noEditPoints="1"/>
              </p:cNvSpPr>
              <p:nvPr/>
            </p:nvSpPr>
            <p:spPr bwMode="auto">
              <a:xfrm>
                <a:off x="442942" y="837305"/>
                <a:ext cx="19421" cy="32800"/>
              </a:xfrm>
              <a:custGeom>
                <a:avLst/>
                <a:gdLst>
                  <a:gd name="T0" fmla="*/ 15 w 19"/>
                  <a:gd name="T1" fmla="*/ 10 h 32"/>
                  <a:gd name="T2" fmla="*/ 15 w 19"/>
                  <a:gd name="T3" fmla="*/ 13 h 32"/>
                  <a:gd name="T4" fmla="*/ 14 w 19"/>
                  <a:gd name="T5" fmla="*/ 15 h 32"/>
                  <a:gd name="T6" fmla="*/ 11 w 19"/>
                  <a:gd name="T7" fmla="*/ 16 h 32"/>
                  <a:gd name="T8" fmla="*/ 8 w 19"/>
                  <a:gd name="T9" fmla="*/ 16 h 32"/>
                  <a:gd name="T10" fmla="*/ 6 w 19"/>
                  <a:gd name="T11" fmla="*/ 15 h 32"/>
                  <a:gd name="T12" fmla="*/ 5 w 19"/>
                  <a:gd name="T13" fmla="*/ 13 h 32"/>
                  <a:gd name="T14" fmla="*/ 5 w 19"/>
                  <a:gd name="T15" fmla="*/ 10 h 32"/>
                  <a:gd name="T16" fmla="*/ 5 w 19"/>
                  <a:gd name="T17" fmla="*/ 8 h 32"/>
                  <a:gd name="T18" fmla="*/ 6 w 19"/>
                  <a:gd name="T19" fmla="*/ 6 h 32"/>
                  <a:gd name="T20" fmla="*/ 8 w 19"/>
                  <a:gd name="T21" fmla="*/ 5 h 32"/>
                  <a:gd name="T22" fmla="*/ 10 w 19"/>
                  <a:gd name="T23" fmla="*/ 5 h 32"/>
                  <a:gd name="T24" fmla="*/ 13 w 19"/>
                  <a:gd name="T25" fmla="*/ 5 h 32"/>
                  <a:gd name="T26" fmla="*/ 15 w 19"/>
                  <a:gd name="T27" fmla="*/ 7 h 32"/>
                  <a:gd name="T28" fmla="*/ 15 w 19"/>
                  <a:gd name="T29" fmla="*/ 10 h 32"/>
                  <a:gd name="T30" fmla="*/ 15 w 19"/>
                  <a:gd name="T31" fmla="*/ 21 h 32"/>
                  <a:gd name="T32" fmla="*/ 15 w 19"/>
                  <a:gd name="T33" fmla="*/ 23 h 32"/>
                  <a:gd name="T34" fmla="*/ 14 w 19"/>
                  <a:gd name="T35" fmla="*/ 25 h 32"/>
                  <a:gd name="T36" fmla="*/ 13 w 19"/>
                  <a:gd name="T37" fmla="*/ 27 h 32"/>
                  <a:gd name="T38" fmla="*/ 11 w 19"/>
                  <a:gd name="T39" fmla="*/ 28 h 32"/>
                  <a:gd name="T40" fmla="*/ 9 w 19"/>
                  <a:gd name="T41" fmla="*/ 28 h 32"/>
                  <a:gd name="T42" fmla="*/ 6 w 19"/>
                  <a:gd name="T43" fmla="*/ 27 h 32"/>
                  <a:gd name="T44" fmla="*/ 5 w 19"/>
                  <a:gd name="T45" fmla="*/ 26 h 32"/>
                  <a:gd name="T46" fmla="*/ 5 w 19"/>
                  <a:gd name="T47" fmla="*/ 24 h 32"/>
                  <a:gd name="T48" fmla="*/ 0 w 19"/>
                  <a:gd name="T49" fmla="*/ 24 h 32"/>
                  <a:gd name="T50" fmla="*/ 1 w 19"/>
                  <a:gd name="T51" fmla="*/ 26 h 32"/>
                  <a:gd name="T52" fmla="*/ 2 w 19"/>
                  <a:gd name="T53" fmla="*/ 29 h 32"/>
                  <a:gd name="T54" fmla="*/ 4 w 19"/>
                  <a:gd name="T55" fmla="*/ 31 h 32"/>
                  <a:gd name="T56" fmla="*/ 6 w 19"/>
                  <a:gd name="T57" fmla="*/ 32 h 32"/>
                  <a:gd name="T58" fmla="*/ 10 w 19"/>
                  <a:gd name="T59" fmla="*/ 32 h 32"/>
                  <a:gd name="T60" fmla="*/ 13 w 19"/>
                  <a:gd name="T61" fmla="*/ 32 h 32"/>
                  <a:gd name="T62" fmla="*/ 16 w 19"/>
                  <a:gd name="T63" fmla="*/ 31 h 32"/>
                  <a:gd name="T64" fmla="*/ 18 w 19"/>
                  <a:gd name="T65" fmla="*/ 29 h 32"/>
                  <a:gd name="T66" fmla="*/ 19 w 19"/>
                  <a:gd name="T67" fmla="*/ 27 h 32"/>
                  <a:gd name="T68" fmla="*/ 19 w 19"/>
                  <a:gd name="T69" fmla="*/ 24 h 32"/>
                  <a:gd name="T70" fmla="*/ 19 w 19"/>
                  <a:gd name="T71" fmla="*/ 20 h 32"/>
                  <a:gd name="T72" fmla="*/ 19 w 19"/>
                  <a:gd name="T73" fmla="*/ 11 h 32"/>
                  <a:gd name="T74" fmla="*/ 19 w 19"/>
                  <a:gd name="T75" fmla="*/ 7 h 32"/>
                  <a:gd name="T76" fmla="*/ 17 w 19"/>
                  <a:gd name="T77" fmla="*/ 4 h 32"/>
                  <a:gd name="T78" fmla="*/ 14 w 19"/>
                  <a:gd name="T79" fmla="*/ 1 h 32"/>
                  <a:gd name="T80" fmla="*/ 10 w 19"/>
                  <a:gd name="T81" fmla="*/ 0 h 32"/>
                  <a:gd name="T82" fmla="*/ 7 w 19"/>
                  <a:gd name="T83" fmla="*/ 1 h 32"/>
                  <a:gd name="T84" fmla="*/ 4 w 19"/>
                  <a:gd name="T85" fmla="*/ 3 h 32"/>
                  <a:gd name="T86" fmla="*/ 2 w 19"/>
                  <a:gd name="T87" fmla="*/ 5 h 32"/>
                  <a:gd name="T88" fmla="*/ 1 w 19"/>
                  <a:gd name="T89" fmla="*/ 8 h 32"/>
                  <a:gd name="T90" fmla="*/ 1 w 19"/>
                  <a:gd name="T91" fmla="*/ 11 h 32"/>
                  <a:gd name="T92" fmla="*/ 1 w 19"/>
                  <a:gd name="T93" fmla="*/ 15 h 32"/>
                  <a:gd name="T94" fmla="*/ 3 w 19"/>
                  <a:gd name="T95" fmla="*/ 18 h 32"/>
                  <a:gd name="T96" fmla="*/ 6 w 19"/>
                  <a:gd name="T97" fmla="*/ 20 h 32"/>
                  <a:gd name="T98" fmla="*/ 10 w 19"/>
                  <a:gd name="T99" fmla="*/ 20 h 32"/>
                  <a:gd name="T100" fmla="*/ 13 w 19"/>
                  <a:gd name="T101" fmla="*/ 20 h 32"/>
                  <a:gd name="T102" fmla="*/ 14 w 19"/>
                  <a:gd name="T103" fmla="*/ 20 h 32"/>
                  <a:gd name="T104" fmla="*/ 15 w 19"/>
                  <a:gd name="T105" fmla="*/ 19 h 32"/>
                  <a:gd name="T106" fmla="*/ 15 w 19"/>
                  <a:gd name="T107" fmla="*/ 2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 h="32">
                    <a:moveTo>
                      <a:pt x="15" y="10"/>
                    </a:moveTo>
                    <a:cubicBezTo>
                      <a:pt x="15" y="11"/>
                      <a:pt x="15" y="12"/>
                      <a:pt x="15" y="13"/>
                    </a:cubicBezTo>
                    <a:cubicBezTo>
                      <a:pt x="15" y="14"/>
                      <a:pt x="14" y="15"/>
                      <a:pt x="14" y="15"/>
                    </a:cubicBezTo>
                    <a:cubicBezTo>
                      <a:pt x="13" y="16"/>
                      <a:pt x="12" y="16"/>
                      <a:pt x="11" y="16"/>
                    </a:cubicBezTo>
                    <a:cubicBezTo>
                      <a:pt x="10" y="16"/>
                      <a:pt x="9" y="16"/>
                      <a:pt x="8" y="16"/>
                    </a:cubicBezTo>
                    <a:cubicBezTo>
                      <a:pt x="8" y="16"/>
                      <a:pt x="7" y="16"/>
                      <a:pt x="6" y="15"/>
                    </a:cubicBezTo>
                    <a:cubicBezTo>
                      <a:pt x="6" y="15"/>
                      <a:pt x="6" y="14"/>
                      <a:pt x="5" y="13"/>
                    </a:cubicBezTo>
                    <a:cubicBezTo>
                      <a:pt x="5" y="13"/>
                      <a:pt x="5" y="12"/>
                      <a:pt x="5" y="10"/>
                    </a:cubicBezTo>
                    <a:cubicBezTo>
                      <a:pt x="5" y="9"/>
                      <a:pt x="5" y="8"/>
                      <a:pt x="5" y="8"/>
                    </a:cubicBezTo>
                    <a:cubicBezTo>
                      <a:pt x="6" y="7"/>
                      <a:pt x="6" y="6"/>
                      <a:pt x="6" y="6"/>
                    </a:cubicBezTo>
                    <a:cubicBezTo>
                      <a:pt x="7" y="5"/>
                      <a:pt x="7" y="5"/>
                      <a:pt x="8" y="5"/>
                    </a:cubicBezTo>
                    <a:cubicBezTo>
                      <a:pt x="9" y="5"/>
                      <a:pt x="9" y="5"/>
                      <a:pt x="10" y="5"/>
                    </a:cubicBezTo>
                    <a:cubicBezTo>
                      <a:pt x="12" y="5"/>
                      <a:pt x="12" y="5"/>
                      <a:pt x="13" y="5"/>
                    </a:cubicBezTo>
                    <a:cubicBezTo>
                      <a:pt x="14" y="6"/>
                      <a:pt x="14" y="6"/>
                      <a:pt x="15" y="7"/>
                    </a:cubicBezTo>
                    <a:cubicBezTo>
                      <a:pt x="15" y="8"/>
                      <a:pt x="15" y="8"/>
                      <a:pt x="15" y="10"/>
                    </a:cubicBezTo>
                    <a:close/>
                    <a:moveTo>
                      <a:pt x="15" y="21"/>
                    </a:moveTo>
                    <a:cubicBezTo>
                      <a:pt x="15" y="22"/>
                      <a:pt x="15" y="23"/>
                      <a:pt x="15" y="23"/>
                    </a:cubicBezTo>
                    <a:cubicBezTo>
                      <a:pt x="15" y="24"/>
                      <a:pt x="15" y="25"/>
                      <a:pt x="14" y="25"/>
                    </a:cubicBezTo>
                    <a:cubicBezTo>
                      <a:pt x="14" y="26"/>
                      <a:pt x="14" y="27"/>
                      <a:pt x="13" y="27"/>
                    </a:cubicBezTo>
                    <a:cubicBezTo>
                      <a:pt x="13" y="27"/>
                      <a:pt x="12" y="28"/>
                      <a:pt x="11" y="28"/>
                    </a:cubicBezTo>
                    <a:cubicBezTo>
                      <a:pt x="10" y="28"/>
                      <a:pt x="10" y="28"/>
                      <a:pt x="9" y="28"/>
                    </a:cubicBezTo>
                    <a:cubicBezTo>
                      <a:pt x="8" y="28"/>
                      <a:pt x="7" y="28"/>
                      <a:pt x="6" y="27"/>
                    </a:cubicBezTo>
                    <a:cubicBezTo>
                      <a:pt x="6" y="27"/>
                      <a:pt x="5" y="26"/>
                      <a:pt x="5" y="26"/>
                    </a:cubicBezTo>
                    <a:cubicBezTo>
                      <a:pt x="5" y="25"/>
                      <a:pt x="5" y="25"/>
                      <a:pt x="5" y="24"/>
                    </a:cubicBezTo>
                    <a:cubicBezTo>
                      <a:pt x="0" y="24"/>
                      <a:pt x="0" y="24"/>
                      <a:pt x="0" y="24"/>
                    </a:cubicBezTo>
                    <a:cubicBezTo>
                      <a:pt x="1" y="26"/>
                      <a:pt x="1" y="26"/>
                      <a:pt x="1" y="26"/>
                    </a:cubicBezTo>
                    <a:cubicBezTo>
                      <a:pt x="1" y="27"/>
                      <a:pt x="1" y="28"/>
                      <a:pt x="2" y="29"/>
                    </a:cubicBezTo>
                    <a:cubicBezTo>
                      <a:pt x="2" y="30"/>
                      <a:pt x="3" y="30"/>
                      <a:pt x="4" y="31"/>
                    </a:cubicBezTo>
                    <a:cubicBezTo>
                      <a:pt x="4" y="31"/>
                      <a:pt x="5" y="32"/>
                      <a:pt x="6" y="32"/>
                    </a:cubicBezTo>
                    <a:cubicBezTo>
                      <a:pt x="8" y="32"/>
                      <a:pt x="9" y="32"/>
                      <a:pt x="10" y="32"/>
                    </a:cubicBezTo>
                    <a:cubicBezTo>
                      <a:pt x="11" y="32"/>
                      <a:pt x="12" y="32"/>
                      <a:pt x="13" y="32"/>
                    </a:cubicBezTo>
                    <a:cubicBezTo>
                      <a:pt x="14" y="32"/>
                      <a:pt x="15" y="31"/>
                      <a:pt x="16" y="31"/>
                    </a:cubicBezTo>
                    <a:cubicBezTo>
                      <a:pt x="16" y="30"/>
                      <a:pt x="17" y="30"/>
                      <a:pt x="18" y="29"/>
                    </a:cubicBezTo>
                    <a:cubicBezTo>
                      <a:pt x="18" y="28"/>
                      <a:pt x="18" y="27"/>
                      <a:pt x="19" y="27"/>
                    </a:cubicBezTo>
                    <a:cubicBezTo>
                      <a:pt x="19" y="26"/>
                      <a:pt x="19" y="25"/>
                      <a:pt x="19" y="24"/>
                    </a:cubicBezTo>
                    <a:cubicBezTo>
                      <a:pt x="19" y="23"/>
                      <a:pt x="19" y="22"/>
                      <a:pt x="19" y="20"/>
                    </a:cubicBezTo>
                    <a:cubicBezTo>
                      <a:pt x="19" y="11"/>
                      <a:pt x="19" y="11"/>
                      <a:pt x="19" y="11"/>
                    </a:cubicBezTo>
                    <a:cubicBezTo>
                      <a:pt x="19" y="10"/>
                      <a:pt x="19" y="8"/>
                      <a:pt x="19" y="7"/>
                    </a:cubicBezTo>
                    <a:cubicBezTo>
                      <a:pt x="19" y="6"/>
                      <a:pt x="18" y="5"/>
                      <a:pt x="17" y="4"/>
                    </a:cubicBezTo>
                    <a:cubicBezTo>
                      <a:pt x="17" y="3"/>
                      <a:pt x="16" y="2"/>
                      <a:pt x="14" y="1"/>
                    </a:cubicBezTo>
                    <a:cubicBezTo>
                      <a:pt x="13" y="1"/>
                      <a:pt x="12" y="0"/>
                      <a:pt x="10" y="0"/>
                    </a:cubicBezTo>
                    <a:cubicBezTo>
                      <a:pt x="9" y="0"/>
                      <a:pt x="8" y="1"/>
                      <a:pt x="7" y="1"/>
                    </a:cubicBezTo>
                    <a:cubicBezTo>
                      <a:pt x="5" y="1"/>
                      <a:pt x="4" y="2"/>
                      <a:pt x="4" y="3"/>
                    </a:cubicBezTo>
                    <a:cubicBezTo>
                      <a:pt x="3" y="3"/>
                      <a:pt x="2" y="4"/>
                      <a:pt x="2" y="5"/>
                    </a:cubicBezTo>
                    <a:cubicBezTo>
                      <a:pt x="1" y="6"/>
                      <a:pt x="1" y="7"/>
                      <a:pt x="1" y="8"/>
                    </a:cubicBezTo>
                    <a:cubicBezTo>
                      <a:pt x="1" y="9"/>
                      <a:pt x="1" y="10"/>
                      <a:pt x="1" y="11"/>
                    </a:cubicBezTo>
                    <a:cubicBezTo>
                      <a:pt x="1" y="13"/>
                      <a:pt x="1" y="14"/>
                      <a:pt x="1" y="15"/>
                    </a:cubicBezTo>
                    <a:cubicBezTo>
                      <a:pt x="2" y="16"/>
                      <a:pt x="2" y="17"/>
                      <a:pt x="3" y="18"/>
                    </a:cubicBezTo>
                    <a:cubicBezTo>
                      <a:pt x="3" y="18"/>
                      <a:pt x="4" y="19"/>
                      <a:pt x="6" y="20"/>
                    </a:cubicBezTo>
                    <a:cubicBezTo>
                      <a:pt x="7" y="20"/>
                      <a:pt x="9" y="20"/>
                      <a:pt x="10" y="20"/>
                    </a:cubicBezTo>
                    <a:cubicBezTo>
                      <a:pt x="11" y="20"/>
                      <a:pt x="12" y="20"/>
                      <a:pt x="13" y="20"/>
                    </a:cubicBezTo>
                    <a:cubicBezTo>
                      <a:pt x="13" y="20"/>
                      <a:pt x="14" y="20"/>
                      <a:pt x="14" y="20"/>
                    </a:cubicBezTo>
                    <a:cubicBezTo>
                      <a:pt x="15" y="19"/>
                      <a:pt x="15" y="19"/>
                      <a:pt x="15" y="19"/>
                    </a:cubicBezTo>
                    <a:lnTo>
                      <a:pt x="15" y="21"/>
                    </a:ln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sp>
            <p:nvSpPr>
              <p:cNvPr id="59" name="Freeform 45"/>
              <p:cNvSpPr>
                <a:spLocks noEditPoints="1"/>
              </p:cNvSpPr>
              <p:nvPr/>
            </p:nvSpPr>
            <p:spPr bwMode="auto">
              <a:xfrm>
                <a:off x="476605" y="837305"/>
                <a:ext cx="21579" cy="32800"/>
              </a:xfrm>
              <a:custGeom>
                <a:avLst/>
                <a:gdLst>
                  <a:gd name="T0" fmla="*/ 17 w 21"/>
                  <a:gd name="T1" fmla="*/ 18 h 32"/>
                  <a:gd name="T2" fmla="*/ 17 w 21"/>
                  <a:gd name="T3" fmla="*/ 22 h 32"/>
                  <a:gd name="T4" fmla="*/ 15 w 21"/>
                  <a:gd name="T5" fmla="*/ 25 h 32"/>
                  <a:gd name="T6" fmla="*/ 13 w 21"/>
                  <a:gd name="T7" fmla="*/ 27 h 32"/>
                  <a:gd name="T8" fmla="*/ 11 w 21"/>
                  <a:gd name="T9" fmla="*/ 28 h 32"/>
                  <a:gd name="T10" fmla="*/ 8 w 21"/>
                  <a:gd name="T11" fmla="*/ 27 h 32"/>
                  <a:gd name="T12" fmla="*/ 6 w 21"/>
                  <a:gd name="T13" fmla="*/ 25 h 32"/>
                  <a:gd name="T14" fmla="*/ 5 w 21"/>
                  <a:gd name="T15" fmla="*/ 21 h 32"/>
                  <a:gd name="T16" fmla="*/ 4 w 21"/>
                  <a:gd name="T17" fmla="*/ 17 h 32"/>
                  <a:gd name="T18" fmla="*/ 4 w 21"/>
                  <a:gd name="T19" fmla="*/ 14 h 32"/>
                  <a:gd name="T20" fmla="*/ 5 w 21"/>
                  <a:gd name="T21" fmla="*/ 11 h 32"/>
                  <a:gd name="T22" fmla="*/ 6 w 21"/>
                  <a:gd name="T23" fmla="*/ 7 h 32"/>
                  <a:gd name="T24" fmla="*/ 8 w 21"/>
                  <a:gd name="T25" fmla="*/ 5 h 32"/>
                  <a:gd name="T26" fmla="*/ 11 w 21"/>
                  <a:gd name="T27" fmla="*/ 4 h 32"/>
                  <a:gd name="T28" fmla="*/ 13 w 21"/>
                  <a:gd name="T29" fmla="*/ 5 h 32"/>
                  <a:gd name="T30" fmla="*/ 15 w 21"/>
                  <a:gd name="T31" fmla="*/ 7 h 32"/>
                  <a:gd name="T32" fmla="*/ 17 w 21"/>
                  <a:gd name="T33" fmla="*/ 10 h 32"/>
                  <a:gd name="T34" fmla="*/ 17 w 21"/>
                  <a:gd name="T35" fmla="*/ 15 h 32"/>
                  <a:gd name="T36" fmla="*/ 17 w 21"/>
                  <a:gd name="T37" fmla="*/ 18 h 32"/>
                  <a:gd name="T38" fmla="*/ 21 w 21"/>
                  <a:gd name="T39" fmla="*/ 13 h 32"/>
                  <a:gd name="T40" fmla="*/ 21 w 21"/>
                  <a:gd name="T41" fmla="*/ 9 h 32"/>
                  <a:gd name="T42" fmla="*/ 19 w 21"/>
                  <a:gd name="T43" fmla="*/ 5 h 32"/>
                  <a:gd name="T44" fmla="*/ 17 w 21"/>
                  <a:gd name="T45" fmla="*/ 2 h 32"/>
                  <a:gd name="T46" fmla="*/ 14 w 21"/>
                  <a:gd name="T47" fmla="*/ 1 h 32"/>
                  <a:gd name="T48" fmla="*/ 11 w 21"/>
                  <a:gd name="T49" fmla="*/ 0 h 32"/>
                  <a:gd name="T50" fmla="*/ 7 w 21"/>
                  <a:gd name="T51" fmla="*/ 1 h 32"/>
                  <a:gd name="T52" fmla="*/ 4 w 21"/>
                  <a:gd name="T53" fmla="*/ 3 h 32"/>
                  <a:gd name="T54" fmla="*/ 2 w 21"/>
                  <a:gd name="T55" fmla="*/ 6 h 32"/>
                  <a:gd name="T56" fmla="*/ 1 w 21"/>
                  <a:gd name="T57" fmla="*/ 10 h 32"/>
                  <a:gd name="T58" fmla="*/ 0 w 21"/>
                  <a:gd name="T59" fmla="*/ 14 h 32"/>
                  <a:gd name="T60" fmla="*/ 0 w 21"/>
                  <a:gd name="T61" fmla="*/ 18 h 32"/>
                  <a:gd name="T62" fmla="*/ 1 w 21"/>
                  <a:gd name="T63" fmla="*/ 22 h 32"/>
                  <a:gd name="T64" fmla="*/ 2 w 21"/>
                  <a:gd name="T65" fmla="*/ 26 h 32"/>
                  <a:gd name="T66" fmla="*/ 4 w 21"/>
                  <a:gd name="T67" fmla="*/ 29 h 32"/>
                  <a:gd name="T68" fmla="*/ 7 w 21"/>
                  <a:gd name="T69" fmla="*/ 32 h 32"/>
                  <a:gd name="T70" fmla="*/ 11 w 21"/>
                  <a:gd name="T71" fmla="*/ 32 h 32"/>
                  <a:gd name="T72" fmla="*/ 14 w 21"/>
                  <a:gd name="T73" fmla="*/ 32 h 32"/>
                  <a:gd name="T74" fmla="*/ 17 w 21"/>
                  <a:gd name="T75" fmla="*/ 30 h 32"/>
                  <a:gd name="T76" fmla="*/ 19 w 21"/>
                  <a:gd name="T77" fmla="*/ 28 h 32"/>
                  <a:gd name="T78" fmla="*/ 20 w 21"/>
                  <a:gd name="T79" fmla="*/ 24 h 32"/>
                  <a:gd name="T80" fmla="*/ 21 w 21"/>
                  <a:gd name="T81" fmla="*/ 21 h 32"/>
                  <a:gd name="T82" fmla="*/ 21 w 21"/>
                  <a:gd name="T83" fmla="*/ 18 h 32"/>
                  <a:gd name="T84" fmla="*/ 21 w 21"/>
                  <a:gd name="T85"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32">
                    <a:moveTo>
                      <a:pt x="17" y="18"/>
                    </a:moveTo>
                    <a:cubicBezTo>
                      <a:pt x="17" y="19"/>
                      <a:pt x="17" y="20"/>
                      <a:pt x="17" y="22"/>
                    </a:cubicBezTo>
                    <a:cubicBezTo>
                      <a:pt x="16" y="23"/>
                      <a:pt x="16" y="24"/>
                      <a:pt x="15" y="25"/>
                    </a:cubicBezTo>
                    <a:cubicBezTo>
                      <a:pt x="15" y="26"/>
                      <a:pt x="14" y="27"/>
                      <a:pt x="13" y="27"/>
                    </a:cubicBezTo>
                    <a:cubicBezTo>
                      <a:pt x="12" y="28"/>
                      <a:pt x="12" y="28"/>
                      <a:pt x="11" y="28"/>
                    </a:cubicBezTo>
                    <a:cubicBezTo>
                      <a:pt x="9" y="28"/>
                      <a:pt x="9" y="28"/>
                      <a:pt x="8" y="27"/>
                    </a:cubicBezTo>
                    <a:cubicBezTo>
                      <a:pt x="7" y="27"/>
                      <a:pt x="6" y="26"/>
                      <a:pt x="6" y="25"/>
                    </a:cubicBezTo>
                    <a:cubicBezTo>
                      <a:pt x="5" y="24"/>
                      <a:pt x="5" y="23"/>
                      <a:pt x="5" y="21"/>
                    </a:cubicBezTo>
                    <a:cubicBezTo>
                      <a:pt x="4" y="20"/>
                      <a:pt x="4" y="19"/>
                      <a:pt x="4" y="17"/>
                    </a:cubicBezTo>
                    <a:cubicBezTo>
                      <a:pt x="4" y="15"/>
                      <a:pt x="4" y="14"/>
                      <a:pt x="4" y="14"/>
                    </a:cubicBezTo>
                    <a:cubicBezTo>
                      <a:pt x="4" y="13"/>
                      <a:pt x="5" y="12"/>
                      <a:pt x="5" y="11"/>
                    </a:cubicBezTo>
                    <a:cubicBezTo>
                      <a:pt x="5" y="10"/>
                      <a:pt x="5" y="8"/>
                      <a:pt x="6" y="7"/>
                    </a:cubicBezTo>
                    <a:cubicBezTo>
                      <a:pt x="6" y="7"/>
                      <a:pt x="7" y="6"/>
                      <a:pt x="8" y="5"/>
                    </a:cubicBezTo>
                    <a:cubicBezTo>
                      <a:pt x="9" y="5"/>
                      <a:pt x="10" y="4"/>
                      <a:pt x="11" y="4"/>
                    </a:cubicBezTo>
                    <a:cubicBezTo>
                      <a:pt x="12" y="4"/>
                      <a:pt x="13" y="5"/>
                      <a:pt x="13" y="5"/>
                    </a:cubicBezTo>
                    <a:cubicBezTo>
                      <a:pt x="14" y="6"/>
                      <a:pt x="15" y="6"/>
                      <a:pt x="15" y="7"/>
                    </a:cubicBezTo>
                    <a:cubicBezTo>
                      <a:pt x="16" y="8"/>
                      <a:pt x="16" y="9"/>
                      <a:pt x="17" y="10"/>
                    </a:cubicBezTo>
                    <a:cubicBezTo>
                      <a:pt x="17" y="12"/>
                      <a:pt x="17" y="13"/>
                      <a:pt x="17" y="15"/>
                    </a:cubicBezTo>
                    <a:cubicBezTo>
                      <a:pt x="17" y="16"/>
                      <a:pt x="17" y="17"/>
                      <a:pt x="17" y="18"/>
                    </a:cubicBezTo>
                    <a:close/>
                    <a:moveTo>
                      <a:pt x="21" y="13"/>
                    </a:moveTo>
                    <a:cubicBezTo>
                      <a:pt x="21" y="12"/>
                      <a:pt x="21" y="10"/>
                      <a:pt x="21" y="9"/>
                    </a:cubicBezTo>
                    <a:cubicBezTo>
                      <a:pt x="20" y="8"/>
                      <a:pt x="20" y="7"/>
                      <a:pt x="19" y="5"/>
                    </a:cubicBezTo>
                    <a:cubicBezTo>
                      <a:pt x="19" y="4"/>
                      <a:pt x="18" y="3"/>
                      <a:pt x="17" y="2"/>
                    </a:cubicBezTo>
                    <a:cubicBezTo>
                      <a:pt x="16" y="2"/>
                      <a:pt x="15" y="1"/>
                      <a:pt x="14" y="1"/>
                    </a:cubicBezTo>
                    <a:cubicBezTo>
                      <a:pt x="13" y="0"/>
                      <a:pt x="12" y="0"/>
                      <a:pt x="11" y="0"/>
                    </a:cubicBezTo>
                    <a:cubicBezTo>
                      <a:pt x="9" y="0"/>
                      <a:pt x="8" y="0"/>
                      <a:pt x="7" y="1"/>
                    </a:cubicBezTo>
                    <a:cubicBezTo>
                      <a:pt x="5" y="2"/>
                      <a:pt x="5" y="2"/>
                      <a:pt x="4" y="3"/>
                    </a:cubicBezTo>
                    <a:cubicBezTo>
                      <a:pt x="3" y="4"/>
                      <a:pt x="2" y="5"/>
                      <a:pt x="2" y="6"/>
                    </a:cubicBezTo>
                    <a:cubicBezTo>
                      <a:pt x="1" y="7"/>
                      <a:pt x="1" y="9"/>
                      <a:pt x="1" y="10"/>
                    </a:cubicBezTo>
                    <a:cubicBezTo>
                      <a:pt x="0" y="12"/>
                      <a:pt x="0" y="13"/>
                      <a:pt x="0" y="14"/>
                    </a:cubicBezTo>
                    <a:cubicBezTo>
                      <a:pt x="0" y="15"/>
                      <a:pt x="0" y="16"/>
                      <a:pt x="0" y="18"/>
                    </a:cubicBezTo>
                    <a:cubicBezTo>
                      <a:pt x="0" y="20"/>
                      <a:pt x="0" y="21"/>
                      <a:pt x="1" y="22"/>
                    </a:cubicBezTo>
                    <a:cubicBezTo>
                      <a:pt x="1" y="24"/>
                      <a:pt x="1" y="25"/>
                      <a:pt x="2" y="26"/>
                    </a:cubicBezTo>
                    <a:cubicBezTo>
                      <a:pt x="2" y="27"/>
                      <a:pt x="3" y="28"/>
                      <a:pt x="4" y="29"/>
                    </a:cubicBezTo>
                    <a:cubicBezTo>
                      <a:pt x="5" y="30"/>
                      <a:pt x="6" y="31"/>
                      <a:pt x="7" y="32"/>
                    </a:cubicBezTo>
                    <a:cubicBezTo>
                      <a:pt x="8" y="32"/>
                      <a:pt x="9" y="32"/>
                      <a:pt x="11" y="32"/>
                    </a:cubicBezTo>
                    <a:cubicBezTo>
                      <a:pt x="12" y="32"/>
                      <a:pt x="13" y="32"/>
                      <a:pt x="14" y="32"/>
                    </a:cubicBezTo>
                    <a:cubicBezTo>
                      <a:pt x="15" y="31"/>
                      <a:pt x="16" y="31"/>
                      <a:pt x="17" y="30"/>
                    </a:cubicBezTo>
                    <a:cubicBezTo>
                      <a:pt x="18" y="30"/>
                      <a:pt x="18" y="29"/>
                      <a:pt x="19" y="28"/>
                    </a:cubicBezTo>
                    <a:cubicBezTo>
                      <a:pt x="20" y="27"/>
                      <a:pt x="20" y="26"/>
                      <a:pt x="20" y="24"/>
                    </a:cubicBezTo>
                    <a:cubicBezTo>
                      <a:pt x="21" y="23"/>
                      <a:pt x="21" y="22"/>
                      <a:pt x="21" y="21"/>
                    </a:cubicBezTo>
                    <a:cubicBezTo>
                      <a:pt x="21" y="19"/>
                      <a:pt x="21" y="18"/>
                      <a:pt x="21" y="18"/>
                    </a:cubicBezTo>
                    <a:cubicBezTo>
                      <a:pt x="21" y="16"/>
                      <a:pt x="21" y="15"/>
                      <a:pt x="21" y="13"/>
                    </a:cubicBezTo>
                    <a:close/>
                  </a:path>
                </a:pathLst>
              </a:custGeom>
              <a:grpFill/>
              <a:ln w="9525">
                <a:noFill/>
                <a:round/>
              </a:ln>
            </p:spPr>
            <p:txBody>
              <a:bodyPr vert="horz" wrap="square" lIns="51445" tIns="25721" rIns="51445" bIns="25721" numCol="1" anchor="t" anchorCtr="0" compatLnSpc="1"/>
              <a:lstStyle/>
              <a:p>
                <a:pPr defTabSz="685800"/>
                <a:endParaRPr lang="zh-CN" altLang="en-US" sz="1015">
                  <a:solidFill>
                    <a:prstClr val="black"/>
                  </a:solidFill>
                  <a:latin typeface="等线" panose="02010600030101010101" charset="-122"/>
                  <a:ea typeface="等线" panose="02010600030101010101" charset="-122"/>
                </a:endParaRPr>
              </a:p>
            </p:txBody>
          </p:sp>
        </p:grpSp>
      </p:grpSp>
      <p:graphicFrame>
        <p:nvGraphicFramePr>
          <p:cNvPr id="10" name="表格 9"/>
          <p:cNvGraphicFramePr/>
          <p:nvPr>
            <p:custDataLst>
              <p:tags r:id="rId1"/>
            </p:custDataLst>
          </p:nvPr>
        </p:nvGraphicFramePr>
        <p:xfrm>
          <a:off x="9763760" y="676910"/>
          <a:ext cx="2428240" cy="6191250"/>
        </p:xfrm>
        <a:graphic>
          <a:graphicData uri="http://schemas.openxmlformats.org/drawingml/2006/table">
            <a:tbl>
              <a:tblPr firstRow="1" bandRow="1">
                <a:tableStyleId>{5C22544A-7EE6-4342-B048-85BDC9FD1C3A}</a:tableStyleId>
              </a:tblPr>
              <a:tblGrid>
                <a:gridCol w="2428240"/>
              </a:tblGrid>
              <a:tr h="412750">
                <a:tc>
                  <a:txBody>
                    <a:bodyPr/>
                    <a:p>
                      <a:pPr algn="ctr">
                        <a:buClrTx/>
                        <a:buSzTx/>
                        <a:buFontTx/>
                        <a:buNone/>
                      </a:pP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复杂程序的</a:t>
                      </a:r>
                      <a:r>
                        <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rPr>
                        <a:t>结构</a:t>
                      </a:r>
                      <a:endParaRPr lang="zh-CN" altLang="en-US" sz="2000" b="1">
                        <a:solidFill>
                          <a:schemeClr val="dk1"/>
                        </a:solidFill>
                        <a:latin typeface="思源黑体 CN Regular" panose="020B0500000000000000" charset="-122"/>
                        <a:ea typeface="思源黑体 CN Regular" panose="020B0500000000000000" charset="-122"/>
                        <a:sym typeface="纤黑体" panose="02000000000000000000" charset="-122"/>
                      </a:endParaRPr>
                    </a:p>
                  </a:txBody>
                  <a:tcPr anchor="ctr" anchorCtr="0">
                    <a:solidFill>
                      <a:srgbClr val="9C0B15">
                        <a:alpha val="50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一、多个工程共用</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1.1 语言运行时库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sym typeface="+mn-ea"/>
                        </a:rPr>
                        <a:t>1.2 </a:t>
                      </a:r>
                      <a:r>
                        <a:rPr lang="zh-CN" altLang="en-US" sz="1800">
                          <a:latin typeface="思源黑体 CN Regular" panose="020B0500000000000000" charset="-122"/>
                          <a:ea typeface="思源黑体 CN Regular" panose="020B0500000000000000" charset="-122"/>
                          <a:sym typeface="+mn-ea"/>
                        </a:rPr>
                        <a:t>静态</a:t>
                      </a:r>
                      <a:r>
                        <a:rPr lang="zh-CN" altLang="en-US" sz="1800">
                          <a:latin typeface="思源黑体 CN Regular" panose="020B0500000000000000" charset="-122"/>
                          <a:ea typeface="思源黑体 CN Regular" panose="020B0500000000000000" charset="-122"/>
                          <a:sym typeface="+mn-ea"/>
                        </a:rPr>
                        <a:t>链接库</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ctr">
                        <a:buClrTx/>
                        <a:buSzTx/>
                        <a:buFontTx/>
                        <a:buNone/>
                      </a:pPr>
                      <a:r>
                        <a:rPr lang="en-US" altLang="zh-CN" sz="1800" b="1">
                          <a:latin typeface="思源黑体 CN Regular" panose="020B0500000000000000" charset="-122"/>
                          <a:ea typeface="思源黑体 CN Regular" panose="020B0500000000000000" charset="-122"/>
                          <a:sym typeface="+mn-ea"/>
                        </a:rPr>
                        <a:t>二、</a:t>
                      </a:r>
                      <a:r>
                        <a:rPr lang="zh-CN" altLang="en-US" sz="1800" b="1">
                          <a:latin typeface="思源黑体 CN Regular" panose="020B0500000000000000" charset="-122"/>
                          <a:ea typeface="思源黑体 CN Regular" panose="020B0500000000000000" charset="-122"/>
                          <a:sym typeface="+mn-ea"/>
                        </a:rPr>
                        <a:t>多道程序</a:t>
                      </a:r>
                      <a:r>
                        <a:rPr lang="zh-CN" altLang="en-US" sz="1800" b="1">
                          <a:latin typeface="思源黑体 CN Regular" panose="020B0500000000000000" charset="-122"/>
                          <a:ea typeface="思源黑体 CN Regular" panose="020B0500000000000000" charset="-122"/>
                          <a:sym typeface="+mn-ea"/>
                        </a:rPr>
                        <a:t>共存</a:t>
                      </a:r>
                      <a:endParaRPr lang="zh-CN" altLang="en-US" sz="1800" b="1">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sz="1800">
                          <a:latin typeface="思源黑体 CN Regular" panose="020B0500000000000000" charset="-122"/>
                          <a:ea typeface="思源黑体 CN Regular" panose="020B0500000000000000" charset="-122"/>
                          <a:sym typeface="+mn-ea"/>
                        </a:rPr>
                        <a:t>2.1 简单分区</a:t>
                      </a:r>
                      <a:endParaRPr lang="zh-CN" altLang="en-US" sz="1800">
                        <a:latin typeface="思源黑体 CN Regular" panose="020B0500000000000000" charset="-122"/>
                        <a:ea typeface="思源黑体 CN Regular" panose="020B0500000000000000" charset="-122"/>
                        <a:sym typeface="+mn-ea"/>
                      </a:endParaRPr>
                    </a:p>
                  </a:txBody>
                  <a:tcPr anchor="ctr" anchorCtr="0">
                    <a:solidFill>
                      <a:srgbClr val="9C0B15">
                        <a:alpha val="25000"/>
                      </a:srgbClr>
                    </a:solidFill>
                  </a:tcPr>
                </a:tc>
              </a:tr>
              <a:tr h="412750">
                <a:tc>
                  <a:txBody>
                    <a:bodyPr/>
                    <a:p>
                      <a:pPr algn="l">
                        <a:buClrTx/>
                        <a:buSzTx/>
                        <a:buFontTx/>
                        <a:buNone/>
                      </a:pPr>
                      <a:r>
                        <a:rPr lang="zh-CN" altLang="en-US">
                          <a:latin typeface="思源黑体 CN Regular" panose="020B0500000000000000" charset="-122"/>
                          <a:ea typeface="思源黑体 CN Regular" panose="020B0500000000000000" charset="-122"/>
                        </a:rPr>
                        <a:t>2.</a:t>
                      </a:r>
                      <a:r>
                        <a:rPr lang="en-US" altLang="zh-CN">
                          <a:latin typeface="思源黑体 CN Regular" panose="020B0500000000000000" charset="-122"/>
                          <a:ea typeface="思源黑体 CN Regular" panose="020B0500000000000000" charset="-122"/>
                        </a:rPr>
                        <a:t>2</a:t>
                      </a:r>
                      <a:r>
                        <a:rPr lang="zh-CN" altLang="en-US">
                          <a:latin typeface="思源黑体 CN Regular" panose="020B0500000000000000" charset="-122"/>
                          <a:ea typeface="思源黑体 CN Regular" panose="020B0500000000000000" charset="-122"/>
                        </a:rPr>
                        <a:t> 分段与</a:t>
                      </a:r>
                      <a:r>
                        <a:rPr lang="zh-CN" altLang="en-US">
                          <a:latin typeface="思源黑体 CN Regular" panose="020B0500000000000000" charset="-122"/>
                          <a:ea typeface="思源黑体 CN Regular" panose="020B0500000000000000" charset="-122"/>
                        </a:rPr>
                        <a:t>分页</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ctr">
                        <a:buClrTx/>
                        <a:buSzTx/>
                        <a:buFontTx/>
                        <a:buNone/>
                      </a:pPr>
                      <a:r>
                        <a:rPr lang="zh-CN" altLang="en-US" b="1">
                          <a:latin typeface="思源黑体 CN Regular" panose="020B0500000000000000" charset="-122"/>
                          <a:ea typeface="思源黑体 CN Regular" panose="020B0500000000000000" charset="-122"/>
                        </a:rPr>
                        <a:t>三、多道程序共享</a:t>
                      </a:r>
                      <a:endParaRPr lang="zh-CN" altLang="en-US" b="1">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.1 动态</a:t>
                      </a:r>
                      <a:r>
                        <a:rPr lang="zh-CN" altLang="en-US">
                          <a:latin typeface="思源黑体 CN Regular" panose="020B0500000000000000" charset="-122"/>
                          <a:ea typeface="思源黑体 CN Regular" panose="020B0500000000000000" charset="-122"/>
                        </a:rPr>
                        <a:t>链接库</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a:latin typeface="思源黑体 CN Regular" panose="020B0500000000000000" charset="-122"/>
                          <a:ea typeface="思源黑体 CN Regular" panose="020B0500000000000000" charset="-122"/>
                        </a:rPr>
                        <a:t>3</a:t>
                      </a:r>
                      <a:r>
                        <a:rPr lang="zh-CN" altLang="en-US">
                          <a:latin typeface="思源黑体 CN Regular" panose="020B0500000000000000" charset="-122"/>
                          <a:ea typeface="思源黑体 CN Regular" panose="020B0500000000000000" charset="-122"/>
                        </a:rPr>
                        <a:t>.2 外存的库共享</a:t>
                      </a:r>
                      <a:endParaRPr lang="zh-CN" altLang="en-US">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en-US" altLang="zh-CN" sz="1800">
                          <a:latin typeface="思源黑体 CN Regular" panose="020B0500000000000000" charset="-122"/>
                          <a:ea typeface="思源黑体 CN Regular" panose="020B0500000000000000" charset="-122"/>
                        </a:rPr>
                        <a:t>3.3 </a:t>
                      </a:r>
                      <a:r>
                        <a:rPr lang="zh-CN" altLang="en-US" sz="1800">
                          <a:latin typeface="思源黑体 CN Regular" panose="020B0500000000000000" charset="-122"/>
                          <a:ea typeface="思源黑体 CN Regular" panose="020B0500000000000000" charset="-122"/>
                        </a:rPr>
                        <a:t>内存的库共享</a:t>
                      </a:r>
                      <a:endParaRPr lang="zh-CN" altLang="en-US" sz="1800">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r h="412750">
                <a:tc>
                  <a:txBody>
                    <a:bodyPr/>
                    <a:p>
                      <a:pPr algn="l">
                        <a:buClrTx/>
                        <a:buSzTx/>
                        <a:buFontTx/>
                        <a:buNone/>
                      </a:pPr>
                      <a:r>
                        <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rPr>
                        <a:t>3.4 惰性动态链接</a:t>
                      </a:r>
                      <a:endParaRPr lang="zh-CN" altLang="en-US" sz="1800">
                        <a:ln w="28575" cmpd="dbl">
                          <a:noFill/>
                          <a:prstDash val="solid"/>
                        </a:ln>
                        <a:solidFill>
                          <a:schemeClr val="bg1"/>
                        </a:solidFill>
                        <a:effectLst>
                          <a:glow rad="12700">
                            <a:schemeClr val="bg1">
                              <a:alpha val="40000"/>
                            </a:schemeClr>
                          </a:glow>
                        </a:effectLst>
                        <a:latin typeface="思源黑体 CN Regular" panose="020B0500000000000000" charset="-122"/>
                        <a:ea typeface="思源黑体 CN Regular" panose="020B0500000000000000" charset="-122"/>
                        <a:sym typeface="+mn-ea"/>
                      </a:endParaRPr>
                    </a:p>
                  </a:txBody>
                  <a:tcPr anchor="ctr" anchorCtr="0">
                    <a:solidFill>
                      <a:srgbClr val="9C0B15"/>
                    </a:solidFill>
                  </a:tcPr>
                </a:tc>
              </a:tr>
              <a:tr h="412750">
                <a:tc>
                  <a:txBody>
                    <a:bodyPr/>
                    <a:p>
                      <a:pPr algn="ctr">
                        <a:buClrTx/>
                        <a:buSzTx/>
                        <a:buFontTx/>
                        <a:buNone/>
                      </a:pPr>
                      <a:r>
                        <a:rPr lang="zh-CN" altLang="en-US" sz="1200" b="1">
                          <a:solidFill>
                            <a:schemeClr val="bg1">
                              <a:lumMod val="65000"/>
                            </a:schemeClr>
                          </a:solidFill>
                          <a:latin typeface="思源黑体 CN Regular" panose="020B0500000000000000" charset="-122"/>
                          <a:ea typeface="思源黑体 CN Regular" panose="020B0500000000000000" charset="-122"/>
                        </a:rPr>
                        <a:t>潘润宇</a:t>
                      </a:r>
                      <a:r>
                        <a:rPr lang="en-US" altLang="zh-CN" sz="1200" b="1">
                          <a:solidFill>
                            <a:schemeClr val="bg1">
                              <a:lumMod val="65000"/>
                            </a:schemeClr>
                          </a:solidFill>
                          <a:latin typeface="思源黑体 CN Regular" panose="020B0500000000000000" charset="-122"/>
                          <a:ea typeface="思源黑体 CN Regular" panose="020B0500000000000000" charset="-122"/>
                        </a:rPr>
                        <a:t> 2023.03</a:t>
                      </a:r>
                      <a:endParaRPr lang="en-US" altLang="zh-CN" sz="1200" b="1">
                        <a:solidFill>
                          <a:schemeClr val="bg1">
                            <a:lumMod val="65000"/>
                          </a:schemeClr>
                        </a:solidFill>
                        <a:latin typeface="思源黑体 CN Regular" panose="020B0500000000000000" charset="-122"/>
                        <a:ea typeface="思源黑体 CN Regular" panose="020B0500000000000000" charset="-122"/>
                      </a:endParaRPr>
                    </a:p>
                  </a:txBody>
                  <a:tcPr anchor="ctr" anchorCtr="0">
                    <a:solidFill>
                      <a:srgbClr val="9C0B15">
                        <a:alpha val="25000"/>
                      </a:srgbClr>
                    </a:solidFill>
                  </a:tcPr>
                </a:tc>
              </a:tr>
            </a:tbl>
          </a:graphicData>
        </a:graphic>
      </p:graphicFrame>
      <p:sp>
        <p:nvSpPr>
          <p:cNvPr id="21" name="圆角矩形 20"/>
          <p:cNvSpPr/>
          <p:nvPr/>
        </p:nvSpPr>
        <p:spPr>
          <a:xfrm>
            <a:off x="23495" y="36830"/>
            <a:ext cx="9740265" cy="6746240"/>
          </a:xfrm>
          <a:prstGeom prst="roundRect">
            <a:avLst>
              <a:gd name="adj" fmla="val 1863"/>
            </a:avLst>
          </a:prstGeom>
          <a:noFill/>
          <a:ln w="44450" cmpd="sng">
            <a:solidFill>
              <a:srgbClr val="9C0B15"/>
            </a:solidFill>
            <a:prstDash val="solid"/>
          </a:ln>
          <a:effectLst>
            <a:outerShdw blurRad="127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ext Box 2"/>
          <p:cNvSpPr txBox="1"/>
          <p:nvPr/>
        </p:nvSpPr>
        <p:spPr>
          <a:xfrm>
            <a:off x="428625" y="140335"/>
            <a:ext cx="8930640" cy="6000750"/>
          </a:xfrm>
          <a:prstGeom prst="rect">
            <a:avLst/>
          </a:prstGeom>
          <a:noFill/>
          <a:ln w="12700">
            <a:noFill/>
          </a:ln>
        </p:spPr>
        <p:txBody>
          <a:bodyPr wrap="square" anchor="t" anchorCtr="0">
            <a:spAutoFit/>
          </a:bodyPr>
          <a:p>
            <a:pPr algn="ctr">
              <a:spcBef>
                <a:spcPct val="20000"/>
              </a:spcBef>
              <a:buClrTx/>
              <a:buSzTx/>
              <a:buFontTx/>
            </a:pPr>
            <a:r>
              <a:rPr lang="en-US" altLang="zh-CN" sz="2000" b="1">
                <a:solidFill>
                  <a:srgbClr val="9C0B15"/>
                </a:solidFill>
                <a:sym typeface="+mn-ea"/>
              </a:rPr>
              <a:t>4</a:t>
            </a:r>
            <a:r>
              <a:rPr lang="zh-CN" altLang="en-US" sz="2000" b="1">
                <a:solidFill>
                  <a:srgbClr val="9C0B15"/>
                </a:solidFill>
                <a:sym typeface="+mn-ea"/>
              </a:rPr>
              <a:t>号作业：第</a:t>
            </a:r>
            <a:r>
              <a:rPr lang="en-US" altLang="zh-CN" sz="2000" b="1">
                <a:solidFill>
                  <a:srgbClr val="9C0B15"/>
                </a:solidFill>
                <a:sym typeface="+mn-ea"/>
              </a:rPr>
              <a:t>4</a:t>
            </a:r>
            <a:r>
              <a:rPr lang="zh-CN" altLang="en-US" sz="2000" b="1">
                <a:solidFill>
                  <a:srgbClr val="9C0B15"/>
                </a:solidFill>
                <a:sym typeface="+mn-ea"/>
              </a:rPr>
              <a:t>周</a:t>
            </a:r>
            <a:endParaRPr lang="zh-CN" altLang="en-US" sz="2000" b="1">
              <a:solidFill>
                <a:srgbClr val="9C0B15"/>
              </a:solidFill>
              <a:sym typeface="+mn-ea"/>
            </a:endParaRPr>
          </a:p>
          <a:p>
            <a:pPr algn="ctr">
              <a:spcBef>
                <a:spcPct val="20000"/>
              </a:spcBef>
              <a:buClrTx/>
              <a:buSzTx/>
              <a:buFontTx/>
            </a:pPr>
            <a:endParaRPr lang="zh-CN" altLang="en-US" sz="2000" b="1">
              <a:solidFill>
                <a:srgbClr val="9C0B15"/>
              </a:solidFill>
              <a:sym typeface="+mn-ea"/>
            </a:endParaRPr>
          </a:p>
          <a:p>
            <a:pPr algn="l">
              <a:spcBef>
                <a:spcPct val="20000"/>
              </a:spcBef>
              <a:buClrTx/>
              <a:buSzTx/>
              <a:buFontTx/>
            </a:pPr>
            <a:r>
              <a:rPr lang="zh-CN" altLang="en-US" sz="2000" b="1">
                <a:sym typeface="+mn-ea"/>
              </a:rPr>
              <a:t>题目一</a:t>
            </a:r>
            <a:r>
              <a:rPr lang="en-US" altLang="zh-CN" sz="2000">
                <a:sym typeface="+mn-ea"/>
              </a:rPr>
              <a:t>  </a:t>
            </a:r>
            <a:r>
              <a:rPr lang="zh-CN" altLang="en-US" sz="2000">
                <a:sym typeface="+mn-ea"/>
              </a:rPr>
              <a:t>应用程序在可执行文件中和在虚拟地址空间中的存放形式有什么区别？</a:t>
            </a:r>
            <a:endParaRPr lang="zh-CN" altLang="en-US" sz="2000">
              <a:sym typeface="+mn-ea"/>
            </a:endParaRPr>
          </a:p>
          <a:p>
            <a:pPr algn="l">
              <a:spcBef>
                <a:spcPct val="20000"/>
              </a:spcBef>
              <a:buClrTx/>
              <a:buSzTx/>
              <a:buFontTx/>
            </a:pPr>
            <a:endParaRPr lang="zh-CN" altLang="en-US" sz="2000" b="1">
              <a:sym typeface="+mn-ea"/>
            </a:endParaRPr>
          </a:p>
          <a:p>
            <a:pPr algn="l">
              <a:spcBef>
                <a:spcPct val="20000"/>
              </a:spcBef>
              <a:buClrTx/>
              <a:buSzTx/>
              <a:buFontTx/>
            </a:pPr>
            <a:r>
              <a:rPr lang="zh-CN" altLang="en-US" sz="2000" b="1">
                <a:sym typeface="+mn-ea"/>
              </a:rPr>
              <a:t>题目二</a:t>
            </a:r>
            <a:r>
              <a:rPr lang="en-US" altLang="zh-CN" sz="2000">
                <a:sym typeface="+mn-ea"/>
              </a:rPr>
              <a:t>  </a:t>
            </a:r>
            <a:r>
              <a:rPr lang="zh-CN" altLang="en-US" sz="2000">
                <a:sym typeface="+mn-ea"/>
              </a:rPr>
              <a:t>运行时库调用和系统调用有什么区别和联系？为什么？</a:t>
            </a:r>
            <a:r>
              <a:rPr lang="en-US" altLang="zh-CN" sz="2000">
                <a:sym typeface="+mn-ea"/>
              </a:rPr>
              <a:t>C</a:t>
            </a:r>
            <a:r>
              <a:rPr lang="zh-CN" altLang="en-US" sz="2000">
                <a:sym typeface="+mn-ea"/>
              </a:rPr>
              <a:t>语言程序可以用哪些方法结束执行并退出系统？在</a:t>
            </a:r>
            <a:r>
              <a:rPr lang="en-US" altLang="zh-CN" sz="2000">
                <a:sym typeface="+mn-ea"/>
              </a:rPr>
              <a:t>main</a:t>
            </a:r>
            <a:r>
              <a:rPr lang="zh-CN" altLang="en-US" sz="2000">
                <a:sym typeface="+mn-ea"/>
              </a:rPr>
              <a:t>函数</a:t>
            </a:r>
            <a:r>
              <a:rPr lang="en-US" altLang="zh-CN" sz="2000">
                <a:sym typeface="+mn-ea"/>
              </a:rPr>
              <a:t>return</a:t>
            </a:r>
            <a:r>
              <a:rPr lang="zh-CN" altLang="en-US" sz="2000">
                <a:sym typeface="+mn-ea"/>
              </a:rPr>
              <a:t>之后，运行时库做了哪些工作？查找资料，说明你的看法。</a:t>
            </a:r>
            <a:endParaRPr lang="zh-CN" altLang="en-US" sz="2000" b="1">
              <a:solidFill>
                <a:srgbClr val="9C0B15"/>
              </a:solidFill>
              <a:sym typeface="+mn-ea"/>
            </a:endParaRPr>
          </a:p>
          <a:p>
            <a:pPr algn="l">
              <a:spcBef>
                <a:spcPct val="20000"/>
              </a:spcBef>
              <a:buClrTx/>
              <a:buSzTx/>
              <a:buFontTx/>
            </a:pPr>
            <a:endParaRPr lang="zh-CN" altLang="en-US" sz="2000" b="1">
              <a:solidFill>
                <a:srgbClr val="9C0B15"/>
              </a:solidFill>
              <a:sym typeface="+mn-ea"/>
            </a:endParaRPr>
          </a:p>
          <a:p>
            <a:pPr algn="l">
              <a:spcBef>
                <a:spcPct val="20000"/>
              </a:spcBef>
              <a:buClrTx/>
              <a:buSzTx/>
              <a:buFontTx/>
            </a:pPr>
            <a:r>
              <a:rPr lang="zh-CN" altLang="en-US" sz="2000" b="1">
                <a:sym typeface="+mn-ea"/>
              </a:rPr>
              <a:t>题目三</a:t>
            </a:r>
            <a:r>
              <a:rPr lang="en-US" altLang="zh-CN" sz="2000">
                <a:sym typeface="+mn-ea"/>
              </a:rPr>
              <a:t>  </a:t>
            </a:r>
            <a:r>
              <a:rPr lang="zh-CN" altLang="en-US" sz="2000">
                <a:sym typeface="+mn-ea"/>
              </a:rPr>
              <a:t>在使用分页设计实现虚拟内存机制时，其具体实现要如何避免页表体积过大的问题？查找资料，说明你的看法。</a:t>
            </a:r>
            <a:endParaRPr lang="zh-CN" altLang="en-US" sz="2000">
              <a:sym typeface="+mn-ea"/>
            </a:endParaRPr>
          </a:p>
          <a:p>
            <a:pPr algn="l">
              <a:spcBef>
                <a:spcPct val="20000"/>
              </a:spcBef>
              <a:buClrTx/>
              <a:buSzTx/>
              <a:buFontTx/>
            </a:pPr>
            <a:endParaRPr lang="zh-CN" altLang="en-US" sz="2000">
              <a:sym typeface="+mn-ea"/>
            </a:endParaRPr>
          </a:p>
          <a:p>
            <a:pPr algn="l">
              <a:spcBef>
                <a:spcPct val="20000"/>
              </a:spcBef>
              <a:buClrTx/>
              <a:buSzTx/>
              <a:buFontTx/>
            </a:pPr>
            <a:r>
              <a:rPr lang="zh-CN" altLang="en-US" sz="2000" b="1">
                <a:sym typeface="+mn-ea"/>
              </a:rPr>
              <a:t>题目四</a:t>
            </a:r>
            <a:r>
              <a:rPr lang="en-US" altLang="zh-CN" sz="2000">
                <a:sym typeface="+mn-ea"/>
              </a:rPr>
              <a:t> </a:t>
            </a:r>
            <a:r>
              <a:rPr lang="zh-CN" altLang="en-US" sz="2000">
                <a:sym typeface="+mn-ea"/>
              </a:rPr>
              <a:t>自行查找资料，说明</a:t>
            </a:r>
            <a:r>
              <a:rPr lang="en-US" altLang="zh-CN" sz="2000">
                <a:sym typeface="+mn-ea"/>
              </a:rPr>
              <a:t>Linux</a:t>
            </a:r>
            <a:r>
              <a:rPr lang="zh-CN" altLang="en-US" sz="2000">
                <a:sym typeface="+mn-ea"/>
              </a:rPr>
              <a:t>的</a:t>
            </a:r>
            <a:r>
              <a:rPr lang="en-US" altLang="zh-CN" sz="2000">
                <a:sym typeface="+mn-ea"/>
              </a:rPr>
              <a:t>*.SO</a:t>
            </a:r>
            <a:r>
              <a:rPr lang="zh-CN" altLang="en-US" sz="2000">
                <a:sym typeface="+mn-ea"/>
              </a:rPr>
              <a:t>和</a:t>
            </a:r>
            <a:r>
              <a:rPr lang="en-US" altLang="zh-CN" sz="2000">
                <a:sym typeface="+mn-ea"/>
              </a:rPr>
              <a:t>Windows</a:t>
            </a:r>
            <a:r>
              <a:rPr lang="zh-CN" altLang="en-US" sz="2000">
                <a:sym typeface="+mn-ea"/>
              </a:rPr>
              <a:t>的</a:t>
            </a:r>
            <a:r>
              <a:rPr lang="en-US" altLang="zh-CN" sz="2000">
                <a:sym typeface="+mn-ea"/>
              </a:rPr>
              <a:t>*.DLL</a:t>
            </a:r>
            <a:r>
              <a:rPr lang="zh-CN" altLang="en-US" sz="2000">
                <a:sym typeface="+mn-ea"/>
              </a:rPr>
              <a:t>有何不同，以及</a:t>
            </a:r>
            <a:r>
              <a:rPr lang="en-US" altLang="zh-CN" sz="2000">
                <a:sym typeface="+mn-ea"/>
              </a:rPr>
              <a:t>*.SO</a:t>
            </a:r>
            <a:r>
              <a:rPr lang="zh-CN" altLang="en-US" sz="2000">
                <a:sym typeface="+mn-ea"/>
              </a:rPr>
              <a:t>中</a:t>
            </a:r>
            <a:r>
              <a:rPr lang="en-US" altLang="zh-CN" sz="2000">
                <a:sym typeface="+mn-ea"/>
              </a:rPr>
              <a:t>GOT</a:t>
            </a:r>
            <a:r>
              <a:rPr lang="zh-CN" altLang="en-US" sz="2000">
                <a:sym typeface="+mn-ea"/>
              </a:rPr>
              <a:t>和</a:t>
            </a:r>
            <a:r>
              <a:rPr lang="en-US" altLang="zh-CN" sz="2000">
                <a:sym typeface="+mn-ea"/>
              </a:rPr>
              <a:t>PLT</a:t>
            </a:r>
            <a:r>
              <a:rPr lang="zh-CN" altLang="en-US" sz="2000">
                <a:sym typeface="+mn-ea"/>
              </a:rPr>
              <a:t>的</a:t>
            </a:r>
            <a:r>
              <a:rPr lang="zh-CN" altLang="en-US" sz="2000">
                <a:sym typeface="+mn-ea"/>
              </a:rPr>
              <a:t>用途。</a:t>
            </a:r>
            <a:endParaRPr lang="zh-CN" altLang="en-US" sz="2000">
              <a:sym typeface="+mn-ea"/>
            </a:endParaRPr>
          </a:p>
          <a:p>
            <a:pPr algn="l">
              <a:spcBef>
                <a:spcPct val="20000"/>
              </a:spcBef>
              <a:buClrTx/>
              <a:buSzTx/>
              <a:buFontTx/>
            </a:pPr>
            <a:endParaRPr lang="zh-CN" altLang="en-US" sz="2000">
              <a:sym typeface="+mn-ea"/>
            </a:endParaRPr>
          </a:p>
          <a:p>
            <a:pPr algn="l">
              <a:spcBef>
                <a:spcPct val="20000"/>
              </a:spcBef>
              <a:buClrTx/>
              <a:buSzTx/>
              <a:buFontTx/>
            </a:pPr>
            <a:r>
              <a:rPr lang="zh-CN" altLang="en-US" sz="2000" b="1">
                <a:sym typeface="+mn-ea"/>
              </a:rPr>
              <a:t>题目五</a:t>
            </a:r>
            <a:r>
              <a:rPr lang="en-US" altLang="zh-CN" sz="2000">
                <a:sym typeface="+mn-ea"/>
              </a:rPr>
              <a:t>	</a:t>
            </a:r>
            <a:r>
              <a:rPr lang="zh-CN" altLang="en-US" sz="2000">
                <a:sym typeface="+mn-ea"/>
              </a:rPr>
              <a:t>阅读</a:t>
            </a:r>
            <a:r>
              <a:rPr lang="en-US" altLang="zh-CN" sz="2000">
                <a:sym typeface="+mn-ea"/>
              </a:rPr>
              <a:t>OSDI 2022</a:t>
            </a:r>
            <a:r>
              <a:rPr lang="zh-CN" altLang="en-US" sz="2000">
                <a:sym typeface="+mn-ea"/>
              </a:rPr>
              <a:t>文献</a:t>
            </a:r>
            <a:r>
              <a:rPr lang="zh-CN" altLang="en-US" sz="2000" i="1">
                <a:sym typeface="+mn-ea"/>
              </a:rPr>
              <a:t>From Dynamic Loading to Extensible Transformation:</a:t>
            </a:r>
            <a:endParaRPr lang="zh-CN" altLang="en-US" sz="2000" i="1">
              <a:sym typeface="+mn-ea"/>
            </a:endParaRPr>
          </a:p>
          <a:p>
            <a:pPr algn="l">
              <a:spcBef>
                <a:spcPct val="20000"/>
              </a:spcBef>
              <a:buClrTx/>
              <a:buSzTx/>
              <a:buFontTx/>
            </a:pPr>
            <a:r>
              <a:rPr lang="zh-CN" altLang="en-US" sz="2000" i="1">
                <a:sym typeface="+mn-ea"/>
              </a:rPr>
              <a:t>An Infrastructure for Dynamic Library Transformation</a:t>
            </a:r>
            <a:r>
              <a:rPr lang="zh-CN" altLang="en-US" sz="2000">
                <a:sym typeface="+mn-ea"/>
              </a:rPr>
              <a:t>（见提供的资料），说明该文献中介绍的机制如何改进了动态链接</a:t>
            </a:r>
            <a:r>
              <a:rPr lang="zh-CN" altLang="en-US" sz="2000">
                <a:sym typeface="+mn-ea"/>
              </a:rPr>
              <a:t>机制。</a:t>
            </a:r>
            <a:endParaRPr lang="zh-CN" altLang="en-US" sz="2000" b="1">
              <a:solidFill>
                <a:srgbClr val="9C0B15"/>
              </a:solidFill>
              <a:sym typeface="+mn-ea"/>
            </a:endParaRPr>
          </a:p>
        </p:txBody>
      </p:sp>
    </p:spTree>
    <p:custDataLst>
      <p:tags r:id="rId2"/>
    </p:custDataLst>
  </p:cSld>
  <p:clrMapOvr>
    <a:masterClrMapping/>
  </p:clrMapOvr>
  <p:transition spd="med"/>
</p:sld>
</file>

<file path=ppt/tags/tag1.xml><?xml version="1.0" encoding="utf-8"?>
<p:tagLst xmlns:p="http://schemas.openxmlformats.org/presentationml/2006/main">
  <p:tag name="TIMING" val="|0.3|0.8|0.7|0.7|1.2|1.3"/>
</p:tagLst>
</file>

<file path=ppt/tags/tag2.xml><?xml version="1.0" encoding="utf-8"?>
<p:tagLst xmlns:p="http://schemas.openxmlformats.org/presentationml/2006/main">
  <p:tag name="TABLE_ENDDRAG_ORIGIN_RECT" val="191*487"/>
  <p:tag name="TABLE_ENDDRAG_RECT" val="768*53*191*487"/>
</p:tagLst>
</file>

<file path=ppt/tags/tag3.xml><?xml version="1.0" encoding="utf-8"?>
<p:tagLst xmlns:p="http://schemas.openxmlformats.org/presentationml/2006/main">
  <p:tag name="KSO_WM_UNIT_TABLE_BEAUTIFY" val="smartTable{6edc0bf2-05bb-4006-85ce-4ed19eb41019}"/>
  <p:tag name="TABLE_ENDDRAG_ORIGIN_RECT" val="735*33"/>
  <p:tag name="TABLE_ENDDRAG_RECT" val="17*243*735*33"/>
</p:tagLst>
</file>

<file path=ppt/tags/tag4.xml><?xml version="1.0" encoding="utf-8"?>
<p:tagLst xmlns:p="http://schemas.openxmlformats.org/presentationml/2006/main">
  <p:tag name="TIMING" val="|0.6|0.8|1.2|0.9|0.6|1.1|0.7|0.6|0.8|0.4|1"/>
</p:tagLst>
</file>

<file path=ppt/tags/tag5.xml><?xml version="1.0" encoding="utf-8"?>
<p:tagLst xmlns:p="http://schemas.openxmlformats.org/presentationml/2006/main">
  <p:tag name="TABLE_ENDDRAG_ORIGIN_RECT" val="191*487"/>
  <p:tag name="TABLE_ENDDRAG_RECT" val="768*53*191*487"/>
</p:tagLst>
</file>

<file path=ppt/tags/tag6.xml><?xml version="1.0" encoding="utf-8"?>
<p:tagLst xmlns:p="http://schemas.openxmlformats.org/presentationml/2006/main">
  <p:tag name="TIMING" val="|0.6|0.8|1.2|0.9|0.6|1.1|0.7|0.6|0.8|0.4|1"/>
</p:tagLst>
</file>

<file path=ppt/tags/tag7.xml><?xml version="1.0" encoding="utf-8"?>
<p:tagLst xmlns:p="http://schemas.openxmlformats.org/presentationml/2006/main">
  <p:tag name="TABLE_ENDDRAG_ORIGIN_RECT" val="191*487"/>
  <p:tag name="TABLE_ENDDRAG_RECT" val="768*53*191*487"/>
</p:tagLst>
</file>

<file path=ppt/tags/tag8.xml><?xml version="1.0" encoding="utf-8"?>
<p:tagLst xmlns:p="http://schemas.openxmlformats.org/presentationml/2006/main">
  <p:tag name="TIMING" val="|0.6|0.8|1.2|0.9|0.6|1.1|0.7|0.6|0.8|0.4|1"/>
</p:tagLst>
</file>

<file path=ppt/tags/tag9.xml><?xml version="1.0" encoding="utf-8"?>
<p:tagLst xmlns:p="http://schemas.openxmlformats.org/presentationml/2006/main">
  <p:tag name="TABLE_ENDDRAG_ORIGIN_RECT" val="191*487"/>
  <p:tag name="TABLE_ENDDRAG_RECT" val="768*53*191*487"/>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TIMING" val="|0.6|0.8|1.2|0.9|0.6|1.1|0.7|0.6|0.8|0.4|1"/>
</p:tagLst>
</file>

<file path=ppt/tags/tag12.xml><?xml version="1.0" encoding="utf-8"?>
<p:tagLst xmlns:p="http://schemas.openxmlformats.org/presentationml/2006/main">
  <p:tag name="TABLE_ENDDRAG_ORIGIN_RECT" val="191*487"/>
  <p:tag name="TABLE_ENDDRAG_RECT" val="768*53*191*487"/>
</p:tagLst>
</file>

<file path=ppt/tags/tag13.xml><?xml version="1.0" encoding="utf-8"?>
<p:tagLst xmlns:p="http://schemas.openxmlformats.org/presentationml/2006/main">
  <p:tag name="TIMING" val="|0.6|0.8|1.2|0.9|0.6|1.1|0.7|0.6|0.8|0.4|1"/>
</p:tagLst>
</file>

<file path=ppt/tags/tag14.xml><?xml version="1.0" encoding="utf-8"?>
<p:tagLst xmlns:p="http://schemas.openxmlformats.org/presentationml/2006/main">
  <p:tag name="TABLE_ENDDRAG_ORIGIN_RECT" val="191*487"/>
  <p:tag name="TABLE_ENDDRAG_RECT" val="768*53*191*487"/>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TIMING" val="|0.6|0.8|1.2|0.9|0.6|1.1|0.7|0.6|0.8|0.4|1"/>
</p:tagLst>
</file>

<file path=ppt/tags/tag29.xml><?xml version="1.0" encoding="utf-8"?>
<p:tagLst xmlns:p="http://schemas.openxmlformats.org/presentationml/2006/main">
  <p:tag name="TABLE_ENDDRAG_ORIGIN_RECT" val="191*487"/>
  <p:tag name="TABLE_ENDDRAG_RECT" val="768*53*191*487"/>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TIMING" val="|0.6|0.8|1.2|0.9|0.6|1.1|0.7|0.6|0.8|0.4|1"/>
</p:tagLst>
</file>

<file path=ppt/tags/tag44.xml><?xml version="1.0" encoding="utf-8"?>
<p:tagLst xmlns:p="http://schemas.openxmlformats.org/presentationml/2006/main">
  <p:tag name="TABLE_ENDDRAG_ORIGIN_RECT" val="191*487"/>
  <p:tag name="TABLE_ENDDRAG_RECT" val="768*53*191*487"/>
</p:tagLst>
</file>

<file path=ppt/tags/tag45.xml><?xml version="1.0" encoding="utf-8"?>
<p:tagLst xmlns:p="http://schemas.openxmlformats.org/presentationml/2006/main">
  <p:tag name="TIMING" val="|0.6|0.8|1.2|0.9|0.6|1.1|0.7|0.6|0.8|0.4|1"/>
</p:tagLst>
</file>

<file path=ppt/tags/tag46.xml><?xml version="1.0" encoding="utf-8"?>
<p:tagLst xmlns:p="http://schemas.openxmlformats.org/presentationml/2006/main">
  <p:tag name="TABLE_ENDDRAG_ORIGIN_RECT" val="191*487"/>
  <p:tag name="TABLE_ENDDRAG_RECT" val="768*53*191*487"/>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TIMING" val="|0.6|0.8|1.2|0.9|0.6|1.1|0.7|0.6|0.8|0.4|1"/>
</p:tagLst>
</file>

<file path=ppt/tags/tag59.xml><?xml version="1.0" encoding="utf-8"?>
<p:tagLst xmlns:p="http://schemas.openxmlformats.org/presentationml/2006/main">
  <p:tag name="TABLE_ENDDRAG_ORIGIN_RECT" val="191*487"/>
  <p:tag name="TABLE_ENDDRAG_RECT" val="768*53*191*487"/>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TIMING" val="|0.6|0.8|1.2|0.9|0.6|1.1|0.7|0.6|0.8|0.4|1"/>
</p:tagLst>
</file>

<file path=ppt/tags/tag62.xml><?xml version="1.0" encoding="utf-8"?>
<p:tagLst xmlns:p="http://schemas.openxmlformats.org/presentationml/2006/main">
  <p:tag name="TABLE_ENDDRAG_ORIGIN_RECT" val="191*487"/>
  <p:tag name="TABLE_ENDDRAG_RECT" val="768*53*191*487"/>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TIMING" val="|0.6|0.8|1.2|0.9|0.6|1.1|0.7|0.6|0.8|0.4|1"/>
</p:tagLst>
</file>

<file path=ppt/tags/tag103.xml><?xml version="1.0" encoding="utf-8"?>
<p:tagLst xmlns:p="http://schemas.openxmlformats.org/presentationml/2006/main">
  <p:tag name="TABLE_ENDDRAG_ORIGIN_RECT" val="191*487"/>
  <p:tag name="TABLE_ENDDRAG_RECT" val="768*53*191*487"/>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TIMING" val="|0.6|0.8|1.2|0.9|0.6|1.1|0.7|0.6|0.8|0.4|1"/>
</p:tagLst>
</file>

<file path=ppt/tags/tag144.xml><?xml version="1.0" encoding="utf-8"?>
<p:tagLst xmlns:p="http://schemas.openxmlformats.org/presentationml/2006/main">
  <p:tag name="TABLE_ENDDRAG_ORIGIN_RECT" val="191*487"/>
  <p:tag name="TABLE_ENDDRAG_RECT" val="768*53*191*487"/>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TIMING" val="|0.6|0.8|1.2|0.9|0.6|1.1|0.7|0.6|0.8|0.4|1"/>
</p:tagLst>
</file>

<file path=ppt/tags/tag185.xml><?xml version="1.0" encoding="utf-8"?>
<p:tagLst xmlns:p="http://schemas.openxmlformats.org/presentationml/2006/main">
  <p:tag name="TABLE_ENDDRAG_ORIGIN_RECT" val="191*487"/>
  <p:tag name="TABLE_ENDDRAG_RECT" val="768*53*191*487"/>
</p:tagLst>
</file>

<file path=ppt/tags/tag186.xml><?xml version="1.0" encoding="utf-8"?>
<p:tagLst xmlns:p="http://schemas.openxmlformats.org/presentationml/2006/main">
  <p:tag name="TIMING" val="|0.6|0.8|1.2|0.9|0.6|1.1|0.7|0.6|0.8|0.4|1"/>
</p:tagLst>
</file>

<file path=ppt/tags/tag187.xml><?xml version="1.0" encoding="utf-8"?>
<p:tagLst xmlns:p="http://schemas.openxmlformats.org/presentationml/2006/main">
  <p:tag name="TABLE_ENDDRAG_ORIGIN_RECT" val="191*487"/>
  <p:tag name="TABLE_ENDDRAG_RECT" val="768*53*191*487"/>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TIMING" val="|0.6|0.8|1.2|0.9|0.6|1.1|0.7|0.6|0.8|0.4|1"/>
</p:tagLst>
</file>

<file path=ppt/tags/tag232.xml><?xml version="1.0" encoding="utf-8"?>
<p:tagLst xmlns:p="http://schemas.openxmlformats.org/presentationml/2006/main">
  <p:tag name="TABLE_ENDDRAG_ORIGIN_RECT" val="191*487"/>
  <p:tag name="TABLE_ENDDRAG_RECT" val="768*53*191*487"/>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TIMING" val="|0.6|0.8|1.2|0.9|0.6|1.1|0.7|0.6|0.8|0.4|1"/>
</p:tagLst>
</file>

<file path=ppt/tags/tag236.xml><?xml version="1.0" encoding="utf-8"?>
<p:tagLst xmlns:p="http://schemas.openxmlformats.org/presentationml/2006/main">
  <p:tag name="TABLE_ENDDRAG_ORIGIN_RECT" val="191*487"/>
  <p:tag name="TABLE_ENDDRAG_RECT" val="768*53*191*487"/>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TIMING" val="|0.6|0.8|1.2|0.9|0.6|1.1|0.7|0.6|0.8|0.4|1"/>
</p:tagLst>
</file>

<file path=ppt/tags/tag239.xml><?xml version="1.0" encoding="utf-8"?>
<p:tagLst xmlns:p="http://schemas.openxmlformats.org/presentationml/2006/main">
  <p:tag name="TABLE_ENDDRAG_ORIGIN_RECT" val="191*487"/>
  <p:tag name="TABLE_ENDDRAG_RECT" val="768*53*191*487"/>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TIMING" val="|0.6|0.8|1.2|0.9|0.6|1.1|0.7|0.6|0.8|0.4|1"/>
</p:tagLst>
</file>

<file path=ppt/tags/tag280.xml><?xml version="1.0" encoding="utf-8"?>
<p:tagLst xmlns:p="http://schemas.openxmlformats.org/presentationml/2006/main">
  <p:tag name="TABLE_ENDDRAG_ORIGIN_RECT" val="191*487"/>
  <p:tag name="TABLE_ENDDRAG_RECT" val="768*53*191*487"/>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 name="KSO_WM_UNIT_PLACING_PICTURE_USER_VIEWPORT" val="{&quot;height&quot;:1067,&quot;width&quot;:1317}"/>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 name="KSO_WM_UNIT_PLACING_PICTURE_USER_VIEWPORT" val="{&quot;height&quot;:1067,&quot;width&quot;:1317}"/>
</p:tagLst>
</file>

<file path=ppt/tags/tag318.xml><?xml version="1.0" encoding="utf-8"?>
<p:tagLst xmlns:p="http://schemas.openxmlformats.org/presentationml/2006/main">
  <p:tag name="TIMING" val="|0.6|0.8|1.2|0.9|0.6|1.1|0.7|0.6|0.8|0.4|1"/>
</p:tagLst>
</file>

<file path=ppt/tags/tag319.xml><?xml version="1.0" encoding="utf-8"?>
<p:tagLst xmlns:p="http://schemas.openxmlformats.org/presentationml/2006/main">
  <p:tag name="TABLE_ENDDRAG_ORIGIN_RECT" val="191*487"/>
  <p:tag name="TABLE_ENDDRAG_RECT" val="768*53*191*487"/>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TIMING" val="|0.6|0.8|1.2|0.9|0.6|1.1|0.7|0.6|0.8|0.4|1"/>
</p:tagLst>
</file>

<file path=ppt/tags/tag330.xml><?xml version="1.0" encoding="utf-8"?>
<p:tagLst xmlns:p="http://schemas.openxmlformats.org/presentationml/2006/main">
  <p:tag name="TABLE_ENDDRAG_ORIGIN_RECT" val="191*487"/>
  <p:tag name="TABLE_ENDDRAG_RECT" val="768*53*191*487"/>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TIMING" val="|0.6|0.8|1.2|0.9|0.6|1.1|0.7|0.6|0.8|0.4|1"/>
</p:tagLst>
</file>

<file path=ppt/tags/tag347.xml><?xml version="1.0" encoding="utf-8"?>
<p:tagLst xmlns:p="http://schemas.openxmlformats.org/presentationml/2006/main">
  <p:tag name="TABLE_ENDDRAG_ORIGIN_RECT" val="191*487"/>
  <p:tag name="TABLE_ENDDRAG_RECT" val="768*53*191*487"/>
</p:tagLst>
</file>

<file path=ppt/tags/tag348.xml><?xml version="1.0" encoding="utf-8"?>
<p:tagLst xmlns:p="http://schemas.openxmlformats.org/presentationml/2006/main">
  <p:tag name="TIMING" val="|0.6|0.8|1.2|0.9|0.6|1.1|0.7|0.6|0.8|0.4|1"/>
</p:tagLst>
</file>

<file path=ppt/tags/tag349.xml><?xml version="1.0" encoding="utf-8"?>
<p:tagLst xmlns:p="http://schemas.openxmlformats.org/presentationml/2006/main">
  <p:tag name="TABLE_ENDDRAG_ORIGIN_RECT" val="191*487"/>
  <p:tag name="TABLE_ENDDRAG_RECT" val="768*53*191*487"/>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TIMING" val="|0.6|0.8|1.2|0.9|0.6|1.1|0.7|0.6|0.8|0.4|1"/>
</p:tagLst>
</file>

<file path=ppt/tags/tag358.xml><?xml version="1.0" encoding="utf-8"?>
<p:tagLst xmlns:p="http://schemas.openxmlformats.org/presentationml/2006/main">
  <p:tag name="TABLE_ENDDRAG_ORIGIN_RECT" val="191*487"/>
  <p:tag name="TABLE_ENDDRAG_RECT" val="768*53*191*487"/>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TIMING" val="|0.6|0.8|1.2|0.9|0.6|1.1|0.7|0.6|0.8|0.4|1"/>
</p:tagLst>
</file>

<file path=ppt/tags/tag374.xml><?xml version="1.0" encoding="utf-8"?>
<p:tagLst xmlns:p="http://schemas.openxmlformats.org/presentationml/2006/main">
  <p:tag name="TABLE_ENDDRAG_ORIGIN_RECT" val="191*487"/>
  <p:tag name="TABLE_ENDDRAG_RECT" val="768*53*191*487"/>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TIMING" val="|0.6|0.8|1.2|0.9|0.6|1.1|0.7|0.6|0.8|0.4|1"/>
</p:tagLst>
</file>

<file path=ppt/tags/tag385.xml><?xml version="1.0" encoding="utf-8"?>
<p:tagLst xmlns:p="http://schemas.openxmlformats.org/presentationml/2006/main">
  <p:tag name="TABLE_ENDDRAG_ORIGIN_RECT" val="191*487"/>
  <p:tag name="TABLE_ENDDRAG_RECT" val="768*53*191*487"/>
</p:tagLst>
</file>

<file path=ppt/tags/tag386.xml><?xml version="1.0" encoding="utf-8"?>
<p:tagLst xmlns:p="http://schemas.openxmlformats.org/presentationml/2006/main">
  <p:tag name="TIMING" val="|0.6|0.8|1.2|0.9|0.6|1.1|0.7|0.6|0.8|0.4|1"/>
</p:tagLst>
</file>

<file path=ppt/tags/tag387.xml><?xml version="1.0" encoding="utf-8"?>
<p:tagLst xmlns:p="http://schemas.openxmlformats.org/presentationml/2006/main">
  <p:tag name="TABLE_ENDDRAG_ORIGIN_RECT" val="191*487"/>
  <p:tag name="TABLE_ENDDRAG_RECT" val="768*53*191*487"/>
</p:tagLst>
</file>

<file path=ppt/tags/tag388.xml><?xml version="1.0" encoding="utf-8"?>
<p:tagLst xmlns:p="http://schemas.openxmlformats.org/presentationml/2006/main">
  <p:tag name="TIMING" val="|0.6|0.8|1.2|0.9|0.6|1.1|0.7|0.6|0.8|0.4|1"/>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TABLE_ENDDRAG_ORIGIN_RECT" val="191*487"/>
  <p:tag name="TABLE_ENDDRAG_RECT" val="768*53*191*487"/>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TIMING" val="|0.6|0.8|1.2|0.9|0.6|1.1|0.7|0.6|0.8|0.4|1"/>
</p:tagLst>
</file>

<file path=ppt/tags/tag398.xml><?xml version="1.0" encoding="utf-8"?>
<p:tagLst xmlns:p="http://schemas.openxmlformats.org/presentationml/2006/main">
  <p:tag name="TABLE_ENDDRAG_ORIGIN_RECT" val="191*487"/>
  <p:tag name="TABLE_ENDDRAG_RECT" val="768*53*191*487"/>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TIMING" val="|0.6|0.8|1.2|0.9|0.6|1.1|0.7|0.6|0.8|0.4|1"/>
</p:tagLst>
</file>

<file path=ppt/tags/tag409.xml><?xml version="1.0" encoding="utf-8"?>
<p:tagLst xmlns:p="http://schemas.openxmlformats.org/presentationml/2006/main">
  <p:tag name="TABLE_ENDDRAG_ORIGIN_RECT" val="191*487"/>
  <p:tag name="TABLE_ENDDRAG_RECT" val="768*53*191*487"/>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TIMING" val="|0.6|0.8|1.2|0.9|0.6|1.1|0.7|0.6|0.8|0.4|1"/>
</p:tagLst>
</file>

<file path=ppt/tags/tag416.xml><?xml version="1.0" encoding="utf-8"?>
<p:tagLst xmlns:p="http://schemas.openxmlformats.org/presentationml/2006/main">
  <p:tag name="TABLE_ENDDRAG_ORIGIN_RECT" val="191*487"/>
  <p:tag name="TABLE_ENDDRAG_RECT" val="768*53*191*487"/>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TIMING" val="|0.6|0.8|1.2|0.9|0.6|1.1|0.7|0.6|0.8|0.4|1"/>
</p:tagLst>
</file>

<file path=ppt/tags/tag423.xml><?xml version="1.0" encoding="utf-8"?>
<p:tagLst xmlns:p="http://schemas.openxmlformats.org/presentationml/2006/main">
  <p:tag name="TABLE_ENDDRAG_ORIGIN_RECT" val="191*487"/>
  <p:tag name="TABLE_ENDDRAG_RECT" val="768*53*191*487"/>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TIMING" val="|0.6|0.8|1.2|0.9|0.6|1.1|0.7|0.6|0.8|0.4|1"/>
</p:tagLst>
</file>

<file path=ppt/tags/tag441.xml><?xml version="1.0" encoding="utf-8"?>
<p:tagLst xmlns:p="http://schemas.openxmlformats.org/presentationml/2006/main">
  <p:tag name="TABLE_ENDDRAG_ORIGIN_RECT" val="191*487"/>
  <p:tag name="TABLE_ENDDRAG_RECT" val="768*53*191*487"/>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TIMING" val="|0.6|0.8|1.2|0.9|0.6|1.1|0.7|0.6|0.8|0.4|1"/>
</p:tagLst>
</file>

<file path=ppt/tags/tag454.xml><?xml version="1.0" encoding="utf-8"?>
<p:tagLst xmlns:p="http://schemas.openxmlformats.org/presentationml/2006/main">
  <p:tag name="TABLE_ENDDRAG_ORIGIN_RECT" val="191*487"/>
  <p:tag name="TABLE_ENDDRAG_RECT" val="768*53*191*487"/>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TIMING" val="|0.6|0.8|1.2|0.9|0.6|1.1|0.7|0.6|0.8|0.4|1"/>
</p:tagLst>
</file>

<file path=ppt/tags/tag475.xml><?xml version="1.0" encoding="utf-8"?>
<p:tagLst xmlns:p="http://schemas.openxmlformats.org/presentationml/2006/main">
  <p:tag name="TABLE_ENDDRAG_ORIGIN_RECT" val="191*487"/>
  <p:tag name="TABLE_ENDDRAG_RECT" val="768*53*191*487"/>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TIMING" val="|0.6|0.8|1.2|0.9|0.6|1.1|0.7|0.6|0.8|0.4|1"/>
</p:tagLst>
</file>

<file path=ppt/tags/tag495.xml><?xml version="1.0" encoding="utf-8"?>
<p:tagLst xmlns:p="http://schemas.openxmlformats.org/presentationml/2006/main">
  <p:tag name="TABLE_ENDDRAG_ORIGIN_RECT" val="191*487"/>
  <p:tag name="TABLE_ENDDRAG_RECT" val="768*53*191*487"/>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TIMING" val="|0.6|0.8|1.2|0.9|0.6|1.1|0.7|0.6|0.8|0.4|1"/>
</p:tagLst>
</file>

<file path=ppt/tags/tag502.xml><?xml version="1.0" encoding="utf-8"?>
<p:tagLst xmlns:p="http://schemas.openxmlformats.org/presentationml/2006/main">
  <p:tag name="TABLE_ENDDRAG_ORIGIN_RECT" val="191*487"/>
  <p:tag name="TABLE_ENDDRAG_RECT" val="768*53*191*487"/>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TIMING" val="|0.6|0.8|1.2|0.9|0.6|1.1|0.7|0.6|0.8|0.4|1"/>
</p:tagLst>
</file>

<file path=ppt/tags/tag509.xml><?xml version="1.0" encoding="utf-8"?>
<p:tagLst xmlns:p="http://schemas.openxmlformats.org/presentationml/2006/main">
  <p:tag name="TABLE_ENDDRAG_ORIGIN_RECT" val="191*487"/>
  <p:tag name="TABLE_ENDDRAG_RECT" val="768*53*191*487"/>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TIMING" val="|0.6|0.8|1.2|0.9|0.6|1.1|0.7|0.6|0.8|0.4|1"/>
</p:tagLst>
</file>

<file path=ppt/tags/tag528.xml><?xml version="1.0" encoding="utf-8"?>
<p:tagLst xmlns:p="http://schemas.openxmlformats.org/presentationml/2006/main">
  <p:tag name="TABLE_ENDDRAG_ORIGIN_RECT" val="191*487"/>
  <p:tag name="TABLE_ENDDRAG_RECT" val="768*53*191*487"/>
</p:tagLst>
</file>

<file path=ppt/tags/tag529.xml><?xml version="1.0" encoding="utf-8"?>
<p:tagLst xmlns:p="http://schemas.openxmlformats.org/presentationml/2006/main">
  <p:tag name="TIMING" val="|0.6|0.8|1.2|0.9|0.6|1.1|0.7|0.6|0.8|0.4|1"/>
</p:tagLst>
</file>

<file path=ppt/tags/tag530.xml><?xml version="1.0" encoding="utf-8"?>
<p:tagLst xmlns:p="http://schemas.openxmlformats.org/presentationml/2006/main">
  <p:tag name="TABLE_ENDDRAG_ORIGIN_RECT" val="191*487"/>
  <p:tag name="TABLE_ENDDRAG_RECT" val="768*53*191*487"/>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TIMING" val="|0.6|0.8|1.2|0.9|0.6|1.1|0.7|0.6|0.8|0.4|1"/>
</p:tagLst>
</file>

<file path=ppt/tags/tag550.xml><?xml version="1.0" encoding="utf-8"?>
<p:tagLst xmlns:p="http://schemas.openxmlformats.org/presentationml/2006/main">
  <p:tag name="TABLE_ENDDRAG_ORIGIN_RECT" val="191*487"/>
  <p:tag name="TABLE_ENDDRAG_RECT" val="768*53*191*487"/>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TIMING" val="|0.6|0.8|1.2|0.9|0.6|1.1|0.7|0.6|0.8|0.4|1"/>
</p:tagLst>
</file>

<file path=ppt/tags/tag570.xml><?xml version="1.0" encoding="utf-8"?>
<p:tagLst xmlns:p="http://schemas.openxmlformats.org/presentationml/2006/main">
  <p:tag name="TABLE_ENDDRAG_ORIGIN_RECT" val="191*487"/>
  <p:tag name="TABLE_ENDDRAG_RECT" val="768*53*191*487"/>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TIMING" val="|0.6|0.8|1.2|0.9|0.6|1.1|0.7|0.6|0.8|0.4|1"/>
</p:tagLst>
</file>

<file path=ppt/tags/tag590.xml><?xml version="1.0" encoding="utf-8"?>
<p:tagLst xmlns:p="http://schemas.openxmlformats.org/presentationml/2006/main">
  <p:tag name="TABLE_ENDDRAG_ORIGIN_RECT" val="191*487"/>
  <p:tag name="TABLE_ENDDRAG_RECT" val="768*53*191*487"/>
</p:tagLst>
</file>

<file path=ppt/tags/tag591.xml><?xml version="1.0" encoding="utf-8"?>
<p:tagLst xmlns:p="http://schemas.openxmlformats.org/presentationml/2006/main">
  <p:tag name="TIMING" val="|0.6|0.8|1.2|0.9|0.6|1.1|0.7|0.6|0.8|0.4|1"/>
</p:tagLst>
</file>

<file path=ppt/tags/tag592.xml><?xml version="1.0" encoding="utf-8"?>
<p:tagLst xmlns:p="http://schemas.openxmlformats.org/presentationml/2006/main">
  <p:tag name="TABLE_ENDDRAG_ORIGIN_RECT" val="191*487"/>
  <p:tag name="TABLE_ENDDRAG_RECT" val="768*53*191*487"/>
</p:tagLst>
</file>

<file path=ppt/tags/tag593.xml><?xml version="1.0" encoding="utf-8"?>
<p:tagLst xmlns:p="http://schemas.openxmlformats.org/presentationml/2006/main">
  <p:tag name="TIMING" val="|0.6|0.8|1.2|0.9|0.6|1.1|0.7|0.6|0.8|0.4|1"/>
</p:tagLst>
</file>

<file path=ppt/tags/tag594.xml><?xml version="1.0" encoding="utf-8"?>
<p:tagLst xmlns:p="http://schemas.openxmlformats.org/presentationml/2006/main">
  <p:tag name="TABLE_ENDDRAG_ORIGIN_RECT" val="191*487"/>
  <p:tag name="TABLE_ENDDRAG_RECT" val="768*53*191*487"/>
</p:tagLst>
</file>

<file path=ppt/tags/tag595.xml><?xml version="1.0" encoding="utf-8"?>
<p:tagLst xmlns:p="http://schemas.openxmlformats.org/presentationml/2006/main">
  <p:tag name="KSO_WM_UNIT_TABLE_BEAUTIFY" val="smartTable{6edc0bf2-05bb-4006-85ce-4ed19eb41019}"/>
  <p:tag name="TABLE_ENDDRAG_ORIGIN_RECT" val="735*33"/>
  <p:tag name="TABLE_ENDDRAG_RECT" val="17*243*735*33"/>
</p:tagLst>
</file>

<file path=ppt/tags/tag596.xml><?xml version="1.0" encoding="utf-8"?>
<p:tagLst xmlns:p="http://schemas.openxmlformats.org/presentationml/2006/main">
  <p:tag name="TIMING" val="|0.6|0.8|1.2|0.9|0.6|1.1|0.7|0.6|0.8|0.4|1"/>
</p:tagLst>
</file>

<file path=ppt/tags/tag597.xml><?xml version="1.0" encoding="utf-8"?>
<p:tagLst xmlns:p="http://schemas.openxmlformats.org/presentationml/2006/main">
  <p:tag name="TABLE_ENDDRAG_ORIGIN_RECT" val="191*487"/>
  <p:tag name="TABLE_ENDDRAG_RECT" val="768*53*191*487"/>
</p:tagLst>
</file>

<file path=ppt/tags/tag598.xml><?xml version="1.0" encoding="utf-8"?>
<p:tagLst xmlns:p="http://schemas.openxmlformats.org/presentationml/2006/main">
  <p:tag name="KSO_WM_UNIT_PLACING_PICTURE_USER_VIEWPORT" val="{&quot;height&quot;:628,&quot;width&quot;:14064}"/>
</p:tagLst>
</file>

<file path=ppt/tags/tag599.xml><?xml version="1.0" encoding="utf-8"?>
<p:tagLst xmlns:p="http://schemas.openxmlformats.org/presentationml/2006/main">
  <p:tag name="TIMING" val="|0.6|0.8|1.2|0.9|0.6|1.1|0.7|0.6|0.8|0.4|1"/>
</p:tagLst>
</file>

<file path=ppt/tags/tag600.xml><?xml version="1.0" encoding="utf-8"?>
<p:tagLst xmlns:p="http://schemas.openxmlformats.org/presentationml/2006/main">
  <p:tag name="TABLE_ENDDRAG_ORIGIN_RECT" val="191*487"/>
  <p:tag name="TABLE_ENDDRAG_RECT" val="768*53*191*487"/>
</p:tagLst>
</file>

<file path=ppt/tags/tag601.xml><?xml version="1.0" encoding="utf-8"?>
<p:tagLst xmlns:p="http://schemas.openxmlformats.org/presentationml/2006/main">
  <p:tag name="TIMING" val="|0.6|0.8|1.2|0.9|0.6|1.1|0.7|0.6|0.8|0.4|1"/>
</p:tagLst>
</file>

<file path=ppt/tags/tag602.xml><?xml version="1.0" encoding="utf-8"?>
<p:tagLst xmlns:p="http://schemas.openxmlformats.org/presentationml/2006/main">
  <p:tag name="COMMONDATA" val="eyJoZGlkIjoiNzg5NGI4NjlmNzBmOWY4NDgxOGNiNWVjM2Q5ZTA5ODcifQ=="/>
  <p:tag name="KSO_WPP_MARK_KEY" val="ea960164-350d-4fc9-8fca-74c705e2302e"/>
  <p:tag name="commondata" val="eyJoZGlkIjoiNTE4ZWI3YWM5YWQxNjRiNzkxZmI4NTlhOWE0YjcyNW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02F35"/>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19351</Words>
  <Application>WPS 演示</Application>
  <PresentationFormat>宽屏</PresentationFormat>
  <Paragraphs>2891</Paragraphs>
  <Slides>48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48</vt:i4>
      </vt:variant>
    </vt:vector>
  </HeadingPairs>
  <TitlesOfParts>
    <vt:vector size="60" baseType="lpstr">
      <vt:lpstr>Arial</vt:lpstr>
      <vt:lpstr>宋体</vt:lpstr>
      <vt:lpstr>Wingdings</vt:lpstr>
      <vt:lpstr>Calibri</vt:lpstr>
      <vt:lpstr>等线</vt:lpstr>
      <vt:lpstr>华文楷体</vt:lpstr>
      <vt:lpstr>思源黑体 CN Regular</vt:lpstr>
      <vt:lpstr>黑体</vt:lpstr>
      <vt:lpstr>纤黑体</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乐</cp:lastModifiedBy>
  <cp:revision>1611</cp:revision>
  <dcterms:created xsi:type="dcterms:W3CDTF">2020-07-23T10:11:00Z</dcterms:created>
  <dcterms:modified xsi:type="dcterms:W3CDTF">2024-03-12T07:29:30Z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5A1EE12111F04212A09581045797DBEA</vt:lpwstr>
  </property>
</Properties>
</file>