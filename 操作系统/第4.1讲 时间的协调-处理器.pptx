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46"/>
  </p:handoutMasterIdLst>
  <p:sldIdLst>
    <p:sldId id="256" r:id="rId3"/>
    <p:sldId id="4792" r:id="rId5"/>
    <p:sldId id="4870" r:id="rId6"/>
    <p:sldId id="4872" r:id="rId7"/>
    <p:sldId id="4873" r:id="rId8"/>
    <p:sldId id="4874" r:id="rId9"/>
    <p:sldId id="4869" r:id="rId10"/>
    <p:sldId id="4877" r:id="rId11"/>
    <p:sldId id="4879" r:id="rId12"/>
    <p:sldId id="4880" r:id="rId13"/>
    <p:sldId id="4881" r:id="rId14"/>
    <p:sldId id="4882" r:id="rId15"/>
    <p:sldId id="4875" r:id="rId16"/>
    <p:sldId id="4885" r:id="rId17"/>
    <p:sldId id="4886" r:id="rId18"/>
    <p:sldId id="4887" r:id="rId19"/>
    <p:sldId id="4888" r:id="rId20"/>
    <p:sldId id="4889" r:id="rId21"/>
    <p:sldId id="4883" r:id="rId22"/>
    <p:sldId id="4884" r:id="rId23"/>
    <p:sldId id="4890" r:id="rId24"/>
    <p:sldId id="4891" r:id="rId25"/>
    <p:sldId id="4892" r:id="rId26"/>
    <p:sldId id="4893" r:id="rId27"/>
    <p:sldId id="4907" r:id="rId28"/>
    <p:sldId id="4894" r:id="rId29"/>
    <p:sldId id="4895" r:id="rId30"/>
    <p:sldId id="4896" r:id="rId31"/>
    <p:sldId id="4897" r:id="rId32"/>
    <p:sldId id="4898" r:id="rId33"/>
    <p:sldId id="4899" r:id="rId34"/>
    <p:sldId id="4900" r:id="rId35"/>
    <p:sldId id="4901" r:id="rId36"/>
    <p:sldId id="4902" r:id="rId37"/>
    <p:sldId id="4910" r:id="rId38"/>
    <p:sldId id="4903" r:id="rId39"/>
    <p:sldId id="4905" r:id="rId40"/>
    <p:sldId id="4924" r:id="rId41"/>
    <p:sldId id="4876" r:id="rId42"/>
    <p:sldId id="4906" r:id="rId43"/>
    <p:sldId id="4856" r:id="rId44"/>
    <p:sldId id="4909" r:id="rId45"/>
  </p:sldIdLst>
  <p:sldSz cx="12192000" cy="6858000"/>
  <p:notesSz cx="6858000" cy="9144000"/>
  <p:custDataLst>
    <p:tags r:id="rId5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12" userDrawn="1">
          <p15:clr>
            <a:srgbClr val="A4A3A4"/>
          </p15:clr>
        </p15:guide>
        <p15:guide id="2" pos="3879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王妍洁" initials="王妍洁" lastIdx="3" clrIdx="0"/>
  <p:cmAuthor id="2" name="Administrator" initials="A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C0B15"/>
    <a:srgbClr val="D02F35"/>
    <a:srgbClr val="CD858A"/>
    <a:srgbClr val="8BA8DB"/>
    <a:srgbClr val="BFBF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77" d="100"/>
          <a:sy n="77" d="100"/>
        </p:scale>
        <p:origin x="108" y="36"/>
      </p:cViewPr>
      <p:guideLst>
        <p:guide orient="horz" pos="2312"/>
        <p:guide pos="387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1" Type="http://schemas.openxmlformats.org/officeDocument/2006/relationships/tags" Target="tags/tag327.xml"/><Relationship Id="rId50" Type="http://schemas.openxmlformats.org/officeDocument/2006/relationships/commentAuthors" Target="commentAuthors.xml"/><Relationship Id="rId5" Type="http://schemas.openxmlformats.org/officeDocument/2006/relationships/slide" Target="slides/slide2.xml"/><Relationship Id="rId49" Type="http://schemas.openxmlformats.org/officeDocument/2006/relationships/tableStyles" Target="tableStyles.xml"/><Relationship Id="rId48" Type="http://schemas.openxmlformats.org/officeDocument/2006/relationships/viewProps" Target="viewProps.xml"/><Relationship Id="rId47" Type="http://schemas.openxmlformats.org/officeDocument/2006/relationships/presProps" Target="presProps.xml"/><Relationship Id="rId46" Type="http://schemas.openxmlformats.org/officeDocument/2006/relationships/handoutMaster" Target="handoutMasters/handoutMaster1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只</a:t>
            </a:r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只</a:t>
            </a:r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只</a:t>
            </a:r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只</a:t>
            </a:r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只</a:t>
            </a:r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只</a:t>
            </a:r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只</a:t>
            </a:r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只</a:t>
            </a:r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只</a:t>
            </a:r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只</a:t>
            </a:r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只</a:t>
            </a:r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只</a:t>
            </a:r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只</a:t>
            </a:r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只</a:t>
            </a:r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只</a:t>
            </a:r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只</a:t>
            </a:r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只</a:t>
            </a:r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只</a:t>
            </a:r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只</a:t>
            </a:r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只</a:t>
            </a:r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只</a:t>
            </a:r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只</a:t>
            </a:r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只</a:t>
            </a:r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只</a:t>
            </a:r>
            <a:endParaRPr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只</a:t>
            </a:r>
            <a:endParaRPr lang="zh-CN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只</a:t>
            </a:r>
            <a:endParaRPr lang="zh-CN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只</a:t>
            </a:r>
            <a:endParaRPr lang="zh-CN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只</a:t>
            </a:r>
            <a:endParaRPr lang="zh-CN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只</a:t>
            </a:r>
            <a:endParaRPr lang="zh-CN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只</a:t>
            </a:r>
            <a:endParaRPr lang="zh-CN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只</a:t>
            </a:r>
            <a:endParaRPr lang="zh-CN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只</a:t>
            </a:r>
            <a:endParaRPr lang="zh-CN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只</a:t>
            </a:r>
            <a:endParaRPr lang="zh-CN" alt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只</a:t>
            </a:r>
            <a:endParaRPr lang="zh-CN" alt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只</a:t>
            </a:r>
            <a:endParaRPr lang="zh-CN" alt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只</a:t>
            </a:r>
            <a:endParaRPr lang="zh-CN" alt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只</a:t>
            </a:r>
            <a:endParaRPr lang="zh-CN" alt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只</a:t>
            </a:r>
            <a:endParaRPr lang="zh-CN" alt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sp>
        <p:nvSpPr>
          <p:cNvPr id="12" name="圆: 空心 11"/>
          <p:cNvSpPr/>
          <p:nvPr userDrawn="1"/>
        </p:nvSpPr>
        <p:spPr>
          <a:xfrm>
            <a:off x="11604170" y="6385918"/>
            <a:ext cx="1248229" cy="1248229"/>
          </a:xfrm>
          <a:prstGeom prst="donut">
            <a:avLst>
              <a:gd name="adj" fmla="val 21798"/>
            </a:avLst>
          </a:prstGeom>
          <a:solidFill>
            <a:srgbClr val="9C0B1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</p:spPr>
        <p:txBody>
          <a:bodyPr/>
          <a:lstStyle/>
          <a:p>
            <a:pPr fontAlgn="base"/>
            <a:r>
              <a:rPr lang="en-US" strike="noStrike" noProof="1"/>
              <a:t>Click to edit Master title style</a:t>
            </a:r>
            <a:endParaRPr lang="en-US" strike="noStrike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/>
          <a:p>
            <a:pPr lvl="0" fontAlgn="base"/>
            <a:r>
              <a:rPr lang="en-US" strike="noStrike" noProof="1"/>
              <a:t>Click to edit Master text styles</a:t>
            </a:r>
            <a:endParaRPr lang="en-US" strike="noStrike" noProof="1"/>
          </a:p>
          <a:p>
            <a:pPr lvl="1" fontAlgn="base"/>
            <a:r>
              <a:rPr lang="en-US" strike="noStrike" noProof="1"/>
              <a:t>Second level</a:t>
            </a:r>
            <a:endParaRPr lang="en-US" strike="noStrike" noProof="1"/>
          </a:p>
          <a:p>
            <a:pPr lvl="2" fontAlgn="base"/>
            <a:r>
              <a:rPr lang="en-US" strike="noStrike" noProof="1"/>
              <a:t>Third level</a:t>
            </a:r>
            <a:endParaRPr lang="en-US" strike="noStrike" noProof="1"/>
          </a:p>
          <a:p>
            <a:pPr lvl="3" fontAlgn="base"/>
            <a:r>
              <a:rPr lang="en-US" strike="noStrike" noProof="1"/>
              <a:t>Fourth level</a:t>
            </a:r>
            <a:endParaRPr lang="en-US" strike="noStrike" noProof="1"/>
          </a:p>
          <a:p>
            <a:pPr lvl="4" fontAlgn="base"/>
            <a:r>
              <a:rPr lang="en-US" strike="noStrike" noProof="1"/>
              <a:t>Fifth level</a:t>
            </a:r>
            <a:endParaRPr lang="en-US" strike="noStrike" noProof="1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/>
          <a:p>
            <a:pPr lvl="0" fontAlgn="base"/>
            <a:r>
              <a:rPr lang="en-US" strike="noStrike" noProof="1"/>
              <a:t>Click to edit Master text styles</a:t>
            </a:r>
            <a:endParaRPr lang="en-US" strike="noStrike" noProof="1"/>
          </a:p>
          <a:p>
            <a:pPr lvl="1" fontAlgn="base"/>
            <a:r>
              <a:rPr lang="en-US" strike="noStrike" noProof="1"/>
              <a:t>Second level</a:t>
            </a:r>
            <a:endParaRPr lang="en-US" strike="noStrike" noProof="1"/>
          </a:p>
          <a:p>
            <a:pPr lvl="2" fontAlgn="base"/>
            <a:r>
              <a:rPr lang="en-US" strike="noStrike" noProof="1"/>
              <a:t>Third level</a:t>
            </a:r>
            <a:endParaRPr lang="en-US" strike="noStrike" noProof="1"/>
          </a:p>
          <a:p>
            <a:pPr lvl="3" fontAlgn="base"/>
            <a:r>
              <a:rPr lang="en-US" strike="noStrike" noProof="1"/>
              <a:t>Fourth level</a:t>
            </a:r>
            <a:endParaRPr lang="en-US" strike="noStrike" noProof="1"/>
          </a:p>
          <a:p>
            <a:pPr lvl="4" fontAlgn="base"/>
            <a:r>
              <a:rPr lang="en-US" strike="noStrike" noProof="1"/>
              <a:t>Fifth level</a:t>
            </a:r>
            <a:endParaRPr lang="en-US" strike="noStrike" noProof="1"/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2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Footer Placeholder 5"/>
          <p:cNvSpPr>
            <a:spLocks noGrp="1"/>
          </p:cNvSpPr>
          <p:nvPr>
            <p:ph type="ftr" sz="quarter" idx="3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p>
            <a:pPr algn="r" eaLnBrk="1" fontAlgn="base" hangingPunct="1">
              <a:buNone/>
            </a:pPr>
            <a:fld id="{9A0DB2DC-4C9A-4742-B13C-FB6460FD3503}" type="slidenum">
              <a:rPr lang="en-US" altLang="zh-CN" strike="noStrike" noProof="1">
                <a:latin typeface="Calibri" panose="020F0502020204030204" charset="0"/>
                <a:ea typeface="等线" panose="02010600030101010101" charset="-122"/>
                <a:cs typeface="+mn-cs"/>
              </a:rPr>
            </a:fld>
            <a:endParaRPr lang="en-US" altLang="zh-CN" strike="noStrike" noProof="1">
              <a:ea typeface="等线" panose="02010600030101010101" charset="-122"/>
            </a:endParaRPr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 spd="med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.xml"/><Relationship Id="rId6" Type="http://schemas.openxmlformats.org/officeDocument/2006/relationships/slideLayout" Target="../slideLayouts/slideLayout1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tags" Target="../tags/tag12.xml"/><Relationship Id="rId7" Type="http://schemas.openxmlformats.org/officeDocument/2006/relationships/tags" Target="../tags/tag11.xml"/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0" Type="http://schemas.openxmlformats.org/officeDocument/2006/relationships/notesSlide" Target="../notesSlides/notesSlide2.xml"/><Relationship Id="rId1" Type="http://schemas.openxmlformats.org/officeDocument/2006/relationships/tags" Target="../tags/tag5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tags" Target="../tags/tag20.xml"/><Relationship Id="rId7" Type="http://schemas.openxmlformats.org/officeDocument/2006/relationships/tags" Target="../tags/tag19.xml"/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4" Type="http://schemas.openxmlformats.org/officeDocument/2006/relationships/tags" Target="../tags/tag16.xml"/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0" Type="http://schemas.openxmlformats.org/officeDocument/2006/relationships/notesSlide" Target="../notesSlides/notesSlide3.xml"/><Relationship Id="rId1" Type="http://schemas.openxmlformats.org/officeDocument/2006/relationships/tags" Target="../tags/tag1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4.xml"/><Relationship Id="rId7" Type="http://schemas.openxmlformats.org/officeDocument/2006/relationships/slideLayout" Target="../slideLayouts/slideLayout2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tags" Target="../tags/tag2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5.xml"/><Relationship Id="rId7" Type="http://schemas.openxmlformats.org/officeDocument/2006/relationships/slideLayout" Target="../slideLayouts/slideLayout2.xml"/><Relationship Id="rId6" Type="http://schemas.openxmlformats.org/officeDocument/2006/relationships/tags" Target="../tags/tag32.xml"/><Relationship Id="rId5" Type="http://schemas.openxmlformats.org/officeDocument/2006/relationships/tags" Target="../tags/tag31.xml"/><Relationship Id="rId4" Type="http://schemas.openxmlformats.org/officeDocument/2006/relationships/tags" Target="../tags/tag30.xml"/><Relationship Id="rId3" Type="http://schemas.openxmlformats.org/officeDocument/2006/relationships/tags" Target="../tags/tag29.xml"/><Relationship Id="rId2" Type="http://schemas.openxmlformats.org/officeDocument/2006/relationships/tags" Target="../tags/tag28.xml"/><Relationship Id="rId1" Type="http://schemas.openxmlformats.org/officeDocument/2006/relationships/tags" Target="../tags/tag27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34.xml"/><Relationship Id="rId1" Type="http://schemas.openxmlformats.org/officeDocument/2006/relationships/tags" Target="../tags/tag33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43.xml"/><Relationship Id="rId8" Type="http://schemas.openxmlformats.org/officeDocument/2006/relationships/tags" Target="../tags/tag42.xml"/><Relationship Id="rId7" Type="http://schemas.openxmlformats.org/officeDocument/2006/relationships/tags" Target="../tags/tag41.xml"/><Relationship Id="rId6" Type="http://schemas.openxmlformats.org/officeDocument/2006/relationships/tags" Target="../tags/tag40.xml"/><Relationship Id="rId5" Type="http://schemas.openxmlformats.org/officeDocument/2006/relationships/tags" Target="../tags/tag39.xml"/><Relationship Id="rId4" Type="http://schemas.openxmlformats.org/officeDocument/2006/relationships/tags" Target="../tags/tag38.xml"/><Relationship Id="rId3" Type="http://schemas.openxmlformats.org/officeDocument/2006/relationships/tags" Target="../tags/tag37.xml"/><Relationship Id="rId2" Type="http://schemas.openxmlformats.org/officeDocument/2006/relationships/tags" Target="../tags/tag36.xml"/><Relationship Id="rId15" Type="http://schemas.openxmlformats.org/officeDocument/2006/relationships/notesSlide" Target="../notesSlides/notesSlide7.xml"/><Relationship Id="rId14" Type="http://schemas.openxmlformats.org/officeDocument/2006/relationships/slideLayout" Target="../slideLayouts/slideLayout2.xml"/><Relationship Id="rId13" Type="http://schemas.openxmlformats.org/officeDocument/2006/relationships/tags" Target="../tags/tag47.xml"/><Relationship Id="rId12" Type="http://schemas.openxmlformats.org/officeDocument/2006/relationships/tags" Target="../tags/tag46.xml"/><Relationship Id="rId11" Type="http://schemas.openxmlformats.org/officeDocument/2006/relationships/tags" Target="../tags/tag45.xml"/><Relationship Id="rId10" Type="http://schemas.openxmlformats.org/officeDocument/2006/relationships/tags" Target="../tags/tag44.xml"/><Relationship Id="rId1" Type="http://schemas.openxmlformats.org/officeDocument/2006/relationships/tags" Target="../tags/tag35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56.xml"/><Relationship Id="rId8" Type="http://schemas.openxmlformats.org/officeDocument/2006/relationships/tags" Target="../tags/tag55.xml"/><Relationship Id="rId7" Type="http://schemas.openxmlformats.org/officeDocument/2006/relationships/tags" Target="../tags/tag54.xml"/><Relationship Id="rId6" Type="http://schemas.openxmlformats.org/officeDocument/2006/relationships/tags" Target="../tags/tag53.xml"/><Relationship Id="rId5" Type="http://schemas.openxmlformats.org/officeDocument/2006/relationships/tags" Target="../tags/tag52.xml"/><Relationship Id="rId4" Type="http://schemas.openxmlformats.org/officeDocument/2006/relationships/tags" Target="../tags/tag51.xml"/><Relationship Id="rId3" Type="http://schemas.openxmlformats.org/officeDocument/2006/relationships/tags" Target="../tags/tag50.xml"/><Relationship Id="rId2" Type="http://schemas.openxmlformats.org/officeDocument/2006/relationships/tags" Target="../tags/tag49.xml"/><Relationship Id="rId15" Type="http://schemas.openxmlformats.org/officeDocument/2006/relationships/notesSlide" Target="../notesSlides/notesSlide8.xml"/><Relationship Id="rId14" Type="http://schemas.openxmlformats.org/officeDocument/2006/relationships/slideLayout" Target="../slideLayouts/slideLayout2.xml"/><Relationship Id="rId13" Type="http://schemas.openxmlformats.org/officeDocument/2006/relationships/tags" Target="../tags/tag60.xml"/><Relationship Id="rId12" Type="http://schemas.openxmlformats.org/officeDocument/2006/relationships/tags" Target="../tags/tag59.xml"/><Relationship Id="rId11" Type="http://schemas.openxmlformats.org/officeDocument/2006/relationships/tags" Target="../tags/tag58.xml"/><Relationship Id="rId10" Type="http://schemas.openxmlformats.org/officeDocument/2006/relationships/tags" Target="../tags/tag57.xml"/><Relationship Id="rId1" Type="http://schemas.openxmlformats.org/officeDocument/2006/relationships/tags" Target="../tags/tag48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9.xml"/><Relationship Id="rId7" Type="http://schemas.openxmlformats.org/officeDocument/2006/relationships/slideLayout" Target="../slideLayouts/slideLayout2.xml"/><Relationship Id="rId6" Type="http://schemas.openxmlformats.org/officeDocument/2006/relationships/tags" Target="../tags/tag66.xml"/><Relationship Id="rId5" Type="http://schemas.openxmlformats.org/officeDocument/2006/relationships/tags" Target="../tags/tag65.xml"/><Relationship Id="rId4" Type="http://schemas.openxmlformats.org/officeDocument/2006/relationships/tags" Target="../tags/tag64.xml"/><Relationship Id="rId3" Type="http://schemas.openxmlformats.org/officeDocument/2006/relationships/tags" Target="../tags/tag63.xml"/><Relationship Id="rId2" Type="http://schemas.openxmlformats.org/officeDocument/2006/relationships/tags" Target="../tags/tag62.xml"/><Relationship Id="rId1" Type="http://schemas.openxmlformats.org/officeDocument/2006/relationships/tags" Target="../tags/tag61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68.xml"/><Relationship Id="rId1" Type="http://schemas.openxmlformats.org/officeDocument/2006/relationships/tags" Target="../tags/tag67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77.xml"/><Relationship Id="rId8" Type="http://schemas.openxmlformats.org/officeDocument/2006/relationships/tags" Target="../tags/tag76.xml"/><Relationship Id="rId7" Type="http://schemas.openxmlformats.org/officeDocument/2006/relationships/tags" Target="../tags/tag75.xml"/><Relationship Id="rId6" Type="http://schemas.openxmlformats.org/officeDocument/2006/relationships/tags" Target="../tags/tag74.xml"/><Relationship Id="rId5" Type="http://schemas.openxmlformats.org/officeDocument/2006/relationships/tags" Target="../tags/tag73.xml"/><Relationship Id="rId4" Type="http://schemas.openxmlformats.org/officeDocument/2006/relationships/tags" Target="../tags/tag72.xml"/><Relationship Id="rId3" Type="http://schemas.openxmlformats.org/officeDocument/2006/relationships/tags" Target="../tags/tag71.xml"/><Relationship Id="rId2" Type="http://schemas.openxmlformats.org/officeDocument/2006/relationships/tags" Target="../tags/tag70.xml"/><Relationship Id="rId12" Type="http://schemas.openxmlformats.org/officeDocument/2006/relationships/notesSlide" Target="../notesSlides/notesSlide11.xml"/><Relationship Id="rId11" Type="http://schemas.openxmlformats.org/officeDocument/2006/relationships/slideLayout" Target="../slideLayouts/slideLayout2.xml"/><Relationship Id="rId10" Type="http://schemas.openxmlformats.org/officeDocument/2006/relationships/tags" Target="../tags/tag78.xml"/><Relationship Id="rId1" Type="http://schemas.openxmlformats.org/officeDocument/2006/relationships/tags" Target="../tags/tag69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87.xml"/><Relationship Id="rId8" Type="http://schemas.openxmlformats.org/officeDocument/2006/relationships/tags" Target="../tags/tag86.xml"/><Relationship Id="rId7" Type="http://schemas.openxmlformats.org/officeDocument/2006/relationships/tags" Target="../tags/tag85.xml"/><Relationship Id="rId6" Type="http://schemas.openxmlformats.org/officeDocument/2006/relationships/tags" Target="../tags/tag84.xml"/><Relationship Id="rId5" Type="http://schemas.openxmlformats.org/officeDocument/2006/relationships/tags" Target="../tags/tag83.xml"/><Relationship Id="rId4" Type="http://schemas.openxmlformats.org/officeDocument/2006/relationships/tags" Target="../tags/tag82.xml"/><Relationship Id="rId3" Type="http://schemas.openxmlformats.org/officeDocument/2006/relationships/tags" Target="../tags/tag81.xml"/><Relationship Id="rId2" Type="http://schemas.openxmlformats.org/officeDocument/2006/relationships/tags" Target="../tags/tag80.xml"/><Relationship Id="rId16" Type="http://schemas.openxmlformats.org/officeDocument/2006/relationships/notesSlide" Target="../notesSlides/notesSlide12.xml"/><Relationship Id="rId15" Type="http://schemas.openxmlformats.org/officeDocument/2006/relationships/slideLayout" Target="../slideLayouts/slideLayout2.xml"/><Relationship Id="rId14" Type="http://schemas.openxmlformats.org/officeDocument/2006/relationships/tags" Target="../tags/tag92.xml"/><Relationship Id="rId13" Type="http://schemas.openxmlformats.org/officeDocument/2006/relationships/tags" Target="../tags/tag91.xml"/><Relationship Id="rId12" Type="http://schemas.openxmlformats.org/officeDocument/2006/relationships/tags" Target="../tags/tag90.xml"/><Relationship Id="rId11" Type="http://schemas.openxmlformats.org/officeDocument/2006/relationships/tags" Target="../tags/tag89.xml"/><Relationship Id="rId10" Type="http://schemas.openxmlformats.org/officeDocument/2006/relationships/tags" Target="../tags/tag88.xml"/><Relationship Id="rId1" Type="http://schemas.openxmlformats.org/officeDocument/2006/relationships/tags" Target="../tags/tag79.xm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94.xml"/><Relationship Id="rId1" Type="http://schemas.openxmlformats.org/officeDocument/2006/relationships/tags" Target="../tags/tag93.xml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96.xml"/><Relationship Id="rId1" Type="http://schemas.openxmlformats.org/officeDocument/2006/relationships/tags" Target="../tags/tag95.xml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98.xml"/><Relationship Id="rId1" Type="http://schemas.openxmlformats.org/officeDocument/2006/relationships/tags" Target="../tags/tag97.xml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tags" Target="../tags/tag107.xml"/><Relationship Id="rId8" Type="http://schemas.openxmlformats.org/officeDocument/2006/relationships/tags" Target="../tags/tag106.xml"/><Relationship Id="rId7" Type="http://schemas.openxmlformats.org/officeDocument/2006/relationships/tags" Target="../tags/tag105.xml"/><Relationship Id="rId6" Type="http://schemas.openxmlformats.org/officeDocument/2006/relationships/tags" Target="../tags/tag104.xml"/><Relationship Id="rId5" Type="http://schemas.openxmlformats.org/officeDocument/2006/relationships/tags" Target="../tags/tag103.xml"/><Relationship Id="rId4" Type="http://schemas.openxmlformats.org/officeDocument/2006/relationships/tags" Target="../tags/tag102.xml"/><Relationship Id="rId3" Type="http://schemas.openxmlformats.org/officeDocument/2006/relationships/tags" Target="../tags/tag101.xml"/><Relationship Id="rId2" Type="http://schemas.openxmlformats.org/officeDocument/2006/relationships/tags" Target="../tags/tag100.xml"/><Relationship Id="rId14" Type="http://schemas.openxmlformats.org/officeDocument/2006/relationships/notesSlide" Target="../notesSlides/notesSlide16.xml"/><Relationship Id="rId13" Type="http://schemas.openxmlformats.org/officeDocument/2006/relationships/slideLayout" Target="../slideLayouts/slideLayout2.xml"/><Relationship Id="rId12" Type="http://schemas.openxmlformats.org/officeDocument/2006/relationships/tags" Target="../tags/tag110.xml"/><Relationship Id="rId11" Type="http://schemas.openxmlformats.org/officeDocument/2006/relationships/tags" Target="../tags/tag109.xml"/><Relationship Id="rId10" Type="http://schemas.openxmlformats.org/officeDocument/2006/relationships/tags" Target="../tags/tag108.xml"/><Relationship Id="rId1" Type="http://schemas.openxmlformats.org/officeDocument/2006/relationships/tags" Target="../tags/tag99.xml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tags" Target="../tags/tag119.xml"/><Relationship Id="rId8" Type="http://schemas.openxmlformats.org/officeDocument/2006/relationships/tags" Target="../tags/tag118.xml"/><Relationship Id="rId7" Type="http://schemas.openxmlformats.org/officeDocument/2006/relationships/tags" Target="../tags/tag117.xml"/><Relationship Id="rId6" Type="http://schemas.openxmlformats.org/officeDocument/2006/relationships/tags" Target="../tags/tag116.xml"/><Relationship Id="rId5" Type="http://schemas.openxmlformats.org/officeDocument/2006/relationships/tags" Target="../tags/tag115.xml"/><Relationship Id="rId4" Type="http://schemas.openxmlformats.org/officeDocument/2006/relationships/tags" Target="../tags/tag114.xml"/><Relationship Id="rId3" Type="http://schemas.openxmlformats.org/officeDocument/2006/relationships/tags" Target="../tags/tag113.xml"/><Relationship Id="rId2" Type="http://schemas.openxmlformats.org/officeDocument/2006/relationships/tags" Target="../tags/tag112.xml"/><Relationship Id="rId16" Type="http://schemas.openxmlformats.org/officeDocument/2006/relationships/notesSlide" Target="../notesSlides/notesSlide17.xml"/><Relationship Id="rId15" Type="http://schemas.openxmlformats.org/officeDocument/2006/relationships/slideLayout" Target="../slideLayouts/slideLayout2.xml"/><Relationship Id="rId14" Type="http://schemas.openxmlformats.org/officeDocument/2006/relationships/tags" Target="../tags/tag124.xml"/><Relationship Id="rId13" Type="http://schemas.openxmlformats.org/officeDocument/2006/relationships/tags" Target="../tags/tag123.xml"/><Relationship Id="rId12" Type="http://schemas.openxmlformats.org/officeDocument/2006/relationships/tags" Target="../tags/tag122.xml"/><Relationship Id="rId11" Type="http://schemas.openxmlformats.org/officeDocument/2006/relationships/tags" Target="../tags/tag121.xml"/><Relationship Id="rId10" Type="http://schemas.openxmlformats.org/officeDocument/2006/relationships/tags" Target="../tags/tag120.xml"/><Relationship Id="rId1" Type="http://schemas.openxmlformats.org/officeDocument/2006/relationships/tags" Target="../tags/tag111.xml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tags" Target="../tags/tag133.xml"/><Relationship Id="rId8" Type="http://schemas.openxmlformats.org/officeDocument/2006/relationships/tags" Target="../tags/tag132.xml"/><Relationship Id="rId7" Type="http://schemas.openxmlformats.org/officeDocument/2006/relationships/tags" Target="../tags/tag131.xml"/><Relationship Id="rId6" Type="http://schemas.openxmlformats.org/officeDocument/2006/relationships/tags" Target="../tags/tag130.xml"/><Relationship Id="rId5" Type="http://schemas.openxmlformats.org/officeDocument/2006/relationships/tags" Target="../tags/tag129.xml"/><Relationship Id="rId4" Type="http://schemas.openxmlformats.org/officeDocument/2006/relationships/tags" Target="../tags/tag128.xml"/><Relationship Id="rId3" Type="http://schemas.openxmlformats.org/officeDocument/2006/relationships/tags" Target="../tags/tag127.xml"/><Relationship Id="rId2" Type="http://schemas.openxmlformats.org/officeDocument/2006/relationships/tags" Target="../tags/tag126.xml"/><Relationship Id="rId16" Type="http://schemas.openxmlformats.org/officeDocument/2006/relationships/notesSlide" Target="../notesSlides/notesSlide18.xml"/><Relationship Id="rId15" Type="http://schemas.openxmlformats.org/officeDocument/2006/relationships/slideLayout" Target="../slideLayouts/slideLayout2.xml"/><Relationship Id="rId14" Type="http://schemas.openxmlformats.org/officeDocument/2006/relationships/tags" Target="../tags/tag138.xml"/><Relationship Id="rId13" Type="http://schemas.openxmlformats.org/officeDocument/2006/relationships/tags" Target="../tags/tag137.xml"/><Relationship Id="rId12" Type="http://schemas.openxmlformats.org/officeDocument/2006/relationships/tags" Target="../tags/tag136.xml"/><Relationship Id="rId11" Type="http://schemas.openxmlformats.org/officeDocument/2006/relationships/tags" Target="../tags/tag135.xml"/><Relationship Id="rId10" Type="http://schemas.openxmlformats.org/officeDocument/2006/relationships/tags" Target="../tags/tag134.xml"/><Relationship Id="rId1" Type="http://schemas.openxmlformats.org/officeDocument/2006/relationships/tags" Target="../tags/tag125.xml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tags" Target="../tags/tag147.xml"/><Relationship Id="rId8" Type="http://schemas.openxmlformats.org/officeDocument/2006/relationships/tags" Target="../tags/tag146.xml"/><Relationship Id="rId7" Type="http://schemas.openxmlformats.org/officeDocument/2006/relationships/tags" Target="../tags/tag145.xml"/><Relationship Id="rId6" Type="http://schemas.openxmlformats.org/officeDocument/2006/relationships/tags" Target="../tags/tag144.xml"/><Relationship Id="rId5" Type="http://schemas.openxmlformats.org/officeDocument/2006/relationships/tags" Target="../tags/tag143.xml"/><Relationship Id="rId4" Type="http://schemas.openxmlformats.org/officeDocument/2006/relationships/tags" Target="../tags/tag142.xml"/><Relationship Id="rId3" Type="http://schemas.openxmlformats.org/officeDocument/2006/relationships/tags" Target="../tags/tag141.xml"/><Relationship Id="rId2" Type="http://schemas.openxmlformats.org/officeDocument/2006/relationships/tags" Target="../tags/tag140.xml"/><Relationship Id="rId15" Type="http://schemas.openxmlformats.org/officeDocument/2006/relationships/notesSlide" Target="../notesSlides/notesSlide19.xml"/><Relationship Id="rId14" Type="http://schemas.openxmlformats.org/officeDocument/2006/relationships/slideLayout" Target="../slideLayouts/slideLayout2.xml"/><Relationship Id="rId13" Type="http://schemas.openxmlformats.org/officeDocument/2006/relationships/tags" Target="../tags/tag151.xml"/><Relationship Id="rId12" Type="http://schemas.openxmlformats.org/officeDocument/2006/relationships/tags" Target="../tags/tag150.xml"/><Relationship Id="rId11" Type="http://schemas.openxmlformats.org/officeDocument/2006/relationships/tags" Target="../tags/tag149.xml"/><Relationship Id="rId10" Type="http://schemas.openxmlformats.org/officeDocument/2006/relationships/tags" Target="../tags/tag148.xml"/><Relationship Id="rId1" Type="http://schemas.openxmlformats.org/officeDocument/2006/relationships/tags" Target="../tags/tag139.xml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tags" Target="../tags/tag160.xml"/><Relationship Id="rId8" Type="http://schemas.openxmlformats.org/officeDocument/2006/relationships/tags" Target="../tags/tag159.xml"/><Relationship Id="rId7" Type="http://schemas.openxmlformats.org/officeDocument/2006/relationships/tags" Target="../tags/tag158.xml"/><Relationship Id="rId6" Type="http://schemas.openxmlformats.org/officeDocument/2006/relationships/tags" Target="../tags/tag157.xml"/><Relationship Id="rId5" Type="http://schemas.openxmlformats.org/officeDocument/2006/relationships/tags" Target="../tags/tag156.xml"/><Relationship Id="rId4" Type="http://schemas.openxmlformats.org/officeDocument/2006/relationships/tags" Target="../tags/tag155.xml"/><Relationship Id="rId3" Type="http://schemas.openxmlformats.org/officeDocument/2006/relationships/tags" Target="../tags/tag154.xml"/><Relationship Id="rId27" Type="http://schemas.openxmlformats.org/officeDocument/2006/relationships/notesSlide" Target="../notesSlides/notesSlide20.xml"/><Relationship Id="rId26" Type="http://schemas.openxmlformats.org/officeDocument/2006/relationships/slideLayout" Target="../slideLayouts/slideLayout2.xml"/><Relationship Id="rId25" Type="http://schemas.openxmlformats.org/officeDocument/2006/relationships/tags" Target="../tags/tag176.xml"/><Relationship Id="rId24" Type="http://schemas.openxmlformats.org/officeDocument/2006/relationships/tags" Target="../tags/tag175.xml"/><Relationship Id="rId23" Type="http://schemas.openxmlformats.org/officeDocument/2006/relationships/tags" Target="../tags/tag174.xml"/><Relationship Id="rId22" Type="http://schemas.openxmlformats.org/officeDocument/2006/relationships/tags" Target="../tags/tag173.xml"/><Relationship Id="rId21" Type="http://schemas.openxmlformats.org/officeDocument/2006/relationships/tags" Target="../tags/tag172.xml"/><Relationship Id="rId20" Type="http://schemas.openxmlformats.org/officeDocument/2006/relationships/tags" Target="../tags/tag171.xml"/><Relationship Id="rId2" Type="http://schemas.openxmlformats.org/officeDocument/2006/relationships/tags" Target="../tags/tag153.xml"/><Relationship Id="rId19" Type="http://schemas.openxmlformats.org/officeDocument/2006/relationships/tags" Target="../tags/tag170.xml"/><Relationship Id="rId18" Type="http://schemas.openxmlformats.org/officeDocument/2006/relationships/tags" Target="../tags/tag169.xml"/><Relationship Id="rId17" Type="http://schemas.openxmlformats.org/officeDocument/2006/relationships/tags" Target="../tags/tag168.xml"/><Relationship Id="rId16" Type="http://schemas.openxmlformats.org/officeDocument/2006/relationships/tags" Target="../tags/tag167.xml"/><Relationship Id="rId15" Type="http://schemas.openxmlformats.org/officeDocument/2006/relationships/tags" Target="../tags/tag166.xml"/><Relationship Id="rId14" Type="http://schemas.openxmlformats.org/officeDocument/2006/relationships/tags" Target="../tags/tag165.xml"/><Relationship Id="rId13" Type="http://schemas.openxmlformats.org/officeDocument/2006/relationships/tags" Target="../tags/tag164.xml"/><Relationship Id="rId12" Type="http://schemas.openxmlformats.org/officeDocument/2006/relationships/tags" Target="../tags/tag163.xml"/><Relationship Id="rId11" Type="http://schemas.openxmlformats.org/officeDocument/2006/relationships/tags" Target="../tags/tag162.xml"/><Relationship Id="rId10" Type="http://schemas.openxmlformats.org/officeDocument/2006/relationships/tags" Target="../tags/tag161.xml"/><Relationship Id="rId1" Type="http://schemas.openxmlformats.org/officeDocument/2006/relationships/tags" Target="../tags/tag152.xml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tags" Target="../tags/tag185.xml"/><Relationship Id="rId8" Type="http://schemas.openxmlformats.org/officeDocument/2006/relationships/tags" Target="../tags/tag184.xml"/><Relationship Id="rId7" Type="http://schemas.openxmlformats.org/officeDocument/2006/relationships/tags" Target="../tags/tag183.xml"/><Relationship Id="rId6" Type="http://schemas.openxmlformats.org/officeDocument/2006/relationships/tags" Target="../tags/tag182.xml"/><Relationship Id="rId5" Type="http://schemas.openxmlformats.org/officeDocument/2006/relationships/tags" Target="../tags/tag181.xml"/><Relationship Id="rId4" Type="http://schemas.openxmlformats.org/officeDocument/2006/relationships/tags" Target="../tags/tag180.xml"/><Relationship Id="rId3" Type="http://schemas.openxmlformats.org/officeDocument/2006/relationships/tags" Target="../tags/tag179.xml"/><Relationship Id="rId26" Type="http://schemas.openxmlformats.org/officeDocument/2006/relationships/notesSlide" Target="../notesSlides/notesSlide21.xml"/><Relationship Id="rId25" Type="http://schemas.openxmlformats.org/officeDocument/2006/relationships/slideLayout" Target="../slideLayouts/slideLayout2.xml"/><Relationship Id="rId24" Type="http://schemas.openxmlformats.org/officeDocument/2006/relationships/tags" Target="../tags/tag200.xml"/><Relationship Id="rId23" Type="http://schemas.openxmlformats.org/officeDocument/2006/relationships/tags" Target="../tags/tag199.xml"/><Relationship Id="rId22" Type="http://schemas.openxmlformats.org/officeDocument/2006/relationships/tags" Target="../tags/tag198.xml"/><Relationship Id="rId21" Type="http://schemas.openxmlformats.org/officeDocument/2006/relationships/tags" Target="../tags/tag197.xml"/><Relationship Id="rId20" Type="http://schemas.openxmlformats.org/officeDocument/2006/relationships/tags" Target="../tags/tag196.xml"/><Relationship Id="rId2" Type="http://schemas.openxmlformats.org/officeDocument/2006/relationships/tags" Target="../tags/tag178.xml"/><Relationship Id="rId19" Type="http://schemas.openxmlformats.org/officeDocument/2006/relationships/tags" Target="../tags/tag195.xml"/><Relationship Id="rId18" Type="http://schemas.openxmlformats.org/officeDocument/2006/relationships/tags" Target="../tags/tag194.xml"/><Relationship Id="rId17" Type="http://schemas.openxmlformats.org/officeDocument/2006/relationships/tags" Target="../tags/tag193.xml"/><Relationship Id="rId16" Type="http://schemas.openxmlformats.org/officeDocument/2006/relationships/tags" Target="../tags/tag192.xml"/><Relationship Id="rId15" Type="http://schemas.openxmlformats.org/officeDocument/2006/relationships/tags" Target="../tags/tag191.xml"/><Relationship Id="rId14" Type="http://schemas.openxmlformats.org/officeDocument/2006/relationships/tags" Target="../tags/tag190.xml"/><Relationship Id="rId13" Type="http://schemas.openxmlformats.org/officeDocument/2006/relationships/tags" Target="../tags/tag189.xml"/><Relationship Id="rId12" Type="http://schemas.openxmlformats.org/officeDocument/2006/relationships/tags" Target="../tags/tag188.xml"/><Relationship Id="rId11" Type="http://schemas.openxmlformats.org/officeDocument/2006/relationships/tags" Target="../tags/tag187.xml"/><Relationship Id="rId10" Type="http://schemas.openxmlformats.org/officeDocument/2006/relationships/tags" Target="../tags/tag186.xml"/><Relationship Id="rId1" Type="http://schemas.openxmlformats.org/officeDocument/2006/relationships/tags" Target="../tags/tag177.xml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tags" Target="../tags/tag209.xml"/><Relationship Id="rId8" Type="http://schemas.openxmlformats.org/officeDocument/2006/relationships/tags" Target="../tags/tag208.xml"/><Relationship Id="rId7" Type="http://schemas.openxmlformats.org/officeDocument/2006/relationships/tags" Target="../tags/tag207.xml"/><Relationship Id="rId6" Type="http://schemas.openxmlformats.org/officeDocument/2006/relationships/tags" Target="../tags/tag206.xml"/><Relationship Id="rId5" Type="http://schemas.openxmlformats.org/officeDocument/2006/relationships/tags" Target="../tags/tag205.xml"/><Relationship Id="rId4" Type="http://schemas.openxmlformats.org/officeDocument/2006/relationships/tags" Target="../tags/tag204.xml"/><Relationship Id="rId30" Type="http://schemas.openxmlformats.org/officeDocument/2006/relationships/notesSlide" Target="../notesSlides/notesSlide22.xml"/><Relationship Id="rId3" Type="http://schemas.openxmlformats.org/officeDocument/2006/relationships/tags" Target="../tags/tag203.xml"/><Relationship Id="rId29" Type="http://schemas.openxmlformats.org/officeDocument/2006/relationships/slideLayout" Target="../slideLayouts/slideLayout2.xml"/><Relationship Id="rId28" Type="http://schemas.openxmlformats.org/officeDocument/2006/relationships/tags" Target="../tags/tag228.xml"/><Relationship Id="rId27" Type="http://schemas.openxmlformats.org/officeDocument/2006/relationships/tags" Target="../tags/tag227.xml"/><Relationship Id="rId26" Type="http://schemas.openxmlformats.org/officeDocument/2006/relationships/tags" Target="../tags/tag226.xml"/><Relationship Id="rId25" Type="http://schemas.openxmlformats.org/officeDocument/2006/relationships/tags" Target="../tags/tag225.xml"/><Relationship Id="rId24" Type="http://schemas.openxmlformats.org/officeDocument/2006/relationships/tags" Target="../tags/tag224.xml"/><Relationship Id="rId23" Type="http://schemas.openxmlformats.org/officeDocument/2006/relationships/tags" Target="../tags/tag223.xml"/><Relationship Id="rId22" Type="http://schemas.openxmlformats.org/officeDocument/2006/relationships/tags" Target="../tags/tag222.xml"/><Relationship Id="rId21" Type="http://schemas.openxmlformats.org/officeDocument/2006/relationships/tags" Target="../tags/tag221.xml"/><Relationship Id="rId20" Type="http://schemas.openxmlformats.org/officeDocument/2006/relationships/tags" Target="../tags/tag220.xml"/><Relationship Id="rId2" Type="http://schemas.openxmlformats.org/officeDocument/2006/relationships/tags" Target="../tags/tag202.xml"/><Relationship Id="rId19" Type="http://schemas.openxmlformats.org/officeDocument/2006/relationships/tags" Target="../tags/tag219.xml"/><Relationship Id="rId18" Type="http://schemas.openxmlformats.org/officeDocument/2006/relationships/tags" Target="../tags/tag218.xml"/><Relationship Id="rId17" Type="http://schemas.openxmlformats.org/officeDocument/2006/relationships/tags" Target="../tags/tag217.xml"/><Relationship Id="rId16" Type="http://schemas.openxmlformats.org/officeDocument/2006/relationships/tags" Target="../tags/tag216.xml"/><Relationship Id="rId15" Type="http://schemas.openxmlformats.org/officeDocument/2006/relationships/tags" Target="../tags/tag215.xml"/><Relationship Id="rId14" Type="http://schemas.openxmlformats.org/officeDocument/2006/relationships/tags" Target="../tags/tag214.xml"/><Relationship Id="rId13" Type="http://schemas.openxmlformats.org/officeDocument/2006/relationships/tags" Target="../tags/tag213.xml"/><Relationship Id="rId12" Type="http://schemas.openxmlformats.org/officeDocument/2006/relationships/tags" Target="../tags/tag212.xml"/><Relationship Id="rId11" Type="http://schemas.openxmlformats.org/officeDocument/2006/relationships/tags" Target="../tags/tag211.xml"/><Relationship Id="rId10" Type="http://schemas.openxmlformats.org/officeDocument/2006/relationships/tags" Target="../tags/tag210.xml"/><Relationship Id="rId1" Type="http://schemas.openxmlformats.org/officeDocument/2006/relationships/tags" Target="../tags/tag201.xml"/></Relationships>
</file>

<file path=ppt/slides/_rels/slide2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3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232.xml"/><Relationship Id="rId3" Type="http://schemas.openxmlformats.org/officeDocument/2006/relationships/tags" Target="../tags/tag231.xml"/><Relationship Id="rId2" Type="http://schemas.openxmlformats.org/officeDocument/2006/relationships/tags" Target="../tags/tag230.xml"/><Relationship Id="rId1" Type="http://schemas.openxmlformats.org/officeDocument/2006/relationships/tags" Target="../tags/tag229.xml"/></Relationships>
</file>

<file path=ppt/slides/_rels/slide2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4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234.xml"/><Relationship Id="rId2" Type="http://schemas.openxmlformats.org/officeDocument/2006/relationships/image" Target="../media/image2.jpeg"/><Relationship Id="rId1" Type="http://schemas.openxmlformats.org/officeDocument/2006/relationships/tags" Target="../tags/tag233.xml"/></Relationships>
</file>

<file path=ppt/slides/_rels/slide25.xml.rels><?xml version="1.0" encoding="UTF-8" standalone="yes"?>
<Relationships xmlns="http://schemas.openxmlformats.org/package/2006/relationships"><Relationship Id="rId9" Type="http://schemas.openxmlformats.org/officeDocument/2006/relationships/tags" Target="../tags/tag243.xml"/><Relationship Id="rId8" Type="http://schemas.openxmlformats.org/officeDocument/2006/relationships/tags" Target="../tags/tag242.xml"/><Relationship Id="rId7" Type="http://schemas.openxmlformats.org/officeDocument/2006/relationships/tags" Target="../tags/tag241.xml"/><Relationship Id="rId6" Type="http://schemas.openxmlformats.org/officeDocument/2006/relationships/tags" Target="../tags/tag240.xml"/><Relationship Id="rId5" Type="http://schemas.openxmlformats.org/officeDocument/2006/relationships/tags" Target="../tags/tag239.xml"/><Relationship Id="rId4" Type="http://schemas.openxmlformats.org/officeDocument/2006/relationships/tags" Target="../tags/tag238.xml"/><Relationship Id="rId3" Type="http://schemas.openxmlformats.org/officeDocument/2006/relationships/tags" Target="../tags/tag237.xml"/><Relationship Id="rId2" Type="http://schemas.openxmlformats.org/officeDocument/2006/relationships/tags" Target="../tags/tag236.xml"/><Relationship Id="rId16" Type="http://schemas.openxmlformats.org/officeDocument/2006/relationships/notesSlide" Target="../notesSlides/notesSlide25.xml"/><Relationship Id="rId15" Type="http://schemas.openxmlformats.org/officeDocument/2006/relationships/slideLayout" Target="../slideLayouts/slideLayout2.xml"/><Relationship Id="rId14" Type="http://schemas.openxmlformats.org/officeDocument/2006/relationships/tags" Target="../tags/tag248.xml"/><Relationship Id="rId13" Type="http://schemas.openxmlformats.org/officeDocument/2006/relationships/tags" Target="../tags/tag247.xml"/><Relationship Id="rId12" Type="http://schemas.openxmlformats.org/officeDocument/2006/relationships/tags" Target="../tags/tag246.xml"/><Relationship Id="rId11" Type="http://schemas.openxmlformats.org/officeDocument/2006/relationships/tags" Target="../tags/tag245.xml"/><Relationship Id="rId10" Type="http://schemas.openxmlformats.org/officeDocument/2006/relationships/tags" Target="../tags/tag244.xml"/><Relationship Id="rId1" Type="http://schemas.openxmlformats.org/officeDocument/2006/relationships/tags" Target="../tags/tag235.xml"/></Relationships>
</file>

<file path=ppt/slides/_rels/slide2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6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250.xml"/><Relationship Id="rId1" Type="http://schemas.openxmlformats.org/officeDocument/2006/relationships/tags" Target="../tags/tag249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7.xml"/><Relationship Id="rId7" Type="http://schemas.openxmlformats.org/officeDocument/2006/relationships/slideLayout" Target="../slideLayouts/slideLayout2.xml"/><Relationship Id="rId6" Type="http://schemas.openxmlformats.org/officeDocument/2006/relationships/tags" Target="../tags/tag254.xml"/><Relationship Id="rId5" Type="http://schemas.openxmlformats.org/officeDocument/2006/relationships/image" Target="../media/image4.png"/><Relationship Id="rId4" Type="http://schemas.openxmlformats.org/officeDocument/2006/relationships/tags" Target="../tags/tag253.xml"/><Relationship Id="rId3" Type="http://schemas.openxmlformats.org/officeDocument/2006/relationships/image" Target="../media/image3.png"/><Relationship Id="rId2" Type="http://schemas.openxmlformats.org/officeDocument/2006/relationships/tags" Target="../tags/tag252.xml"/><Relationship Id="rId1" Type="http://schemas.openxmlformats.org/officeDocument/2006/relationships/tags" Target="../tags/tag251.xml"/></Relationships>
</file>

<file path=ppt/slides/_rels/slide2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8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257.xml"/><Relationship Id="rId3" Type="http://schemas.openxmlformats.org/officeDocument/2006/relationships/image" Target="../media/image5.jpeg"/><Relationship Id="rId2" Type="http://schemas.openxmlformats.org/officeDocument/2006/relationships/tags" Target="../tags/tag256.xml"/><Relationship Id="rId1" Type="http://schemas.openxmlformats.org/officeDocument/2006/relationships/tags" Target="../tags/tag255.xml"/></Relationships>
</file>

<file path=ppt/slides/_rels/slide2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9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259.xml"/><Relationship Id="rId1" Type="http://schemas.openxmlformats.org/officeDocument/2006/relationships/tags" Target="../tags/tag258.xml"/></Relationships>
</file>

<file path=ppt/slides/_rels/slide3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0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261.xml"/><Relationship Id="rId1" Type="http://schemas.openxmlformats.org/officeDocument/2006/relationships/tags" Target="../tags/tag260.xml"/></Relationships>
</file>

<file path=ppt/slides/_rels/slide31.xml.rels><?xml version="1.0" encoding="UTF-8" standalone="yes"?>
<Relationships xmlns="http://schemas.openxmlformats.org/package/2006/relationships"><Relationship Id="rId9" Type="http://schemas.openxmlformats.org/officeDocument/2006/relationships/tags" Target="../tags/tag270.xml"/><Relationship Id="rId8" Type="http://schemas.openxmlformats.org/officeDocument/2006/relationships/tags" Target="../tags/tag269.xml"/><Relationship Id="rId7" Type="http://schemas.openxmlformats.org/officeDocument/2006/relationships/tags" Target="../tags/tag268.xml"/><Relationship Id="rId6" Type="http://schemas.openxmlformats.org/officeDocument/2006/relationships/tags" Target="../tags/tag267.xml"/><Relationship Id="rId5" Type="http://schemas.openxmlformats.org/officeDocument/2006/relationships/tags" Target="../tags/tag266.xml"/><Relationship Id="rId4" Type="http://schemas.openxmlformats.org/officeDocument/2006/relationships/tags" Target="../tags/tag265.xml"/><Relationship Id="rId3" Type="http://schemas.openxmlformats.org/officeDocument/2006/relationships/tags" Target="../tags/tag264.xml"/><Relationship Id="rId2" Type="http://schemas.openxmlformats.org/officeDocument/2006/relationships/tags" Target="../tags/tag263.xml"/><Relationship Id="rId11" Type="http://schemas.openxmlformats.org/officeDocument/2006/relationships/notesSlide" Target="../notesSlides/notesSlide31.xml"/><Relationship Id="rId10" Type="http://schemas.openxmlformats.org/officeDocument/2006/relationships/slideLayout" Target="../slideLayouts/slideLayout2.xml"/><Relationship Id="rId1" Type="http://schemas.openxmlformats.org/officeDocument/2006/relationships/tags" Target="../tags/tag262.xml"/></Relationships>
</file>

<file path=ppt/slides/_rels/slide32.xml.rels><?xml version="1.0" encoding="UTF-8" standalone="yes"?>
<Relationships xmlns="http://schemas.openxmlformats.org/package/2006/relationships"><Relationship Id="rId9" Type="http://schemas.openxmlformats.org/officeDocument/2006/relationships/tags" Target="../tags/tag279.xml"/><Relationship Id="rId8" Type="http://schemas.openxmlformats.org/officeDocument/2006/relationships/tags" Target="../tags/tag278.xml"/><Relationship Id="rId7" Type="http://schemas.openxmlformats.org/officeDocument/2006/relationships/tags" Target="../tags/tag277.xml"/><Relationship Id="rId6" Type="http://schemas.openxmlformats.org/officeDocument/2006/relationships/tags" Target="../tags/tag276.xml"/><Relationship Id="rId5" Type="http://schemas.openxmlformats.org/officeDocument/2006/relationships/tags" Target="../tags/tag275.xml"/><Relationship Id="rId4" Type="http://schemas.openxmlformats.org/officeDocument/2006/relationships/tags" Target="../tags/tag274.xml"/><Relationship Id="rId3" Type="http://schemas.openxmlformats.org/officeDocument/2006/relationships/tags" Target="../tags/tag273.xml"/><Relationship Id="rId2" Type="http://schemas.openxmlformats.org/officeDocument/2006/relationships/tags" Target="../tags/tag272.xml"/><Relationship Id="rId11" Type="http://schemas.openxmlformats.org/officeDocument/2006/relationships/notesSlide" Target="../notesSlides/notesSlide32.xml"/><Relationship Id="rId10" Type="http://schemas.openxmlformats.org/officeDocument/2006/relationships/slideLayout" Target="../slideLayouts/slideLayout2.xml"/><Relationship Id="rId1" Type="http://schemas.openxmlformats.org/officeDocument/2006/relationships/tags" Target="../tags/tag271.xml"/></Relationships>
</file>

<file path=ppt/slides/_rels/slide3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3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281.xml"/><Relationship Id="rId1" Type="http://schemas.openxmlformats.org/officeDocument/2006/relationships/tags" Target="../tags/tag280.xml"/></Relationships>
</file>

<file path=ppt/slides/_rels/slide34.xml.rels><?xml version="1.0" encoding="UTF-8" standalone="yes"?>
<Relationships xmlns="http://schemas.openxmlformats.org/package/2006/relationships"><Relationship Id="rId9" Type="http://schemas.openxmlformats.org/officeDocument/2006/relationships/tags" Target="../tags/tag290.xml"/><Relationship Id="rId8" Type="http://schemas.openxmlformats.org/officeDocument/2006/relationships/tags" Target="../tags/tag289.xml"/><Relationship Id="rId7" Type="http://schemas.openxmlformats.org/officeDocument/2006/relationships/tags" Target="../tags/tag288.xml"/><Relationship Id="rId6" Type="http://schemas.openxmlformats.org/officeDocument/2006/relationships/tags" Target="../tags/tag287.xml"/><Relationship Id="rId5" Type="http://schemas.openxmlformats.org/officeDocument/2006/relationships/tags" Target="../tags/tag286.xml"/><Relationship Id="rId4" Type="http://schemas.openxmlformats.org/officeDocument/2006/relationships/tags" Target="../tags/tag285.xml"/><Relationship Id="rId3" Type="http://schemas.openxmlformats.org/officeDocument/2006/relationships/tags" Target="../tags/tag284.xml"/><Relationship Id="rId2" Type="http://schemas.openxmlformats.org/officeDocument/2006/relationships/tags" Target="../tags/tag283.xml"/><Relationship Id="rId13" Type="http://schemas.openxmlformats.org/officeDocument/2006/relationships/notesSlide" Target="../notesSlides/notesSlide34.xml"/><Relationship Id="rId12" Type="http://schemas.openxmlformats.org/officeDocument/2006/relationships/slideLayout" Target="../slideLayouts/slideLayout2.xml"/><Relationship Id="rId11" Type="http://schemas.openxmlformats.org/officeDocument/2006/relationships/tags" Target="../tags/tag292.xml"/><Relationship Id="rId10" Type="http://schemas.openxmlformats.org/officeDocument/2006/relationships/tags" Target="../tags/tag291.xml"/><Relationship Id="rId1" Type="http://schemas.openxmlformats.org/officeDocument/2006/relationships/tags" Target="../tags/tag282.xml"/></Relationships>
</file>

<file path=ppt/slides/_rels/slide35.xml.rels><?xml version="1.0" encoding="UTF-8" standalone="yes"?>
<Relationships xmlns="http://schemas.openxmlformats.org/package/2006/relationships"><Relationship Id="rId9" Type="http://schemas.openxmlformats.org/officeDocument/2006/relationships/tags" Target="../tags/tag301.xml"/><Relationship Id="rId8" Type="http://schemas.openxmlformats.org/officeDocument/2006/relationships/tags" Target="../tags/tag300.xml"/><Relationship Id="rId7" Type="http://schemas.openxmlformats.org/officeDocument/2006/relationships/tags" Target="../tags/tag299.xml"/><Relationship Id="rId6" Type="http://schemas.openxmlformats.org/officeDocument/2006/relationships/tags" Target="../tags/tag298.xml"/><Relationship Id="rId5" Type="http://schemas.openxmlformats.org/officeDocument/2006/relationships/tags" Target="../tags/tag297.xml"/><Relationship Id="rId4" Type="http://schemas.openxmlformats.org/officeDocument/2006/relationships/tags" Target="../tags/tag296.xml"/><Relationship Id="rId3" Type="http://schemas.openxmlformats.org/officeDocument/2006/relationships/tags" Target="../tags/tag295.xml"/><Relationship Id="rId2" Type="http://schemas.openxmlformats.org/officeDocument/2006/relationships/tags" Target="../tags/tag294.xml"/><Relationship Id="rId13" Type="http://schemas.openxmlformats.org/officeDocument/2006/relationships/notesSlide" Target="../notesSlides/notesSlide35.xml"/><Relationship Id="rId12" Type="http://schemas.openxmlformats.org/officeDocument/2006/relationships/slideLayout" Target="../slideLayouts/slideLayout2.xml"/><Relationship Id="rId11" Type="http://schemas.openxmlformats.org/officeDocument/2006/relationships/tags" Target="../tags/tag303.xml"/><Relationship Id="rId10" Type="http://schemas.openxmlformats.org/officeDocument/2006/relationships/tags" Target="../tags/tag302.xml"/><Relationship Id="rId1" Type="http://schemas.openxmlformats.org/officeDocument/2006/relationships/tags" Target="../tags/tag293.xml"/></Relationships>
</file>

<file path=ppt/slides/_rels/slide3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6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305.xml"/><Relationship Id="rId1" Type="http://schemas.openxmlformats.org/officeDocument/2006/relationships/tags" Target="../tags/tag304.xml"/></Relationships>
</file>

<file path=ppt/slides/_rels/slide37.xml.rels><?xml version="1.0" encoding="UTF-8" standalone="yes"?>
<Relationships xmlns="http://schemas.openxmlformats.org/package/2006/relationships"><Relationship Id="rId9" Type="http://schemas.openxmlformats.org/officeDocument/2006/relationships/tags" Target="../tags/tag314.xml"/><Relationship Id="rId8" Type="http://schemas.openxmlformats.org/officeDocument/2006/relationships/tags" Target="../tags/tag313.xml"/><Relationship Id="rId7" Type="http://schemas.openxmlformats.org/officeDocument/2006/relationships/tags" Target="../tags/tag312.xml"/><Relationship Id="rId6" Type="http://schemas.openxmlformats.org/officeDocument/2006/relationships/tags" Target="../tags/tag311.xml"/><Relationship Id="rId5" Type="http://schemas.openxmlformats.org/officeDocument/2006/relationships/tags" Target="../tags/tag310.xml"/><Relationship Id="rId4" Type="http://schemas.openxmlformats.org/officeDocument/2006/relationships/tags" Target="../tags/tag309.xml"/><Relationship Id="rId3" Type="http://schemas.openxmlformats.org/officeDocument/2006/relationships/tags" Target="../tags/tag308.xml"/><Relationship Id="rId2" Type="http://schemas.openxmlformats.org/officeDocument/2006/relationships/tags" Target="../tags/tag307.xml"/><Relationship Id="rId11" Type="http://schemas.openxmlformats.org/officeDocument/2006/relationships/notesSlide" Target="../notesSlides/notesSlide37.xml"/><Relationship Id="rId10" Type="http://schemas.openxmlformats.org/officeDocument/2006/relationships/slideLayout" Target="../slideLayouts/slideLayout2.xml"/><Relationship Id="rId1" Type="http://schemas.openxmlformats.org/officeDocument/2006/relationships/tags" Target="../tags/tag306.xml"/></Relationships>
</file>

<file path=ppt/slides/_rels/slide3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8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316.xml"/><Relationship Id="rId1" Type="http://schemas.openxmlformats.org/officeDocument/2006/relationships/tags" Target="../tags/tag315.xml"/></Relationships>
</file>

<file path=ppt/slides/_rels/slide3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9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318.xml"/><Relationship Id="rId1" Type="http://schemas.openxmlformats.org/officeDocument/2006/relationships/tags" Target="../tags/tag317.xml"/></Relationships>
</file>

<file path=ppt/slides/_rels/slide4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0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321.xml"/><Relationship Id="rId2" Type="http://schemas.openxmlformats.org/officeDocument/2006/relationships/tags" Target="../tags/tag320.xml"/><Relationship Id="rId1" Type="http://schemas.openxmlformats.org/officeDocument/2006/relationships/tags" Target="../tags/tag319.xml"/></Relationships>
</file>

<file path=ppt/slides/_rels/slide4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1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324.xml"/><Relationship Id="rId2" Type="http://schemas.openxmlformats.org/officeDocument/2006/relationships/tags" Target="../tags/tag323.xml"/><Relationship Id="rId1" Type="http://schemas.openxmlformats.org/officeDocument/2006/relationships/tags" Target="../tags/tag322.xml"/></Relationships>
</file>

<file path=ppt/slides/_rels/slide4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2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326.xml"/><Relationship Id="rId1" Type="http://schemas.openxmlformats.org/officeDocument/2006/relationships/tags" Target="../tags/tag3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/>
        </p:nvSpPr>
        <p:spPr>
          <a:xfrm>
            <a:off x="9712960" y="-2204720"/>
            <a:ext cx="11268075" cy="11268075"/>
          </a:xfrm>
          <a:prstGeom prst="ellipse">
            <a:avLst/>
          </a:prstGeom>
          <a:solidFill>
            <a:srgbClr val="9C0B1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圆: 空心 9"/>
          <p:cNvSpPr/>
          <p:nvPr/>
        </p:nvSpPr>
        <p:spPr>
          <a:xfrm>
            <a:off x="571500" y="6216650"/>
            <a:ext cx="1282700" cy="1282700"/>
          </a:xfrm>
          <a:prstGeom prst="donut">
            <a:avLst>
              <a:gd name="adj" fmla="val 17079"/>
            </a:avLst>
          </a:prstGeom>
          <a:solidFill>
            <a:srgbClr val="9C0B1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1" name="椭圆 10"/>
          <p:cNvSpPr/>
          <p:nvPr/>
        </p:nvSpPr>
        <p:spPr>
          <a:xfrm>
            <a:off x="4533368" y="-314812"/>
            <a:ext cx="584775" cy="58477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534036" y="2450322"/>
            <a:ext cx="8754538" cy="15678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4800" b="1" spc="300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</a:rPr>
              <a:t>操作系统</a:t>
            </a:r>
            <a:endParaRPr lang="zh-CN" altLang="en-US" sz="4800" b="1" spc="300" dirty="0">
              <a:solidFill>
                <a:schemeClr val="tx1"/>
              </a:solidFill>
              <a:latin typeface="华文楷体" panose="02010600040101010101" charset="-122"/>
              <a:ea typeface="华文楷体" panose="02010600040101010101" charset="-122"/>
            </a:endParaRPr>
          </a:p>
          <a:p>
            <a:pPr algn="ctr">
              <a:lnSpc>
                <a:spcPct val="120000"/>
              </a:lnSpc>
            </a:pPr>
            <a:r>
              <a:rPr lang="zh-CN" altLang="en-US" sz="3200" b="1" spc="300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</a:rPr>
              <a:t>处理器调度原理与</a:t>
            </a:r>
            <a:r>
              <a:rPr lang="zh-CN" altLang="en-US" sz="3200" b="1" spc="300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</a:rPr>
              <a:t>设计（</a:t>
            </a:r>
            <a:r>
              <a:rPr lang="en-US" altLang="zh-CN" sz="3200" b="1" spc="300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</a:rPr>
              <a:t>2</a:t>
            </a:r>
            <a:r>
              <a:rPr lang="zh-CN" altLang="en-US" sz="3200" b="1" spc="300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</a:rPr>
              <a:t>学时）</a:t>
            </a:r>
            <a:endParaRPr lang="zh-CN" altLang="en-US" sz="3200" b="1" spc="300" dirty="0">
              <a:solidFill>
                <a:schemeClr val="tx1"/>
              </a:solidFill>
              <a:latin typeface="华文楷体" panose="02010600040101010101" charset="-122"/>
              <a:ea typeface="华文楷体" panose="02010600040101010101" charset="-122"/>
            </a:endParaRPr>
          </a:p>
        </p:txBody>
      </p:sp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342900" y="1107440"/>
            <a:ext cx="3893820" cy="102870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5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7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1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2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5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6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7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6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8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8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sp>
        <p:nvSpPr>
          <p:cNvPr id="57" name="文本框 56"/>
          <p:cNvSpPr txBox="1"/>
          <p:nvPr/>
        </p:nvSpPr>
        <p:spPr>
          <a:xfrm>
            <a:off x="1367155" y="4196715"/>
            <a:ext cx="666813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b="1">
                <a:solidFill>
                  <a:srgbClr val="9C0B15"/>
                </a:solidFill>
                <a:latin typeface="华文楷体" panose="02010600040101010101" charset="-122"/>
                <a:ea typeface="华文楷体" panose="02010600040101010101" charset="-122"/>
              </a:rPr>
              <a:t>千载文脉凝风骨，根植山大盛芳华</a:t>
            </a:r>
            <a:endParaRPr lang="zh-CN" altLang="en-US" b="1">
              <a:solidFill>
                <a:srgbClr val="9C0B15"/>
              </a:solidFill>
              <a:latin typeface="华文楷体" panose="02010600040101010101" charset="-122"/>
              <a:ea typeface="华文楷体" panose="02010600040101010101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 l="15454" t="16281" r="18136" b="20815"/>
          <a:stretch>
            <a:fillRect/>
          </a:stretch>
        </p:blipFill>
        <p:spPr>
          <a:xfrm>
            <a:off x="7983855" y="0"/>
            <a:ext cx="1918335" cy="1744345"/>
          </a:xfrm>
          <a:prstGeom prst="ellipse">
            <a:avLst/>
          </a:prstGeom>
        </p:spPr>
      </p:pic>
      <p:sp>
        <p:nvSpPr>
          <p:cNvPr id="9" name="矩形: 圆角 55"/>
          <p:cNvSpPr/>
          <p:nvPr>
            <p:custDataLst>
              <p:tags r:id="rId2"/>
            </p:custDataLst>
          </p:nvPr>
        </p:nvSpPr>
        <p:spPr>
          <a:xfrm>
            <a:off x="5125085" y="4857750"/>
            <a:ext cx="3055620" cy="405130"/>
          </a:xfrm>
          <a:prstGeom prst="roundRect">
            <a:avLst>
              <a:gd name="adj" fmla="val 50000"/>
            </a:avLst>
          </a:prstGeom>
          <a:solidFill>
            <a:srgbClr val="BFBF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sz="2000" b="1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时间：</a:t>
            </a:r>
            <a:r>
              <a:rPr sz="2000" b="1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202</a:t>
            </a:r>
            <a:r>
              <a:rPr lang="en-US" sz="2000" b="1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4</a:t>
            </a:r>
            <a:r>
              <a:rPr sz="2000" b="1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年</a:t>
            </a:r>
            <a:r>
              <a:rPr lang="zh-CN" sz="2000" b="1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春</a:t>
            </a:r>
            <a:r>
              <a:rPr lang="zh-CN" altLang="en-US" sz="2000" b="1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季</a:t>
            </a:r>
            <a:r>
              <a:rPr lang="zh-CN" altLang="en-US" sz="2000" b="1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学期</a:t>
            </a:r>
            <a:endParaRPr lang="zh-CN" altLang="en-US" sz="2000" b="1" dirty="0">
              <a:solidFill>
                <a:schemeClr val="tx1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</p:txBody>
      </p:sp>
      <p:sp>
        <p:nvSpPr>
          <p:cNvPr id="13" name="矩形: 圆角 52"/>
          <p:cNvSpPr/>
          <p:nvPr>
            <p:custDataLst>
              <p:tags r:id="rId3"/>
            </p:custDataLst>
          </p:nvPr>
        </p:nvSpPr>
        <p:spPr>
          <a:xfrm>
            <a:off x="1278890" y="4857750"/>
            <a:ext cx="3497580" cy="405130"/>
          </a:xfrm>
          <a:prstGeom prst="roundRect">
            <a:avLst>
              <a:gd name="adj" fmla="val 50000"/>
            </a:avLst>
          </a:prstGeom>
          <a:solidFill>
            <a:srgbClr val="9C0B1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sz="2000" b="1" dirty="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主讲人</a:t>
            </a:r>
            <a:r>
              <a:rPr sz="2000" b="1" dirty="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：</a:t>
            </a:r>
            <a:r>
              <a:rPr lang="zh-CN" sz="2000" b="1" dirty="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章宦乐</a:t>
            </a:r>
            <a:r>
              <a:rPr lang="en-US" altLang="zh-CN" sz="2000" b="1" dirty="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 &amp; </a:t>
            </a:r>
            <a:r>
              <a:rPr lang="zh-CN" sz="2000" b="1" dirty="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潘润宇</a:t>
            </a:r>
            <a:endParaRPr lang="zh-CN" sz="2000" b="1" dirty="0">
              <a:solidFill>
                <a:schemeClr val="bg1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</p:txBody>
      </p:sp>
      <p:sp>
        <p:nvSpPr>
          <p:cNvPr id="23" name="矩形: 圆角 52"/>
          <p:cNvSpPr/>
          <p:nvPr>
            <p:custDataLst>
              <p:tags r:id="rId4"/>
            </p:custDataLst>
          </p:nvPr>
        </p:nvSpPr>
        <p:spPr>
          <a:xfrm>
            <a:off x="1278890" y="5528945"/>
            <a:ext cx="3497580" cy="405130"/>
          </a:xfrm>
          <a:prstGeom prst="roundRect">
            <a:avLst>
              <a:gd name="adj" fmla="val 50000"/>
            </a:avLst>
          </a:prstGeom>
          <a:solidFill>
            <a:srgbClr val="BFBF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sz="2000" b="1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Slides credit to </a:t>
            </a:r>
            <a:r>
              <a:rPr lang="zh-CN" sz="2000" b="1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潘润宇</a:t>
            </a:r>
            <a:endParaRPr lang="zh-CN" sz="2000" b="1" dirty="0">
              <a:solidFill>
                <a:schemeClr val="tx1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</p:txBody>
      </p:sp>
    </p:spTree>
    <p:custDataLst>
      <p:tags r:id="rId5"/>
    </p:custData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处理器</a:t>
                      </a: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调度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一、指令流</a:t>
                      </a: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与执行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</a:t>
                      </a: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程序与指令流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顺序与并发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执行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1.3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指令流的描述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en-US" altLang="zh-CN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线程与处理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器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2.1 CPU时间与线程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2.2</a:t>
                      </a: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线程的描述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2.3 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纤程与协程</a:t>
                      </a:r>
                      <a:endParaRPr lang="en-US" altLang="zh-CN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三、处理器调度算法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3.1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调度算法原理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多处理器与并发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59385"/>
            <a:ext cx="9121140" cy="65544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rgbClr val="9C0B15"/>
                </a:solidFill>
              </a:rPr>
              <a:t>应用程序的</a:t>
            </a:r>
            <a:r>
              <a:rPr lang="zh-CN" altLang="en-US" sz="2000" b="1">
                <a:solidFill>
                  <a:srgbClr val="9C0B15"/>
                </a:solidFill>
              </a:rPr>
              <a:t>内部</a:t>
            </a:r>
            <a:endParaRPr lang="zh-CN" altLang="en-US" sz="2000" b="1">
              <a:solidFill>
                <a:srgbClr val="9C0B15"/>
              </a:solidFill>
            </a:endParaRPr>
          </a:p>
          <a:p>
            <a:endParaRPr lang="zh-CN" altLang="en-US" sz="2000"/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  <a:sym typeface="+mn-ea"/>
              </a:rPr>
              <a:t>指令流</a:t>
            </a:r>
            <a:r>
              <a:rPr lang="en-US" altLang="zh-CN" sz="2000" b="1">
                <a:solidFill>
                  <a:srgbClr val="9C0B15"/>
                </a:solidFill>
              </a:rPr>
              <a:t>		</a:t>
            </a:r>
            <a:r>
              <a:rPr lang="zh-CN" altLang="en-US" sz="2000"/>
              <a:t>一个应用程序内部可以由一个或多个</a:t>
            </a:r>
            <a:r>
              <a:rPr lang="zh-CN" altLang="en-US" sz="2000">
                <a:solidFill>
                  <a:srgbClr val="9C0B15"/>
                </a:solidFill>
              </a:rPr>
              <a:t>逻辑上互相独立执行的指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>
                <a:solidFill>
                  <a:srgbClr val="9C0B15"/>
                </a:solidFill>
              </a:rPr>
              <a:t>令序列</a:t>
            </a:r>
            <a:r>
              <a:rPr lang="zh-CN" altLang="en-US" sz="2000"/>
              <a:t>组成。这种</a:t>
            </a:r>
            <a:r>
              <a:rPr lang="zh-CN" altLang="en-US" sz="2000">
                <a:solidFill>
                  <a:srgbClr val="9C0B15"/>
                </a:solidFill>
              </a:rPr>
              <a:t>独立执行的指令序列叫做指令流</a:t>
            </a:r>
            <a:r>
              <a:rPr lang="zh-CN" altLang="en-US" sz="2000"/>
              <a:t>。</a:t>
            </a:r>
            <a:r>
              <a:rPr lang="en-US" altLang="zh-CN" sz="2000"/>
              <a:t>CPU</a:t>
            </a:r>
            <a:r>
              <a:rPr lang="zh-CN" altLang="en-US" sz="2000"/>
              <a:t>靠</a:t>
            </a:r>
            <a:r>
              <a:rPr lang="zh-CN" altLang="en-US" sz="2000">
                <a:solidFill>
                  <a:srgbClr val="9C0B15"/>
                </a:solidFill>
              </a:rPr>
              <a:t>执行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>
                <a:solidFill>
                  <a:srgbClr val="9C0B15"/>
                </a:solidFill>
              </a:rPr>
              <a:t>指令流来完成应用程序的功能</a:t>
            </a:r>
            <a:r>
              <a:rPr lang="zh-CN" altLang="en-US" sz="2000"/>
              <a:t>。</a:t>
            </a: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 b="1">
              <a:solidFill>
                <a:srgbClr val="9C0B15"/>
              </a:solidFill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问题</a:t>
            </a:r>
            <a:r>
              <a:rPr lang="en-US" altLang="zh-CN" sz="2000"/>
              <a:t>		</a:t>
            </a:r>
            <a:r>
              <a:rPr lang="zh-CN" altLang="en-US" sz="2000"/>
              <a:t>为何在一个应用程序里面</a:t>
            </a:r>
            <a:r>
              <a:rPr lang="zh-CN" altLang="en-US" sz="2000"/>
              <a:t>需要设置多个</a:t>
            </a:r>
            <a:r>
              <a:rPr lang="zh-CN" altLang="en-US" sz="2000"/>
              <a:t>指令流？</a:t>
            </a:r>
            <a:endParaRPr lang="zh-CN" altLang="en-US" sz="2000"/>
          </a:p>
        </p:txBody>
      </p:sp>
      <p:sp>
        <p:nvSpPr>
          <p:cNvPr id="15" name="矩形 14"/>
          <p:cNvSpPr/>
          <p:nvPr>
            <p:custDataLst>
              <p:tags r:id="rId2"/>
            </p:custDataLst>
          </p:nvPr>
        </p:nvSpPr>
        <p:spPr>
          <a:xfrm>
            <a:off x="1663700" y="2032000"/>
            <a:ext cx="2298700" cy="3787775"/>
          </a:xfrm>
          <a:prstGeom prst="rect">
            <a:avLst/>
          </a:prstGeom>
          <a:solidFill>
            <a:srgbClr val="D02F35">
              <a:alpha val="25000"/>
            </a:srgbClr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p>
            <a:pPr algn="ctr"/>
            <a:r>
              <a:rPr lang="zh-CN" altLang="en-US" b="1">
                <a:solidFill>
                  <a:schemeClr val="tx1"/>
                </a:solidFill>
              </a:rPr>
              <a:t>应用程序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25" name="任意多边形 24"/>
          <p:cNvSpPr/>
          <p:nvPr>
            <p:custDataLst>
              <p:tags r:id="rId3"/>
            </p:custDataLst>
          </p:nvPr>
        </p:nvSpPr>
        <p:spPr>
          <a:xfrm>
            <a:off x="2680335" y="2978150"/>
            <a:ext cx="324485" cy="1896110"/>
          </a:xfrm>
          <a:custGeom>
            <a:avLst/>
            <a:gdLst>
              <a:gd name="connisteX0" fmla="*/ 276519 w 324439"/>
              <a:gd name="connsiteY0" fmla="*/ 0 h 828675"/>
              <a:gd name="connisteX1" fmla="*/ 294 w 324439"/>
              <a:gd name="connsiteY1" fmla="*/ 209550 h 828675"/>
              <a:gd name="connisteX2" fmla="*/ 324144 w 324439"/>
              <a:gd name="connsiteY2" fmla="*/ 561975 h 828675"/>
              <a:gd name="connisteX3" fmla="*/ 47919 w 324439"/>
              <a:gd name="connsiteY3" fmla="*/ 828675 h 828675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</a:cxnLst>
            <a:rect l="l" t="t" r="r" b="b"/>
            <a:pathLst>
              <a:path w="324439" h="828675">
                <a:moveTo>
                  <a:pt x="276520" y="0"/>
                </a:moveTo>
                <a:cubicBezTo>
                  <a:pt x="214925" y="34925"/>
                  <a:pt x="-9230" y="97155"/>
                  <a:pt x="295" y="209550"/>
                </a:cubicBezTo>
                <a:cubicBezTo>
                  <a:pt x="9820" y="321945"/>
                  <a:pt x="314620" y="438150"/>
                  <a:pt x="324145" y="561975"/>
                </a:cubicBezTo>
                <a:cubicBezTo>
                  <a:pt x="333670" y="685800"/>
                  <a:pt x="109515" y="782320"/>
                  <a:pt x="47920" y="828675"/>
                </a:cubicBezTo>
              </a:path>
            </a:pathLst>
          </a:cu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" name="矩形 25"/>
          <p:cNvSpPr/>
          <p:nvPr>
            <p:custDataLst>
              <p:tags r:id="rId4"/>
            </p:custDataLst>
          </p:nvPr>
        </p:nvSpPr>
        <p:spPr>
          <a:xfrm>
            <a:off x="6096000" y="2032000"/>
            <a:ext cx="2298700" cy="3787775"/>
          </a:xfrm>
          <a:prstGeom prst="rect">
            <a:avLst/>
          </a:prstGeom>
          <a:solidFill>
            <a:srgbClr val="D02F35">
              <a:alpha val="25000"/>
            </a:srgbClr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p>
            <a:pPr algn="ctr"/>
            <a:r>
              <a:rPr lang="zh-CN" altLang="en-US" b="1">
                <a:solidFill>
                  <a:schemeClr val="tx1"/>
                </a:solidFill>
              </a:rPr>
              <a:t>应用程序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60" name="任意多边形 59"/>
          <p:cNvSpPr/>
          <p:nvPr>
            <p:custDataLst>
              <p:tags r:id="rId5"/>
            </p:custDataLst>
          </p:nvPr>
        </p:nvSpPr>
        <p:spPr>
          <a:xfrm>
            <a:off x="7112635" y="2978150"/>
            <a:ext cx="324485" cy="1896110"/>
          </a:xfrm>
          <a:custGeom>
            <a:avLst/>
            <a:gdLst>
              <a:gd name="connisteX0" fmla="*/ 276519 w 324439"/>
              <a:gd name="connsiteY0" fmla="*/ 0 h 828675"/>
              <a:gd name="connisteX1" fmla="*/ 294 w 324439"/>
              <a:gd name="connsiteY1" fmla="*/ 209550 h 828675"/>
              <a:gd name="connisteX2" fmla="*/ 324144 w 324439"/>
              <a:gd name="connsiteY2" fmla="*/ 561975 h 828675"/>
              <a:gd name="connisteX3" fmla="*/ 47919 w 324439"/>
              <a:gd name="connsiteY3" fmla="*/ 828675 h 828675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</a:cxnLst>
            <a:rect l="l" t="t" r="r" b="b"/>
            <a:pathLst>
              <a:path w="324439" h="828675">
                <a:moveTo>
                  <a:pt x="276520" y="0"/>
                </a:moveTo>
                <a:cubicBezTo>
                  <a:pt x="214925" y="34925"/>
                  <a:pt x="-9230" y="97155"/>
                  <a:pt x="295" y="209550"/>
                </a:cubicBezTo>
                <a:cubicBezTo>
                  <a:pt x="9820" y="321945"/>
                  <a:pt x="314620" y="438150"/>
                  <a:pt x="324145" y="561975"/>
                </a:cubicBezTo>
                <a:cubicBezTo>
                  <a:pt x="333670" y="685800"/>
                  <a:pt x="109515" y="782320"/>
                  <a:pt x="47920" y="828675"/>
                </a:cubicBezTo>
              </a:path>
            </a:pathLst>
          </a:cu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2" name="任意多边形 61"/>
          <p:cNvSpPr/>
          <p:nvPr>
            <p:custDataLst>
              <p:tags r:id="rId6"/>
            </p:custDataLst>
          </p:nvPr>
        </p:nvSpPr>
        <p:spPr>
          <a:xfrm>
            <a:off x="7564120" y="2978150"/>
            <a:ext cx="324485" cy="1896110"/>
          </a:xfrm>
          <a:custGeom>
            <a:avLst/>
            <a:gdLst>
              <a:gd name="connisteX0" fmla="*/ 276519 w 324439"/>
              <a:gd name="connsiteY0" fmla="*/ 0 h 828675"/>
              <a:gd name="connisteX1" fmla="*/ 294 w 324439"/>
              <a:gd name="connsiteY1" fmla="*/ 209550 h 828675"/>
              <a:gd name="connisteX2" fmla="*/ 324144 w 324439"/>
              <a:gd name="connsiteY2" fmla="*/ 561975 h 828675"/>
              <a:gd name="connisteX3" fmla="*/ 47919 w 324439"/>
              <a:gd name="connsiteY3" fmla="*/ 828675 h 828675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</a:cxnLst>
            <a:rect l="l" t="t" r="r" b="b"/>
            <a:pathLst>
              <a:path w="324439" h="828675">
                <a:moveTo>
                  <a:pt x="276520" y="0"/>
                </a:moveTo>
                <a:cubicBezTo>
                  <a:pt x="214925" y="34925"/>
                  <a:pt x="-9230" y="97155"/>
                  <a:pt x="295" y="209550"/>
                </a:cubicBezTo>
                <a:cubicBezTo>
                  <a:pt x="9820" y="321945"/>
                  <a:pt x="314620" y="438150"/>
                  <a:pt x="324145" y="561975"/>
                </a:cubicBezTo>
                <a:cubicBezTo>
                  <a:pt x="333670" y="685800"/>
                  <a:pt x="109515" y="782320"/>
                  <a:pt x="47920" y="828675"/>
                </a:cubicBezTo>
              </a:path>
            </a:pathLst>
          </a:cu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3" name="任意多边形 62"/>
          <p:cNvSpPr/>
          <p:nvPr>
            <p:custDataLst>
              <p:tags r:id="rId7"/>
            </p:custDataLst>
          </p:nvPr>
        </p:nvSpPr>
        <p:spPr>
          <a:xfrm>
            <a:off x="6647815" y="2978150"/>
            <a:ext cx="324485" cy="1896110"/>
          </a:xfrm>
          <a:custGeom>
            <a:avLst/>
            <a:gdLst>
              <a:gd name="connisteX0" fmla="*/ 276519 w 324439"/>
              <a:gd name="connsiteY0" fmla="*/ 0 h 828675"/>
              <a:gd name="connisteX1" fmla="*/ 294 w 324439"/>
              <a:gd name="connsiteY1" fmla="*/ 209550 h 828675"/>
              <a:gd name="connisteX2" fmla="*/ 324144 w 324439"/>
              <a:gd name="connsiteY2" fmla="*/ 561975 h 828675"/>
              <a:gd name="connisteX3" fmla="*/ 47919 w 324439"/>
              <a:gd name="connsiteY3" fmla="*/ 828675 h 828675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</a:cxnLst>
            <a:rect l="l" t="t" r="r" b="b"/>
            <a:pathLst>
              <a:path w="324439" h="828675">
                <a:moveTo>
                  <a:pt x="276520" y="0"/>
                </a:moveTo>
                <a:cubicBezTo>
                  <a:pt x="214925" y="34925"/>
                  <a:pt x="-9230" y="97155"/>
                  <a:pt x="295" y="209550"/>
                </a:cubicBezTo>
                <a:cubicBezTo>
                  <a:pt x="9820" y="321945"/>
                  <a:pt x="314620" y="438150"/>
                  <a:pt x="324145" y="561975"/>
                </a:cubicBezTo>
                <a:cubicBezTo>
                  <a:pt x="333670" y="685800"/>
                  <a:pt x="109515" y="782320"/>
                  <a:pt x="47920" y="828675"/>
                </a:cubicBezTo>
              </a:path>
            </a:pathLst>
          </a:cu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8"/>
    </p:custData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处理器</a:t>
                      </a: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调度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一、指令流</a:t>
                      </a: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与执行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</a:t>
                      </a: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应用程序与指令流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顺序与并发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执行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1.3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指令流的描述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en-US" altLang="zh-CN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线程与处理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器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2.1 CPU时间与线程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2.2</a:t>
                      </a: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线程的描述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2.3 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纤程与协程</a:t>
                      </a:r>
                      <a:endParaRPr lang="en-US" altLang="zh-CN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三、处理器调度算法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3.1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调度算法原理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多处理器与并发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59385"/>
            <a:ext cx="9121140" cy="65544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rgbClr val="9C0B15"/>
                </a:solidFill>
              </a:rPr>
              <a:t>应用程序的</a:t>
            </a:r>
            <a:r>
              <a:rPr lang="zh-CN" altLang="en-US" sz="2000" b="1">
                <a:solidFill>
                  <a:srgbClr val="9C0B15"/>
                </a:solidFill>
              </a:rPr>
              <a:t>内部</a:t>
            </a:r>
            <a:endParaRPr lang="zh-CN" altLang="en-US" sz="2000" b="1">
              <a:solidFill>
                <a:srgbClr val="9C0B15"/>
              </a:solidFill>
            </a:endParaRPr>
          </a:p>
          <a:p>
            <a:endParaRPr lang="zh-CN" altLang="en-US" sz="2000"/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计算期与</a:t>
            </a:r>
            <a:r>
              <a:rPr lang="en-US" altLang="zh-CN" sz="2000" b="1">
                <a:solidFill>
                  <a:srgbClr val="9C0B15"/>
                </a:solidFill>
              </a:rPr>
              <a:t>I/O</a:t>
            </a:r>
            <a:r>
              <a:rPr lang="zh-CN" altLang="en-US" sz="2000" b="1">
                <a:solidFill>
                  <a:srgbClr val="9C0B15"/>
                </a:solidFill>
              </a:rPr>
              <a:t>期</a:t>
            </a:r>
            <a:r>
              <a:rPr lang="en-US" altLang="zh-CN" sz="2000" b="1">
                <a:solidFill>
                  <a:srgbClr val="9C0B15"/>
                </a:solidFill>
              </a:rPr>
              <a:t>	</a:t>
            </a:r>
            <a:r>
              <a:rPr lang="zh-CN" altLang="en-US" sz="2000"/>
              <a:t>一个指令流往往由两部分组成：一部分</a:t>
            </a:r>
            <a:r>
              <a:rPr lang="zh-CN" altLang="en-US" sz="2000">
                <a:solidFill>
                  <a:srgbClr val="9C0B15"/>
                </a:solidFill>
              </a:rPr>
              <a:t>负责计算</a:t>
            </a:r>
            <a:r>
              <a:rPr lang="zh-CN" altLang="en-US" sz="2000"/>
              <a:t>，另一部分</a:t>
            </a:r>
            <a:r>
              <a:rPr lang="zh-CN" altLang="en-US" sz="2000">
                <a:solidFill>
                  <a:srgbClr val="9C0B15"/>
                </a:solidFill>
              </a:rPr>
              <a:t>负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>
                <a:solidFill>
                  <a:srgbClr val="9C0B15"/>
                </a:solidFill>
              </a:rPr>
              <a:t>责I/O</a:t>
            </a:r>
            <a:r>
              <a:rPr lang="zh-CN" altLang="en-US" sz="2000"/>
              <a:t>。两个部分</a:t>
            </a:r>
            <a:r>
              <a:rPr lang="zh-CN" altLang="en-US" sz="2000">
                <a:solidFill>
                  <a:srgbClr val="9C0B15"/>
                </a:solidFill>
              </a:rPr>
              <a:t>交相点缀</a:t>
            </a:r>
            <a:r>
              <a:rPr lang="zh-CN" altLang="en-US" sz="2000"/>
              <a:t>，组成一整条指令流。指令流是</a:t>
            </a:r>
            <a:r>
              <a:rPr lang="zh-CN" altLang="en-US" sz="2000">
                <a:solidFill>
                  <a:srgbClr val="9C0B15"/>
                </a:solidFill>
              </a:rPr>
              <a:t>程序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>
                <a:solidFill>
                  <a:srgbClr val="9C0B15"/>
                </a:solidFill>
              </a:rPr>
              <a:t>逻辑的组成单位</a:t>
            </a:r>
            <a:r>
              <a:rPr lang="zh-CN" altLang="en-US" sz="2000"/>
              <a:t>。</a:t>
            </a: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endParaRPr lang="en-US" altLang="zh-CN" sz="2000" b="1">
              <a:solidFill>
                <a:srgbClr val="9C0B15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9C0B15"/>
                </a:solidFill>
              </a:rPr>
              <a:t>问题</a:t>
            </a:r>
            <a:r>
              <a:rPr lang="en-US" altLang="zh-CN" sz="2000"/>
              <a:t>		</a:t>
            </a:r>
            <a:r>
              <a:rPr lang="zh-CN" altLang="en-US" sz="2000"/>
              <a:t>某个指令流可以没有</a:t>
            </a:r>
            <a:r>
              <a:rPr lang="zh-CN" altLang="en-US" sz="2000">
                <a:solidFill>
                  <a:srgbClr val="9C0B15"/>
                </a:solidFill>
              </a:rPr>
              <a:t>计算期（</a:t>
            </a:r>
            <a:r>
              <a:rPr lang="en-US" altLang="zh-CN" sz="2000">
                <a:solidFill>
                  <a:srgbClr val="9C0B15"/>
                </a:solidFill>
              </a:rPr>
              <a:t>Burst</a:t>
            </a:r>
            <a:r>
              <a:rPr lang="zh-CN" altLang="en-US" sz="2000">
                <a:solidFill>
                  <a:srgbClr val="9C0B15"/>
                </a:solidFill>
              </a:rPr>
              <a:t>）</a:t>
            </a:r>
            <a:r>
              <a:rPr lang="zh-CN" altLang="en-US" sz="2000"/>
              <a:t>吗？可以没有</a:t>
            </a:r>
            <a:r>
              <a:rPr lang="en-US" altLang="zh-CN" sz="2000">
                <a:solidFill>
                  <a:srgbClr val="9C0B15"/>
                </a:solidFill>
              </a:rPr>
              <a:t>I/O期</a:t>
            </a:r>
            <a:r>
              <a:rPr lang="zh-CN" altLang="en-US" sz="2000"/>
              <a:t>吗？</a:t>
            </a:r>
            <a:endParaRPr lang="zh-CN" altLang="en-US" sz="2000"/>
          </a:p>
          <a:p>
            <a:pPr algn="l">
              <a:buClrTx/>
              <a:buSzTx/>
              <a:buFontTx/>
            </a:pPr>
            <a:r>
              <a:rPr lang="en-US" altLang="zh-CN" sz="2000">
                <a:sym typeface="+mn-ea"/>
              </a:rPr>
              <a:t>		</a:t>
            </a:r>
            <a:r>
              <a:rPr lang="zh-CN" altLang="en-US" sz="2000"/>
              <a:t>为什么？</a:t>
            </a:r>
            <a:endParaRPr lang="zh-CN" altLang="en-US" sz="2000"/>
          </a:p>
        </p:txBody>
      </p:sp>
      <p:sp>
        <p:nvSpPr>
          <p:cNvPr id="15" name="矩形 14"/>
          <p:cNvSpPr/>
          <p:nvPr>
            <p:custDataLst>
              <p:tags r:id="rId2"/>
            </p:custDataLst>
          </p:nvPr>
        </p:nvSpPr>
        <p:spPr>
          <a:xfrm>
            <a:off x="1663700" y="2032000"/>
            <a:ext cx="2298700" cy="3787775"/>
          </a:xfrm>
          <a:prstGeom prst="rect">
            <a:avLst/>
          </a:prstGeom>
          <a:solidFill>
            <a:srgbClr val="D02F35">
              <a:alpha val="25000"/>
            </a:srgbClr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p>
            <a:pPr algn="ctr"/>
            <a:r>
              <a:rPr lang="zh-CN" altLang="en-US" b="1">
                <a:solidFill>
                  <a:schemeClr val="tx1"/>
                </a:solidFill>
              </a:rPr>
              <a:t>应用程序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25" name="任意多边形 24"/>
          <p:cNvSpPr/>
          <p:nvPr>
            <p:custDataLst>
              <p:tags r:id="rId3"/>
            </p:custDataLst>
          </p:nvPr>
        </p:nvSpPr>
        <p:spPr>
          <a:xfrm>
            <a:off x="2680335" y="2978150"/>
            <a:ext cx="324485" cy="1896110"/>
          </a:xfrm>
          <a:custGeom>
            <a:avLst/>
            <a:gdLst>
              <a:gd name="connisteX0" fmla="*/ 276519 w 324439"/>
              <a:gd name="connsiteY0" fmla="*/ 0 h 828675"/>
              <a:gd name="connisteX1" fmla="*/ 294 w 324439"/>
              <a:gd name="connsiteY1" fmla="*/ 209550 h 828675"/>
              <a:gd name="connisteX2" fmla="*/ 324144 w 324439"/>
              <a:gd name="connsiteY2" fmla="*/ 561975 h 828675"/>
              <a:gd name="connisteX3" fmla="*/ 47919 w 324439"/>
              <a:gd name="connsiteY3" fmla="*/ 828675 h 828675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</a:cxnLst>
            <a:rect l="l" t="t" r="r" b="b"/>
            <a:pathLst>
              <a:path w="324439" h="828675">
                <a:moveTo>
                  <a:pt x="276520" y="0"/>
                </a:moveTo>
                <a:cubicBezTo>
                  <a:pt x="214925" y="34925"/>
                  <a:pt x="-9230" y="97155"/>
                  <a:pt x="295" y="209550"/>
                </a:cubicBezTo>
                <a:cubicBezTo>
                  <a:pt x="9820" y="321945"/>
                  <a:pt x="314620" y="438150"/>
                  <a:pt x="324145" y="561975"/>
                </a:cubicBezTo>
                <a:cubicBezTo>
                  <a:pt x="333670" y="685800"/>
                  <a:pt x="109515" y="782320"/>
                  <a:pt x="47920" y="828675"/>
                </a:cubicBezTo>
              </a:path>
            </a:pathLst>
          </a:cu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7114540" y="2032000"/>
            <a:ext cx="546100" cy="871220"/>
          </a:xfrm>
          <a:prstGeom prst="rect">
            <a:avLst/>
          </a:prstGeom>
          <a:solidFill>
            <a:srgbClr val="D02F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计算</a:t>
            </a:r>
            <a:endParaRPr lang="zh-CN" altLang="en-US"/>
          </a:p>
        </p:txBody>
      </p:sp>
      <p:sp>
        <p:nvSpPr>
          <p:cNvPr id="4" name="矩形 3"/>
          <p:cNvSpPr/>
          <p:nvPr>
            <p:custDataLst>
              <p:tags r:id="rId4"/>
            </p:custDataLst>
          </p:nvPr>
        </p:nvSpPr>
        <p:spPr>
          <a:xfrm>
            <a:off x="7114540" y="2903220"/>
            <a:ext cx="546100" cy="87058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I/O</a:t>
            </a:r>
            <a:endParaRPr lang="en-US" altLang="zh-CN"/>
          </a:p>
        </p:txBody>
      </p:sp>
      <p:sp>
        <p:nvSpPr>
          <p:cNvPr id="5" name="矩形 4"/>
          <p:cNvSpPr/>
          <p:nvPr>
            <p:custDataLst>
              <p:tags r:id="rId5"/>
            </p:custDataLst>
          </p:nvPr>
        </p:nvSpPr>
        <p:spPr>
          <a:xfrm>
            <a:off x="7114540" y="3773805"/>
            <a:ext cx="546100" cy="1183005"/>
          </a:xfrm>
          <a:prstGeom prst="rect">
            <a:avLst/>
          </a:prstGeom>
          <a:solidFill>
            <a:srgbClr val="D02F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计算</a:t>
            </a:r>
            <a:endParaRPr lang="zh-CN" altLang="en-US"/>
          </a:p>
        </p:txBody>
      </p:sp>
      <p:sp>
        <p:nvSpPr>
          <p:cNvPr id="6" name="矩形 5"/>
          <p:cNvSpPr/>
          <p:nvPr>
            <p:custDataLst>
              <p:tags r:id="rId6"/>
            </p:custDataLst>
          </p:nvPr>
        </p:nvSpPr>
        <p:spPr>
          <a:xfrm>
            <a:off x="7114540" y="4956810"/>
            <a:ext cx="546100" cy="8636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I/O</a:t>
            </a:r>
            <a:endParaRPr lang="en-US" altLang="zh-CN"/>
          </a:p>
        </p:txBody>
      </p:sp>
      <p:cxnSp>
        <p:nvCxnSpPr>
          <p:cNvPr id="7" name="直接连接符 6"/>
          <p:cNvCxnSpPr>
            <a:stCxn id="25" idx="0"/>
          </p:cNvCxnSpPr>
          <p:nvPr/>
        </p:nvCxnSpPr>
        <p:spPr>
          <a:xfrm flipV="1">
            <a:off x="2957195" y="2030730"/>
            <a:ext cx="4199890" cy="947420"/>
          </a:xfrm>
          <a:prstGeom prst="line">
            <a:avLst/>
          </a:prstGeom>
          <a:ln w="28575" cmpd="sng">
            <a:solidFill>
              <a:srgbClr val="9C0B15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>
            <p:custDataLst>
              <p:tags r:id="rId7"/>
            </p:custDataLst>
          </p:nvPr>
        </p:nvCxnSpPr>
        <p:spPr>
          <a:xfrm>
            <a:off x="2680335" y="4874260"/>
            <a:ext cx="4434205" cy="925195"/>
          </a:xfrm>
          <a:prstGeom prst="line">
            <a:avLst/>
          </a:prstGeom>
          <a:ln w="28575" cmpd="sng">
            <a:solidFill>
              <a:srgbClr val="9C0B15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8"/>
    </p:custData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处理器</a:t>
                      </a: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调度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一、指令流</a:t>
                      </a: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与执行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</a:t>
                      </a: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应用程序与指令流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顺序与并发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执行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1.3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指令流的描述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en-US" altLang="zh-CN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线程与处理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器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2.1 CPU时间与线程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2.2</a:t>
                      </a: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线程的描述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2.3 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纤程与协程</a:t>
                      </a:r>
                      <a:endParaRPr lang="en-US" altLang="zh-CN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三、处理器调度算法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3.1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调度算法原理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多处理器与并发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59385"/>
            <a:ext cx="9121140" cy="74777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rgbClr val="9C0B15"/>
                </a:solidFill>
                <a:sym typeface="+mn-ea"/>
              </a:rPr>
              <a:t>应用程序的内部</a:t>
            </a:r>
            <a:endParaRPr lang="zh-CN" altLang="en-US" sz="2000" b="1">
              <a:solidFill>
                <a:srgbClr val="9C0B15"/>
              </a:solidFill>
            </a:endParaRPr>
          </a:p>
          <a:p>
            <a:endParaRPr lang="zh-CN" altLang="en-US" sz="2000"/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指令流的分工</a:t>
            </a:r>
            <a:r>
              <a:rPr lang="en-US" altLang="zh-CN" sz="2000" b="1">
                <a:solidFill>
                  <a:srgbClr val="9C0B15"/>
                </a:solidFill>
              </a:rPr>
              <a:t>	</a:t>
            </a:r>
            <a:r>
              <a:rPr lang="zh-CN" altLang="en-US" sz="2000"/>
              <a:t>多个指令流可以</a:t>
            </a:r>
            <a:r>
              <a:rPr lang="zh-CN" altLang="en-US" sz="2000">
                <a:solidFill>
                  <a:srgbClr val="9C0B15"/>
                </a:solidFill>
              </a:rPr>
              <a:t>分工合作</a:t>
            </a:r>
            <a:r>
              <a:rPr lang="zh-CN" altLang="en-US" sz="2000"/>
              <a:t>，完成程序的</a:t>
            </a:r>
            <a:r>
              <a:rPr lang="zh-CN" altLang="en-US" sz="2000"/>
              <a:t>功能。</a:t>
            </a: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按性质分工</a:t>
            </a:r>
            <a:r>
              <a:rPr lang="en-US" altLang="zh-CN" sz="2000"/>
              <a:t>	</a:t>
            </a:r>
            <a:r>
              <a:rPr lang="zh-CN" altLang="en-US" sz="2000"/>
              <a:t>不同的指令流</a:t>
            </a:r>
            <a:r>
              <a:rPr lang="zh-CN" altLang="en-US" sz="2000">
                <a:solidFill>
                  <a:srgbClr val="9C0B15"/>
                </a:solidFill>
              </a:rPr>
              <a:t>处理不同性质的工作</a:t>
            </a:r>
            <a:r>
              <a:rPr lang="zh-CN" altLang="en-US" sz="2000"/>
              <a:t>，如一些指令流</a:t>
            </a:r>
            <a:r>
              <a:rPr lang="zh-CN" altLang="en-US" sz="2000">
                <a:solidFill>
                  <a:srgbClr val="9C0B15"/>
                </a:solidFill>
              </a:rPr>
              <a:t>主要负责I/O</a:t>
            </a:r>
            <a:r>
              <a:rPr lang="zh-CN" altLang="en-US" sz="2000"/>
              <a:t>，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/>
              <a:t>另一些指令流</a:t>
            </a:r>
            <a:r>
              <a:rPr lang="zh-CN" altLang="en-US" sz="2000">
                <a:solidFill>
                  <a:srgbClr val="9C0B15"/>
                </a:solidFill>
              </a:rPr>
              <a:t>主要负责计算</a:t>
            </a:r>
            <a:r>
              <a:rPr lang="zh-CN" altLang="en-US" sz="2000"/>
              <a:t>等等。</a:t>
            </a: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按对象分工</a:t>
            </a:r>
            <a:r>
              <a:rPr lang="en-US" altLang="zh-CN" sz="2000"/>
              <a:t>	</a:t>
            </a:r>
            <a:r>
              <a:rPr lang="zh-CN" altLang="en-US" sz="2000"/>
              <a:t>不同的指令流</a:t>
            </a:r>
            <a:r>
              <a:rPr lang="zh-CN" altLang="en-US" sz="2000">
                <a:solidFill>
                  <a:srgbClr val="9C0B15"/>
                </a:solidFill>
              </a:rPr>
              <a:t>处理不同部分的工作</a:t>
            </a:r>
            <a:r>
              <a:rPr lang="zh-CN" altLang="en-US" sz="2000"/>
              <a:t>，如每个指令流负责处理一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/>
              <a:t>部分数据或一个服务</a:t>
            </a:r>
            <a:r>
              <a:rPr lang="zh-CN" altLang="en-US" sz="2000"/>
              <a:t>对象。</a:t>
            </a: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/>
          </a:p>
        </p:txBody>
      </p:sp>
      <p:sp>
        <p:nvSpPr>
          <p:cNvPr id="26" name="矩形 25"/>
          <p:cNvSpPr/>
          <p:nvPr>
            <p:custDataLst>
              <p:tags r:id="rId2"/>
            </p:custDataLst>
          </p:nvPr>
        </p:nvSpPr>
        <p:spPr>
          <a:xfrm>
            <a:off x="3743960" y="3264535"/>
            <a:ext cx="2298700" cy="3348355"/>
          </a:xfrm>
          <a:prstGeom prst="rect">
            <a:avLst/>
          </a:prstGeom>
          <a:solidFill>
            <a:srgbClr val="D02F35">
              <a:alpha val="25000"/>
            </a:srgbClr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p>
            <a:pPr algn="ctr"/>
            <a:r>
              <a:rPr lang="zh-CN" altLang="en-US" b="1">
                <a:solidFill>
                  <a:schemeClr val="tx1"/>
                </a:solidFill>
              </a:rPr>
              <a:t>应用程序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60" name="任意多边形 59"/>
          <p:cNvSpPr/>
          <p:nvPr>
            <p:custDataLst>
              <p:tags r:id="rId3"/>
            </p:custDataLst>
          </p:nvPr>
        </p:nvSpPr>
        <p:spPr>
          <a:xfrm>
            <a:off x="4760595" y="4352290"/>
            <a:ext cx="324485" cy="1896110"/>
          </a:xfrm>
          <a:custGeom>
            <a:avLst/>
            <a:gdLst>
              <a:gd name="connisteX0" fmla="*/ 276519 w 324439"/>
              <a:gd name="connsiteY0" fmla="*/ 0 h 828675"/>
              <a:gd name="connisteX1" fmla="*/ 294 w 324439"/>
              <a:gd name="connsiteY1" fmla="*/ 209550 h 828675"/>
              <a:gd name="connisteX2" fmla="*/ 324144 w 324439"/>
              <a:gd name="connsiteY2" fmla="*/ 561975 h 828675"/>
              <a:gd name="connisteX3" fmla="*/ 47919 w 324439"/>
              <a:gd name="connsiteY3" fmla="*/ 828675 h 828675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</a:cxnLst>
            <a:rect l="l" t="t" r="r" b="b"/>
            <a:pathLst>
              <a:path w="324439" h="828675">
                <a:moveTo>
                  <a:pt x="276520" y="0"/>
                </a:moveTo>
                <a:cubicBezTo>
                  <a:pt x="214925" y="34925"/>
                  <a:pt x="-9230" y="97155"/>
                  <a:pt x="295" y="209550"/>
                </a:cubicBezTo>
                <a:cubicBezTo>
                  <a:pt x="9820" y="321945"/>
                  <a:pt x="314620" y="438150"/>
                  <a:pt x="324145" y="561975"/>
                </a:cubicBezTo>
                <a:cubicBezTo>
                  <a:pt x="333670" y="685800"/>
                  <a:pt x="109515" y="782320"/>
                  <a:pt x="47920" y="828675"/>
                </a:cubicBezTo>
              </a:path>
            </a:pathLst>
          </a:custGeom>
          <a:noFill/>
          <a:ln w="762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2" name="任意多边形 61"/>
          <p:cNvSpPr/>
          <p:nvPr>
            <p:custDataLst>
              <p:tags r:id="rId4"/>
            </p:custDataLst>
          </p:nvPr>
        </p:nvSpPr>
        <p:spPr>
          <a:xfrm>
            <a:off x="5212080" y="4352290"/>
            <a:ext cx="324485" cy="1896110"/>
          </a:xfrm>
          <a:custGeom>
            <a:avLst/>
            <a:gdLst>
              <a:gd name="connisteX0" fmla="*/ 276519 w 324439"/>
              <a:gd name="connsiteY0" fmla="*/ 0 h 828675"/>
              <a:gd name="connisteX1" fmla="*/ 294 w 324439"/>
              <a:gd name="connsiteY1" fmla="*/ 209550 h 828675"/>
              <a:gd name="connisteX2" fmla="*/ 324144 w 324439"/>
              <a:gd name="connsiteY2" fmla="*/ 561975 h 828675"/>
              <a:gd name="connisteX3" fmla="*/ 47919 w 324439"/>
              <a:gd name="connsiteY3" fmla="*/ 828675 h 828675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</a:cxnLst>
            <a:rect l="l" t="t" r="r" b="b"/>
            <a:pathLst>
              <a:path w="324439" h="828675">
                <a:moveTo>
                  <a:pt x="276520" y="0"/>
                </a:moveTo>
                <a:cubicBezTo>
                  <a:pt x="214925" y="34925"/>
                  <a:pt x="-9230" y="97155"/>
                  <a:pt x="295" y="209550"/>
                </a:cubicBezTo>
                <a:cubicBezTo>
                  <a:pt x="9820" y="321945"/>
                  <a:pt x="314620" y="438150"/>
                  <a:pt x="324145" y="561975"/>
                </a:cubicBezTo>
                <a:cubicBezTo>
                  <a:pt x="333670" y="685800"/>
                  <a:pt x="109515" y="782320"/>
                  <a:pt x="47920" y="828675"/>
                </a:cubicBezTo>
              </a:path>
            </a:pathLst>
          </a:custGeom>
          <a:noFill/>
          <a:ln w="7620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3" name="任意多边形 62"/>
          <p:cNvSpPr/>
          <p:nvPr>
            <p:custDataLst>
              <p:tags r:id="rId5"/>
            </p:custDataLst>
          </p:nvPr>
        </p:nvSpPr>
        <p:spPr>
          <a:xfrm>
            <a:off x="4295775" y="4352290"/>
            <a:ext cx="324485" cy="1896110"/>
          </a:xfrm>
          <a:custGeom>
            <a:avLst/>
            <a:gdLst>
              <a:gd name="connisteX0" fmla="*/ 276519 w 324439"/>
              <a:gd name="connsiteY0" fmla="*/ 0 h 828675"/>
              <a:gd name="connisteX1" fmla="*/ 294 w 324439"/>
              <a:gd name="connsiteY1" fmla="*/ 209550 h 828675"/>
              <a:gd name="connisteX2" fmla="*/ 324144 w 324439"/>
              <a:gd name="connsiteY2" fmla="*/ 561975 h 828675"/>
              <a:gd name="connisteX3" fmla="*/ 47919 w 324439"/>
              <a:gd name="connsiteY3" fmla="*/ 828675 h 828675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</a:cxnLst>
            <a:rect l="l" t="t" r="r" b="b"/>
            <a:pathLst>
              <a:path w="324439" h="828675">
                <a:moveTo>
                  <a:pt x="276520" y="0"/>
                </a:moveTo>
                <a:cubicBezTo>
                  <a:pt x="214925" y="34925"/>
                  <a:pt x="-9230" y="97155"/>
                  <a:pt x="295" y="209550"/>
                </a:cubicBezTo>
                <a:cubicBezTo>
                  <a:pt x="9820" y="321945"/>
                  <a:pt x="314620" y="438150"/>
                  <a:pt x="324145" y="561975"/>
                </a:cubicBezTo>
                <a:cubicBezTo>
                  <a:pt x="333670" y="685800"/>
                  <a:pt x="109515" y="782320"/>
                  <a:pt x="47920" y="828675"/>
                </a:cubicBezTo>
              </a:path>
            </a:pathLst>
          </a:custGeom>
          <a:noFill/>
          <a:ln w="76200">
            <a:solidFill>
              <a:srgbClr val="D02F3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6"/>
    </p:custData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处理器</a:t>
                      </a: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调度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一、指令流</a:t>
                      </a: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与执行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应用程序与指令流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顺序与并发执行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1.3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指令流的描述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en-US" altLang="zh-CN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线程与处理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器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2.1 CPU时间与线程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2.2</a:t>
                      </a: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线程的描述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2.3 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纤程与协程</a:t>
                      </a:r>
                      <a:endParaRPr lang="en-US" altLang="zh-CN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三、处理器调度算法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3.1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调度算法原理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多处理器与并发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59385"/>
            <a:ext cx="9121140" cy="65544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rgbClr val="9C0B15"/>
                </a:solidFill>
              </a:rPr>
              <a:t>指令流间的执行</a:t>
            </a:r>
            <a:r>
              <a:rPr lang="zh-CN" altLang="en-US" sz="2000" b="1">
                <a:solidFill>
                  <a:srgbClr val="9C0B15"/>
                </a:solidFill>
              </a:rPr>
              <a:t>顺序</a:t>
            </a:r>
            <a:endParaRPr lang="zh-CN" altLang="en-US" sz="2000" b="1">
              <a:solidFill>
                <a:srgbClr val="9C0B15"/>
              </a:solidFill>
            </a:endParaRPr>
          </a:p>
          <a:p>
            <a:endParaRPr lang="zh-CN" altLang="en-US" sz="2000"/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指令流的执行</a:t>
            </a:r>
            <a:r>
              <a:rPr lang="en-US" altLang="zh-CN" sz="2000" b="1">
                <a:solidFill>
                  <a:srgbClr val="9C0B15"/>
                </a:solidFill>
              </a:rPr>
              <a:t>	</a:t>
            </a:r>
            <a:r>
              <a:rPr lang="zh-CN" altLang="en-US" sz="2000"/>
              <a:t>多个指令流间的</a:t>
            </a:r>
            <a:r>
              <a:rPr lang="zh-CN" altLang="en-US" sz="2000">
                <a:solidFill>
                  <a:srgbClr val="9C0B15"/>
                </a:solidFill>
              </a:rPr>
              <a:t>执行顺序</a:t>
            </a:r>
            <a:r>
              <a:rPr lang="zh-CN" altLang="en-US" sz="2000"/>
              <a:t>要怎么安排呢？</a:t>
            </a: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顺序执行</a:t>
            </a:r>
            <a:r>
              <a:rPr lang="en-US" altLang="zh-CN" sz="2000"/>
              <a:t>	</a:t>
            </a:r>
            <a:r>
              <a:rPr lang="zh-CN" altLang="en-US" sz="2000"/>
              <a:t>一个指令流</a:t>
            </a:r>
            <a:r>
              <a:rPr lang="zh-CN" altLang="en-US" sz="2000">
                <a:solidFill>
                  <a:srgbClr val="9C0B15"/>
                </a:solidFill>
              </a:rPr>
              <a:t>执行完成</a:t>
            </a:r>
            <a:r>
              <a:rPr lang="zh-CN" altLang="en-US" sz="2000"/>
              <a:t>后，再去执行另一个</a:t>
            </a:r>
            <a:r>
              <a:rPr lang="zh-CN" altLang="en-US" sz="2000"/>
              <a:t>指令流。</a:t>
            </a: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问题</a:t>
            </a:r>
            <a:r>
              <a:rPr lang="en-US" altLang="zh-CN" sz="2000"/>
              <a:t>		</a:t>
            </a:r>
            <a:r>
              <a:rPr lang="zh-CN" altLang="en-US" sz="2000"/>
              <a:t>顺序执行有什么</a:t>
            </a:r>
            <a:r>
              <a:rPr lang="zh-CN" altLang="en-US" sz="2000">
                <a:solidFill>
                  <a:srgbClr val="9C0B15"/>
                </a:solidFill>
              </a:rPr>
              <a:t>优势或劣势</a:t>
            </a:r>
            <a:r>
              <a:rPr lang="zh-CN" altLang="en-US" sz="2000"/>
              <a:t>？</a:t>
            </a: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  <a:sym typeface="+mn-ea"/>
              </a:rPr>
              <a:t>优势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安排工作简单，一件事情做完了再去做另一件事情。</a:t>
            </a: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  <a:sym typeface="+mn-ea"/>
              </a:rPr>
              <a:t>劣势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如果一件事情没做完之前，需要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暂时放下</a:t>
            </a:r>
            <a:r>
              <a:rPr lang="zh-CN" altLang="en-US" sz="2000">
                <a:sym typeface="+mn-ea"/>
              </a:rPr>
              <a:t>去做另一件事情的话，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不可能办得到。</a:t>
            </a: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  <a:sym typeface="+mn-ea"/>
              </a:rPr>
              <a:t>问题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什么场合可能出现一件事情没做完会被打断？</a:t>
            </a:r>
            <a:endParaRPr lang="zh-CN" altLang="en-US" sz="2000"/>
          </a:p>
        </p:txBody>
      </p:sp>
      <p:sp>
        <p:nvSpPr>
          <p:cNvPr id="60" name="任意多边形 59"/>
          <p:cNvSpPr/>
          <p:nvPr>
            <p:custDataLst>
              <p:tags r:id="rId2"/>
            </p:custDataLst>
          </p:nvPr>
        </p:nvSpPr>
        <p:spPr>
          <a:xfrm>
            <a:off x="4436110" y="2581910"/>
            <a:ext cx="324485" cy="1896110"/>
          </a:xfrm>
          <a:custGeom>
            <a:avLst/>
            <a:gdLst>
              <a:gd name="connisteX0" fmla="*/ 276519 w 324439"/>
              <a:gd name="connsiteY0" fmla="*/ 0 h 828675"/>
              <a:gd name="connisteX1" fmla="*/ 294 w 324439"/>
              <a:gd name="connsiteY1" fmla="*/ 209550 h 828675"/>
              <a:gd name="connisteX2" fmla="*/ 324144 w 324439"/>
              <a:gd name="connsiteY2" fmla="*/ 561975 h 828675"/>
              <a:gd name="connisteX3" fmla="*/ 47919 w 324439"/>
              <a:gd name="connsiteY3" fmla="*/ 828675 h 828675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</a:cxnLst>
            <a:rect l="l" t="t" r="r" b="b"/>
            <a:pathLst>
              <a:path w="324439" h="828675">
                <a:moveTo>
                  <a:pt x="276520" y="0"/>
                </a:moveTo>
                <a:cubicBezTo>
                  <a:pt x="214925" y="34925"/>
                  <a:pt x="-9230" y="97155"/>
                  <a:pt x="295" y="209550"/>
                </a:cubicBezTo>
                <a:cubicBezTo>
                  <a:pt x="9820" y="321945"/>
                  <a:pt x="314620" y="438150"/>
                  <a:pt x="324145" y="561975"/>
                </a:cubicBezTo>
                <a:cubicBezTo>
                  <a:pt x="333670" y="685800"/>
                  <a:pt x="109515" y="782320"/>
                  <a:pt x="47920" y="828675"/>
                </a:cubicBezTo>
              </a:path>
            </a:pathLst>
          </a:custGeom>
          <a:noFill/>
          <a:ln w="762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2" name="任意多边形 61"/>
          <p:cNvSpPr/>
          <p:nvPr>
            <p:custDataLst>
              <p:tags r:id="rId3"/>
            </p:custDataLst>
          </p:nvPr>
        </p:nvSpPr>
        <p:spPr>
          <a:xfrm>
            <a:off x="6798945" y="2581910"/>
            <a:ext cx="324485" cy="1896110"/>
          </a:xfrm>
          <a:custGeom>
            <a:avLst/>
            <a:gdLst>
              <a:gd name="connisteX0" fmla="*/ 276519 w 324439"/>
              <a:gd name="connsiteY0" fmla="*/ 0 h 828675"/>
              <a:gd name="connisteX1" fmla="*/ 294 w 324439"/>
              <a:gd name="connsiteY1" fmla="*/ 209550 h 828675"/>
              <a:gd name="connisteX2" fmla="*/ 324144 w 324439"/>
              <a:gd name="connsiteY2" fmla="*/ 561975 h 828675"/>
              <a:gd name="connisteX3" fmla="*/ 47919 w 324439"/>
              <a:gd name="connsiteY3" fmla="*/ 828675 h 828675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</a:cxnLst>
            <a:rect l="l" t="t" r="r" b="b"/>
            <a:pathLst>
              <a:path w="324439" h="828675">
                <a:moveTo>
                  <a:pt x="276520" y="0"/>
                </a:moveTo>
                <a:cubicBezTo>
                  <a:pt x="214925" y="34925"/>
                  <a:pt x="-9230" y="97155"/>
                  <a:pt x="295" y="209550"/>
                </a:cubicBezTo>
                <a:cubicBezTo>
                  <a:pt x="9820" y="321945"/>
                  <a:pt x="314620" y="438150"/>
                  <a:pt x="324145" y="561975"/>
                </a:cubicBezTo>
                <a:cubicBezTo>
                  <a:pt x="333670" y="685800"/>
                  <a:pt x="109515" y="782320"/>
                  <a:pt x="47920" y="828675"/>
                </a:cubicBezTo>
              </a:path>
            </a:pathLst>
          </a:custGeom>
          <a:noFill/>
          <a:ln w="7620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3" name="任意多边形 62"/>
          <p:cNvSpPr/>
          <p:nvPr>
            <p:custDataLst>
              <p:tags r:id="rId4"/>
            </p:custDataLst>
          </p:nvPr>
        </p:nvSpPr>
        <p:spPr>
          <a:xfrm>
            <a:off x="2127885" y="2581910"/>
            <a:ext cx="324485" cy="1896110"/>
          </a:xfrm>
          <a:custGeom>
            <a:avLst/>
            <a:gdLst>
              <a:gd name="connisteX0" fmla="*/ 276519 w 324439"/>
              <a:gd name="connsiteY0" fmla="*/ 0 h 828675"/>
              <a:gd name="connisteX1" fmla="*/ 294 w 324439"/>
              <a:gd name="connsiteY1" fmla="*/ 209550 h 828675"/>
              <a:gd name="connisteX2" fmla="*/ 324144 w 324439"/>
              <a:gd name="connsiteY2" fmla="*/ 561975 h 828675"/>
              <a:gd name="connisteX3" fmla="*/ 47919 w 324439"/>
              <a:gd name="connsiteY3" fmla="*/ 828675 h 828675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</a:cxnLst>
            <a:rect l="l" t="t" r="r" b="b"/>
            <a:pathLst>
              <a:path w="324439" h="828675">
                <a:moveTo>
                  <a:pt x="276520" y="0"/>
                </a:moveTo>
                <a:cubicBezTo>
                  <a:pt x="214925" y="34925"/>
                  <a:pt x="-9230" y="97155"/>
                  <a:pt x="295" y="209550"/>
                </a:cubicBezTo>
                <a:cubicBezTo>
                  <a:pt x="9820" y="321945"/>
                  <a:pt x="314620" y="438150"/>
                  <a:pt x="324145" y="561975"/>
                </a:cubicBezTo>
                <a:cubicBezTo>
                  <a:pt x="333670" y="685800"/>
                  <a:pt x="109515" y="782320"/>
                  <a:pt x="47920" y="828675"/>
                </a:cubicBezTo>
              </a:path>
            </a:pathLst>
          </a:custGeom>
          <a:noFill/>
          <a:ln w="76200">
            <a:solidFill>
              <a:srgbClr val="D02F3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右箭头 1"/>
          <p:cNvSpPr/>
          <p:nvPr/>
        </p:nvSpPr>
        <p:spPr>
          <a:xfrm>
            <a:off x="3019425" y="3287395"/>
            <a:ext cx="979170" cy="485775"/>
          </a:xfrm>
          <a:prstGeom prst="rightArrow">
            <a:avLst/>
          </a:prstGeom>
          <a:solidFill>
            <a:srgbClr val="D02F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右箭头 3"/>
          <p:cNvSpPr/>
          <p:nvPr>
            <p:custDataLst>
              <p:tags r:id="rId5"/>
            </p:custDataLst>
          </p:nvPr>
        </p:nvSpPr>
        <p:spPr>
          <a:xfrm>
            <a:off x="5370830" y="3287395"/>
            <a:ext cx="979170" cy="485775"/>
          </a:xfrm>
          <a:prstGeom prst="rightArrow">
            <a:avLst/>
          </a:prstGeom>
          <a:solidFill>
            <a:srgbClr val="D02F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6"/>
    </p:custData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1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1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处理器</a:t>
                      </a: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调度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一、指令流</a:t>
                      </a: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与执行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应用程序与指令流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顺序与并发执行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1.3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指令流的描述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en-US" altLang="zh-CN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线程与处理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器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2.1 CPU时间与线程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2.2</a:t>
                      </a: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线程的描述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2.3 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纤程与协程</a:t>
                      </a:r>
                      <a:endParaRPr lang="en-US" altLang="zh-CN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三、处理器调度算法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3.1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调度算法原理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多处理器与并发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59385"/>
            <a:ext cx="9121140" cy="65544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rgbClr val="9C0B15"/>
                </a:solidFill>
              </a:rPr>
              <a:t>需要打断工作的</a:t>
            </a:r>
            <a:r>
              <a:rPr lang="zh-CN" altLang="en-US" sz="2000" b="1">
                <a:solidFill>
                  <a:srgbClr val="9C0B15"/>
                </a:solidFill>
              </a:rPr>
              <a:t>常见情况</a:t>
            </a:r>
            <a:endParaRPr lang="zh-CN" altLang="en-US" sz="2000" b="1">
              <a:solidFill>
                <a:srgbClr val="9C0B15"/>
              </a:solidFill>
            </a:endParaRPr>
          </a:p>
          <a:p>
            <a:endParaRPr lang="zh-CN" altLang="en-US" sz="2000"/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优先级</a:t>
            </a:r>
            <a:r>
              <a:rPr lang="en-US" altLang="zh-CN" sz="2000" b="1">
                <a:solidFill>
                  <a:srgbClr val="9C0B15"/>
                </a:solidFill>
              </a:rPr>
              <a:t>		</a:t>
            </a:r>
            <a:r>
              <a:rPr lang="zh-CN" altLang="en-US" sz="2000"/>
              <a:t>某些任务</a:t>
            </a:r>
            <a:r>
              <a:rPr lang="zh-CN" altLang="en-US" sz="2000">
                <a:solidFill>
                  <a:srgbClr val="9C0B15"/>
                </a:solidFill>
              </a:rPr>
              <a:t>就是比其它任务更加紧急</a:t>
            </a:r>
            <a:r>
              <a:rPr lang="zh-CN" altLang="en-US" sz="2000"/>
              <a:t>。如果另一个紧急的任务需</a:t>
            </a:r>
            <a:r>
              <a:rPr lang="zh-CN" altLang="en-US" sz="2000">
                <a:sym typeface="+mn-ea"/>
              </a:rPr>
              <a:t>		</a:t>
            </a:r>
            <a:r>
              <a:rPr lang="zh-CN" altLang="en-US" sz="2000"/>
              <a:t>要应用程序立马去处理，当前的任务就必须被打断。</a:t>
            </a: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进行</a:t>
            </a:r>
            <a:r>
              <a:rPr lang="en-US" altLang="zh-CN" sz="2000" b="1">
                <a:solidFill>
                  <a:srgbClr val="9C0B15"/>
                </a:solidFill>
              </a:rPr>
              <a:t>I/O		</a:t>
            </a:r>
            <a:r>
              <a:rPr lang="zh-CN" altLang="en-US" sz="2000"/>
              <a:t>相对于CPU，</a:t>
            </a:r>
            <a:r>
              <a:rPr lang="zh-CN" altLang="en-US" sz="2000">
                <a:solidFill>
                  <a:srgbClr val="9C0B15"/>
                </a:solidFill>
              </a:rPr>
              <a:t>I/O设备的速度是很慢的</a:t>
            </a:r>
            <a:r>
              <a:rPr lang="zh-CN" altLang="en-US" sz="2000"/>
              <a:t>。一旦开始I/O，当前的指</a:t>
            </a:r>
            <a:r>
              <a:rPr lang="zh-CN" altLang="en-US" sz="2000">
                <a:sym typeface="+mn-ea"/>
              </a:rPr>
              <a:t>		</a:t>
            </a:r>
            <a:r>
              <a:rPr lang="zh-CN" altLang="en-US" sz="2000"/>
              <a:t>令流就不占用</a:t>
            </a:r>
            <a:r>
              <a:rPr lang="zh-CN" altLang="en-US" sz="2000">
                <a:sym typeface="+mn-ea"/>
              </a:rPr>
              <a:t>CPU了</a:t>
            </a:r>
            <a:r>
              <a:rPr lang="zh-CN" altLang="en-US" sz="2000"/>
              <a:t>。即便让它继续运行，它能做的也只是</a:t>
            </a:r>
            <a:r>
              <a:rPr lang="zh-CN" altLang="en-US" sz="2000">
                <a:solidFill>
                  <a:srgbClr val="9C0B15"/>
                </a:solidFill>
              </a:rPr>
              <a:t>反复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>
                <a:solidFill>
                  <a:srgbClr val="9C0B15"/>
                </a:solidFill>
              </a:rPr>
              <a:t>查询I/O设备的状态寄存器</a:t>
            </a:r>
            <a:r>
              <a:rPr lang="zh-CN" altLang="en-US" sz="2000"/>
              <a:t>来判断</a:t>
            </a:r>
            <a:r>
              <a:rPr lang="en-US" altLang="zh-CN" sz="2000"/>
              <a:t>I/O</a:t>
            </a:r>
            <a:r>
              <a:rPr lang="zh-CN" altLang="en-US" sz="2000"/>
              <a:t>是否</a:t>
            </a:r>
            <a:r>
              <a:rPr lang="zh-CN" altLang="en-US" sz="2000"/>
              <a:t>完成。</a:t>
            </a: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资源超限</a:t>
            </a:r>
            <a:r>
              <a:rPr lang="en-US" altLang="zh-CN" sz="2000"/>
              <a:t>	</a:t>
            </a:r>
            <a:r>
              <a:rPr lang="zh-CN" altLang="en-US" sz="2000"/>
              <a:t>这个指令流占用了太多</a:t>
            </a:r>
            <a:r>
              <a:rPr lang="en-US" altLang="zh-CN" sz="2000"/>
              <a:t>CPU</a:t>
            </a:r>
            <a:r>
              <a:rPr lang="zh-CN" altLang="en-US" sz="2000"/>
              <a:t>时间了，可能</a:t>
            </a:r>
            <a:r>
              <a:rPr lang="zh-CN" altLang="en-US" sz="2000">
                <a:solidFill>
                  <a:srgbClr val="9C0B15"/>
                </a:solidFill>
              </a:rPr>
              <a:t>达到了某个限额</a:t>
            </a:r>
            <a:r>
              <a:rPr lang="zh-CN" altLang="en-US" sz="2000"/>
              <a:t>，再放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/>
              <a:t>任它继续执行可能造成</a:t>
            </a:r>
            <a:r>
              <a:rPr lang="zh-CN" altLang="en-US" sz="2000">
                <a:solidFill>
                  <a:srgbClr val="9C0B15"/>
                </a:solidFill>
              </a:rPr>
              <a:t>公平问题</a:t>
            </a:r>
            <a:r>
              <a:rPr lang="zh-CN" altLang="en-US" sz="2000"/>
              <a:t>，尤其是跨应用程序时：某个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/>
              <a:t>应用程序的指令流将一直占用</a:t>
            </a:r>
            <a:r>
              <a:rPr lang="en-US" altLang="zh-CN" sz="2000"/>
              <a:t>CPU</a:t>
            </a:r>
            <a:r>
              <a:rPr lang="zh-CN" altLang="en-US" sz="2000"/>
              <a:t>，</a:t>
            </a:r>
            <a:r>
              <a:rPr lang="zh-CN" altLang="en-US" sz="2000">
                <a:solidFill>
                  <a:srgbClr val="9C0B15"/>
                </a:solidFill>
              </a:rPr>
              <a:t>其它任何应用程序的指令流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>
                <a:solidFill>
                  <a:srgbClr val="9C0B15"/>
                </a:solidFill>
              </a:rPr>
              <a:t>都必须等它结束执行</a:t>
            </a:r>
            <a:r>
              <a:rPr lang="zh-CN" altLang="en-US" sz="2000"/>
              <a:t>才能得到</a:t>
            </a:r>
            <a:r>
              <a:rPr lang="en-US" altLang="zh-CN" sz="2000"/>
              <a:t>CPU</a:t>
            </a:r>
            <a:r>
              <a:rPr lang="zh-CN" altLang="en-US" sz="2000"/>
              <a:t>。</a:t>
            </a: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恶意程序</a:t>
            </a:r>
            <a:r>
              <a:rPr lang="en-US" altLang="zh-CN" sz="2000"/>
              <a:t>	</a:t>
            </a:r>
            <a:r>
              <a:rPr lang="zh-CN" altLang="en-US" sz="2000"/>
              <a:t>某个指令流的唯一工作就是</a:t>
            </a:r>
            <a:r>
              <a:rPr lang="zh-CN" altLang="en-US" sz="2000">
                <a:solidFill>
                  <a:srgbClr val="9C0B15"/>
                </a:solidFill>
              </a:rPr>
              <a:t>空转</a:t>
            </a:r>
            <a:r>
              <a:rPr lang="zh-CN" altLang="en-US" sz="2000"/>
              <a:t>（这可能是因为它本身是恶意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/>
              <a:t>程序，或被恶意程序入侵，</a:t>
            </a:r>
            <a:r>
              <a:rPr lang="zh-CN" altLang="en-US" sz="2000">
                <a:solidFill>
                  <a:srgbClr val="9C0B15"/>
                </a:solidFill>
              </a:rPr>
              <a:t>或出BUG</a:t>
            </a:r>
            <a:r>
              <a:rPr lang="zh-CN" altLang="en-US" sz="2000"/>
              <a:t>），燃烧</a:t>
            </a:r>
            <a:r>
              <a:rPr lang="en-US" altLang="zh-CN" sz="2000"/>
              <a:t>CPU</a:t>
            </a:r>
            <a:r>
              <a:rPr lang="zh-CN" altLang="en-US" sz="2000"/>
              <a:t>时间，并且永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/>
              <a:t>不退出，要等到它退出除非机器烧毁</a:t>
            </a:r>
            <a:r>
              <a:rPr lang="zh-CN" altLang="en-US" sz="2000"/>
              <a:t>或者停电。</a:t>
            </a: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相互通信</a:t>
            </a:r>
            <a:r>
              <a:rPr lang="en-US" altLang="zh-CN" sz="2000"/>
              <a:t>	</a:t>
            </a:r>
            <a:r>
              <a:rPr lang="zh-CN" altLang="en-US" sz="2000"/>
              <a:t>某些指令流可能</a:t>
            </a:r>
            <a:r>
              <a:rPr lang="zh-CN" altLang="en-US" sz="2000">
                <a:solidFill>
                  <a:srgbClr val="9C0B15"/>
                </a:solidFill>
              </a:rPr>
              <a:t>依赖其它指令流</a:t>
            </a:r>
            <a:r>
              <a:rPr lang="zh-CN" altLang="en-US" sz="2000"/>
              <a:t>传递给它的数据才能工作。如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/>
              <a:t>果它无法从另一个指令流那里得到数据，就要一直等待下去，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/>
              <a:t>直到其它指令流返还数据。这在顺序执行模型下是</a:t>
            </a:r>
            <a:r>
              <a:rPr lang="zh-CN" altLang="en-US" sz="2000">
                <a:solidFill>
                  <a:srgbClr val="9C0B15"/>
                </a:solidFill>
              </a:rPr>
              <a:t>不可能</a:t>
            </a:r>
            <a:r>
              <a:rPr lang="zh-CN" altLang="en-US" sz="2000"/>
              <a:t>的。</a:t>
            </a:r>
            <a:endParaRPr lang="zh-CN" altLang="en-US" sz="2000"/>
          </a:p>
        </p:txBody>
      </p:sp>
    </p:spTree>
    <p:custDataLst>
      <p:tags r:id="rId2"/>
    </p:custData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处理器</a:t>
                      </a: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调度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一、指令流</a:t>
                      </a: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与执行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应用程序与指令流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顺序与并发执行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1.3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指令流的描述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en-US" altLang="zh-CN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线程与处理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器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2.1 CPU时间与线程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2.2</a:t>
                      </a: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线程的描述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2.3 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纤程与协程</a:t>
                      </a:r>
                      <a:endParaRPr lang="en-US" altLang="zh-CN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三、处理器调度算法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3.1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调度算法原理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多处理器与并发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59385"/>
            <a:ext cx="9121140" cy="65544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rgbClr val="9C0B15"/>
                </a:solidFill>
              </a:rPr>
              <a:t>改进的顺序</a:t>
            </a:r>
            <a:r>
              <a:rPr lang="zh-CN" altLang="en-US" sz="2000" b="1">
                <a:solidFill>
                  <a:srgbClr val="9C0B15"/>
                </a:solidFill>
              </a:rPr>
              <a:t>执行</a:t>
            </a:r>
            <a:endParaRPr lang="zh-CN" altLang="en-US" sz="2000" b="1">
              <a:solidFill>
                <a:srgbClr val="9C0B15"/>
              </a:solidFill>
            </a:endParaRPr>
          </a:p>
          <a:p>
            <a:endParaRPr lang="zh-CN" altLang="en-US" sz="2000"/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  <a:sym typeface="+mn-ea"/>
              </a:rPr>
              <a:t>合作执行</a:t>
            </a:r>
            <a:r>
              <a:rPr lang="en-US" altLang="zh-CN" sz="2000" b="1">
                <a:solidFill>
                  <a:srgbClr val="9C0B15"/>
                </a:solidFill>
              </a:rPr>
              <a:t>	</a:t>
            </a:r>
            <a:r>
              <a:rPr lang="zh-CN" altLang="en-US" sz="2000">
                <a:sym typeface="+mn-ea"/>
              </a:rPr>
              <a:t>将每个指令流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打断成多份</a:t>
            </a:r>
            <a:r>
              <a:rPr lang="zh-CN" altLang="en-US" sz="2000">
                <a:sym typeface="+mn-ea"/>
              </a:rPr>
              <a:t>，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每一份之内都顺序执行</a:t>
            </a:r>
            <a:r>
              <a:rPr lang="zh-CN" altLang="en-US" sz="2000">
                <a:sym typeface="+mn-ea"/>
              </a:rPr>
              <a:t>，但背靠背</a:t>
            </a:r>
            <a:r>
              <a:rPr lang="zh-CN" altLang="en-US" sz="2000" b="1">
                <a:solidFill>
                  <a:srgbClr val="9C0B15"/>
                </a:solidFill>
                <a:sym typeface="+mn-ea"/>
              </a:rPr>
              <a:t>Cooperative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	</a:t>
            </a:r>
            <a:r>
              <a:rPr lang="zh-CN" altLang="en-US" sz="2000">
                <a:sym typeface="+mn-ea"/>
              </a:rPr>
              <a:t>执行的两份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不一定来自同一个指令流</a:t>
            </a:r>
            <a:r>
              <a:rPr lang="zh-CN" altLang="en-US" sz="2000">
                <a:sym typeface="+mn-ea"/>
              </a:rPr>
              <a:t>。在每份指令流的末尾，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>
                <a:sym typeface="+mn-ea"/>
              </a:rPr>
              <a:t>都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通知操作系统主动放弃CPU</a:t>
            </a:r>
            <a:r>
              <a:rPr lang="zh-CN" altLang="en-US" sz="2000">
                <a:sym typeface="+mn-ea"/>
              </a:rPr>
              <a:t>，</a:t>
            </a:r>
            <a:r>
              <a:rPr lang="en-US" altLang="zh-CN" sz="2000">
                <a:sym typeface="+mn-ea"/>
              </a:rPr>
              <a:t>CPU</a:t>
            </a:r>
            <a:r>
              <a:rPr lang="zh-CN" altLang="en-US" sz="2000">
                <a:sym typeface="+mn-ea"/>
              </a:rPr>
              <a:t>将转去执行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下一份指令流</a:t>
            </a:r>
            <a:r>
              <a:rPr lang="zh-CN" altLang="en-US" sz="2000">
                <a:sym typeface="+mn-ea"/>
              </a:rPr>
              <a:t>。</a:t>
            </a: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  <a:sym typeface="+mn-ea"/>
              </a:rPr>
              <a:t>交替执行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	</a:t>
            </a:r>
            <a:r>
              <a:rPr lang="zh-CN" altLang="en-US" sz="2000">
                <a:sym typeface="+mn-ea"/>
              </a:rPr>
              <a:t>指令流在自己执行的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途中</a:t>
            </a:r>
            <a:r>
              <a:rPr lang="zh-CN" altLang="en-US" sz="2000">
                <a:sym typeface="+mn-ea"/>
              </a:rPr>
              <a:t>就可以出让CPU的控制权。</a:t>
            </a: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  <a:sym typeface="+mn-ea"/>
              </a:rPr>
              <a:t>自愿放弃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	</a:t>
            </a:r>
            <a:r>
              <a:rPr lang="zh-CN" altLang="en-US" sz="2000">
                <a:sym typeface="+mn-ea"/>
              </a:rPr>
              <a:t>指令流在不需要</a:t>
            </a:r>
            <a:r>
              <a:rPr lang="en-US" altLang="zh-CN" sz="2000">
                <a:sym typeface="+mn-ea"/>
              </a:rPr>
              <a:t>CPU</a:t>
            </a:r>
            <a:r>
              <a:rPr lang="zh-CN" altLang="en-US" sz="2000">
                <a:sym typeface="+mn-ea"/>
              </a:rPr>
              <a:t>的时候可以自愿放弃</a:t>
            </a:r>
            <a:r>
              <a:rPr lang="en-US" altLang="zh-CN" sz="2000">
                <a:sym typeface="+mn-ea"/>
              </a:rPr>
              <a:t>CPU</a:t>
            </a:r>
            <a:r>
              <a:rPr lang="zh-CN" altLang="en-US" sz="2000">
                <a:sym typeface="+mn-ea"/>
              </a:rPr>
              <a:t>。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自愿放弃CPU</a:t>
            </a:r>
            <a:r>
              <a:rPr lang="zh-CN" altLang="en-US" sz="2000">
                <a:sym typeface="+mn-ea"/>
              </a:rPr>
              <a:t>以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>
                <a:sym typeface="+mn-ea"/>
              </a:rPr>
              <a:t>及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执行完毕</a:t>
            </a:r>
            <a:r>
              <a:rPr lang="zh-CN" altLang="en-US" sz="2000">
                <a:sym typeface="+mn-ea"/>
              </a:rPr>
              <a:t>是交还</a:t>
            </a:r>
            <a:r>
              <a:rPr lang="en-US" altLang="zh-CN" sz="2000">
                <a:sym typeface="+mn-ea"/>
              </a:rPr>
              <a:t>CPU</a:t>
            </a:r>
            <a:r>
              <a:rPr lang="zh-CN" altLang="en-US" sz="2000">
                <a:sym typeface="+mn-ea"/>
              </a:rPr>
              <a:t>控制权的唯</a:t>
            </a:r>
            <a:r>
              <a:rPr lang="zh-CN" altLang="en-US" sz="2000">
                <a:sym typeface="+mn-ea"/>
              </a:rPr>
              <a:t>二方法。</a:t>
            </a: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  <a:sym typeface="+mn-ea"/>
              </a:rPr>
              <a:t>顺序确定</a:t>
            </a:r>
            <a:r>
              <a:rPr lang="en-US" altLang="zh-CN" sz="2000">
                <a:sym typeface="+mn-ea"/>
              </a:rPr>
              <a:t>	</a:t>
            </a:r>
            <a:r>
              <a:rPr lang="zh-CN" altLang="en-US" sz="2000">
                <a:sym typeface="+mn-ea"/>
              </a:rPr>
              <a:t>如果希望，每个指令流都可以在放弃</a:t>
            </a:r>
            <a:r>
              <a:rPr lang="en-US" altLang="zh-CN" sz="2000">
                <a:sym typeface="+mn-ea"/>
              </a:rPr>
              <a:t>CPU</a:t>
            </a:r>
            <a:r>
              <a:rPr lang="zh-CN" altLang="en-US" sz="2000">
                <a:sym typeface="+mn-ea"/>
              </a:rPr>
              <a:t>时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指明自己希望哪个指		令流继承CPU的使用权</a:t>
            </a:r>
            <a:r>
              <a:rPr lang="zh-CN" altLang="en-US" sz="2000">
                <a:sym typeface="+mn-ea"/>
              </a:rPr>
              <a:t>。当然，如果不指定，那么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随机选择一个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指令流来运行</a:t>
            </a:r>
            <a:r>
              <a:rPr lang="zh-CN" altLang="en-US" sz="2000">
                <a:sym typeface="+mn-ea"/>
              </a:rPr>
              <a:t>。</a:t>
            </a:r>
            <a:endParaRPr lang="zh-CN" altLang="en-US" sz="2000">
              <a:sym typeface="+mn-ea"/>
            </a:endParaRPr>
          </a:p>
        </p:txBody>
      </p:sp>
      <p:sp>
        <p:nvSpPr>
          <p:cNvPr id="60" name="任意多边形 59"/>
          <p:cNvSpPr/>
          <p:nvPr>
            <p:custDataLst>
              <p:tags r:id="rId2"/>
            </p:custDataLst>
          </p:nvPr>
        </p:nvSpPr>
        <p:spPr>
          <a:xfrm>
            <a:off x="4648835" y="1986280"/>
            <a:ext cx="324485" cy="1896110"/>
          </a:xfrm>
          <a:custGeom>
            <a:avLst/>
            <a:gdLst>
              <a:gd name="connisteX0" fmla="*/ 276519 w 324439"/>
              <a:gd name="connsiteY0" fmla="*/ 0 h 828675"/>
              <a:gd name="connisteX1" fmla="*/ 294 w 324439"/>
              <a:gd name="connsiteY1" fmla="*/ 209550 h 828675"/>
              <a:gd name="connisteX2" fmla="*/ 324144 w 324439"/>
              <a:gd name="connsiteY2" fmla="*/ 561975 h 828675"/>
              <a:gd name="connisteX3" fmla="*/ 47919 w 324439"/>
              <a:gd name="connsiteY3" fmla="*/ 828675 h 828675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</a:cxnLst>
            <a:rect l="l" t="t" r="r" b="b"/>
            <a:pathLst>
              <a:path w="324439" h="828675">
                <a:moveTo>
                  <a:pt x="276520" y="0"/>
                </a:moveTo>
                <a:cubicBezTo>
                  <a:pt x="214925" y="34925"/>
                  <a:pt x="-9230" y="97155"/>
                  <a:pt x="295" y="209550"/>
                </a:cubicBezTo>
                <a:cubicBezTo>
                  <a:pt x="9820" y="321945"/>
                  <a:pt x="314620" y="438150"/>
                  <a:pt x="324145" y="561975"/>
                </a:cubicBezTo>
                <a:cubicBezTo>
                  <a:pt x="333670" y="685800"/>
                  <a:pt x="109515" y="782320"/>
                  <a:pt x="47920" y="828675"/>
                </a:cubicBezTo>
              </a:path>
            </a:pathLst>
          </a:custGeom>
          <a:noFill/>
          <a:ln w="76200">
            <a:solidFill>
              <a:srgbClr val="00B0F0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2" name="任意多边形 61"/>
          <p:cNvSpPr/>
          <p:nvPr>
            <p:custDataLst>
              <p:tags r:id="rId3"/>
            </p:custDataLst>
          </p:nvPr>
        </p:nvSpPr>
        <p:spPr>
          <a:xfrm>
            <a:off x="7011670" y="1986280"/>
            <a:ext cx="324485" cy="1896110"/>
          </a:xfrm>
          <a:custGeom>
            <a:avLst/>
            <a:gdLst>
              <a:gd name="connisteX0" fmla="*/ 276519 w 324439"/>
              <a:gd name="connsiteY0" fmla="*/ 0 h 828675"/>
              <a:gd name="connisteX1" fmla="*/ 294 w 324439"/>
              <a:gd name="connsiteY1" fmla="*/ 209550 h 828675"/>
              <a:gd name="connisteX2" fmla="*/ 324144 w 324439"/>
              <a:gd name="connsiteY2" fmla="*/ 561975 h 828675"/>
              <a:gd name="connisteX3" fmla="*/ 47919 w 324439"/>
              <a:gd name="connsiteY3" fmla="*/ 828675 h 828675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</a:cxnLst>
            <a:rect l="l" t="t" r="r" b="b"/>
            <a:pathLst>
              <a:path w="324439" h="828675">
                <a:moveTo>
                  <a:pt x="276520" y="0"/>
                </a:moveTo>
                <a:cubicBezTo>
                  <a:pt x="214925" y="34925"/>
                  <a:pt x="-9230" y="97155"/>
                  <a:pt x="295" y="209550"/>
                </a:cubicBezTo>
                <a:cubicBezTo>
                  <a:pt x="9820" y="321945"/>
                  <a:pt x="314620" y="438150"/>
                  <a:pt x="324145" y="561975"/>
                </a:cubicBezTo>
                <a:cubicBezTo>
                  <a:pt x="333670" y="685800"/>
                  <a:pt x="109515" y="782320"/>
                  <a:pt x="47920" y="828675"/>
                </a:cubicBezTo>
              </a:path>
            </a:pathLst>
          </a:custGeom>
          <a:noFill/>
          <a:ln w="76200">
            <a:solidFill>
              <a:srgbClr val="92D050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3" name="任意多边形 62"/>
          <p:cNvSpPr/>
          <p:nvPr>
            <p:custDataLst>
              <p:tags r:id="rId4"/>
            </p:custDataLst>
          </p:nvPr>
        </p:nvSpPr>
        <p:spPr>
          <a:xfrm>
            <a:off x="2340610" y="1986280"/>
            <a:ext cx="324485" cy="1896110"/>
          </a:xfrm>
          <a:custGeom>
            <a:avLst/>
            <a:gdLst>
              <a:gd name="connisteX0" fmla="*/ 276519 w 324439"/>
              <a:gd name="connsiteY0" fmla="*/ 0 h 828675"/>
              <a:gd name="connisteX1" fmla="*/ 294 w 324439"/>
              <a:gd name="connsiteY1" fmla="*/ 209550 h 828675"/>
              <a:gd name="connisteX2" fmla="*/ 324144 w 324439"/>
              <a:gd name="connsiteY2" fmla="*/ 561975 h 828675"/>
              <a:gd name="connisteX3" fmla="*/ 47919 w 324439"/>
              <a:gd name="connsiteY3" fmla="*/ 828675 h 828675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</a:cxnLst>
            <a:rect l="l" t="t" r="r" b="b"/>
            <a:pathLst>
              <a:path w="324439" h="828675">
                <a:moveTo>
                  <a:pt x="276520" y="0"/>
                </a:moveTo>
                <a:cubicBezTo>
                  <a:pt x="214925" y="34925"/>
                  <a:pt x="-9230" y="97155"/>
                  <a:pt x="295" y="209550"/>
                </a:cubicBezTo>
                <a:cubicBezTo>
                  <a:pt x="9820" y="321945"/>
                  <a:pt x="314620" y="438150"/>
                  <a:pt x="324145" y="561975"/>
                </a:cubicBezTo>
                <a:cubicBezTo>
                  <a:pt x="333670" y="685800"/>
                  <a:pt x="109515" y="782320"/>
                  <a:pt x="47920" y="828675"/>
                </a:cubicBezTo>
              </a:path>
            </a:pathLst>
          </a:custGeom>
          <a:noFill/>
          <a:ln w="76200">
            <a:solidFill>
              <a:srgbClr val="D02F35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5" name="直接箭头连接符 4"/>
          <p:cNvCxnSpPr/>
          <p:nvPr/>
        </p:nvCxnSpPr>
        <p:spPr>
          <a:xfrm flipV="1">
            <a:off x="2962910" y="2239645"/>
            <a:ext cx="1189990" cy="14605"/>
          </a:xfrm>
          <a:prstGeom prst="straightConnector1">
            <a:avLst/>
          </a:prstGeom>
          <a:ln w="38100">
            <a:solidFill>
              <a:srgbClr val="D02F3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箭头连接符 5"/>
          <p:cNvCxnSpPr/>
          <p:nvPr>
            <p:custDataLst>
              <p:tags r:id="rId5"/>
            </p:custDataLst>
          </p:nvPr>
        </p:nvCxnSpPr>
        <p:spPr>
          <a:xfrm flipV="1">
            <a:off x="5414010" y="2254250"/>
            <a:ext cx="1189990" cy="14605"/>
          </a:xfrm>
          <a:prstGeom prst="straightConnector1">
            <a:avLst/>
          </a:prstGeom>
          <a:ln w="38100">
            <a:solidFill>
              <a:srgbClr val="D02F3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箭头连接符 6"/>
          <p:cNvCxnSpPr/>
          <p:nvPr>
            <p:custDataLst>
              <p:tags r:id="rId6"/>
            </p:custDataLst>
          </p:nvPr>
        </p:nvCxnSpPr>
        <p:spPr>
          <a:xfrm flipH="1">
            <a:off x="2339340" y="3005455"/>
            <a:ext cx="1270" cy="737870"/>
          </a:xfrm>
          <a:prstGeom prst="straightConnector1">
            <a:avLst/>
          </a:prstGeom>
          <a:ln w="38100">
            <a:solidFill>
              <a:srgbClr val="D02F3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箭头连接符 7"/>
          <p:cNvCxnSpPr/>
          <p:nvPr>
            <p:custDataLst>
              <p:tags r:id="rId7"/>
            </p:custDataLst>
          </p:nvPr>
        </p:nvCxnSpPr>
        <p:spPr>
          <a:xfrm flipH="1">
            <a:off x="5372100" y="2991485"/>
            <a:ext cx="1161415" cy="13970"/>
          </a:xfrm>
          <a:prstGeom prst="straightConnector1">
            <a:avLst/>
          </a:prstGeom>
          <a:ln w="38100">
            <a:solidFill>
              <a:srgbClr val="D02F3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箭头连接符 8"/>
          <p:cNvCxnSpPr/>
          <p:nvPr>
            <p:custDataLst>
              <p:tags r:id="rId8"/>
            </p:custDataLst>
          </p:nvPr>
        </p:nvCxnSpPr>
        <p:spPr>
          <a:xfrm flipH="1" flipV="1">
            <a:off x="2962910" y="2976880"/>
            <a:ext cx="1189990" cy="635"/>
          </a:xfrm>
          <a:prstGeom prst="straightConnector1">
            <a:avLst/>
          </a:prstGeom>
          <a:ln w="38100">
            <a:solidFill>
              <a:srgbClr val="D02F3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/>
          <p:cNvCxnSpPr/>
          <p:nvPr>
            <p:custDataLst>
              <p:tags r:id="rId9"/>
            </p:custDataLst>
          </p:nvPr>
        </p:nvCxnSpPr>
        <p:spPr>
          <a:xfrm flipV="1">
            <a:off x="3004820" y="3696970"/>
            <a:ext cx="1189990" cy="14605"/>
          </a:xfrm>
          <a:prstGeom prst="straightConnector1">
            <a:avLst/>
          </a:prstGeom>
          <a:ln w="38100">
            <a:solidFill>
              <a:srgbClr val="D02F3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箭头连接符 24"/>
          <p:cNvCxnSpPr/>
          <p:nvPr>
            <p:custDataLst>
              <p:tags r:id="rId10"/>
            </p:custDataLst>
          </p:nvPr>
        </p:nvCxnSpPr>
        <p:spPr>
          <a:xfrm flipV="1">
            <a:off x="5455920" y="3711575"/>
            <a:ext cx="1189990" cy="14605"/>
          </a:xfrm>
          <a:prstGeom prst="straightConnector1">
            <a:avLst/>
          </a:prstGeom>
          <a:ln w="38100">
            <a:solidFill>
              <a:srgbClr val="D02F3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箭头连接符 25"/>
          <p:cNvCxnSpPr/>
          <p:nvPr>
            <p:custDataLst>
              <p:tags r:id="rId11"/>
            </p:custDataLst>
          </p:nvPr>
        </p:nvCxnSpPr>
        <p:spPr>
          <a:xfrm flipH="1">
            <a:off x="7355205" y="2239645"/>
            <a:ext cx="1270" cy="766445"/>
          </a:xfrm>
          <a:prstGeom prst="straightConnector1">
            <a:avLst/>
          </a:prstGeom>
          <a:ln w="38100">
            <a:solidFill>
              <a:srgbClr val="D02F3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直接箭头连接符 1"/>
          <p:cNvCxnSpPr/>
          <p:nvPr>
            <p:custDataLst>
              <p:tags r:id="rId12"/>
            </p:custDataLst>
          </p:nvPr>
        </p:nvCxnSpPr>
        <p:spPr>
          <a:xfrm flipV="1">
            <a:off x="3089910" y="2366645"/>
            <a:ext cx="1189990" cy="14605"/>
          </a:xfrm>
          <a:prstGeom prst="straightConnector1">
            <a:avLst/>
          </a:prstGeom>
          <a:ln w="38100">
            <a:solidFill>
              <a:srgbClr val="D02F3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3"/>
    </p:custData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处理器</a:t>
                      </a: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调度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一、指令流</a:t>
                      </a: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与执行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应用程序与指令流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顺序与并发执行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1.3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指令流的描述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en-US" altLang="zh-CN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线程与处理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器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2.1 CPU时间与线程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2.2</a:t>
                      </a: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线程的描述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2.3 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纤程与协程</a:t>
                      </a:r>
                      <a:endParaRPr lang="en-US" altLang="zh-CN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三、处理器调度算法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3.1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调度算法原理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多处理器与并发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59385"/>
            <a:ext cx="9121140" cy="65544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rgbClr val="9C0B15"/>
                </a:solidFill>
              </a:rPr>
              <a:t>改进的顺序</a:t>
            </a:r>
            <a:r>
              <a:rPr lang="zh-CN" altLang="en-US" sz="2000" b="1">
                <a:solidFill>
                  <a:srgbClr val="9C0B15"/>
                </a:solidFill>
              </a:rPr>
              <a:t>执行</a:t>
            </a:r>
            <a:endParaRPr lang="zh-CN" altLang="en-US" sz="2000" b="1">
              <a:solidFill>
                <a:srgbClr val="9C0B15"/>
              </a:solidFill>
            </a:endParaRPr>
          </a:p>
          <a:p>
            <a:endParaRPr lang="zh-CN" altLang="en-US" sz="2000"/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  <a:sym typeface="+mn-ea"/>
              </a:rPr>
              <a:t>合作执行</a:t>
            </a:r>
            <a:r>
              <a:rPr lang="en-US" altLang="zh-CN" sz="2000" b="1">
                <a:solidFill>
                  <a:srgbClr val="9C0B15"/>
                </a:solidFill>
              </a:rPr>
              <a:t>	</a:t>
            </a:r>
            <a:r>
              <a:rPr lang="zh-CN" altLang="en-US" sz="2000"/>
              <a:t>将每个指令流</a:t>
            </a:r>
            <a:r>
              <a:rPr lang="zh-CN" altLang="en-US" sz="2000">
                <a:solidFill>
                  <a:srgbClr val="9C0B15"/>
                </a:solidFill>
              </a:rPr>
              <a:t>打断成多份</a:t>
            </a:r>
            <a:r>
              <a:rPr lang="zh-CN" altLang="en-US" sz="2000"/>
              <a:t>，</a:t>
            </a:r>
            <a:r>
              <a:rPr lang="zh-CN" altLang="en-US" sz="2000">
                <a:solidFill>
                  <a:srgbClr val="9C0B15"/>
                </a:solidFill>
              </a:rPr>
              <a:t>每一份之内都顺序执行</a:t>
            </a:r>
            <a:r>
              <a:rPr lang="zh-CN" altLang="en-US" sz="2000"/>
              <a:t>，但背靠背</a:t>
            </a:r>
            <a:r>
              <a:rPr lang="zh-CN" altLang="en-US" sz="2000" b="1">
                <a:solidFill>
                  <a:srgbClr val="9C0B15"/>
                </a:solidFill>
                <a:sym typeface="+mn-ea"/>
              </a:rPr>
              <a:t>Cooperative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	</a:t>
            </a:r>
            <a:r>
              <a:rPr lang="zh-CN" altLang="en-US" sz="2000"/>
              <a:t>执行的两份</a:t>
            </a:r>
            <a:r>
              <a:rPr lang="zh-CN" altLang="en-US" sz="2000">
                <a:solidFill>
                  <a:srgbClr val="9C0B15"/>
                </a:solidFill>
              </a:rPr>
              <a:t>不一定来自同一个指令流</a:t>
            </a:r>
            <a:r>
              <a:rPr lang="zh-CN" altLang="en-US" sz="2000"/>
              <a:t>。在每份指令流的末尾，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/>
              <a:t>都</a:t>
            </a:r>
            <a:r>
              <a:rPr lang="zh-CN" altLang="en-US" sz="2000">
                <a:solidFill>
                  <a:srgbClr val="9C0B15"/>
                </a:solidFill>
              </a:rPr>
              <a:t>通知操作系统主动放弃CPU</a:t>
            </a:r>
            <a:r>
              <a:rPr lang="zh-CN" altLang="en-US" sz="2000"/>
              <a:t>，</a:t>
            </a:r>
            <a:r>
              <a:rPr lang="en-US" altLang="zh-CN" sz="2000"/>
              <a:t>CPU</a:t>
            </a:r>
            <a:r>
              <a:rPr lang="zh-CN" altLang="en-US" sz="2000"/>
              <a:t>将转去执行</a:t>
            </a:r>
            <a:r>
              <a:rPr lang="zh-CN" altLang="en-US" sz="2000">
                <a:solidFill>
                  <a:srgbClr val="9C0B15"/>
                </a:solidFill>
              </a:rPr>
              <a:t>下一份指令流</a:t>
            </a:r>
            <a:r>
              <a:rPr lang="zh-CN" altLang="en-US" sz="2000"/>
              <a:t>。</a:t>
            </a: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问题</a:t>
            </a:r>
            <a:r>
              <a:rPr lang="en-US" altLang="zh-CN" sz="2000"/>
              <a:t>		</a:t>
            </a:r>
            <a:r>
              <a:rPr lang="zh-CN" altLang="en-US" sz="2000"/>
              <a:t>合作执行解决了上述常见问题的</a:t>
            </a:r>
            <a:r>
              <a:rPr lang="zh-CN" altLang="en-US" sz="2000"/>
              <a:t>哪些？</a:t>
            </a: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优先级</a:t>
            </a:r>
            <a:r>
              <a:rPr lang="en-US" altLang="zh-CN" sz="2000"/>
              <a:t>		</a:t>
            </a:r>
            <a:r>
              <a:rPr lang="zh-CN" altLang="en-US" sz="2000">
                <a:solidFill>
                  <a:srgbClr val="9C0B15"/>
                </a:solidFill>
              </a:rPr>
              <a:t>解决了一部分</a:t>
            </a:r>
            <a:r>
              <a:rPr lang="zh-CN" altLang="en-US" sz="2000"/>
              <a:t>，现在紧急的指令流可以在</a:t>
            </a:r>
            <a:r>
              <a:rPr lang="zh-CN" altLang="en-US" sz="2000">
                <a:solidFill>
                  <a:srgbClr val="9C0B15"/>
                </a:solidFill>
              </a:rPr>
              <a:t>份与份之间</a:t>
            </a:r>
            <a:r>
              <a:rPr lang="zh-CN" altLang="en-US" sz="2000"/>
              <a:t>插入了。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/>
              <a:t>但是没办法在</a:t>
            </a:r>
            <a:r>
              <a:rPr lang="zh-CN" altLang="en-US" sz="2000">
                <a:solidFill>
                  <a:srgbClr val="9C0B15"/>
                </a:solidFill>
              </a:rPr>
              <a:t>份内插入</a:t>
            </a:r>
            <a:r>
              <a:rPr lang="zh-CN" altLang="en-US" sz="2000"/>
              <a:t>。</a:t>
            </a:r>
            <a:endParaRPr lang="zh-CN" altLang="en-US" sz="2000"/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进行I/O	</a:t>
            </a:r>
            <a:r>
              <a:rPr lang="en-US" altLang="zh-CN" sz="2000"/>
              <a:t>	</a:t>
            </a:r>
            <a:r>
              <a:rPr lang="zh-CN" altLang="en-US" sz="2000"/>
              <a:t>仅考虑</a:t>
            </a:r>
            <a:r>
              <a:rPr lang="en-US" altLang="zh-CN" sz="2000"/>
              <a:t>CPU</a:t>
            </a:r>
            <a:r>
              <a:rPr lang="zh-CN" altLang="en-US" sz="2000"/>
              <a:t>效率，</a:t>
            </a:r>
            <a:r>
              <a:rPr lang="zh-CN" altLang="en-US" sz="2000">
                <a:solidFill>
                  <a:srgbClr val="9C0B15"/>
                </a:solidFill>
              </a:rPr>
              <a:t>完全解决</a:t>
            </a:r>
            <a:r>
              <a:rPr lang="zh-CN" altLang="en-US" sz="2000"/>
              <a:t>，指令流只要进入</a:t>
            </a:r>
            <a:r>
              <a:rPr lang="en-US" altLang="zh-CN" sz="2000"/>
              <a:t>I/O</a:t>
            </a:r>
            <a:r>
              <a:rPr lang="zh-CN" altLang="en-US" sz="2000"/>
              <a:t>就放弃</a:t>
            </a:r>
            <a:r>
              <a:rPr lang="en-US" altLang="zh-CN" sz="2000"/>
              <a:t>CPU</a:t>
            </a:r>
            <a:r>
              <a:rPr lang="zh-CN" altLang="en-US" sz="2000"/>
              <a:t>。</a:t>
            </a:r>
            <a:endParaRPr lang="zh-CN" altLang="en-US" sz="2000"/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资源超限</a:t>
            </a:r>
            <a:r>
              <a:rPr lang="en-US" altLang="zh-CN" sz="2000"/>
              <a:t>	</a:t>
            </a:r>
            <a:r>
              <a:rPr lang="zh-CN" altLang="en-US" sz="2000"/>
              <a:t>应用程序的某一段</a:t>
            </a:r>
            <a:r>
              <a:rPr lang="zh-CN" altLang="en-US" sz="2000">
                <a:solidFill>
                  <a:srgbClr val="9C0B15"/>
                </a:solidFill>
              </a:rPr>
              <a:t>一直不放弃CPU</a:t>
            </a:r>
            <a:r>
              <a:rPr lang="zh-CN" altLang="en-US" sz="2000"/>
              <a:t>的话，还是拿它</a:t>
            </a:r>
            <a:r>
              <a:rPr lang="zh-CN" altLang="en-US" sz="2000"/>
              <a:t>没办法。</a:t>
            </a:r>
            <a:endParaRPr lang="zh-CN" altLang="en-US" sz="2000"/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恶意程序</a:t>
            </a:r>
            <a:r>
              <a:rPr lang="en-US" altLang="zh-CN" sz="2000"/>
              <a:t>	</a:t>
            </a:r>
            <a:r>
              <a:rPr lang="zh-CN" altLang="en-US" sz="2000"/>
              <a:t>同上，挖矿程序</a:t>
            </a:r>
            <a:r>
              <a:rPr lang="zh-CN" altLang="en-US" sz="2000">
                <a:solidFill>
                  <a:srgbClr val="9C0B15"/>
                </a:solidFill>
              </a:rPr>
              <a:t>肯定不会放弃CPU</a:t>
            </a:r>
            <a:r>
              <a:rPr lang="zh-CN" altLang="en-US" sz="2000"/>
              <a:t>，不然它还</a:t>
            </a:r>
            <a:r>
              <a:rPr lang="zh-CN" altLang="en-US" sz="2000"/>
              <a:t>挖什么矿。</a:t>
            </a:r>
            <a:endParaRPr lang="zh-CN" altLang="en-US" sz="2000"/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互相通信</a:t>
            </a:r>
            <a:r>
              <a:rPr lang="en-US" altLang="zh-CN" sz="2000"/>
              <a:t>	</a:t>
            </a:r>
            <a:r>
              <a:rPr lang="zh-CN" altLang="en-US" sz="2000">
                <a:solidFill>
                  <a:srgbClr val="9C0B15"/>
                </a:solidFill>
              </a:rPr>
              <a:t>完全解决</a:t>
            </a:r>
            <a:r>
              <a:rPr lang="zh-CN" altLang="en-US" sz="2000"/>
              <a:t>，</a:t>
            </a:r>
            <a:r>
              <a:rPr lang="zh-CN" altLang="en-US" sz="2000">
                <a:sym typeface="+mn-ea"/>
              </a:rPr>
              <a:t>指令流只要在等待其它指令流的</a:t>
            </a:r>
            <a:r>
              <a:rPr lang="zh-CN" altLang="en-US" sz="2000">
                <a:sym typeface="+mn-ea"/>
              </a:rPr>
              <a:t>回复就放弃</a:t>
            </a:r>
            <a:r>
              <a:rPr lang="en-US" altLang="zh-CN" sz="2000">
                <a:sym typeface="+mn-ea"/>
              </a:rPr>
              <a:t>CPU</a:t>
            </a:r>
            <a:r>
              <a:rPr lang="zh-CN" altLang="en-US" sz="2000">
                <a:sym typeface="+mn-ea"/>
              </a:rPr>
              <a:t>。</a:t>
            </a:r>
            <a:endParaRPr lang="zh-CN" altLang="en-US" sz="2000"/>
          </a:p>
        </p:txBody>
      </p:sp>
      <p:sp>
        <p:nvSpPr>
          <p:cNvPr id="2" name="任意多边形 1"/>
          <p:cNvSpPr/>
          <p:nvPr>
            <p:custDataLst>
              <p:tags r:id="rId2"/>
            </p:custDataLst>
          </p:nvPr>
        </p:nvSpPr>
        <p:spPr>
          <a:xfrm>
            <a:off x="4648835" y="1986280"/>
            <a:ext cx="324485" cy="1896110"/>
          </a:xfrm>
          <a:custGeom>
            <a:avLst/>
            <a:gdLst>
              <a:gd name="connisteX0" fmla="*/ 276519 w 324439"/>
              <a:gd name="connsiteY0" fmla="*/ 0 h 828675"/>
              <a:gd name="connisteX1" fmla="*/ 294 w 324439"/>
              <a:gd name="connsiteY1" fmla="*/ 209550 h 828675"/>
              <a:gd name="connisteX2" fmla="*/ 324144 w 324439"/>
              <a:gd name="connsiteY2" fmla="*/ 561975 h 828675"/>
              <a:gd name="connisteX3" fmla="*/ 47919 w 324439"/>
              <a:gd name="connsiteY3" fmla="*/ 828675 h 828675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</a:cxnLst>
            <a:rect l="l" t="t" r="r" b="b"/>
            <a:pathLst>
              <a:path w="324439" h="828675">
                <a:moveTo>
                  <a:pt x="276520" y="0"/>
                </a:moveTo>
                <a:cubicBezTo>
                  <a:pt x="214925" y="34925"/>
                  <a:pt x="-9230" y="97155"/>
                  <a:pt x="295" y="209550"/>
                </a:cubicBezTo>
                <a:cubicBezTo>
                  <a:pt x="9820" y="321945"/>
                  <a:pt x="314620" y="438150"/>
                  <a:pt x="324145" y="561975"/>
                </a:cubicBezTo>
                <a:cubicBezTo>
                  <a:pt x="333670" y="685800"/>
                  <a:pt x="109515" y="782320"/>
                  <a:pt x="47920" y="828675"/>
                </a:cubicBezTo>
              </a:path>
            </a:pathLst>
          </a:custGeom>
          <a:noFill/>
          <a:ln w="76200">
            <a:solidFill>
              <a:srgbClr val="00B0F0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任意多边形 3"/>
          <p:cNvSpPr/>
          <p:nvPr>
            <p:custDataLst>
              <p:tags r:id="rId3"/>
            </p:custDataLst>
          </p:nvPr>
        </p:nvSpPr>
        <p:spPr>
          <a:xfrm>
            <a:off x="7011670" y="1986280"/>
            <a:ext cx="324485" cy="1896110"/>
          </a:xfrm>
          <a:custGeom>
            <a:avLst/>
            <a:gdLst>
              <a:gd name="connisteX0" fmla="*/ 276519 w 324439"/>
              <a:gd name="connsiteY0" fmla="*/ 0 h 828675"/>
              <a:gd name="connisteX1" fmla="*/ 294 w 324439"/>
              <a:gd name="connsiteY1" fmla="*/ 209550 h 828675"/>
              <a:gd name="connisteX2" fmla="*/ 324144 w 324439"/>
              <a:gd name="connsiteY2" fmla="*/ 561975 h 828675"/>
              <a:gd name="connisteX3" fmla="*/ 47919 w 324439"/>
              <a:gd name="connsiteY3" fmla="*/ 828675 h 828675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</a:cxnLst>
            <a:rect l="l" t="t" r="r" b="b"/>
            <a:pathLst>
              <a:path w="324439" h="828675">
                <a:moveTo>
                  <a:pt x="276520" y="0"/>
                </a:moveTo>
                <a:cubicBezTo>
                  <a:pt x="214925" y="34925"/>
                  <a:pt x="-9230" y="97155"/>
                  <a:pt x="295" y="209550"/>
                </a:cubicBezTo>
                <a:cubicBezTo>
                  <a:pt x="9820" y="321945"/>
                  <a:pt x="314620" y="438150"/>
                  <a:pt x="324145" y="561975"/>
                </a:cubicBezTo>
                <a:cubicBezTo>
                  <a:pt x="333670" y="685800"/>
                  <a:pt x="109515" y="782320"/>
                  <a:pt x="47920" y="828675"/>
                </a:cubicBezTo>
              </a:path>
            </a:pathLst>
          </a:custGeom>
          <a:noFill/>
          <a:ln w="76200">
            <a:solidFill>
              <a:srgbClr val="92D050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任意多边形 14"/>
          <p:cNvSpPr/>
          <p:nvPr>
            <p:custDataLst>
              <p:tags r:id="rId4"/>
            </p:custDataLst>
          </p:nvPr>
        </p:nvSpPr>
        <p:spPr>
          <a:xfrm>
            <a:off x="2340610" y="1986280"/>
            <a:ext cx="324485" cy="1896110"/>
          </a:xfrm>
          <a:custGeom>
            <a:avLst/>
            <a:gdLst>
              <a:gd name="connisteX0" fmla="*/ 276519 w 324439"/>
              <a:gd name="connsiteY0" fmla="*/ 0 h 828675"/>
              <a:gd name="connisteX1" fmla="*/ 294 w 324439"/>
              <a:gd name="connsiteY1" fmla="*/ 209550 h 828675"/>
              <a:gd name="connisteX2" fmla="*/ 324144 w 324439"/>
              <a:gd name="connsiteY2" fmla="*/ 561975 h 828675"/>
              <a:gd name="connisteX3" fmla="*/ 47919 w 324439"/>
              <a:gd name="connsiteY3" fmla="*/ 828675 h 828675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</a:cxnLst>
            <a:rect l="l" t="t" r="r" b="b"/>
            <a:pathLst>
              <a:path w="324439" h="828675">
                <a:moveTo>
                  <a:pt x="276520" y="0"/>
                </a:moveTo>
                <a:cubicBezTo>
                  <a:pt x="214925" y="34925"/>
                  <a:pt x="-9230" y="97155"/>
                  <a:pt x="295" y="209550"/>
                </a:cubicBezTo>
                <a:cubicBezTo>
                  <a:pt x="9820" y="321945"/>
                  <a:pt x="314620" y="438150"/>
                  <a:pt x="324145" y="561975"/>
                </a:cubicBezTo>
                <a:cubicBezTo>
                  <a:pt x="333670" y="685800"/>
                  <a:pt x="109515" y="782320"/>
                  <a:pt x="47920" y="828675"/>
                </a:cubicBezTo>
              </a:path>
            </a:pathLst>
          </a:custGeom>
          <a:noFill/>
          <a:ln w="76200">
            <a:solidFill>
              <a:srgbClr val="D02F35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28" name="直接箭头连接符 27"/>
          <p:cNvCxnSpPr/>
          <p:nvPr>
            <p:custDataLst>
              <p:tags r:id="rId5"/>
            </p:custDataLst>
          </p:nvPr>
        </p:nvCxnSpPr>
        <p:spPr>
          <a:xfrm flipV="1">
            <a:off x="2962910" y="2239645"/>
            <a:ext cx="1189990" cy="14605"/>
          </a:xfrm>
          <a:prstGeom prst="straightConnector1">
            <a:avLst/>
          </a:prstGeom>
          <a:ln w="38100">
            <a:solidFill>
              <a:srgbClr val="D02F3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接箭头连接符 60"/>
          <p:cNvCxnSpPr/>
          <p:nvPr>
            <p:custDataLst>
              <p:tags r:id="rId6"/>
            </p:custDataLst>
          </p:nvPr>
        </p:nvCxnSpPr>
        <p:spPr>
          <a:xfrm flipV="1">
            <a:off x="5414010" y="2254250"/>
            <a:ext cx="1189990" cy="14605"/>
          </a:xfrm>
          <a:prstGeom prst="straightConnector1">
            <a:avLst/>
          </a:prstGeom>
          <a:ln w="38100">
            <a:solidFill>
              <a:srgbClr val="D02F3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接箭头连接符 63"/>
          <p:cNvCxnSpPr/>
          <p:nvPr>
            <p:custDataLst>
              <p:tags r:id="rId7"/>
            </p:custDataLst>
          </p:nvPr>
        </p:nvCxnSpPr>
        <p:spPr>
          <a:xfrm flipH="1">
            <a:off x="2339340" y="3005455"/>
            <a:ext cx="1270" cy="737870"/>
          </a:xfrm>
          <a:prstGeom prst="straightConnector1">
            <a:avLst/>
          </a:prstGeom>
          <a:ln w="38100">
            <a:solidFill>
              <a:srgbClr val="D02F3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接箭头连接符 64"/>
          <p:cNvCxnSpPr/>
          <p:nvPr>
            <p:custDataLst>
              <p:tags r:id="rId8"/>
            </p:custDataLst>
          </p:nvPr>
        </p:nvCxnSpPr>
        <p:spPr>
          <a:xfrm flipH="1">
            <a:off x="5372100" y="2991485"/>
            <a:ext cx="1161415" cy="13970"/>
          </a:xfrm>
          <a:prstGeom prst="straightConnector1">
            <a:avLst/>
          </a:prstGeom>
          <a:ln w="38100">
            <a:solidFill>
              <a:srgbClr val="D02F3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接箭头连接符 65"/>
          <p:cNvCxnSpPr/>
          <p:nvPr>
            <p:custDataLst>
              <p:tags r:id="rId9"/>
            </p:custDataLst>
          </p:nvPr>
        </p:nvCxnSpPr>
        <p:spPr>
          <a:xfrm flipH="1" flipV="1">
            <a:off x="2962910" y="2976880"/>
            <a:ext cx="1189990" cy="635"/>
          </a:xfrm>
          <a:prstGeom prst="straightConnector1">
            <a:avLst/>
          </a:prstGeom>
          <a:ln w="38100">
            <a:solidFill>
              <a:srgbClr val="D02F3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接箭头连接符 66"/>
          <p:cNvCxnSpPr/>
          <p:nvPr>
            <p:custDataLst>
              <p:tags r:id="rId10"/>
            </p:custDataLst>
          </p:nvPr>
        </p:nvCxnSpPr>
        <p:spPr>
          <a:xfrm flipV="1">
            <a:off x="3004820" y="3696970"/>
            <a:ext cx="1189990" cy="14605"/>
          </a:xfrm>
          <a:prstGeom prst="straightConnector1">
            <a:avLst/>
          </a:prstGeom>
          <a:ln w="38100">
            <a:solidFill>
              <a:srgbClr val="D02F3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接箭头连接符 67"/>
          <p:cNvCxnSpPr/>
          <p:nvPr>
            <p:custDataLst>
              <p:tags r:id="rId11"/>
            </p:custDataLst>
          </p:nvPr>
        </p:nvCxnSpPr>
        <p:spPr>
          <a:xfrm flipV="1">
            <a:off x="5455920" y="3711575"/>
            <a:ext cx="1189990" cy="14605"/>
          </a:xfrm>
          <a:prstGeom prst="straightConnector1">
            <a:avLst/>
          </a:prstGeom>
          <a:ln w="38100">
            <a:solidFill>
              <a:srgbClr val="D02F3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接箭头连接符 68"/>
          <p:cNvCxnSpPr/>
          <p:nvPr>
            <p:custDataLst>
              <p:tags r:id="rId12"/>
            </p:custDataLst>
          </p:nvPr>
        </p:nvCxnSpPr>
        <p:spPr>
          <a:xfrm flipH="1">
            <a:off x="7355205" y="2239645"/>
            <a:ext cx="1270" cy="766445"/>
          </a:xfrm>
          <a:prstGeom prst="straightConnector1">
            <a:avLst/>
          </a:prstGeom>
          <a:ln w="38100">
            <a:solidFill>
              <a:srgbClr val="D02F3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3"/>
    </p:custData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1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1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1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处理器</a:t>
                      </a: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调度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一、指令流</a:t>
                      </a: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与执行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应用程序与指令流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顺序与并发执行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1.3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指令流的描述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en-US" altLang="zh-CN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线程与处理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器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2.1 CPU时间与线程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2.2</a:t>
                      </a: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线程的描述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2.3 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纤程与协程</a:t>
                      </a:r>
                      <a:endParaRPr lang="en-US" altLang="zh-CN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三、处理器调度算法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3.1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调度算法原理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多处理器与并发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59385"/>
            <a:ext cx="9121140" cy="65544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rgbClr val="9C0B15"/>
                </a:solidFill>
              </a:rPr>
              <a:t>顺序执行和合作</a:t>
            </a:r>
            <a:r>
              <a:rPr lang="zh-CN" altLang="en-US" sz="2000" b="1">
                <a:solidFill>
                  <a:srgbClr val="9C0B15"/>
                </a:solidFill>
              </a:rPr>
              <a:t>执行的</a:t>
            </a:r>
            <a:r>
              <a:rPr lang="zh-CN" altLang="en-US" sz="2000" b="1">
                <a:solidFill>
                  <a:srgbClr val="9C0B15"/>
                </a:solidFill>
              </a:rPr>
              <a:t>问题</a:t>
            </a:r>
            <a:endParaRPr lang="zh-CN" altLang="en-US" sz="2000" b="1">
              <a:solidFill>
                <a:srgbClr val="9C0B15"/>
              </a:solidFill>
            </a:endParaRPr>
          </a:p>
          <a:p>
            <a:endParaRPr lang="zh-CN" altLang="en-US" sz="2000"/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  <a:sym typeface="+mn-ea"/>
              </a:rPr>
              <a:t>缺乏强制性</a:t>
            </a:r>
            <a:r>
              <a:rPr lang="en-US" altLang="zh-CN" sz="2000" b="1">
                <a:solidFill>
                  <a:srgbClr val="9C0B15"/>
                </a:solidFill>
              </a:rPr>
              <a:t>	</a:t>
            </a:r>
            <a:r>
              <a:rPr lang="zh-CN" altLang="en-US" sz="2000"/>
              <a:t>无法</a:t>
            </a:r>
            <a:r>
              <a:rPr lang="zh-CN" altLang="en-US" sz="2000">
                <a:solidFill>
                  <a:srgbClr val="9C0B15"/>
                </a:solidFill>
              </a:rPr>
              <a:t>强制剥夺</a:t>
            </a:r>
            <a:r>
              <a:rPr lang="zh-CN" altLang="en-US" sz="2000"/>
              <a:t>指令流的</a:t>
            </a:r>
            <a:r>
              <a:rPr lang="en-US" altLang="zh-CN" sz="2000"/>
              <a:t>CPU</a:t>
            </a:r>
            <a:r>
              <a:rPr lang="zh-CN" altLang="en-US" sz="2000"/>
              <a:t>控制权。如果指令流是恶意的，或者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/>
              <a:t>自私的，就没办法对它加以约束了。因此，我们需要一种能够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/>
              <a:t>强制剥夺指令流对</a:t>
            </a:r>
            <a:r>
              <a:rPr lang="en-US" altLang="zh-CN" sz="2000"/>
              <a:t>CPU</a:t>
            </a:r>
            <a:r>
              <a:rPr lang="zh-CN" altLang="en-US" sz="2000"/>
              <a:t>控制权的</a:t>
            </a:r>
            <a:r>
              <a:rPr lang="zh-CN" altLang="en-US" sz="2000"/>
              <a:t>方法。</a:t>
            </a: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并发执行</a:t>
            </a:r>
            <a:r>
              <a:rPr lang="en-US" altLang="zh-CN" sz="2000"/>
              <a:t>	</a:t>
            </a:r>
            <a:r>
              <a:rPr lang="zh-CN" altLang="en-US" sz="2000"/>
              <a:t>将合作执行的条件放宽一点，允许一个指令流在</a:t>
            </a:r>
            <a:r>
              <a:rPr lang="zh-CN" altLang="en-US" sz="2000">
                <a:solidFill>
                  <a:srgbClr val="9C0B15"/>
                </a:solidFill>
              </a:rPr>
              <a:t>任何时候被打</a:t>
            </a:r>
            <a:r>
              <a:rPr lang="zh-CN" altLang="en-US" sz="2000" b="1">
                <a:solidFill>
                  <a:srgbClr val="9C0B15"/>
                </a:solidFill>
              </a:rPr>
              <a:t>Concurrent</a:t>
            </a:r>
            <a:r>
              <a:rPr lang="en-US" altLang="zh-CN" sz="2000">
                <a:sym typeface="+mn-ea"/>
              </a:rPr>
              <a:t>	</a:t>
            </a:r>
            <a:r>
              <a:rPr lang="zh-CN" altLang="en-US" sz="2000">
                <a:solidFill>
                  <a:srgbClr val="9C0B15"/>
                </a:solidFill>
              </a:rPr>
              <a:t>断</a:t>
            </a:r>
            <a:r>
              <a:rPr lang="zh-CN" altLang="en-US" sz="2000"/>
              <a:t>，并且新的指令流</a:t>
            </a:r>
            <a:r>
              <a:rPr lang="zh-CN" altLang="en-US" sz="2000">
                <a:solidFill>
                  <a:srgbClr val="9C0B15"/>
                </a:solidFill>
              </a:rPr>
              <a:t>插入</a:t>
            </a:r>
            <a:r>
              <a:rPr lang="zh-CN" altLang="en-US" sz="2000"/>
              <a:t>进来。又叫</a:t>
            </a:r>
            <a:r>
              <a:rPr lang="zh-CN" altLang="en-US" sz="2000" b="1">
                <a:solidFill>
                  <a:srgbClr val="9C0B15"/>
                </a:solidFill>
              </a:rPr>
              <a:t>抢占式执行</a:t>
            </a:r>
            <a:r>
              <a:rPr lang="zh-CN" altLang="en-US" sz="2000"/>
              <a:t>。每个指令流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/>
              <a:t>都在自己的</a:t>
            </a:r>
            <a:r>
              <a:rPr lang="zh-CN" altLang="en-US" sz="2000">
                <a:solidFill>
                  <a:srgbClr val="9C0B15"/>
                </a:solidFill>
              </a:rPr>
              <a:t>虚拟CPU</a:t>
            </a:r>
            <a:r>
              <a:rPr lang="zh-CN" altLang="en-US" sz="2000"/>
              <a:t>上执行，而且虚拟</a:t>
            </a:r>
            <a:r>
              <a:rPr lang="en-US" altLang="zh-CN" sz="2000"/>
              <a:t>CPU</a:t>
            </a:r>
            <a:r>
              <a:rPr lang="zh-CN" altLang="en-US" sz="2000"/>
              <a:t>的</a:t>
            </a:r>
            <a:r>
              <a:rPr lang="zh-CN" altLang="en-US" sz="2000">
                <a:solidFill>
                  <a:srgbClr val="9C0B15"/>
                </a:solidFill>
              </a:rPr>
              <a:t>先后没法预测</a:t>
            </a:r>
            <a:r>
              <a:rPr lang="zh-CN" altLang="en-US" sz="2000"/>
              <a:t>。</a:t>
            </a: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细粒度</a:t>
            </a:r>
            <a:r>
              <a:rPr lang="en-US" altLang="zh-CN" sz="2000"/>
              <a:t>		</a:t>
            </a:r>
            <a:r>
              <a:rPr lang="zh-CN" altLang="en-US" sz="2000"/>
              <a:t>每个指令流的</a:t>
            </a:r>
            <a:r>
              <a:rPr lang="zh-CN" altLang="en-US" sz="2000">
                <a:solidFill>
                  <a:srgbClr val="9C0B15"/>
                </a:solidFill>
              </a:rPr>
              <a:t>每条指令</a:t>
            </a:r>
            <a:r>
              <a:rPr lang="zh-CN" altLang="en-US" sz="2000"/>
              <a:t>之间都可能</a:t>
            </a:r>
            <a:r>
              <a:rPr lang="zh-CN" altLang="en-US" sz="2000"/>
              <a:t>被打断。</a:t>
            </a: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不可预测性</a:t>
            </a:r>
            <a:r>
              <a:rPr lang="en-US" altLang="zh-CN" sz="2000"/>
              <a:t>	</a:t>
            </a:r>
            <a:r>
              <a:rPr lang="zh-CN" altLang="en-US" sz="2000"/>
              <a:t>在任何一个指令流被打断后，该指令流</a:t>
            </a:r>
            <a:r>
              <a:rPr lang="zh-CN" altLang="en-US" sz="2000">
                <a:solidFill>
                  <a:srgbClr val="9C0B15"/>
                </a:solidFill>
              </a:rPr>
              <a:t>无法预测</a:t>
            </a:r>
            <a:r>
              <a:rPr lang="zh-CN" altLang="en-US" sz="2000"/>
              <a:t>下一个接替它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/>
              <a:t>执行的是哪个</a:t>
            </a:r>
            <a:r>
              <a:rPr lang="zh-CN" altLang="en-US" sz="2000"/>
              <a:t>指令流。</a:t>
            </a:r>
            <a:endParaRPr lang="zh-CN" altLang="en-US" sz="2000"/>
          </a:p>
        </p:txBody>
      </p:sp>
      <p:sp>
        <p:nvSpPr>
          <p:cNvPr id="2" name="任意多边形 1"/>
          <p:cNvSpPr/>
          <p:nvPr>
            <p:custDataLst>
              <p:tags r:id="rId2"/>
            </p:custDataLst>
          </p:nvPr>
        </p:nvSpPr>
        <p:spPr>
          <a:xfrm>
            <a:off x="4648835" y="1986280"/>
            <a:ext cx="324485" cy="1896110"/>
          </a:xfrm>
          <a:custGeom>
            <a:avLst/>
            <a:gdLst>
              <a:gd name="connisteX0" fmla="*/ 276519 w 324439"/>
              <a:gd name="connsiteY0" fmla="*/ 0 h 828675"/>
              <a:gd name="connisteX1" fmla="*/ 294 w 324439"/>
              <a:gd name="connsiteY1" fmla="*/ 209550 h 828675"/>
              <a:gd name="connisteX2" fmla="*/ 324144 w 324439"/>
              <a:gd name="connsiteY2" fmla="*/ 561975 h 828675"/>
              <a:gd name="connisteX3" fmla="*/ 47919 w 324439"/>
              <a:gd name="connsiteY3" fmla="*/ 828675 h 828675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</a:cxnLst>
            <a:rect l="l" t="t" r="r" b="b"/>
            <a:pathLst>
              <a:path w="324439" h="828675">
                <a:moveTo>
                  <a:pt x="276520" y="0"/>
                </a:moveTo>
                <a:cubicBezTo>
                  <a:pt x="214925" y="34925"/>
                  <a:pt x="-9230" y="97155"/>
                  <a:pt x="295" y="209550"/>
                </a:cubicBezTo>
                <a:cubicBezTo>
                  <a:pt x="9820" y="321945"/>
                  <a:pt x="314620" y="438150"/>
                  <a:pt x="324145" y="561975"/>
                </a:cubicBezTo>
                <a:cubicBezTo>
                  <a:pt x="333670" y="685800"/>
                  <a:pt x="109515" y="782320"/>
                  <a:pt x="47920" y="828675"/>
                </a:cubicBezTo>
              </a:path>
            </a:pathLst>
          </a:custGeom>
          <a:noFill/>
          <a:ln w="76200">
            <a:solidFill>
              <a:srgbClr val="00B0F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任意多边形 3"/>
          <p:cNvSpPr/>
          <p:nvPr>
            <p:custDataLst>
              <p:tags r:id="rId3"/>
            </p:custDataLst>
          </p:nvPr>
        </p:nvSpPr>
        <p:spPr>
          <a:xfrm>
            <a:off x="7011670" y="1986280"/>
            <a:ext cx="324485" cy="1896110"/>
          </a:xfrm>
          <a:custGeom>
            <a:avLst/>
            <a:gdLst>
              <a:gd name="connisteX0" fmla="*/ 276519 w 324439"/>
              <a:gd name="connsiteY0" fmla="*/ 0 h 828675"/>
              <a:gd name="connisteX1" fmla="*/ 294 w 324439"/>
              <a:gd name="connsiteY1" fmla="*/ 209550 h 828675"/>
              <a:gd name="connisteX2" fmla="*/ 324144 w 324439"/>
              <a:gd name="connsiteY2" fmla="*/ 561975 h 828675"/>
              <a:gd name="connisteX3" fmla="*/ 47919 w 324439"/>
              <a:gd name="connsiteY3" fmla="*/ 828675 h 828675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</a:cxnLst>
            <a:rect l="l" t="t" r="r" b="b"/>
            <a:pathLst>
              <a:path w="324439" h="828675">
                <a:moveTo>
                  <a:pt x="276520" y="0"/>
                </a:moveTo>
                <a:cubicBezTo>
                  <a:pt x="214925" y="34925"/>
                  <a:pt x="-9230" y="97155"/>
                  <a:pt x="295" y="209550"/>
                </a:cubicBezTo>
                <a:cubicBezTo>
                  <a:pt x="9820" y="321945"/>
                  <a:pt x="314620" y="438150"/>
                  <a:pt x="324145" y="561975"/>
                </a:cubicBezTo>
                <a:cubicBezTo>
                  <a:pt x="333670" y="685800"/>
                  <a:pt x="109515" y="782320"/>
                  <a:pt x="47920" y="828675"/>
                </a:cubicBezTo>
              </a:path>
            </a:pathLst>
          </a:custGeom>
          <a:noFill/>
          <a:ln w="76200">
            <a:solidFill>
              <a:srgbClr val="92D05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任意多边形 14"/>
          <p:cNvSpPr/>
          <p:nvPr>
            <p:custDataLst>
              <p:tags r:id="rId4"/>
            </p:custDataLst>
          </p:nvPr>
        </p:nvSpPr>
        <p:spPr>
          <a:xfrm>
            <a:off x="2340610" y="1986280"/>
            <a:ext cx="324485" cy="1896110"/>
          </a:xfrm>
          <a:custGeom>
            <a:avLst/>
            <a:gdLst>
              <a:gd name="connisteX0" fmla="*/ 276519 w 324439"/>
              <a:gd name="connsiteY0" fmla="*/ 0 h 828675"/>
              <a:gd name="connisteX1" fmla="*/ 294 w 324439"/>
              <a:gd name="connsiteY1" fmla="*/ 209550 h 828675"/>
              <a:gd name="connisteX2" fmla="*/ 324144 w 324439"/>
              <a:gd name="connsiteY2" fmla="*/ 561975 h 828675"/>
              <a:gd name="connisteX3" fmla="*/ 47919 w 324439"/>
              <a:gd name="connsiteY3" fmla="*/ 828675 h 828675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</a:cxnLst>
            <a:rect l="l" t="t" r="r" b="b"/>
            <a:pathLst>
              <a:path w="324439" h="828675">
                <a:moveTo>
                  <a:pt x="276520" y="0"/>
                </a:moveTo>
                <a:cubicBezTo>
                  <a:pt x="214925" y="34925"/>
                  <a:pt x="-9230" y="97155"/>
                  <a:pt x="295" y="209550"/>
                </a:cubicBezTo>
                <a:cubicBezTo>
                  <a:pt x="9820" y="321945"/>
                  <a:pt x="314620" y="438150"/>
                  <a:pt x="324145" y="561975"/>
                </a:cubicBezTo>
                <a:cubicBezTo>
                  <a:pt x="333670" y="685800"/>
                  <a:pt x="109515" y="782320"/>
                  <a:pt x="47920" y="828675"/>
                </a:cubicBezTo>
              </a:path>
            </a:pathLst>
          </a:custGeom>
          <a:noFill/>
          <a:ln w="76200">
            <a:solidFill>
              <a:srgbClr val="D02F35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7" name="直接箭头连接符 16"/>
          <p:cNvCxnSpPr/>
          <p:nvPr>
            <p:custDataLst>
              <p:tags r:id="rId5"/>
            </p:custDataLst>
          </p:nvPr>
        </p:nvCxnSpPr>
        <p:spPr>
          <a:xfrm flipH="1" flipV="1">
            <a:off x="2962910" y="2931160"/>
            <a:ext cx="3841750" cy="12700"/>
          </a:xfrm>
          <a:prstGeom prst="straightConnector1">
            <a:avLst/>
          </a:prstGeom>
          <a:ln w="76200">
            <a:solidFill>
              <a:schemeClr val="accent2"/>
            </a:solidFill>
            <a:prstDash val="sysDot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6"/>
    </p:custData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处理器</a:t>
                      </a: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调度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一、指令流</a:t>
                      </a: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与执行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应用程序与指令流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顺序与并发执行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1.3 指令流的描述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en-US" altLang="zh-CN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线程与处理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器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2.1 CPU时间与线程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2.2</a:t>
                      </a: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线程的描述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2.3 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纤程与协程</a:t>
                      </a:r>
                      <a:endParaRPr lang="en-US" altLang="zh-CN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三、处理器调度算法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3.1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调度算法原理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多处理器与并发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59385"/>
            <a:ext cx="9121140" cy="65544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rgbClr val="9C0B15"/>
                </a:solidFill>
              </a:rPr>
              <a:t>指令流的描述</a:t>
            </a:r>
            <a:endParaRPr lang="zh-CN" altLang="en-US" sz="2000">
              <a:solidFill>
                <a:srgbClr val="9C0B15"/>
              </a:solidFill>
            </a:endParaRPr>
          </a:p>
          <a:p>
            <a:endParaRPr lang="zh-CN" altLang="en-US" sz="2000"/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指令流的描述</a:t>
            </a:r>
            <a:r>
              <a:rPr lang="en-US" altLang="zh-CN" sz="2000" b="1">
                <a:solidFill>
                  <a:srgbClr val="9C0B15"/>
                </a:solidFill>
              </a:rPr>
              <a:t>	</a:t>
            </a:r>
            <a:r>
              <a:rPr lang="zh-CN" altLang="en-US" sz="2000"/>
              <a:t>在并发执行中，指令流可能</a:t>
            </a:r>
            <a:r>
              <a:rPr lang="zh-CN" altLang="en-US" sz="2000">
                <a:solidFill>
                  <a:srgbClr val="9C0B15"/>
                </a:solidFill>
              </a:rPr>
              <a:t>随时被打断</a:t>
            </a:r>
            <a:r>
              <a:rPr lang="zh-CN" altLang="en-US" sz="2000"/>
              <a:t>。被打断的指令流的状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/>
              <a:t>态信息不能丢失。这些状态信息包括两部分，一部分是</a:t>
            </a:r>
            <a:r>
              <a:rPr lang="zh-CN" altLang="en-US" sz="2000">
                <a:solidFill>
                  <a:srgbClr val="9C0B15"/>
                </a:solidFill>
              </a:rPr>
              <a:t>指令流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>
                <a:solidFill>
                  <a:srgbClr val="9C0B15"/>
                </a:solidFill>
              </a:rPr>
              <a:t>自己的上下文</a:t>
            </a:r>
            <a:r>
              <a:rPr lang="zh-CN" altLang="en-US" sz="2000"/>
              <a:t>，另一部分则是该指令流</a:t>
            </a:r>
            <a:r>
              <a:rPr lang="zh-CN" altLang="en-US" sz="2000">
                <a:solidFill>
                  <a:srgbClr val="9C0B15"/>
                </a:solidFill>
              </a:rPr>
              <a:t>对CP</a:t>
            </a:r>
            <a:r>
              <a:rPr lang="en-US" altLang="zh-CN" sz="2000">
                <a:solidFill>
                  <a:srgbClr val="9C0B15"/>
                </a:solidFill>
              </a:rPr>
              <a:t>U</a:t>
            </a:r>
            <a:r>
              <a:rPr lang="zh-CN" altLang="en-US" sz="2000">
                <a:solidFill>
                  <a:srgbClr val="9C0B15"/>
                </a:solidFill>
              </a:rPr>
              <a:t>的占用状态</a:t>
            </a:r>
            <a:r>
              <a:rPr lang="zh-CN" altLang="en-US" sz="2000"/>
              <a:t>。</a:t>
            </a: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上下文</a:t>
            </a:r>
            <a:r>
              <a:rPr lang="en-US" altLang="zh-CN" sz="2000"/>
              <a:t>		</a:t>
            </a:r>
            <a:r>
              <a:rPr lang="zh-CN" altLang="en-US" sz="2000"/>
              <a:t>指令流的上下文包括什么？</a:t>
            </a:r>
            <a:r>
              <a:rPr lang="zh-CN" altLang="en-US" sz="2000"/>
              <a:t>为什么？</a:t>
            </a:r>
            <a:endParaRPr lang="zh-CN" altLang="en-US" sz="2000"/>
          </a:p>
          <a:p>
            <a:pPr algn="l">
              <a:buClrTx/>
              <a:buSzTx/>
              <a:buFontTx/>
            </a:pPr>
            <a:r>
              <a:rPr lang="en-US" altLang="zh-CN" sz="2000">
                <a:sym typeface="+mn-ea"/>
              </a:rPr>
              <a:t>		</a:t>
            </a:r>
            <a:r>
              <a:rPr lang="zh-CN" altLang="en-US" sz="2000"/>
              <a:t>提示：考虑原理类似的</a:t>
            </a:r>
            <a:r>
              <a:rPr lang="zh-CN" altLang="en-US" sz="2000">
                <a:solidFill>
                  <a:srgbClr val="9C0B15"/>
                </a:solidFill>
              </a:rPr>
              <a:t>中断上下文</a:t>
            </a:r>
            <a:r>
              <a:rPr lang="zh-CN" altLang="en-US" sz="2000"/>
              <a:t>。</a:t>
            </a: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寄存器组</a:t>
            </a:r>
            <a:r>
              <a:rPr lang="en-US" altLang="zh-CN" sz="2000"/>
              <a:t>	</a:t>
            </a:r>
            <a:r>
              <a:rPr lang="zh-CN" altLang="en-US" sz="2000"/>
              <a:t>一个指令流的上下文就是</a:t>
            </a:r>
            <a:r>
              <a:rPr lang="zh-CN" altLang="en-US" sz="2000">
                <a:solidFill>
                  <a:srgbClr val="9C0B15"/>
                </a:solidFill>
              </a:rPr>
              <a:t>足够使其恢复被打断时的状态</a:t>
            </a:r>
            <a:r>
              <a:rPr lang="zh-CN" altLang="en-US" sz="2000"/>
              <a:t>的内容。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这一般包括了其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寄存器组</a:t>
            </a:r>
            <a:r>
              <a:rPr lang="zh-CN" altLang="en-US" sz="2000">
                <a:sym typeface="+mn-ea"/>
              </a:rPr>
              <a:t>和</a:t>
            </a:r>
            <a:r>
              <a:rPr lang="zh-CN" altLang="en-US" sz="2000">
                <a:solidFill>
                  <a:srgbClr val="9C0B15"/>
                </a:solidFill>
              </a:rPr>
              <a:t>执行栈</a:t>
            </a:r>
            <a:r>
              <a:rPr lang="zh-CN" altLang="en-US" sz="2000"/>
              <a:t>。在切换指令流时，一个非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/>
              <a:t>常方便的做法就是把寄存器组保存在</a:t>
            </a:r>
            <a:r>
              <a:rPr lang="zh-CN" altLang="en-US" sz="2000"/>
              <a:t>执行栈上，合适时再恢复。</a:t>
            </a: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状态</a:t>
            </a:r>
            <a:r>
              <a:rPr lang="en-US" altLang="zh-CN" sz="2000"/>
              <a:t>		</a:t>
            </a:r>
            <a:r>
              <a:rPr lang="zh-CN" altLang="en-US" sz="2000"/>
              <a:t>一个指令流可以按照它</a:t>
            </a:r>
            <a:r>
              <a:rPr lang="zh-CN" altLang="en-US" sz="2000">
                <a:solidFill>
                  <a:srgbClr val="9C0B15"/>
                </a:solidFill>
              </a:rPr>
              <a:t>对CPU的占用状态</a:t>
            </a:r>
            <a:r>
              <a:rPr lang="zh-CN" altLang="en-US" sz="2000"/>
              <a:t>分成</a:t>
            </a:r>
            <a:r>
              <a:rPr lang="zh-CN" altLang="en-US" sz="2000"/>
              <a:t>几类？</a:t>
            </a: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运行</a:t>
            </a:r>
            <a:r>
              <a:rPr lang="en-US" altLang="zh-CN" sz="2000"/>
              <a:t>		</a:t>
            </a:r>
            <a:r>
              <a:rPr lang="zh-CN" altLang="en-US" sz="2000"/>
              <a:t>当前指令流正在</a:t>
            </a:r>
            <a:r>
              <a:rPr lang="zh-CN" altLang="en-US" sz="2000"/>
              <a:t>运行。</a:t>
            </a: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不运行</a:t>
            </a:r>
            <a:r>
              <a:rPr lang="en-US" altLang="zh-CN" sz="2000"/>
              <a:t>		</a:t>
            </a:r>
            <a:r>
              <a:rPr lang="zh-CN" altLang="en-US" sz="2000"/>
              <a:t>当前指令流不在运行。再细分，不运行可能是</a:t>
            </a:r>
            <a:r>
              <a:rPr lang="zh-CN" altLang="en-US" sz="2000"/>
              <a:t>因为：</a:t>
            </a:r>
            <a:endParaRPr lang="zh-CN" altLang="en-US" sz="2000"/>
          </a:p>
          <a:p>
            <a:pPr algn="l">
              <a:buClrTx/>
              <a:buSzTx/>
              <a:buFontTx/>
            </a:pPr>
            <a:r>
              <a:rPr lang="en-US" altLang="zh-CN" sz="2000">
                <a:sym typeface="+mn-ea"/>
              </a:rPr>
              <a:t>		</a:t>
            </a:r>
            <a:r>
              <a:rPr lang="zh-CN" altLang="en-US" sz="2000" b="1">
                <a:solidFill>
                  <a:srgbClr val="9C0B15"/>
                </a:solidFill>
                <a:sym typeface="+mn-ea"/>
              </a:rPr>
              <a:t>就绪</a:t>
            </a:r>
            <a:r>
              <a:rPr lang="en-US" altLang="zh-CN" sz="2000">
                <a:sym typeface="+mn-ea"/>
              </a:rPr>
              <a:t>	</a:t>
            </a:r>
            <a:r>
              <a:rPr lang="zh-CN" altLang="en-US" sz="2000">
                <a:sym typeface="+mn-ea"/>
              </a:rPr>
              <a:t>当前指令流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可以运行了，但CPU因为某些原因还没轮到</a:t>
            </a:r>
            <a:r>
              <a:rPr lang="en-US" altLang="zh-CN" sz="2000">
                <a:sym typeface="+mn-ea"/>
              </a:rPr>
              <a:t>			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它</a:t>
            </a:r>
            <a:r>
              <a:rPr lang="zh-CN" altLang="en-US" sz="2000">
                <a:sym typeface="+mn-ea"/>
              </a:rPr>
              <a:t>，轮到它就可以立马</a:t>
            </a:r>
            <a:r>
              <a:rPr lang="zh-CN" altLang="en-US" sz="2000">
                <a:sym typeface="+mn-ea"/>
              </a:rPr>
              <a:t>运行。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>
                <a:sym typeface="+mn-ea"/>
              </a:rPr>
              <a:t>		</a:t>
            </a:r>
            <a:r>
              <a:rPr lang="zh-CN" altLang="en-US" sz="2000" b="1">
                <a:solidFill>
                  <a:srgbClr val="9C0B15"/>
                </a:solidFill>
                <a:sym typeface="+mn-ea"/>
              </a:rPr>
              <a:t>阻塞</a:t>
            </a:r>
            <a:r>
              <a:rPr lang="en-US" altLang="zh-CN" sz="2000">
                <a:sym typeface="+mn-ea"/>
              </a:rPr>
              <a:t>	</a:t>
            </a:r>
            <a:r>
              <a:rPr lang="zh-CN" altLang="en-US" sz="2000">
                <a:sym typeface="+mn-ea"/>
              </a:rPr>
              <a:t>当前指令流在等待，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就算有空闲CPU也没法运行</a:t>
            </a:r>
            <a:r>
              <a:rPr lang="zh-CN" altLang="en-US" sz="2000">
                <a:sym typeface="+mn-ea"/>
              </a:rPr>
              <a:t>。</a:t>
            </a:r>
            <a:endParaRPr lang="zh-CN" altLang="en-US" sz="2000">
              <a:sym typeface="+mn-ea"/>
            </a:endParaRPr>
          </a:p>
        </p:txBody>
      </p:sp>
    </p:spTree>
    <p:custDataLst>
      <p:tags r:id="rId2"/>
    </p:custData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椭圆 64"/>
          <p:cNvSpPr/>
          <p:nvPr/>
        </p:nvSpPr>
        <p:spPr>
          <a:xfrm>
            <a:off x="1166495" y="4175125"/>
            <a:ext cx="7349490" cy="2388870"/>
          </a:xfrm>
          <a:prstGeom prst="ellipse">
            <a:avLst/>
          </a:prstGeom>
          <a:solidFill>
            <a:srgbClr val="D02F35">
              <a:alpha val="25000"/>
            </a:srgbClr>
          </a:solidFill>
          <a:ln w="28575" cmpd="sng">
            <a:solidFill>
              <a:srgbClr val="9C0B15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p>
            <a:pPr algn="ctr"/>
            <a:r>
              <a:rPr lang="zh-CN" altLang="en-US" sz="3200" b="1">
                <a:solidFill>
                  <a:schemeClr val="tx1"/>
                </a:solidFill>
              </a:rPr>
              <a:t>不运行</a:t>
            </a:r>
            <a:endParaRPr lang="zh-CN" altLang="en-US" sz="3200" b="1">
              <a:solidFill>
                <a:schemeClr val="tx1"/>
              </a:solidFill>
            </a:endParaRPr>
          </a:p>
        </p:txBody>
      </p:sp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处理器</a:t>
                      </a: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调度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一、指令流</a:t>
                      </a: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与执行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应用程序与指令流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顺序与并发执行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1.3 指令流的描述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en-US" altLang="zh-CN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线程与处理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器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2.1 CPU时间与线程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2.2</a:t>
                      </a: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线程的描述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2.3 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纤程与协程</a:t>
                      </a:r>
                      <a:endParaRPr lang="en-US" altLang="zh-CN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三、处理器调度算法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3.1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调度算法原理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多处理器与并发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59385"/>
            <a:ext cx="912114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指令流的三个</a:t>
            </a:r>
            <a:r>
              <a:rPr lang="zh-CN" altLang="en-US" sz="2000" b="1">
                <a:solidFill>
                  <a:srgbClr val="9C0B15"/>
                </a:solidFill>
              </a:rPr>
              <a:t>基本状态</a:t>
            </a:r>
            <a:endParaRPr lang="zh-CN" altLang="en-US" sz="2000">
              <a:sym typeface="+mn-ea"/>
            </a:endParaRPr>
          </a:p>
        </p:txBody>
      </p:sp>
      <p:sp>
        <p:nvSpPr>
          <p:cNvPr id="2" name="椭圆 1"/>
          <p:cNvSpPr/>
          <p:nvPr/>
        </p:nvSpPr>
        <p:spPr>
          <a:xfrm>
            <a:off x="4236085" y="911860"/>
            <a:ext cx="1314450" cy="1314450"/>
          </a:xfrm>
          <a:prstGeom prst="ellipse">
            <a:avLst/>
          </a:prstGeom>
          <a:solidFill>
            <a:srgbClr val="D02F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800" b="1"/>
              <a:t>运行</a:t>
            </a:r>
            <a:endParaRPr lang="zh-CN" altLang="en-US" sz="2800" b="1"/>
          </a:p>
        </p:txBody>
      </p:sp>
      <p:sp>
        <p:nvSpPr>
          <p:cNvPr id="4" name="椭圆 3"/>
          <p:cNvSpPr/>
          <p:nvPr>
            <p:custDataLst>
              <p:tags r:id="rId2"/>
            </p:custDataLst>
          </p:nvPr>
        </p:nvSpPr>
        <p:spPr>
          <a:xfrm>
            <a:off x="1708785" y="4692650"/>
            <a:ext cx="1337945" cy="1337945"/>
          </a:xfrm>
          <a:prstGeom prst="ellipse">
            <a:avLst/>
          </a:prstGeom>
          <a:solidFill>
            <a:srgbClr val="D02F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>
              <a:buClrTx/>
              <a:buSzTx/>
              <a:buFontTx/>
            </a:pPr>
            <a:r>
              <a:rPr lang="zh-CN" altLang="en-US" sz="2800" b="1"/>
              <a:t>就绪</a:t>
            </a:r>
            <a:endParaRPr lang="zh-CN" altLang="en-US" sz="2800" b="1"/>
          </a:p>
        </p:txBody>
      </p:sp>
      <p:sp>
        <p:nvSpPr>
          <p:cNvPr id="5" name="椭圆 4"/>
          <p:cNvSpPr/>
          <p:nvPr>
            <p:custDataLst>
              <p:tags r:id="rId3"/>
            </p:custDataLst>
          </p:nvPr>
        </p:nvSpPr>
        <p:spPr>
          <a:xfrm>
            <a:off x="6635115" y="4716145"/>
            <a:ext cx="1314450" cy="1314450"/>
          </a:xfrm>
          <a:prstGeom prst="ellipse">
            <a:avLst/>
          </a:prstGeom>
          <a:solidFill>
            <a:srgbClr val="D02F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800" b="1"/>
              <a:t>阻塞</a:t>
            </a:r>
            <a:endParaRPr lang="zh-CN" altLang="en-US"/>
          </a:p>
        </p:txBody>
      </p:sp>
      <p:cxnSp>
        <p:nvCxnSpPr>
          <p:cNvPr id="6" name="直接箭头连接符 5"/>
          <p:cNvCxnSpPr>
            <a:stCxn id="2" idx="3"/>
          </p:cNvCxnSpPr>
          <p:nvPr>
            <p:custDataLst>
              <p:tags r:id="rId4"/>
            </p:custDataLst>
          </p:nvPr>
        </p:nvCxnSpPr>
        <p:spPr>
          <a:xfrm flipH="1">
            <a:off x="2587625" y="2033905"/>
            <a:ext cx="1840865" cy="2666365"/>
          </a:xfrm>
          <a:prstGeom prst="straightConnector1">
            <a:avLst/>
          </a:prstGeom>
          <a:ln w="76200">
            <a:solidFill>
              <a:srgbClr val="D02F3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/>
          <p:cNvCxnSpPr>
            <a:stCxn id="2" idx="5"/>
            <a:endCxn id="5" idx="1"/>
          </p:cNvCxnSpPr>
          <p:nvPr>
            <p:custDataLst>
              <p:tags r:id="rId5"/>
            </p:custDataLst>
          </p:nvPr>
        </p:nvCxnSpPr>
        <p:spPr>
          <a:xfrm>
            <a:off x="5358130" y="2033905"/>
            <a:ext cx="1469390" cy="2874645"/>
          </a:xfrm>
          <a:prstGeom prst="straightConnector1">
            <a:avLst/>
          </a:prstGeom>
          <a:ln w="76200">
            <a:solidFill>
              <a:srgbClr val="D02F3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/>
          <p:cNvCxnSpPr>
            <a:stCxn id="5" idx="2"/>
            <a:endCxn id="4" idx="6"/>
          </p:cNvCxnSpPr>
          <p:nvPr>
            <p:custDataLst>
              <p:tags r:id="rId6"/>
            </p:custDataLst>
          </p:nvPr>
        </p:nvCxnSpPr>
        <p:spPr>
          <a:xfrm flipH="1" flipV="1">
            <a:off x="3046730" y="5361940"/>
            <a:ext cx="3588385" cy="11430"/>
          </a:xfrm>
          <a:prstGeom prst="straightConnector1">
            <a:avLst/>
          </a:prstGeom>
          <a:ln w="76200">
            <a:solidFill>
              <a:srgbClr val="D02F3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箭头连接符 25"/>
          <p:cNvCxnSpPr>
            <a:stCxn id="4" idx="7"/>
          </p:cNvCxnSpPr>
          <p:nvPr>
            <p:custDataLst>
              <p:tags r:id="rId7"/>
            </p:custDataLst>
          </p:nvPr>
        </p:nvCxnSpPr>
        <p:spPr>
          <a:xfrm flipV="1">
            <a:off x="2850515" y="2195195"/>
            <a:ext cx="1803400" cy="2693670"/>
          </a:xfrm>
          <a:prstGeom prst="straightConnector1">
            <a:avLst/>
          </a:prstGeom>
          <a:ln w="76200">
            <a:solidFill>
              <a:srgbClr val="D02F3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右箭头标注 60"/>
          <p:cNvSpPr/>
          <p:nvPr/>
        </p:nvSpPr>
        <p:spPr>
          <a:xfrm>
            <a:off x="1913890" y="2608580"/>
            <a:ext cx="1718945" cy="914400"/>
          </a:xfrm>
          <a:prstGeom prst="rightArrowCallout">
            <a:avLst/>
          </a:prstGeom>
          <a:solidFill>
            <a:srgbClr val="D02F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/>
              <a:t>放弃</a:t>
            </a:r>
            <a:r>
              <a:rPr lang="en-US" altLang="zh-CN" b="1"/>
              <a:t>CPU</a:t>
            </a:r>
            <a:endParaRPr lang="en-US" altLang="zh-CN" b="1"/>
          </a:p>
          <a:p>
            <a:pPr algn="ctr"/>
            <a:r>
              <a:rPr lang="zh-CN" altLang="en-US" b="1"/>
              <a:t>（自愿或非自愿）</a:t>
            </a:r>
            <a:endParaRPr lang="zh-CN" altLang="en-US" b="1"/>
          </a:p>
        </p:txBody>
      </p:sp>
      <p:sp>
        <p:nvSpPr>
          <p:cNvPr id="62" name="右箭头标注 61"/>
          <p:cNvSpPr/>
          <p:nvPr>
            <p:custDataLst>
              <p:tags r:id="rId8"/>
            </p:custDataLst>
          </p:nvPr>
        </p:nvSpPr>
        <p:spPr>
          <a:xfrm flipH="1">
            <a:off x="3825240" y="3171190"/>
            <a:ext cx="1725295" cy="914400"/>
          </a:xfrm>
          <a:prstGeom prst="rightArrowCallout">
            <a:avLst/>
          </a:prstGeom>
          <a:solidFill>
            <a:srgbClr val="D02F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/>
              <a:t>得到</a:t>
            </a:r>
            <a:r>
              <a:rPr lang="en-US" altLang="zh-CN" b="1"/>
              <a:t>CPU</a:t>
            </a:r>
            <a:endParaRPr lang="en-US" altLang="zh-CN" b="1"/>
          </a:p>
          <a:p>
            <a:pPr algn="ctr"/>
            <a:r>
              <a:rPr lang="zh-CN" altLang="en-US" b="1"/>
              <a:t>（根据某种</a:t>
            </a:r>
            <a:r>
              <a:rPr lang="zh-CN" altLang="en-US" b="1"/>
              <a:t>规则）</a:t>
            </a:r>
            <a:endParaRPr lang="zh-CN" altLang="en-US" b="1"/>
          </a:p>
        </p:txBody>
      </p:sp>
      <p:sp>
        <p:nvSpPr>
          <p:cNvPr id="63" name="上箭头标注 62"/>
          <p:cNvSpPr/>
          <p:nvPr/>
        </p:nvSpPr>
        <p:spPr>
          <a:xfrm>
            <a:off x="4236085" y="5488305"/>
            <a:ext cx="1166495" cy="914400"/>
          </a:xfrm>
          <a:prstGeom prst="upArrowCallout">
            <a:avLst/>
          </a:prstGeom>
          <a:solidFill>
            <a:srgbClr val="D02F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/>
              <a:t>等待结束</a:t>
            </a:r>
            <a:endParaRPr lang="zh-CN" altLang="en-US" b="1"/>
          </a:p>
        </p:txBody>
      </p:sp>
      <p:sp>
        <p:nvSpPr>
          <p:cNvPr id="64" name="右箭头标注 63"/>
          <p:cNvSpPr/>
          <p:nvPr>
            <p:custDataLst>
              <p:tags r:id="rId9"/>
            </p:custDataLst>
          </p:nvPr>
        </p:nvSpPr>
        <p:spPr>
          <a:xfrm flipH="1">
            <a:off x="6004560" y="2641600"/>
            <a:ext cx="1725295" cy="914400"/>
          </a:xfrm>
          <a:prstGeom prst="rightArrowCallout">
            <a:avLst/>
          </a:prstGeom>
          <a:solidFill>
            <a:srgbClr val="D02F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/>
              <a:t>需要等待</a:t>
            </a:r>
            <a:endParaRPr lang="en-US" altLang="zh-CN" b="1"/>
          </a:p>
          <a:p>
            <a:pPr algn="ctr"/>
            <a:r>
              <a:rPr lang="zh-CN" altLang="en-US" b="1"/>
              <a:t>（因为某些</a:t>
            </a:r>
            <a:r>
              <a:rPr lang="zh-CN" altLang="en-US" b="1"/>
              <a:t>原因）</a:t>
            </a:r>
            <a:endParaRPr lang="zh-CN" altLang="en-US" b="1"/>
          </a:p>
        </p:txBody>
      </p:sp>
    </p:spTree>
    <p:custDataLst>
      <p:tags r:id="rId10"/>
    </p:custData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椭圆 64"/>
          <p:cNvSpPr/>
          <p:nvPr/>
        </p:nvSpPr>
        <p:spPr>
          <a:xfrm>
            <a:off x="1166495" y="4175125"/>
            <a:ext cx="7349490" cy="2388870"/>
          </a:xfrm>
          <a:prstGeom prst="ellipse">
            <a:avLst/>
          </a:prstGeom>
          <a:solidFill>
            <a:srgbClr val="D02F35">
              <a:alpha val="25000"/>
            </a:srgbClr>
          </a:solidFill>
          <a:ln w="28575" cmpd="sng">
            <a:solidFill>
              <a:srgbClr val="9C0B15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p>
            <a:pPr algn="ctr"/>
            <a:r>
              <a:rPr lang="zh-CN" altLang="en-US" sz="3200" b="1">
                <a:solidFill>
                  <a:schemeClr val="tx1"/>
                </a:solidFill>
              </a:rPr>
              <a:t>不运行</a:t>
            </a:r>
            <a:endParaRPr lang="zh-CN" altLang="en-US" sz="3200" b="1">
              <a:solidFill>
                <a:schemeClr val="tx1"/>
              </a:solidFill>
            </a:endParaRPr>
          </a:p>
        </p:txBody>
      </p:sp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处理器</a:t>
                      </a: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调度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一、指令流</a:t>
                      </a: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与执行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应用程序与指令流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顺序与并发执行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1.3 指令流的描述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en-US" altLang="zh-CN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线程与处理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器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2.1 CPU时间与线程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2.2</a:t>
                      </a: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线程的描述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2.3 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纤程与协程</a:t>
                      </a:r>
                      <a:endParaRPr lang="en-US" altLang="zh-CN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三、处理器调度算法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3.1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调度算法原理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多处理器与并发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59385"/>
            <a:ext cx="912114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指令流的五个</a:t>
            </a:r>
            <a:r>
              <a:rPr lang="zh-CN" altLang="en-US" sz="2000" b="1">
                <a:solidFill>
                  <a:srgbClr val="9C0B15"/>
                </a:solidFill>
              </a:rPr>
              <a:t>基本状态</a:t>
            </a:r>
            <a:endParaRPr lang="zh-CN" altLang="en-US" sz="2000">
              <a:sym typeface="+mn-ea"/>
            </a:endParaRPr>
          </a:p>
        </p:txBody>
      </p:sp>
      <p:sp>
        <p:nvSpPr>
          <p:cNvPr id="2" name="椭圆 1"/>
          <p:cNvSpPr/>
          <p:nvPr/>
        </p:nvSpPr>
        <p:spPr>
          <a:xfrm>
            <a:off x="4236085" y="911860"/>
            <a:ext cx="1314450" cy="1314450"/>
          </a:xfrm>
          <a:prstGeom prst="ellipse">
            <a:avLst/>
          </a:prstGeom>
          <a:solidFill>
            <a:srgbClr val="D02F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800" b="1"/>
              <a:t>运行</a:t>
            </a:r>
            <a:endParaRPr lang="zh-CN" altLang="en-US" sz="2800" b="1"/>
          </a:p>
        </p:txBody>
      </p:sp>
      <p:sp>
        <p:nvSpPr>
          <p:cNvPr id="4" name="椭圆 3"/>
          <p:cNvSpPr/>
          <p:nvPr>
            <p:custDataLst>
              <p:tags r:id="rId2"/>
            </p:custDataLst>
          </p:nvPr>
        </p:nvSpPr>
        <p:spPr>
          <a:xfrm>
            <a:off x="1708785" y="4692650"/>
            <a:ext cx="1337945" cy="1337945"/>
          </a:xfrm>
          <a:prstGeom prst="ellipse">
            <a:avLst/>
          </a:prstGeom>
          <a:solidFill>
            <a:srgbClr val="D02F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>
              <a:buClrTx/>
              <a:buSzTx/>
              <a:buFontTx/>
            </a:pPr>
            <a:r>
              <a:rPr lang="zh-CN" altLang="en-US" sz="2800" b="1"/>
              <a:t>就绪</a:t>
            </a:r>
            <a:endParaRPr lang="zh-CN" altLang="en-US" sz="2800" b="1"/>
          </a:p>
        </p:txBody>
      </p:sp>
      <p:sp>
        <p:nvSpPr>
          <p:cNvPr id="5" name="椭圆 4"/>
          <p:cNvSpPr/>
          <p:nvPr>
            <p:custDataLst>
              <p:tags r:id="rId3"/>
            </p:custDataLst>
          </p:nvPr>
        </p:nvSpPr>
        <p:spPr>
          <a:xfrm>
            <a:off x="6635115" y="4716145"/>
            <a:ext cx="1314450" cy="1314450"/>
          </a:xfrm>
          <a:prstGeom prst="ellipse">
            <a:avLst/>
          </a:prstGeom>
          <a:solidFill>
            <a:srgbClr val="D02F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800" b="1"/>
              <a:t>阻塞</a:t>
            </a:r>
            <a:endParaRPr lang="zh-CN" altLang="en-US"/>
          </a:p>
        </p:txBody>
      </p:sp>
      <p:cxnSp>
        <p:nvCxnSpPr>
          <p:cNvPr id="6" name="直接箭头连接符 5"/>
          <p:cNvCxnSpPr>
            <a:stCxn id="2" idx="3"/>
          </p:cNvCxnSpPr>
          <p:nvPr>
            <p:custDataLst>
              <p:tags r:id="rId4"/>
            </p:custDataLst>
          </p:nvPr>
        </p:nvCxnSpPr>
        <p:spPr>
          <a:xfrm flipH="1">
            <a:off x="2587625" y="2033905"/>
            <a:ext cx="1840865" cy="2666365"/>
          </a:xfrm>
          <a:prstGeom prst="straightConnector1">
            <a:avLst/>
          </a:prstGeom>
          <a:ln w="76200">
            <a:solidFill>
              <a:srgbClr val="D02F3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/>
          <p:cNvCxnSpPr>
            <a:stCxn id="2" idx="5"/>
            <a:endCxn id="5" idx="1"/>
          </p:cNvCxnSpPr>
          <p:nvPr>
            <p:custDataLst>
              <p:tags r:id="rId5"/>
            </p:custDataLst>
          </p:nvPr>
        </p:nvCxnSpPr>
        <p:spPr>
          <a:xfrm>
            <a:off x="5358130" y="2033905"/>
            <a:ext cx="1469390" cy="2874645"/>
          </a:xfrm>
          <a:prstGeom prst="straightConnector1">
            <a:avLst/>
          </a:prstGeom>
          <a:ln w="76200">
            <a:solidFill>
              <a:srgbClr val="D02F3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/>
          <p:cNvCxnSpPr>
            <a:stCxn id="5" idx="2"/>
            <a:endCxn id="4" idx="6"/>
          </p:cNvCxnSpPr>
          <p:nvPr>
            <p:custDataLst>
              <p:tags r:id="rId6"/>
            </p:custDataLst>
          </p:nvPr>
        </p:nvCxnSpPr>
        <p:spPr>
          <a:xfrm flipH="1" flipV="1">
            <a:off x="3046730" y="5361940"/>
            <a:ext cx="3588385" cy="11430"/>
          </a:xfrm>
          <a:prstGeom prst="straightConnector1">
            <a:avLst/>
          </a:prstGeom>
          <a:ln w="76200">
            <a:solidFill>
              <a:srgbClr val="D02F3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箭头连接符 25"/>
          <p:cNvCxnSpPr>
            <a:stCxn id="4" idx="7"/>
          </p:cNvCxnSpPr>
          <p:nvPr>
            <p:custDataLst>
              <p:tags r:id="rId7"/>
            </p:custDataLst>
          </p:nvPr>
        </p:nvCxnSpPr>
        <p:spPr>
          <a:xfrm flipV="1">
            <a:off x="2850515" y="2195195"/>
            <a:ext cx="1803400" cy="2693670"/>
          </a:xfrm>
          <a:prstGeom prst="straightConnector1">
            <a:avLst/>
          </a:prstGeom>
          <a:ln w="76200">
            <a:solidFill>
              <a:srgbClr val="D02F3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右箭头标注 60"/>
          <p:cNvSpPr/>
          <p:nvPr/>
        </p:nvSpPr>
        <p:spPr>
          <a:xfrm>
            <a:off x="1913890" y="2608580"/>
            <a:ext cx="1718945" cy="914400"/>
          </a:xfrm>
          <a:prstGeom prst="rightArrowCallout">
            <a:avLst/>
          </a:prstGeom>
          <a:solidFill>
            <a:srgbClr val="D02F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/>
              <a:t>放弃</a:t>
            </a:r>
            <a:r>
              <a:rPr lang="en-US" altLang="zh-CN" b="1"/>
              <a:t>CPU</a:t>
            </a:r>
            <a:endParaRPr lang="en-US" altLang="zh-CN" b="1"/>
          </a:p>
          <a:p>
            <a:pPr algn="ctr"/>
            <a:r>
              <a:rPr lang="zh-CN" altLang="en-US" b="1"/>
              <a:t>（自愿或非自愿）</a:t>
            </a:r>
            <a:endParaRPr lang="zh-CN" altLang="en-US" b="1"/>
          </a:p>
        </p:txBody>
      </p:sp>
      <p:sp>
        <p:nvSpPr>
          <p:cNvPr id="62" name="右箭头标注 61"/>
          <p:cNvSpPr/>
          <p:nvPr>
            <p:custDataLst>
              <p:tags r:id="rId8"/>
            </p:custDataLst>
          </p:nvPr>
        </p:nvSpPr>
        <p:spPr>
          <a:xfrm flipH="1">
            <a:off x="3825240" y="3171190"/>
            <a:ext cx="1725295" cy="914400"/>
          </a:xfrm>
          <a:prstGeom prst="rightArrowCallout">
            <a:avLst/>
          </a:prstGeom>
          <a:solidFill>
            <a:srgbClr val="D02F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/>
              <a:t>得到</a:t>
            </a:r>
            <a:r>
              <a:rPr lang="en-US" altLang="zh-CN" b="1"/>
              <a:t>CPU</a:t>
            </a:r>
            <a:endParaRPr lang="en-US" altLang="zh-CN" b="1"/>
          </a:p>
          <a:p>
            <a:pPr algn="ctr"/>
            <a:r>
              <a:rPr lang="zh-CN" altLang="en-US" b="1"/>
              <a:t>（根据某种</a:t>
            </a:r>
            <a:r>
              <a:rPr lang="zh-CN" altLang="en-US" b="1"/>
              <a:t>规则）</a:t>
            </a:r>
            <a:endParaRPr lang="zh-CN" altLang="en-US" b="1"/>
          </a:p>
        </p:txBody>
      </p:sp>
      <p:sp>
        <p:nvSpPr>
          <p:cNvPr id="63" name="上箭头标注 62"/>
          <p:cNvSpPr/>
          <p:nvPr/>
        </p:nvSpPr>
        <p:spPr>
          <a:xfrm>
            <a:off x="4236085" y="5488305"/>
            <a:ext cx="1166495" cy="914400"/>
          </a:xfrm>
          <a:prstGeom prst="upArrowCallout">
            <a:avLst/>
          </a:prstGeom>
          <a:solidFill>
            <a:srgbClr val="D02F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/>
              <a:t>等待结束</a:t>
            </a:r>
            <a:endParaRPr lang="zh-CN" altLang="en-US" b="1"/>
          </a:p>
        </p:txBody>
      </p:sp>
      <p:sp>
        <p:nvSpPr>
          <p:cNvPr id="64" name="右箭头标注 63"/>
          <p:cNvSpPr/>
          <p:nvPr>
            <p:custDataLst>
              <p:tags r:id="rId9"/>
            </p:custDataLst>
          </p:nvPr>
        </p:nvSpPr>
        <p:spPr>
          <a:xfrm flipH="1">
            <a:off x="6004560" y="2641600"/>
            <a:ext cx="1725295" cy="914400"/>
          </a:xfrm>
          <a:prstGeom prst="rightArrowCallout">
            <a:avLst/>
          </a:prstGeom>
          <a:solidFill>
            <a:srgbClr val="D02F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/>
              <a:t>需要等待</a:t>
            </a:r>
            <a:endParaRPr lang="en-US" altLang="zh-CN" b="1"/>
          </a:p>
          <a:p>
            <a:pPr algn="ctr"/>
            <a:r>
              <a:rPr lang="zh-CN" altLang="en-US" b="1"/>
              <a:t>（因为某些</a:t>
            </a:r>
            <a:r>
              <a:rPr lang="zh-CN" altLang="en-US" b="1"/>
              <a:t>原因）</a:t>
            </a:r>
            <a:endParaRPr lang="zh-CN" altLang="en-US" b="1"/>
          </a:p>
        </p:txBody>
      </p:sp>
      <p:sp>
        <p:nvSpPr>
          <p:cNvPr id="7" name="椭圆 6"/>
          <p:cNvSpPr/>
          <p:nvPr>
            <p:custDataLst>
              <p:tags r:id="rId10"/>
            </p:custDataLst>
          </p:nvPr>
        </p:nvSpPr>
        <p:spPr>
          <a:xfrm>
            <a:off x="394335" y="880745"/>
            <a:ext cx="1314450" cy="1314450"/>
          </a:xfrm>
          <a:prstGeom prst="ellipse">
            <a:avLst/>
          </a:prstGeom>
          <a:solidFill>
            <a:srgbClr val="D02F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800" b="1"/>
              <a:t>创建</a:t>
            </a:r>
            <a:endParaRPr lang="zh-CN" altLang="en-US" sz="2800" b="1"/>
          </a:p>
        </p:txBody>
      </p:sp>
      <p:sp>
        <p:nvSpPr>
          <p:cNvPr id="8" name="椭圆 7"/>
          <p:cNvSpPr/>
          <p:nvPr>
            <p:custDataLst>
              <p:tags r:id="rId11"/>
            </p:custDataLst>
          </p:nvPr>
        </p:nvSpPr>
        <p:spPr>
          <a:xfrm>
            <a:off x="8037195" y="911860"/>
            <a:ext cx="1314450" cy="1314450"/>
          </a:xfrm>
          <a:prstGeom prst="ellipse">
            <a:avLst/>
          </a:prstGeom>
          <a:solidFill>
            <a:srgbClr val="D02F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800" b="1"/>
              <a:t>结束</a:t>
            </a:r>
            <a:endParaRPr lang="zh-CN" altLang="en-US" sz="2800" b="1"/>
          </a:p>
        </p:txBody>
      </p:sp>
      <p:cxnSp>
        <p:nvCxnSpPr>
          <p:cNvPr id="9" name="直接箭头连接符 8"/>
          <p:cNvCxnSpPr>
            <a:stCxn id="7" idx="4"/>
            <a:endCxn id="4" idx="1"/>
          </p:cNvCxnSpPr>
          <p:nvPr>
            <p:custDataLst>
              <p:tags r:id="rId12"/>
            </p:custDataLst>
          </p:nvPr>
        </p:nvCxnSpPr>
        <p:spPr>
          <a:xfrm>
            <a:off x="1051560" y="2195195"/>
            <a:ext cx="853440" cy="2693670"/>
          </a:xfrm>
          <a:prstGeom prst="straightConnector1">
            <a:avLst/>
          </a:prstGeom>
          <a:ln w="76200">
            <a:solidFill>
              <a:srgbClr val="D02F3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箭头连接符 24"/>
          <p:cNvCxnSpPr>
            <a:stCxn id="2" idx="6"/>
            <a:endCxn id="8" idx="2"/>
          </p:cNvCxnSpPr>
          <p:nvPr>
            <p:custDataLst>
              <p:tags r:id="rId13"/>
            </p:custDataLst>
          </p:nvPr>
        </p:nvCxnSpPr>
        <p:spPr>
          <a:xfrm>
            <a:off x="5550535" y="1569085"/>
            <a:ext cx="2486660" cy="0"/>
          </a:xfrm>
          <a:prstGeom prst="straightConnector1">
            <a:avLst/>
          </a:prstGeom>
          <a:ln w="76200">
            <a:solidFill>
              <a:srgbClr val="D02F3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4"/>
    </p:custData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处理器</a:t>
                      </a: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调度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一、指令流</a:t>
                      </a: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与执行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应用程序与指令流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顺序与并发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执行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1.3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指令流的描述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en-US" altLang="zh-CN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线程与处理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器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2.1 CPU时间与线程</a:t>
                      </a:r>
                      <a:endParaRPr lang="zh-CN" altLang="en-US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2.2</a:t>
                      </a: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线程的描述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2.3 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纤程与协程</a:t>
                      </a:r>
                      <a:endParaRPr lang="en-US" altLang="zh-CN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三、处理器调度算法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3.1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调度算法原理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多处理器与并发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59385"/>
            <a:ext cx="9121140" cy="62471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rgbClr val="9C0B15"/>
                </a:solidFill>
              </a:rPr>
              <a:t>处理器时间的</a:t>
            </a:r>
            <a:r>
              <a:rPr lang="zh-CN" altLang="en-US" sz="2000" b="1">
                <a:solidFill>
                  <a:srgbClr val="9C0B15"/>
                </a:solidFill>
              </a:rPr>
              <a:t>分配</a:t>
            </a:r>
            <a:endParaRPr lang="zh-CN" altLang="en-US" sz="2000" b="1">
              <a:solidFill>
                <a:srgbClr val="9C0B15"/>
              </a:solidFill>
            </a:endParaRPr>
          </a:p>
          <a:p>
            <a:endParaRPr lang="zh-CN" altLang="en-US" sz="2000"/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指令流与时间</a:t>
            </a:r>
            <a:r>
              <a:rPr lang="en-US" altLang="zh-CN" sz="2000"/>
              <a:t>	</a:t>
            </a:r>
            <a:r>
              <a:rPr lang="zh-CN" altLang="en-US" sz="2000"/>
              <a:t>操作系统需要给指令流</a:t>
            </a:r>
            <a:r>
              <a:rPr lang="zh-CN" altLang="en-US" sz="2000">
                <a:solidFill>
                  <a:srgbClr val="9C0B15"/>
                </a:solidFill>
              </a:rPr>
              <a:t>分配</a:t>
            </a:r>
            <a:r>
              <a:rPr lang="en-US" altLang="zh-CN" sz="2000">
                <a:solidFill>
                  <a:srgbClr val="9C0B15"/>
                </a:solidFill>
              </a:rPr>
              <a:t>CPU</a:t>
            </a:r>
            <a:r>
              <a:rPr lang="zh-CN" altLang="en-US" sz="2000">
                <a:solidFill>
                  <a:srgbClr val="9C0B15"/>
                </a:solidFill>
              </a:rPr>
              <a:t>时间</a:t>
            </a:r>
            <a:r>
              <a:rPr lang="zh-CN" altLang="en-US" sz="2000"/>
              <a:t>，然后让指令流拿着这个</a:t>
            </a:r>
            <a:r>
              <a:rPr lang="en-US" altLang="zh-CN" sz="2000">
                <a:sym typeface="+mn-ea"/>
              </a:rPr>
              <a:t>		</a:t>
            </a:r>
            <a:r>
              <a:rPr lang="en-US" altLang="zh-CN" sz="2000">
                <a:solidFill>
                  <a:srgbClr val="9C0B15"/>
                </a:solidFill>
              </a:rPr>
              <a:t>CPU</a:t>
            </a:r>
            <a:r>
              <a:rPr lang="zh-CN" altLang="en-US" sz="2000">
                <a:solidFill>
                  <a:srgbClr val="9C0B15"/>
                </a:solidFill>
              </a:rPr>
              <a:t>时间配额</a:t>
            </a:r>
            <a:r>
              <a:rPr lang="zh-CN" altLang="en-US" sz="2000"/>
              <a:t>去运行。但是，指令流是用户程序的逻辑组成部分，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/>
              <a:t>操作系统</a:t>
            </a:r>
            <a:r>
              <a:rPr lang="en-US" altLang="zh-CN" sz="2000">
                <a:solidFill>
                  <a:srgbClr val="9C0B15"/>
                </a:solidFill>
              </a:rPr>
              <a:t>并不知道</a:t>
            </a:r>
            <a:r>
              <a:rPr lang="zh-CN" altLang="en-US" sz="2000"/>
              <a:t>用户程序里面有几条指令流。</a:t>
            </a: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线程</a:t>
            </a:r>
            <a:r>
              <a:rPr lang="en-US" altLang="zh-CN" sz="2000"/>
              <a:t>		</a:t>
            </a:r>
            <a:r>
              <a:rPr lang="zh-CN" altLang="en-US" sz="2000"/>
              <a:t>操作系统提供给应用程序的一种对</a:t>
            </a:r>
            <a:r>
              <a:rPr lang="en-US" altLang="zh-CN" sz="2000">
                <a:solidFill>
                  <a:srgbClr val="9C0B15"/>
                </a:solidFill>
              </a:rPr>
              <a:t>CPU时间</a:t>
            </a:r>
            <a:r>
              <a:rPr lang="zh-CN" altLang="en-US" sz="2000"/>
              <a:t>的</a:t>
            </a:r>
            <a:r>
              <a:rPr lang="en-US" altLang="zh-CN" sz="2000">
                <a:solidFill>
                  <a:srgbClr val="9C0B15"/>
                </a:solidFill>
              </a:rPr>
              <a:t>抽象机制</a:t>
            </a:r>
            <a:r>
              <a:rPr lang="zh-CN" altLang="en-US" sz="2000"/>
              <a:t>。</a:t>
            </a:r>
            <a:r>
              <a:rPr lang="zh-CN" altLang="en-US" sz="2000"/>
              <a:t>它是</a:t>
            </a:r>
            <a:endParaRPr lang="zh-CN" altLang="en-US" sz="2000"/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Thread</a:t>
            </a:r>
            <a:r>
              <a:rPr lang="en-US" altLang="zh-CN" sz="2000" b="1">
                <a:solidFill>
                  <a:srgbClr val="9C0B15"/>
                </a:solidFill>
              </a:rPr>
              <a:t>		</a:t>
            </a:r>
            <a:r>
              <a:rPr lang="zh-CN" altLang="en-US" sz="2000"/>
              <a:t>CPU时间分配的</a:t>
            </a:r>
            <a:r>
              <a:rPr lang="en-US" altLang="zh-CN" sz="2000">
                <a:solidFill>
                  <a:srgbClr val="9C0B15"/>
                </a:solidFill>
              </a:rPr>
              <a:t>基本对象</a:t>
            </a:r>
            <a:r>
              <a:rPr lang="zh-CN" altLang="en-US" sz="2000"/>
              <a:t>。应用程序通过</a:t>
            </a:r>
            <a:r>
              <a:rPr lang="en-US" altLang="zh-CN" sz="2000">
                <a:solidFill>
                  <a:srgbClr val="9C0B15"/>
                </a:solidFill>
              </a:rPr>
              <a:t>将自己的指令流与线程</a:t>
            </a:r>
            <a:r>
              <a:rPr lang="en-US" altLang="zh-CN" sz="2000">
                <a:solidFill>
                  <a:srgbClr val="9C0B15"/>
                </a:solidFill>
                <a:sym typeface="+mn-ea"/>
              </a:rPr>
              <a:t>		</a:t>
            </a:r>
            <a:r>
              <a:rPr lang="en-US" altLang="zh-CN" sz="2000">
                <a:solidFill>
                  <a:srgbClr val="9C0B15"/>
                </a:solidFill>
              </a:rPr>
              <a:t>对应起来</a:t>
            </a:r>
            <a:r>
              <a:rPr lang="zh-CN" altLang="en-US" sz="2000"/>
              <a:t>，使指令流获得</a:t>
            </a:r>
            <a:r>
              <a:rPr lang="en-US" altLang="zh-CN" sz="2000">
                <a:solidFill>
                  <a:srgbClr val="9C0B15"/>
                </a:solidFill>
              </a:rPr>
              <a:t>CPU时间分配</a:t>
            </a:r>
            <a:r>
              <a:rPr lang="zh-CN" altLang="en-US" sz="2000"/>
              <a:t>。操作系统通过运行线程，</a:t>
            </a:r>
            <a:r>
              <a:rPr lang="en-US" altLang="zh-CN" sz="2000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/>
              <a:t>来运行依附在这个线程上的</a:t>
            </a:r>
            <a:r>
              <a:rPr lang="zh-CN" altLang="en-US" sz="2000"/>
              <a:t>指令流。</a:t>
            </a: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/>
              <a:t>也可以说，</a:t>
            </a:r>
            <a:r>
              <a:rPr lang="en-US" altLang="zh-CN" sz="2000">
                <a:solidFill>
                  <a:srgbClr val="9C0B15"/>
                </a:solidFill>
              </a:rPr>
              <a:t>指令流通过依附于线程，获得了在CPU上</a:t>
            </a:r>
            <a:r>
              <a:rPr lang="zh-CN" altLang="en-US" sz="2000">
                <a:solidFill>
                  <a:srgbClr val="9C0B15"/>
                </a:solidFill>
              </a:rPr>
              <a:t>运行</a:t>
            </a:r>
            <a:r>
              <a:rPr lang="en-US" altLang="zh-CN" sz="2000">
                <a:solidFill>
                  <a:srgbClr val="9C0B15"/>
                </a:solidFill>
              </a:rPr>
              <a:t>的权利</a:t>
            </a:r>
            <a:r>
              <a:rPr lang="zh-CN" altLang="en-US" sz="2000"/>
              <a:t>。</a:t>
            </a: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应用程序视角</a:t>
            </a:r>
            <a:r>
              <a:rPr lang="en-US" altLang="zh-CN" sz="2000"/>
              <a:t>	</a:t>
            </a:r>
            <a:r>
              <a:rPr lang="zh-CN" altLang="en-US" sz="2000"/>
              <a:t>在应用程序看来，自己的逻辑组织是</a:t>
            </a:r>
            <a:r>
              <a:rPr lang="en-US" altLang="zh-CN" sz="2000">
                <a:solidFill>
                  <a:srgbClr val="9C0B15"/>
                </a:solidFill>
              </a:rPr>
              <a:t>一系列并发执行的指令流</a:t>
            </a:r>
            <a:r>
              <a:rPr lang="zh-CN" altLang="en-US" sz="2000"/>
              <a:t>。</a:t>
            </a: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操作系统视角</a:t>
            </a:r>
            <a:r>
              <a:rPr lang="en-US" altLang="zh-CN" sz="2000"/>
              <a:t>	</a:t>
            </a:r>
            <a:r>
              <a:rPr lang="zh-CN" altLang="en-US" sz="2000"/>
              <a:t>在操作系统看来，应用程序的运行组织是</a:t>
            </a:r>
            <a:r>
              <a:rPr lang="en-US" altLang="zh-CN" sz="2000">
                <a:solidFill>
                  <a:srgbClr val="9C0B15"/>
                </a:solidFill>
              </a:rPr>
              <a:t>一系列被分配了CPU时</a:t>
            </a:r>
            <a:r>
              <a:rPr lang="en-US" altLang="zh-CN" sz="2000">
                <a:solidFill>
                  <a:srgbClr val="9C0B15"/>
                </a:solidFill>
                <a:sym typeface="+mn-ea"/>
              </a:rPr>
              <a:t>		</a:t>
            </a:r>
            <a:r>
              <a:rPr lang="en-US" altLang="zh-CN" sz="2000">
                <a:solidFill>
                  <a:srgbClr val="9C0B15"/>
                </a:solidFill>
              </a:rPr>
              <a:t>间的线程</a:t>
            </a:r>
            <a:r>
              <a:rPr lang="zh-CN" altLang="en-US" sz="2000"/>
              <a:t>。</a:t>
            </a: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问题</a:t>
            </a:r>
            <a:r>
              <a:rPr lang="en-US" altLang="zh-CN" sz="2000"/>
              <a:t>		</a:t>
            </a:r>
            <a:r>
              <a:rPr lang="zh-CN" altLang="en-US" sz="2000"/>
              <a:t>相比于指令流，线程的描述要包括什么</a:t>
            </a:r>
            <a:r>
              <a:rPr lang="zh-CN" altLang="en-US" sz="2000"/>
              <a:t>数据呢？</a:t>
            </a:r>
            <a:endParaRPr lang="zh-CN" altLang="en-US" sz="2000"/>
          </a:p>
        </p:txBody>
      </p:sp>
    </p:spTree>
    <p:custDataLst>
      <p:tags r:id="rId2"/>
    </p:custData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处理器</a:t>
                      </a: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调度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一、指令流</a:t>
                      </a: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与执行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应用程序与指令流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顺序与并发执行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1.3 指令流的描述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en-US" altLang="zh-CN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线程与处理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器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2.1 CPU时间与线程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2.2 线程的描述</a:t>
                      </a:r>
                      <a:endParaRPr lang="zh-CN" altLang="en-US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2.3 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纤程与协程</a:t>
                      </a:r>
                      <a:endParaRPr lang="en-US" altLang="zh-CN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三、处理器调度算法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3.1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调度算法原理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多处理器与并发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59385"/>
            <a:ext cx="9121140" cy="65544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rgbClr val="9C0B15"/>
                </a:solidFill>
              </a:rPr>
              <a:t>线程的描述</a:t>
            </a:r>
            <a:endParaRPr lang="zh-CN" altLang="en-US" sz="2000">
              <a:solidFill>
                <a:srgbClr val="9C0B15"/>
              </a:solidFill>
            </a:endParaRPr>
          </a:p>
          <a:p>
            <a:endParaRPr lang="zh-CN" altLang="en-US" sz="2000"/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时间预算</a:t>
            </a:r>
            <a:r>
              <a:rPr lang="en-US" altLang="zh-CN" sz="2000"/>
              <a:t>	</a:t>
            </a:r>
            <a:r>
              <a:rPr lang="zh-CN" altLang="en-US" sz="2000"/>
              <a:t>线程是时间分配的基本对象，那线程必然有一个参数描述它被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/>
              <a:t>分配了多少时间。这个数值称为</a:t>
            </a:r>
            <a:r>
              <a:rPr lang="zh-CN" altLang="en-US" sz="2000">
                <a:solidFill>
                  <a:srgbClr val="9C0B15"/>
                </a:solidFill>
              </a:rPr>
              <a:t>时间预算，可以是一个有限的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>
                <a:solidFill>
                  <a:srgbClr val="9C0B15"/>
                </a:solidFill>
              </a:rPr>
              <a:t>数值，也可以是一个无限的数值</a:t>
            </a:r>
            <a:r>
              <a:rPr lang="zh-CN" altLang="en-US" sz="2000"/>
              <a:t>。</a:t>
            </a:r>
            <a:endParaRPr lang="zh-CN" altLang="en-US" sz="2000"/>
          </a:p>
          <a:p>
            <a:pPr algn="l">
              <a:buClrTx/>
              <a:buSzTx/>
              <a:buFontTx/>
            </a:pPr>
            <a:r>
              <a:rPr lang="en-US" altLang="zh-CN" sz="2000">
                <a:sym typeface="+mn-ea"/>
              </a:rPr>
              <a:t>		</a:t>
            </a:r>
            <a:r>
              <a:rPr lang="zh-CN" altLang="en-US" sz="2000"/>
              <a:t>操作系统在运行线程时会时刻关注线程的</a:t>
            </a:r>
            <a:r>
              <a:rPr lang="zh-CN" altLang="en-US" sz="2000">
                <a:solidFill>
                  <a:srgbClr val="9C0B15"/>
                </a:solidFill>
              </a:rPr>
              <a:t>时间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预算</a:t>
            </a:r>
            <a:r>
              <a:rPr lang="zh-CN" altLang="en-US" sz="2000">
                <a:solidFill>
                  <a:srgbClr val="9C0B15"/>
                </a:solidFill>
              </a:rPr>
              <a:t>是否耗尽</a:t>
            </a:r>
            <a:r>
              <a:rPr lang="zh-CN" altLang="en-US" sz="2000"/>
              <a:t>；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/>
              <a:t>如果耗尽，操作系统就</a:t>
            </a:r>
            <a:r>
              <a:rPr lang="zh-CN" altLang="en-US" sz="2000">
                <a:solidFill>
                  <a:srgbClr val="9C0B15"/>
                </a:solidFill>
              </a:rPr>
              <a:t>切换到其它有时间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预算</a:t>
            </a:r>
            <a:r>
              <a:rPr lang="zh-CN" altLang="en-US" sz="2000">
                <a:solidFill>
                  <a:srgbClr val="9C0B15"/>
                </a:solidFill>
              </a:rPr>
              <a:t>的线程</a:t>
            </a:r>
            <a:r>
              <a:rPr lang="zh-CN" altLang="en-US" sz="2000"/>
              <a:t>去</a:t>
            </a:r>
            <a:r>
              <a:rPr lang="zh-CN" altLang="en-US" sz="2000"/>
              <a:t>执行。</a:t>
            </a: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优先级</a:t>
            </a:r>
            <a:r>
              <a:rPr lang="en-US" altLang="zh-CN" sz="2000"/>
              <a:t>		</a:t>
            </a:r>
            <a:r>
              <a:rPr lang="zh-CN" altLang="en-US" sz="2000"/>
              <a:t>系统中有</a:t>
            </a:r>
            <a:r>
              <a:rPr lang="zh-CN" altLang="en-US" sz="2000">
                <a:solidFill>
                  <a:srgbClr val="9C0B15"/>
                </a:solidFill>
              </a:rPr>
              <a:t>多个线程同时具备非零的时间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预算</a:t>
            </a:r>
            <a:r>
              <a:rPr lang="zh-CN" altLang="en-US" sz="2000"/>
              <a:t>，如何决定运行哪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/>
              <a:t>一个？因此，线程必须具备一个参数来描述其</a:t>
            </a:r>
            <a:r>
              <a:rPr lang="zh-CN" altLang="en-US" sz="2000">
                <a:solidFill>
                  <a:srgbClr val="9C0B15"/>
                </a:solidFill>
              </a:rPr>
              <a:t>优先度</a:t>
            </a:r>
            <a:r>
              <a:rPr lang="zh-CN" altLang="en-US" sz="2000"/>
              <a:t>。当系统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/>
              <a:t>遇到多个可以运行的线程时，系统可以决定运行其中优先级最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高</a:t>
            </a:r>
            <a:r>
              <a:rPr lang="zh-CN" altLang="en-US" sz="2000"/>
              <a:t>的</a:t>
            </a:r>
            <a:r>
              <a:rPr lang="zh-CN" altLang="en-US" sz="2000"/>
              <a:t>那个。</a:t>
            </a:r>
            <a:endParaRPr lang="zh-CN" altLang="en-US" sz="2000"/>
          </a:p>
          <a:p>
            <a:pPr algn="l">
              <a:buClrTx/>
              <a:buSzTx/>
              <a:buFontTx/>
            </a:pPr>
            <a:r>
              <a:rPr lang="en-US" altLang="zh-CN" sz="2000">
                <a:sym typeface="+mn-ea"/>
              </a:rPr>
              <a:t>		</a:t>
            </a:r>
            <a:r>
              <a:rPr lang="zh-CN" altLang="en-US" sz="2000"/>
              <a:t>优先级</a:t>
            </a:r>
            <a:r>
              <a:rPr lang="zh-CN" altLang="en-US" sz="2000">
                <a:solidFill>
                  <a:srgbClr val="9C0B15"/>
                </a:solidFill>
              </a:rPr>
              <a:t>一般用一个数值</a:t>
            </a:r>
            <a:r>
              <a:rPr lang="zh-CN" altLang="en-US" sz="2000"/>
              <a:t>来代表，在绝大多数系统中，</a:t>
            </a:r>
            <a:r>
              <a:rPr lang="zh-CN" altLang="en-US" sz="2000">
                <a:solidFill>
                  <a:srgbClr val="9C0B15"/>
                </a:solidFill>
              </a:rPr>
              <a:t>数字越小，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>
                <a:solidFill>
                  <a:srgbClr val="9C0B15"/>
                </a:solidFill>
              </a:rPr>
              <a:t>优先级越高</a:t>
            </a:r>
            <a:r>
              <a:rPr lang="zh-CN" altLang="en-US" sz="2000"/>
              <a:t>。</a:t>
            </a: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r>
              <a:rPr lang="en-US" altLang="zh-CN" sz="2000">
                <a:sym typeface="+mn-ea"/>
              </a:rPr>
              <a:t>		CPU</a:t>
            </a:r>
            <a:r>
              <a:rPr lang="zh-CN" altLang="en-US" sz="2000">
                <a:sym typeface="+mn-ea"/>
              </a:rPr>
              <a:t>抢占关系实际上是一个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偏序集</a:t>
            </a:r>
            <a:r>
              <a:rPr lang="zh-CN" altLang="en-US" sz="2000">
                <a:sym typeface="+mn-ea"/>
              </a:rPr>
              <a:t>（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越紧急的东西，不一定总是		越重要；即便是紧急的东西，也不代表它可以不受限制地发生</a:t>
            </a:r>
            <a:r>
              <a:rPr lang="zh-CN" altLang="en-US" sz="2000">
                <a:sym typeface="+mn-ea"/>
              </a:rPr>
              <a:t>）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>
                <a:sym typeface="+mn-ea"/>
              </a:rPr>
              <a:t>，</a:t>
            </a:r>
            <a:r>
              <a:rPr lang="zh-CN" altLang="en-US" sz="2000">
                <a:sym typeface="+mn-ea"/>
              </a:rPr>
              <a:t>优先级实际上是这个偏序集的一种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简化全序描述</a:t>
            </a:r>
            <a:r>
              <a:rPr lang="zh-CN" altLang="en-US" sz="2000">
                <a:sym typeface="+mn-ea"/>
              </a:rPr>
              <a:t>。不过，</a:t>
            </a:r>
            <a:r>
              <a:rPr lang="zh-CN" altLang="en-US" sz="2000">
                <a:sym typeface="+mn-ea"/>
              </a:rPr>
              <a:t>这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>
                <a:sym typeface="+mn-ea"/>
              </a:rPr>
              <a:t>种</a:t>
            </a:r>
            <a:r>
              <a:rPr lang="zh-CN" altLang="en-US" sz="2000">
                <a:sym typeface="+mn-ea"/>
              </a:rPr>
              <a:t>描述在很多时候（桌面计算等场合）都够用了</a:t>
            </a:r>
            <a:r>
              <a:rPr lang="zh-CN" altLang="en-US" sz="2000"/>
              <a:t>。</a:t>
            </a: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问题</a:t>
            </a:r>
            <a:r>
              <a:rPr lang="en-US" altLang="zh-CN" sz="2000"/>
              <a:t>		</a:t>
            </a:r>
            <a:r>
              <a:rPr lang="zh-CN" altLang="en-US" sz="2000"/>
              <a:t>这些数据放在用户程序里面还是操作系统</a:t>
            </a:r>
            <a:r>
              <a:rPr lang="zh-CN" altLang="en-US" sz="2000"/>
              <a:t>里面？</a:t>
            </a:r>
            <a:endParaRPr lang="zh-CN" altLang="en-US" sz="2000"/>
          </a:p>
        </p:txBody>
      </p:sp>
    </p:spTree>
    <p:custDataLst>
      <p:tags r:id="rId2"/>
    </p:custData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处理器</a:t>
                      </a: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调度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一、指令流</a:t>
                      </a: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与执行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应用程序与指令流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顺序与并发执行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1.3 指令流的描述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en-US" altLang="zh-CN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线程与处理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器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2.1 CPU时间与线程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2.2 线程的描述</a:t>
                      </a:r>
                      <a:endParaRPr lang="zh-CN" altLang="en-US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2.3 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纤程与协程</a:t>
                      </a:r>
                      <a:endParaRPr lang="en-US" altLang="zh-CN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三、处理器调度算法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3.1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调度算法原理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多处理器与并发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59385"/>
            <a:ext cx="9121140" cy="62471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rgbClr val="9C0B15"/>
                </a:solidFill>
              </a:rPr>
              <a:t>线程的上下文</a:t>
            </a:r>
            <a:endParaRPr lang="zh-CN" altLang="en-US" sz="2000">
              <a:solidFill>
                <a:srgbClr val="9C0B15"/>
              </a:solidFill>
            </a:endParaRPr>
          </a:p>
          <a:p>
            <a:endParaRPr lang="zh-CN" altLang="en-US" sz="2000"/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上下文</a:t>
            </a:r>
            <a:r>
              <a:rPr lang="en-US" altLang="zh-CN" sz="2000"/>
              <a:t>		</a:t>
            </a:r>
            <a:r>
              <a:rPr lang="zh-CN" altLang="en-US" sz="2000"/>
              <a:t>线程为什么也要有</a:t>
            </a:r>
            <a:r>
              <a:rPr lang="zh-CN" altLang="en-US" sz="2000">
                <a:solidFill>
                  <a:srgbClr val="9C0B15"/>
                </a:solidFill>
              </a:rPr>
              <a:t>上下文</a:t>
            </a:r>
            <a:r>
              <a:rPr lang="zh-CN" altLang="en-US" sz="2000"/>
              <a:t>？考虑线程上的执行流因为</a:t>
            </a:r>
            <a:r>
              <a:rPr lang="zh-CN" altLang="en-US" sz="2000">
                <a:solidFill>
                  <a:srgbClr val="9C0B15"/>
                </a:solidFill>
              </a:rPr>
              <a:t>主动等待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>
                <a:solidFill>
                  <a:srgbClr val="9C0B15"/>
                </a:solidFill>
              </a:rPr>
              <a:t>需要操作系统介入的I/O完成</a:t>
            </a:r>
            <a:r>
              <a:rPr lang="zh-CN" altLang="en-US" sz="2000"/>
              <a:t>或者</a:t>
            </a:r>
            <a:r>
              <a:rPr lang="zh-CN" altLang="en-US" sz="2000">
                <a:solidFill>
                  <a:srgbClr val="9C0B15"/>
                </a:solidFill>
              </a:rPr>
              <a:t>意外地被外设中断打断</a:t>
            </a:r>
            <a:r>
              <a:rPr lang="zh-CN" altLang="en-US" sz="2000">
                <a:sym typeface="+mn-ea"/>
              </a:rPr>
              <a:t>而暂停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>
                <a:sym typeface="+mn-ea"/>
              </a:rPr>
              <a:t>运行的</a:t>
            </a:r>
            <a:r>
              <a:rPr lang="zh-CN" altLang="en-US" sz="2000"/>
              <a:t>场合。</a:t>
            </a: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内核阻塞</a:t>
            </a:r>
            <a:r>
              <a:rPr lang="en-US" altLang="zh-CN" sz="2000"/>
              <a:t>	</a:t>
            </a:r>
            <a:r>
              <a:rPr lang="zh-CN" altLang="en-US" sz="2000"/>
              <a:t>操作系统并不知道指令流的存在。因此，在遇到线程上的指令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/>
              <a:t>流陷入内核阻塞的时候，内核只能</a:t>
            </a:r>
            <a:r>
              <a:rPr lang="zh-CN" altLang="en-US" sz="2000">
                <a:solidFill>
                  <a:srgbClr val="9C0B15"/>
                </a:solidFill>
              </a:rPr>
              <a:t>暂停执行当前这个线程</a:t>
            </a:r>
            <a:r>
              <a:rPr lang="zh-CN" altLang="en-US" sz="2000"/>
              <a:t>，切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/>
              <a:t>换到别的线程去执行了。更麻烦的是，线程什么时候陷入内核，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olidFill>
                  <a:srgbClr val="9C0B15"/>
                </a:solidFill>
              </a:rPr>
              <a:t>依附在线程上的指令流是不知道</a:t>
            </a:r>
            <a:r>
              <a:rPr lang="zh-CN" altLang="en-US" sz="2000"/>
              <a:t>的，也即可能</a:t>
            </a:r>
            <a:r>
              <a:rPr lang="zh-CN" altLang="en-US" sz="2000">
                <a:solidFill>
                  <a:srgbClr val="9C0B15"/>
                </a:solidFill>
              </a:rPr>
              <a:t>发生抢占</a:t>
            </a:r>
            <a:r>
              <a:rPr lang="zh-CN" altLang="en-US" sz="2000"/>
              <a:t>。</a:t>
            </a: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r>
              <a:rPr lang="en-US" altLang="zh-CN" sz="2000">
                <a:sym typeface="+mn-ea"/>
              </a:rPr>
              <a:t>		</a:t>
            </a:r>
            <a:r>
              <a:rPr lang="zh-CN" altLang="en-US" sz="2000"/>
              <a:t>一旦一个线程阻塞在内核，对它上面依附的所有指令流来说，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/>
              <a:t>时间就都凝固了。因此，这些指令流都</a:t>
            </a:r>
            <a:r>
              <a:rPr lang="zh-CN" altLang="en-US" sz="2000">
                <a:solidFill>
                  <a:srgbClr val="9C0B15"/>
                </a:solidFill>
              </a:rPr>
              <a:t>停止运行</a:t>
            </a:r>
            <a:r>
              <a:rPr lang="zh-CN" altLang="en-US" sz="2000"/>
              <a:t>。</a:t>
            </a: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线程上下文</a:t>
            </a:r>
            <a:r>
              <a:rPr lang="en-US" altLang="zh-CN" sz="2000"/>
              <a:t>	</a:t>
            </a:r>
            <a:r>
              <a:rPr lang="zh-CN" altLang="en-US" sz="2000"/>
              <a:t>和指令流上下文一样，线程的上下文也是其</a:t>
            </a:r>
            <a:r>
              <a:rPr lang="zh-CN" altLang="en-US" sz="2000">
                <a:solidFill>
                  <a:srgbClr val="9C0B15"/>
                </a:solidFill>
              </a:rPr>
              <a:t>寄存器组</a:t>
            </a:r>
            <a:r>
              <a:rPr lang="zh-CN" altLang="en-US" sz="2000"/>
              <a:t>。</a:t>
            </a: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线程的状态</a:t>
            </a:r>
            <a:r>
              <a:rPr lang="en-US" altLang="zh-CN" sz="2000"/>
              <a:t>	</a:t>
            </a:r>
            <a:r>
              <a:rPr lang="zh-CN" altLang="en-US" sz="2000"/>
              <a:t>和指令流的状态是类似的，包括</a:t>
            </a:r>
            <a:r>
              <a:rPr lang="zh-CN" altLang="en-US" sz="2000">
                <a:solidFill>
                  <a:srgbClr val="9C0B15"/>
                </a:solidFill>
              </a:rPr>
              <a:t>运行、就绪和阻塞</a:t>
            </a:r>
            <a:r>
              <a:rPr lang="zh-CN" altLang="en-US" sz="2000"/>
              <a:t>三个</a:t>
            </a:r>
            <a:r>
              <a:rPr lang="zh-CN" altLang="en-US" sz="2000"/>
              <a:t>状态。</a:t>
            </a: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问题</a:t>
            </a:r>
            <a:r>
              <a:rPr lang="en-US" altLang="zh-CN" sz="2000"/>
              <a:t>		</a:t>
            </a:r>
            <a:r>
              <a:rPr lang="zh-CN" altLang="en-US" sz="2000"/>
              <a:t>线程的上下文和</a:t>
            </a:r>
            <a:r>
              <a:rPr lang="zh-CN" altLang="en-US" sz="2000"/>
              <a:t>状态放在用户程序里面还是操作系统</a:t>
            </a:r>
            <a:r>
              <a:rPr lang="zh-CN" altLang="en-US" sz="2000"/>
              <a:t>里面？</a:t>
            </a:r>
            <a:endParaRPr lang="zh-CN" altLang="en-US" sz="2000"/>
          </a:p>
        </p:txBody>
      </p:sp>
    </p:spTree>
    <p:custDataLst>
      <p:tags r:id="rId2"/>
    </p:custData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处理器</a:t>
                      </a: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调度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一、指令流</a:t>
                      </a: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与执行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应用程序与指令流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顺序与并发执行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1.3 指令流的描述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en-US" altLang="zh-CN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线程与处理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器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2.1 CPU时间与线程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2.2 线程的描述</a:t>
                      </a:r>
                      <a:endParaRPr lang="zh-CN" altLang="en-US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2.3 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纤程与协程</a:t>
                      </a:r>
                      <a:endParaRPr lang="en-US" altLang="zh-CN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三、处理器调度算法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3.1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调度算法原理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多处理器与并发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59385"/>
            <a:ext cx="9121140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rgbClr val="9C0B15"/>
                </a:solidFill>
              </a:rPr>
              <a:t>线程控制块</a:t>
            </a:r>
            <a:endParaRPr lang="zh-CN" altLang="en-US" sz="2000">
              <a:solidFill>
                <a:srgbClr val="9C0B15"/>
              </a:solidFill>
            </a:endParaRPr>
          </a:p>
          <a:p>
            <a:endParaRPr lang="zh-CN" altLang="en-US" sz="2000"/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线程控制块</a:t>
            </a:r>
            <a:r>
              <a:rPr lang="en-US" altLang="zh-CN" sz="2000"/>
              <a:t>	</a:t>
            </a:r>
            <a:r>
              <a:rPr lang="zh-CN" altLang="en-US" sz="2000"/>
              <a:t>操作系统用以描述和管理线程的内核对象，一般至少包含线程</a:t>
            </a:r>
            <a:r>
              <a:rPr lang="zh-CN" altLang="en-US" sz="2000" b="1">
                <a:solidFill>
                  <a:srgbClr val="9C0B15"/>
                </a:solidFill>
              </a:rPr>
              <a:t>Thread</a:t>
            </a:r>
            <a:r>
              <a:rPr lang="zh-CN" altLang="en-US" sz="2000">
                <a:sym typeface="+mn-ea"/>
              </a:rPr>
              <a:t>		</a:t>
            </a:r>
            <a:r>
              <a:rPr lang="zh-CN" altLang="en-US" sz="2000"/>
              <a:t>的</a:t>
            </a:r>
            <a:r>
              <a:rPr lang="zh-CN" altLang="en-US" sz="2000">
                <a:solidFill>
                  <a:srgbClr val="9C0B15"/>
                </a:solidFill>
              </a:rPr>
              <a:t>时间预算、优先级、运行状态及上下文</a:t>
            </a:r>
            <a:r>
              <a:rPr lang="zh-CN" altLang="en-US" sz="2000"/>
              <a:t>，有时还会包含一些</a:t>
            </a:r>
            <a:r>
              <a:rPr lang="en-US" altLang="zh-CN" sz="2000" b="1">
                <a:solidFill>
                  <a:srgbClr val="9C0B15"/>
                </a:solidFill>
              </a:rPr>
              <a:t>Control</a:t>
            </a:r>
            <a:r>
              <a:rPr lang="zh-CN" altLang="en-US" sz="2000">
                <a:sym typeface="+mn-ea"/>
              </a:rPr>
              <a:t>		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身</a:t>
            </a:r>
            <a:r>
              <a:rPr lang="zh-CN" altLang="en-US" sz="2000">
                <a:solidFill>
                  <a:srgbClr val="9C0B15"/>
                </a:solidFill>
              </a:rPr>
              <a:t>份信息</a:t>
            </a:r>
            <a:r>
              <a:rPr lang="zh-CN" altLang="en-US" sz="2000"/>
              <a:t>（如线程名、线程号）或</a:t>
            </a:r>
            <a:r>
              <a:rPr lang="zh-CN" altLang="en-US" sz="2000">
                <a:solidFill>
                  <a:srgbClr val="9C0B15"/>
                </a:solidFill>
              </a:rPr>
              <a:t>统计信息</a:t>
            </a:r>
            <a:r>
              <a:rPr lang="zh-CN" altLang="en-US" sz="2000"/>
              <a:t>（如总</a:t>
            </a:r>
            <a:r>
              <a:rPr lang="zh-CN" altLang="en-US" sz="2000"/>
              <a:t>计CPU时间）</a:t>
            </a:r>
            <a:r>
              <a:rPr lang="zh-CN" altLang="en-US" sz="2000" b="1">
                <a:solidFill>
                  <a:srgbClr val="9C0B15"/>
                </a:solidFill>
              </a:rPr>
              <a:t>Block</a:t>
            </a:r>
            <a:r>
              <a:rPr lang="zh-CN" altLang="en-US" sz="2000">
                <a:sym typeface="+mn-ea"/>
              </a:rPr>
              <a:t>		</a:t>
            </a:r>
            <a:r>
              <a:rPr lang="zh-CN" altLang="en-US" sz="2000"/>
              <a:t>等。它在数据结构上一般是</a:t>
            </a:r>
            <a:r>
              <a:rPr lang="en-US" altLang="zh-CN" sz="2000"/>
              <a:t>C</a:t>
            </a:r>
            <a:r>
              <a:rPr lang="zh-CN" altLang="en-US" sz="2000"/>
              <a:t>语言的一个</a:t>
            </a:r>
            <a:r>
              <a:rPr lang="zh-CN" altLang="en-US" sz="2000">
                <a:solidFill>
                  <a:srgbClr val="9C0B15"/>
                </a:solidFill>
              </a:rPr>
              <a:t>结构体</a:t>
            </a:r>
            <a:r>
              <a:rPr lang="zh-CN" altLang="en-US" sz="2000"/>
              <a:t>。</a:t>
            </a:r>
            <a:endParaRPr lang="zh-CN" altLang="en-US" sz="2000"/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（TCB）</a:t>
            </a:r>
            <a:endParaRPr lang="zh-CN" altLang="en-US" sz="2000" b="1">
              <a:solidFill>
                <a:srgbClr val="9C0B15"/>
              </a:solidFill>
            </a:endParaRPr>
          </a:p>
          <a:p>
            <a:pPr algn="l">
              <a:buClrTx/>
              <a:buSzTx/>
              <a:buFontTx/>
            </a:pPr>
            <a:r>
              <a:rPr lang="zh-CN" altLang="en-US" sz="2000">
                <a:sym typeface="+mn-ea"/>
              </a:rPr>
              <a:t>		在那些有内核模式的处理器中，</a:t>
            </a:r>
            <a:r>
              <a:rPr lang="zh-CN" altLang="en-US" sz="2000"/>
              <a:t>线程控制块位于内核空间，只</a:t>
            </a:r>
            <a:r>
              <a:rPr lang="zh-CN" altLang="en-US" sz="2000">
                <a:sym typeface="+mn-ea"/>
              </a:rPr>
              <a:t>		</a:t>
            </a:r>
            <a:r>
              <a:rPr lang="zh-CN" altLang="en-US" sz="2000"/>
              <a:t>有操作系统可以更改，应用程序无法</a:t>
            </a:r>
            <a:r>
              <a:rPr lang="zh-CN" altLang="en-US" sz="2000"/>
              <a:t>更改。</a:t>
            </a:r>
            <a:endParaRPr lang="zh-CN" altLang="en-US" sz="2000"/>
          </a:p>
        </p:txBody>
      </p:sp>
      <p:sp>
        <p:nvSpPr>
          <p:cNvPr id="4" name="矩形 3"/>
          <p:cNvSpPr/>
          <p:nvPr>
            <p:custDataLst>
              <p:tags r:id="rId2"/>
            </p:custDataLst>
          </p:nvPr>
        </p:nvSpPr>
        <p:spPr>
          <a:xfrm>
            <a:off x="2844165" y="3429000"/>
            <a:ext cx="2167890" cy="423545"/>
          </a:xfrm>
          <a:prstGeom prst="rect">
            <a:avLst/>
          </a:prstGeom>
          <a:solidFill>
            <a:srgbClr val="BFBFBF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>
                <a:solidFill>
                  <a:schemeClr val="tx1"/>
                </a:solidFill>
                <a:sym typeface="+mn-ea"/>
              </a:rPr>
              <a:t>线程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号</a:t>
            </a:r>
            <a:endParaRPr lang="zh-CN" altLang="en-US">
              <a:solidFill>
                <a:schemeClr val="tx1"/>
              </a:solidFill>
              <a:sym typeface="+mn-ea"/>
            </a:endParaRPr>
          </a:p>
        </p:txBody>
      </p:sp>
      <p:sp>
        <p:nvSpPr>
          <p:cNvPr id="7" name="矩形 6"/>
          <p:cNvSpPr/>
          <p:nvPr>
            <p:custDataLst>
              <p:tags r:id="rId3"/>
            </p:custDataLst>
          </p:nvPr>
        </p:nvSpPr>
        <p:spPr>
          <a:xfrm>
            <a:off x="5012055" y="3429000"/>
            <a:ext cx="2167890" cy="423545"/>
          </a:xfrm>
          <a:prstGeom prst="rect">
            <a:avLst/>
          </a:prstGeom>
          <a:solidFill>
            <a:srgbClr val="D02F35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0</a:t>
            </a:r>
            <a:r>
              <a:rPr lang="en-US" altLang="zh-CN"/>
              <a:t>x1294</a:t>
            </a:r>
            <a:endParaRPr lang="en-US" altLang="zh-CN"/>
          </a:p>
        </p:txBody>
      </p:sp>
      <p:sp>
        <p:nvSpPr>
          <p:cNvPr id="8" name="矩形 7"/>
          <p:cNvSpPr/>
          <p:nvPr>
            <p:custDataLst>
              <p:tags r:id="rId4"/>
            </p:custDataLst>
          </p:nvPr>
        </p:nvSpPr>
        <p:spPr>
          <a:xfrm>
            <a:off x="5012055" y="3852545"/>
            <a:ext cx="2167890" cy="423545"/>
          </a:xfrm>
          <a:prstGeom prst="rect">
            <a:avLst/>
          </a:prstGeom>
          <a:solidFill>
            <a:schemeClr val="accent2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>
                <a:sym typeface="+mn-ea"/>
              </a:rPr>
              <a:t>134</a:t>
            </a:r>
            <a:endParaRPr lang="en-US" altLang="zh-CN">
              <a:sym typeface="+mn-ea"/>
            </a:endParaRPr>
          </a:p>
        </p:txBody>
      </p:sp>
      <p:sp>
        <p:nvSpPr>
          <p:cNvPr id="9" name="矩形 8"/>
          <p:cNvSpPr/>
          <p:nvPr>
            <p:custDataLst>
              <p:tags r:id="rId5"/>
            </p:custDataLst>
          </p:nvPr>
        </p:nvSpPr>
        <p:spPr>
          <a:xfrm>
            <a:off x="5012055" y="4699635"/>
            <a:ext cx="2167890" cy="1262380"/>
          </a:xfrm>
          <a:prstGeom prst="rect">
            <a:avLst/>
          </a:prstGeom>
          <a:solidFill>
            <a:srgbClr val="00B050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>
                <a:sym typeface="+mn-ea"/>
              </a:rPr>
              <a:t>AX = 0</a:t>
            </a:r>
            <a:r>
              <a:rPr lang="en-US" altLang="zh-CN">
                <a:sym typeface="+mn-ea"/>
              </a:rPr>
              <a:t>x1234</a:t>
            </a:r>
            <a:endParaRPr lang="en-US" altLang="zh-CN">
              <a:sym typeface="+mn-ea"/>
            </a:endParaRPr>
          </a:p>
          <a:p>
            <a:pPr lvl="0" algn="ctr">
              <a:buClrTx/>
              <a:buSzTx/>
              <a:buFontTx/>
            </a:pPr>
            <a:r>
              <a:rPr lang="en-US" altLang="zh-CN">
                <a:sym typeface="+mn-ea"/>
              </a:rPr>
              <a:t>BX = 0</a:t>
            </a:r>
            <a:r>
              <a:rPr lang="en-US" altLang="zh-CN">
                <a:sym typeface="+mn-ea"/>
              </a:rPr>
              <a:t>x5678</a:t>
            </a:r>
            <a:endParaRPr lang="en-US" altLang="zh-CN">
              <a:sym typeface="+mn-ea"/>
            </a:endParaRPr>
          </a:p>
          <a:p>
            <a:pPr lvl="0" algn="ctr">
              <a:buClrTx/>
              <a:buSzTx/>
              <a:buFontTx/>
            </a:pPr>
            <a:r>
              <a:rPr lang="en-US" altLang="zh-CN">
                <a:sym typeface="+mn-ea"/>
              </a:rPr>
              <a:t>CX = 0xABCD</a:t>
            </a:r>
            <a:endParaRPr lang="en-US" altLang="zh-CN">
              <a:sym typeface="+mn-ea"/>
            </a:endParaRPr>
          </a:p>
          <a:p>
            <a:pPr lvl="0" algn="ctr">
              <a:buClrTx/>
              <a:buSzTx/>
              <a:buFontTx/>
            </a:pPr>
            <a:r>
              <a:rPr lang="en-US" altLang="zh-CN">
                <a:sym typeface="+mn-ea"/>
              </a:rPr>
              <a:t>......</a:t>
            </a:r>
            <a:endParaRPr lang="en-US" altLang="zh-CN">
              <a:sym typeface="+mn-ea"/>
            </a:endParaRPr>
          </a:p>
        </p:txBody>
      </p:sp>
      <p:sp>
        <p:nvSpPr>
          <p:cNvPr id="15" name="矩形 14"/>
          <p:cNvSpPr/>
          <p:nvPr>
            <p:custDataLst>
              <p:tags r:id="rId6"/>
            </p:custDataLst>
          </p:nvPr>
        </p:nvSpPr>
        <p:spPr>
          <a:xfrm>
            <a:off x="2844165" y="3852545"/>
            <a:ext cx="2167890" cy="423545"/>
          </a:xfrm>
          <a:prstGeom prst="rect">
            <a:avLst/>
          </a:prstGeom>
          <a:solidFill>
            <a:srgbClr val="BFBFBF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>
                <a:solidFill>
                  <a:schemeClr val="tx1"/>
                </a:solidFill>
                <a:sym typeface="+mn-ea"/>
              </a:rPr>
              <a:t>当前剩余时间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预算</a:t>
            </a:r>
            <a:endParaRPr lang="zh-CN" altLang="en-US">
              <a:solidFill>
                <a:schemeClr val="tx1"/>
              </a:solidFill>
              <a:sym typeface="+mn-ea"/>
            </a:endParaRPr>
          </a:p>
        </p:txBody>
      </p:sp>
      <p:sp>
        <p:nvSpPr>
          <p:cNvPr id="17" name="矩形 16"/>
          <p:cNvSpPr/>
          <p:nvPr>
            <p:custDataLst>
              <p:tags r:id="rId7"/>
            </p:custDataLst>
          </p:nvPr>
        </p:nvSpPr>
        <p:spPr>
          <a:xfrm>
            <a:off x="2844165" y="4276090"/>
            <a:ext cx="2167890" cy="423545"/>
          </a:xfrm>
          <a:prstGeom prst="rect">
            <a:avLst/>
          </a:prstGeom>
          <a:solidFill>
            <a:srgbClr val="BFBFBF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>
                <a:solidFill>
                  <a:schemeClr val="tx1"/>
                </a:solidFill>
                <a:sym typeface="+mn-ea"/>
              </a:rPr>
              <a:t>优先级</a:t>
            </a:r>
            <a:endParaRPr lang="zh-CN" altLang="en-US">
              <a:solidFill>
                <a:schemeClr val="tx1"/>
              </a:solidFill>
              <a:sym typeface="+mn-ea"/>
            </a:endParaRPr>
          </a:p>
        </p:txBody>
      </p:sp>
      <p:sp>
        <p:nvSpPr>
          <p:cNvPr id="26" name="矩形 25"/>
          <p:cNvSpPr/>
          <p:nvPr>
            <p:custDataLst>
              <p:tags r:id="rId8"/>
            </p:custDataLst>
          </p:nvPr>
        </p:nvSpPr>
        <p:spPr>
          <a:xfrm>
            <a:off x="5012055" y="4276090"/>
            <a:ext cx="2167890" cy="423545"/>
          </a:xfrm>
          <a:prstGeom prst="rect">
            <a:avLst/>
          </a:prstGeom>
          <a:solidFill>
            <a:schemeClr val="accent1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>
                <a:sym typeface="+mn-ea"/>
              </a:rPr>
              <a:t>5</a:t>
            </a:r>
            <a:endParaRPr lang="en-US" altLang="zh-CN">
              <a:sym typeface="+mn-ea"/>
            </a:endParaRPr>
          </a:p>
        </p:txBody>
      </p:sp>
      <p:sp>
        <p:nvSpPr>
          <p:cNvPr id="28" name="矩形 27"/>
          <p:cNvSpPr/>
          <p:nvPr>
            <p:custDataLst>
              <p:tags r:id="rId9"/>
            </p:custDataLst>
          </p:nvPr>
        </p:nvSpPr>
        <p:spPr>
          <a:xfrm>
            <a:off x="2844165" y="4699635"/>
            <a:ext cx="2167890" cy="1263015"/>
          </a:xfrm>
          <a:prstGeom prst="rect">
            <a:avLst/>
          </a:prstGeom>
          <a:solidFill>
            <a:srgbClr val="BFBFBF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>
                <a:solidFill>
                  <a:schemeClr val="tx1"/>
                </a:solidFill>
                <a:sym typeface="+mn-ea"/>
              </a:rPr>
              <a:t>寄存器组</a:t>
            </a:r>
            <a:endParaRPr lang="zh-CN" altLang="en-US">
              <a:solidFill>
                <a:schemeClr val="tx1"/>
              </a:solidFill>
              <a:sym typeface="+mn-ea"/>
            </a:endParaRPr>
          </a:p>
        </p:txBody>
      </p:sp>
      <p:sp>
        <p:nvSpPr>
          <p:cNvPr id="60" name="矩形 59"/>
          <p:cNvSpPr/>
          <p:nvPr>
            <p:custDataLst>
              <p:tags r:id="rId10"/>
            </p:custDataLst>
          </p:nvPr>
        </p:nvSpPr>
        <p:spPr>
          <a:xfrm>
            <a:off x="2844165" y="5962650"/>
            <a:ext cx="2167890" cy="423545"/>
          </a:xfrm>
          <a:prstGeom prst="rect">
            <a:avLst/>
          </a:prstGeom>
          <a:solidFill>
            <a:srgbClr val="BFBFBF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>
                <a:solidFill>
                  <a:schemeClr val="tx1"/>
                </a:solidFill>
                <a:sym typeface="+mn-ea"/>
              </a:rPr>
              <a:t>总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消耗时间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预算数</a:t>
            </a:r>
            <a:endParaRPr lang="zh-CN" altLang="en-US">
              <a:solidFill>
                <a:schemeClr val="tx1"/>
              </a:solidFill>
              <a:sym typeface="+mn-ea"/>
            </a:endParaRPr>
          </a:p>
        </p:txBody>
      </p:sp>
      <p:sp>
        <p:nvSpPr>
          <p:cNvPr id="61" name="矩形 60"/>
          <p:cNvSpPr/>
          <p:nvPr>
            <p:custDataLst>
              <p:tags r:id="rId11"/>
            </p:custDataLst>
          </p:nvPr>
        </p:nvSpPr>
        <p:spPr>
          <a:xfrm>
            <a:off x="5012055" y="5962650"/>
            <a:ext cx="2167890" cy="423545"/>
          </a:xfrm>
          <a:prstGeom prst="rect">
            <a:avLst/>
          </a:prstGeom>
          <a:solidFill>
            <a:srgbClr val="7030A0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>
                <a:sym typeface="+mn-ea"/>
              </a:rPr>
              <a:t>1247814</a:t>
            </a:r>
            <a:endParaRPr lang="en-US" altLang="zh-CN">
              <a:sym typeface="+mn-ea"/>
            </a:endParaRPr>
          </a:p>
        </p:txBody>
      </p:sp>
    </p:spTree>
    <p:custDataLst>
      <p:tags r:id="rId12"/>
    </p:custData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处理器</a:t>
                      </a: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调度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一、指令流</a:t>
                      </a: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与执行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应用程序与指令流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顺序与并发执行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1.3 指令流的描述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en-US" altLang="zh-CN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线程与处理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器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2.1 CPU时间与线程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2.2 线程的描述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2.3 纤程与协程</a:t>
                      </a:r>
                      <a:endParaRPr lang="zh-CN" altLang="en-US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三、处理器调度算法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3.1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调度算法原理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多处理器与并发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59385"/>
            <a:ext cx="9121140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rgbClr val="9C0B15"/>
                </a:solidFill>
              </a:rPr>
              <a:t>线程状态与指令流状态</a:t>
            </a:r>
            <a:endParaRPr lang="zh-CN" altLang="en-US" sz="2000">
              <a:solidFill>
                <a:srgbClr val="9C0B15"/>
              </a:solidFill>
            </a:endParaRPr>
          </a:p>
          <a:p>
            <a:endParaRPr lang="zh-CN" altLang="en-US" sz="2000"/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线程的状态</a:t>
            </a:r>
            <a:r>
              <a:rPr lang="en-US" altLang="zh-CN" sz="2000"/>
              <a:t>	</a:t>
            </a:r>
            <a:r>
              <a:rPr lang="zh-CN" altLang="en-US" sz="2000"/>
              <a:t>指令流和线程都有</a:t>
            </a:r>
            <a:r>
              <a:rPr lang="zh-CN" altLang="en-US" sz="2000">
                <a:solidFill>
                  <a:srgbClr val="9C0B15"/>
                </a:solidFill>
              </a:rPr>
              <a:t>就绪、运行、阻塞</a:t>
            </a:r>
            <a:r>
              <a:rPr lang="zh-CN" altLang="en-US" sz="2000"/>
              <a:t>这三个状态。那么，这三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/>
              <a:t>个状态和</a:t>
            </a:r>
            <a:r>
              <a:rPr lang="zh-CN" altLang="en-US" sz="2000">
                <a:solidFill>
                  <a:srgbClr val="9C0B15"/>
                </a:solidFill>
              </a:rPr>
              <a:t>指令流的三个状态</a:t>
            </a:r>
            <a:r>
              <a:rPr lang="zh-CN" altLang="en-US" sz="2000"/>
              <a:t>有什么区别和</a:t>
            </a:r>
            <a:r>
              <a:rPr lang="zh-CN" altLang="en-US" sz="2000"/>
              <a:t>联系呢？</a:t>
            </a:r>
            <a:endParaRPr lang="zh-CN" altLang="en-US" sz="2000"/>
          </a:p>
        </p:txBody>
      </p:sp>
      <p:grpSp>
        <p:nvGrpSpPr>
          <p:cNvPr id="70" name="组合 69"/>
          <p:cNvGrpSpPr/>
          <p:nvPr/>
        </p:nvGrpSpPr>
        <p:grpSpPr>
          <a:xfrm>
            <a:off x="1653540" y="1522095"/>
            <a:ext cx="6703060" cy="5097145"/>
            <a:chOff x="1837" y="1436"/>
            <a:chExt cx="11574" cy="8901"/>
          </a:xfrm>
        </p:grpSpPr>
        <p:sp>
          <p:nvSpPr>
            <p:cNvPr id="65" name="椭圆 64"/>
            <p:cNvSpPr/>
            <p:nvPr>
              <p:custDataLst>
                <p:tags r:id="rId2"/>
              </p:custDataLst>
            </p:nvPr>
          </p:nvSpPr>
          <p:spPr>
            <a:xfrm>
              <a:off x="1837" y="6575"/>
              <a:ext cx="11574" cy="3762"/>
            </a:xfrm>
            <a:prstGeom prst="ellipse">
              <a:avLst/>
            </a:prstGeom>
            <a:solidFill>
              <a:srgbClr val="D02F35">
                <a:alpha val="25000"/>
              </a:srgbClr>
            </a:solidFill>
            <a:ln w="28575" cmpd="sng">
              <a:solidFill>
                <a:srgbClr val="9C0B15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p>
              <a:pPr algn="ctr"/>
              <a:r>
                <a:rPr lang="zh-CN" altLang="en-US" sz="3200" b="1">
                  <a:solidFill>
                    <a:schemeClr val="tx1"/>
                  </a:solidFill>
                </a:rPr>
                <a:t>不运行</a:t>
              </a:r>
              <a:endParaRPr lang="zh-CN" altLang="en-US" sz="3200" b="1">
                <a:solidFill>
                  <a:schemeClr val="tx1"/>
                </a:solidFill>
              </a:endParaRPr>
            </a:p>
          </p:txBody>
        </p:sp>
        <p:sp>
          <p:nvSpPr>
            <p:cNvPr id="2" name="椭圆 1"/>
            <p:cNvSpPr/>
            <p:nvPr>
              <p:custDataLst>
                <p:tags r:id="rId3"/>
              </p:custDataLst>
            </p:nvPr>
          </p:nvSpPr>
          <p:spPr>
            <a:xfrm>
              <a:off x="6671" y="1436"/>
              <a:ext cx="2070" cy="2070"/>
            </a:xfrm>
            <a:prstGeom prst="ellipse">
              <a:avLst/>
            </a:prstGeom>
            <a:solidFill>
              <a:srgbClr val="D02F3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2800" b="1"/>
                <a:t>运行</a:t>
              </a:r>
              <a:endParaRPr lang="zh-CN" altLang="en-US" sz="2800" b="1"/>
            </a:p>
          </p:txBody>
        </p:sp>
        <p:sp>
          <p:nvSpPr>
            <p:cNvPr id="5" name="椭圆 4"/>
            <p:cNvSpPr/>
            <p:nvPr>
              <p:custDataLst>
                <p:tags r:id="rId4"/>
              </p:custDataLst>
            </p:nvPr>
          </p:nvSpPr>
          <p:spPr>
            <a:xfrm>
              <a:off x="2691" y="7390"/>
              <a:ext cx="2107" cy="2107"/>
            </a:xfrm>
            <a:prstGeom prst="ellipse">
              <a:avLst/>
            </a:prstGeom>
            <a:solidFill>
              <a:srgbClr val="D02F3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>
                <a:buClrTx/>
                <a:buSzTx/>
                <a:buFontTx/>
              </a:pPr>
              <a:r>
                <a:rPr lang="zh-CN" altLang="en-US" sz="2800" b="1"/>
                <a:t>就绪</a:t>
              </a:r>
              <a:endParaRPr lang="zh-CN" altLang="en-US" sz="2800" b="1"/>
            </a:p>
          </p:txBody>
        </p:sp>
        <p:sp>
          <p:nvSpPr>
            <p:cNvPr id="6" name="椭圆 5"/>
            <p:cNvSpPr/>
            <p:nvPr>
              <p:custDataLst>
                <p:tags r:id="rId5"/>
              </p:custDataLst>
            </p:nvPr>
          </p:nvSpPr>
          <p:spPr>
            <a:xfrm>
              <a:off x="10449" y="7427"/>
              <a:ext cx="2070" cy="2070"/>
            </a:xfrm>
            <a:prstGeom prst="ellipse">
              <a:avLst/>
            </a:prstGeom>
            <a:solidFill>
              <a:srgbClr val="D02F3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2800" b="1"/>
                <a:t>阻塞</a:t>
              </a:r>
              <a:endParaRPr lang="zh-CN" altLang="en-US"/>
            </a:p>
          </p:txBody>
        </p:sp>
        <p:cxnSp>
          <p:nvCxnSpPr>
            <p:cNvPr id="25" name="直接箭头连接符 24"/>
            <p:cNvCxnSpPr>
              <a:stCxn id="2" idx="3"/>
            </p:cNvCxnSpPr>
            <p:nvPr>
              <p:custDataLst>
                <p:tags r:id="rId6"/>
              </p:custDataLst>
            </p:nvPr>
          </p:nvCxnSpPr>
          <p:spPr>
            <a:xfrm flipH="1">
              <a:off x="4075" y="3203"/>
              <a:ext cx="2899" cy="4199"/>
            </a:xfrm>
            <a:prstGeom prst="straightConnector1">
              <a:avLst/>
            </a:prstGeom>
            <a:ln w="76200">
              <a:solidFill>
                <a:srgbClr val="D02F35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接箭头连接符 61"/>
            <p:cNvCxnSpPr>
              <a:stCxn id="2" idx="5"/>
              <a:endCxn id="6" idx="1"/>
            </p:cNvCxnSpPr>
            <p:nvPr>
              <p:custDataLst>
                <p:tags r:id="rId7"/>
              </p:custDataLst>
            </p:nvPr>
          </p:nvCxnSpPr>
          <p:spPr>
            <a:xfrm>
              <a:off x="8438" y="3203"/>
              <a:ext cx="2314" cy="4527"/>
            </a:xfrm>
            <a:prstGeom prst="straightConnector1">
              <a:avLst/>
            </a:prstGeom>
            <a:ln w="76200">
              <a:solidFill>
                <a:srgbClr val="D02F35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接箭头连接符 62"/>
            <p:cNvCxnSpPr>
              <a:stCxn id="6" idx="2"/>
              <a:endCxn id="5" idx="6"/>
            </p:cNvCxnSpPr>
            <p:nvPr>
              <p:custDataLst>
                <p:tags r:id="rId8"/>
              </p:custDataLst>
            </p:nvPr>
          </p:nvCxnSpPr>
          <p:spPr>
            <a:xfrm flipH="1" flipV="1">
              <a:off x="4798" y="8444"/>
              <a:ext cx="5651" cy="18"/>
            </a:xfrm>
            <a:prstGeom prst="straightConnector1">
              <a:avLst/>
            </a:prstGeom>
            <a:ln w="76200">
              <a:solidFill>
                <a:srgbClr val="D02F35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接箭头连接符 63"/>
            <p:cNvCxnSpPr>
              <a:stCxn id="5" idx="7"/>
            </p:cNvCxnSpPr>
            <p:nvPr>
              <p:custDataLst>
                <p:tags r:id="rId9"/>
              </p:custDataLst>
            </p:nvPr>
          </p:nvCxnSpPr>
          <p:spPr>
            <a:xfrm flipV="1">
              <a:off x="4489" y="3457"/>
              <a:ext cx="2840" cy="4242"/>
            </a:xfrm>
            <a:prstGeom prst="straightConnector1">
              <a:avLst/>
            </a:prstGeom>
            <a:ln w="76200">
              <a:solidFill>
                <a:srgbClr val="D02F35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6" name="右箭头标注 65"/>
            <p:cNvSpPr/>
            <p:nvPr>
              <p:custDataLst>
                <p:tags r:id="rId10"/>
              </p:custDataLst>
            </p:nvPr>
          </p:nvSpPr>
          <p:spPr>
            <a:xfrm>
              <a:off x="2524" y="4108"/>
              <a:ext cx="3196" cy="1440"/>
            </a:xfrm>
            <a:prstGeom prst="rightArrowCallout">
              <a:avLst/>
            </a:prstGeom>
            <a:solidFill>
              <a:srgbClr val="D02F3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b="1"/>
                <a:t>放弃</a:t>
              </a:r>
              <a:r>
                <a:rPr lang="en-US" altLang="zh-CN" b="1"/>
                <a:t>CPU</a:t>
              </a:r>
              <a:endParaRPr lang="en-US" altLang="zh-CN" b="1"/>
            </a:p>
            <a:p>
              <a:pPr algn="ctr"/>
              <a:r>
                <a:rPr lang="zh-CN" altLang="en-US" b="1"/>
                <a:t>（自愿或非自愿）</a:t>
              </a:r>
              <a:endParaRPr lang="zh-CN" altLang="en-US" b="1"/>
            </a:p>
          </p:txBody>
        </p:sp>
        <p:sp>
          <p:nvSpPr>
            <p:cNvPr id="67" name="右箭头标注 66"/>
            <p:cNvSpPr/>
            <p:nvPr>
              <p:custDataLst>
                <p:tags r:id="rId11"/>
              </p:custDataLst>
            </p:nvPr>
          </p:nvSpPr>
          <p:spPr>
            <a:xfrm flipH="1">
              <a:off x="6024" y="4994"/>
              <a:ext cx="3050" cy="1440"/>
            </a:xfrm>
            <a:prstGeom prst="rightArrowCallout">
              <a:avLst/>
            </a:prstGeom>
            <a:solidFill>
              <a:srgbClr val="D02F3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b="1"/>
                <a:t>得到</a:t>
              </a:r>
              <a:r>
                <a:rPr lang="en-US" altLang="zh-CN" b="1"/>
                <a:t>CPU</a:t>
              </a:r>
              <a:endParaRPr lang="en-US" altLang="zh-CN" b="1"/>
            </a:p>
            <a:p>
              <a:pPr algn="ctr"/>
              <a:r>
                <a:rPr lang="zh-CN" altLang="en-US" b="1"/>
                <a:t>（根据某种</a:t>
              </a:r>
              <a:r>
                <a:rPr lang="zh-CN" altLang="en-US" b="1"/>
                <a:t>规则）</a:t>
              </a:r>
              <a:endParaRPr lang="zh-CN" altLang="en-US" b="1"/>
            </a:p>
          </p:txBody>
        </p:sp>
        <p:sp>
          <p:nvSpPr>
            <p:cNvPr id="68" name="上箭头标注 67"/>
            <p:cNvSpPr/>
            <p:nvPr>
              <p:custDataLst>
                <p:tags r:id="rId12"/>
              </p:custDataLst>
            </p:nvPr>
          </p:nvSpPr>
          <p:spPr>
            <a:xfrm>
              <a:off x="6671" y="8643"/>
              <a:ext cx="2226" cy="1440"/>
            </a:xfrm>
            <a:prstGeom prst="upArrowCallout">
              <a:avLst/>
            </a:prstGeom>
            <a:solidFill>
              <a:srgbClr val="D02F3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b="1"/>
                <a:t>等待结束</a:t>
              </a:r>
              <a:endParaRPr lang="zh-CN" altLang="en-US" b="1"/>
            </a:p>
          </p:txBody>
        </p:sp>
        <p:sp>
          <p:nvSpPr>
            <p:cNvPr id="69" name="右箭头标注 68"/>
            <p:cNvSpPr/>
            <p:nvPr>
              <p:custDataLst>
                <p:tags r:id="rId13"/>
              </p:custDataLst>
            </p:nvPr>
          </p:nvSpPr>
          <p:spPr>
            <a:xfrm flipH="1">
              <a:off x="9455" y="4161"/>
              <a:ext cx="3220" cy="1440"/>
            </a:xfrm>
            <a:prstGeom prst="rightArrowCallout">
              <a:avLst/>
            </a:prstGeom>
            <a:solidFill>
              <a:srgbClr val="D02F3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b="1"/>
                <a:t>需要等待</a:t>
              </a:r>
              <a:endParaRPr lang="en-US" altLang="zh-CN" b="1"/>
            </a:p>
            <a:p>
              <a:pPr algn="ctr"/>
              <a:r>
                <a:rPr lang="zh-CN" altLang="en-US" b="1"/>
                <a:t>（因为某些</a:t>
              </a:r>
              <a:r>
                <a:rPr lang="zh-CN" altLang="en-US" b="1"/>
                <a:t>原因）</a:t>
              </a:r>
              <a:endParaRPr lang="zh-CN" altLang="en-US" b="1"/>
            </a:p>
          </p:txBody>
        </p:sp>
      </p:grpSp>
    </p:spTree>
    <p:custDataLst>
      <p:tags r:id="rId14"/>
    </p:custData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处理器</a:t>
                      </a: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调度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一、指令流</a:t>
                      </a: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与执行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应用程序与指令流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顺序与并发执行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1.3 指令流的描述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en-US" altLang="zh-CN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线程与处理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器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2.1 CPU时间与线程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2.2 线程的描述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2.3 纤程与协程</a:t>
                      </a:r>
                      <a:endParaRPr lang="zh-CN" altLang="en-US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三、处理器调度算法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3.1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调度算法原理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多处理器与并发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59385"/>
            <a:ext cx="912114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rgbClr val="9C0B15"/>
                </a:solidFill>
              </a:rPr>
              <a:t>线程状态与指令流状态</a:t>
            </a:r>
            <a:endParaRPr lang="zh-CN" altLang="en-US" sz="2000">
              <a:solidFill>
                <a:srgbClr val="9C0B15"/>
              </a:solidFill>
            </a:endParaRPr>
          </a:p>
          <a:p>
            <a:endParaRPr lang="zh-CN" altLang="en-US" sz="2000"/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指令流到线程的对应</a:t>
            </a:r>
            <a:r>
              <a:rPr lang="en-US" altLang="zh-CN" sz="2000"/>
              <a:t>	</a:t>
            </a:r>
            <a:r>
              <a:rPr lang="zh-CN" altLang="en-US" sz="2000"/>
              <a:t>要回答这个问题，我们要考察指令流和线程的</a:t>
            </a:r>
            <a:r>
              <a:rPr lang="zh-CN" altLang="en-US" sz="2000"/>
              <a:t>对应。</a:t>
            </a:r>
            <a:endParaRPr lang="zh-CN" altLang="en-US" sz="2000"/>
          </a:p>
        </p:txBody>
      </p:sp>
      <p:grpSp>
        <p:nvGrpSpPr>
          <p:cNvPr id="70" name="组合 69"/>
          <p:cNvGrpSpPr/>
          <p:nvPr/>
        </p:nvGrpSpPr>
        <p:grpSpPr>
          <a:xfrm>
            <a:off x="1653540" y="1522095"/>
            <a:ext cx="6703060" cy="5097145"/>
            <a:chOff x="1837" y="1436"/>
            <a:chExt cx="11574" cy="8901"/>
          </a:xfrm>
        </p:grpSpPr>
        <p:sp>
          <p:nvSpPr>
            <p:cNvPr id="65" name="椭圆 64"/>
            <p:cNvSpPr/>
            <p:nvPr>
              <p:custDataLst>
                <p:tags r:id="rId2"/>
              </p:custDataLst>
            </p:nvPr>
          </p:nvSpPr>
          <p:spPr>
            <a:xfrm>
              <a:off x="1837" y="6575"/>
              <a:ext cx="11574" cy="3762"/>
            </a:xfrm>
            <a:prstGeom prst="ellipse">
              <a:avLst/>
            </a:prstGeom>
            <a:solidFill>
              <a:srgbClr val="D02F35">
                <a:alpha val="25000"/>
              </a:srgbClr>
            </a:solidFill>
            <a:ln w="28575" cmpd="sng">
              <a:solidFill>
                <a:srgbClr val="9C0B15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p>
              <a:pPr algn="ctr"/>
              <a:r>
                <a:rPr lang="zh-CN" altLang="en-US" sz="3200" b="1">
                  <a:solidFill>
                    <a:schemeClr val="tx1"/>
                  </a:solidFill>
                </a:rPr>
                <a:t>不运行</a:t>
              </a:r>
              <a:endParaRPr lang="zh-CN" altLang="en-US" sz="3200" b="1">
                <a:solidFill>
                  <a:schemeClr val="tx1"/>
                </a:solidFill>
              </a:endParaRPr>
            </a:p>
          </p:txBody>
        </p:sp>
        <p:sp>
          <p:nvSpPr>
            <p:cNvPr id="2" name="椭圆 1"/>
            <p:cNvSpPr/>
            <p:nvPr>
              <p:custDataLst>
                <p:tags r:id="rId3"/>
              </p:custDataLst>
            </p:nvPr>
          </p:nvSpPr>
          <p:spPr>
            <a:xfrm>
              <a:off x="6671" y="1436"/>
              <a:ext cx="2070" cy="2070"/>
            </a:xfrm>
            <a:prstGeom prst="ellipse">
              <a:avLst/>
            </a:prstGeom>
            <a:solidFill>
              <a:srgbClr val="D02F3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2800" b="1"/>
                <a:t>运行</a:t>
              </a:r>
              <a:endParaRPr lang="zh-CN" altLang="en-US" sz="2800" b="1"/>
            </a:p>
          </p:txBody>
        </p:sp>
        <p:sp>
          <p:nvSpPr>
            <p:cNvPr id="5" name="椭圆 4"/>
            <p:cNvSpPr/>
            <p:nvPr>
              <p:custDataLst>
                <p:tags r:id="rId4"/>
              </p:custDataLst>
            </p:nvPr>
          </p:nvSpPr>
          <p:spPr>
            <a:xfrm>
              <a:off x="2691" y="7390"/>
              <a:ext cx="2107" cy="2107"/>
            </a:xfrm>
            <a:prstGeom prst="ellipse">
              <a:avLst/>
            </a:prstGeom>
            <a:solidFill>
              <a:srgbClr val="D02F3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>
                <a:buClrTx/>
                <a:buSzTx/>
                <a:buFontTx/>
              </a:pPr>
              <a:r>
                <a:rPr lang="zh-CN" altLang="en-US" sz="2800" b="1"/>
                <a:t>就绪</a:t>
              </a:r>
              <a:endParaRPr lang="zh-CN" altLang="en-US" sz="2800" b="1"/>
            </a:p>
          </p:txBody>
        </p:sp>
        <p:sp>
          <p:nvSpPr>
            <p:cNvPr id="6" name="椭圆 5"/>
            <p:cNvSpPr/>
            <p:nvPr>
              <p:custDataLst>
                <p:tags r:id="rId5"/>
              </p:custDataLst>
            </p:nvPr>
          </p:nvSpPr>
          <p:spPr>
            <a:xfrm>
              <a:off x="10449" y="7427"/>
              <a:ext cx="2070" cy="2070"/>
            </a:xfrm>
            <a:prstGeom prst="ellipse">
              <a:avLst/>
            </a:prstGeom>
            <a:solidFill>
              <a:srgbClr val="D02F3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2800" b="1"/>
                <a:t>阻塞</a:t>
              </a:r>
              <a:endParaRPr lang="zh-CN" altLang="en-US"/>
            </a:p>
          </p:txBody>
        </p:sp>
        <p:cxnSp>
          <p:nvCxnSpPr>
            <p:cNvPr id="25" name="直接箭头连接符 24"/>
            <p:cNvCxnSpPr>
              <a:stCxn id="2" idx="3"/>
            </p:cNvCxnSpPr>
            <p:nvPr>
              <p:custDataLst>
                <p:tags r:id="rId6"/>
              </p:custDataLst>
            </p:nvPr>
          </p:nvCxnSpPr>
          <p:spPr>
            <a:xfrm flipH="1">
              <a:off x="4075" y="3203"/>
              <a:ext cx="2899" cy="4199"/>
            </a:xfrm>
            <a:prstGeom prst="straightConnector1">
              <a:avLst/>
            </a:prstGeom>
            <a:ln w="76200">
              <a:solidFill>
                <a:srgbClr val="D02F35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接箭头连接符 61"/>
            <p:cNvCxnSpPr>
              <a:stCxn id="2" idx="5"/>
              <a:endCxn id="6" idx="1"/>
            </p:cNvCxnSpPr>
            <p:nvPr>
              <p:custDataLst>
                <p:tags r:id="rId7"/>
              </p:custDataLst>
            </p:nvPr>
          </p:nvCxnSpPr>
          <p:spPr>
            <a:xfrm>
              <a:off x="8438" y="3203"/>
              <a:ext cx="2314" cy="4527"/>
            </a:xfrm>
            <a:prstGeom prst="straightConnector1">
              <a:avLst/>
            </a:prstGeom>
            <a:ln w="76200">
              <a:solidFill>
                <a:srgbClr val="D02F35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接箭头连接符 62"/>
            <p:cNvCxnSpPr>
              <a:stCxn id="6" idx="2"/>
              <a:endCxn id="5" idx="6"/>
            </p:cNvCxnSpPr>
            <p:nvPr>
              <p:custDataLst>
                <p:tags r:id="rId8"/>
              </p:custDataLst>
            </p:nvPr>
          </p:nvCxnSpPr>
          <p:spPr>
            <a:xfrm flipH="1" flipV="1">
              <a:off x="4798" y="8444"/>
              <a:ext cx="5651" cy="18"/>
            </a:xfrm>
            <a:prstGeom prst="straightConnector1">
              <a:avLst/>
            </a:prstGeom>
            <a:ln w="76200">
              <a:solidFill>
                <a:srgbClr val="D02F35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接箭头连接符 63"/>
            <p:cNvCxnSpPr>
              <a:stCxn id="5" idx="7"/>
            </p:cNvCxnSpPr>
            <p:nvPr>
              <p:custDataLst>
                <p:tags r:id="rId9"/>
              </p:custDataLst>
            </p:nvPr>
          </p:nvCxnSpPr>
          <p:spPr>
            <a:xfrm flipV="1">
              <a:off x="4489" y="3457"/>
              <a:ext cx="2840" cy="4242"/>
            </a:xfrm>
            <a:prstGeom prst="straightConnector1">
              <a:avLst/>
            </a:prstGeom>
            <a:ln w="76200">
              <a:solidFill>
                <a:srgbClr val="D02F35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6" name="右箭头标注 65"/>
            <p:cNvSpPr/>
            <p:nvPr>
              <p:custDataLst>
                <p:tags r:id="rId10"/>
              </p:custDataLst>
            </p:nvPr>
          </p:nvSpPr>
          <p:spPr>
            <a:xfrm>
              <a:off x="2524" y="4108"/>
              <a:ext cx="3196" cy="1440"/>
            </a:xfrm>
            <a:prstGeom prst="rightArrowCallout">
              <a:avLst/>
            </a:prstGeom>
            <a:solidFill>
              <a:srgbClr val="D02F3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b="1"/>
                <a:t>放弃</a:t>
              </a:r>
              <a:r>
                <a:rPr lang="en-US" altLang="zh-CN" b="1"/>
                <a:t>CPU</a:t>
              </a:r>
              <a:endParaRPr lang="en-US" altLang="zh-CN" b="1"/>
            </a:p>
            <a:p>
              <a:pPr algn="ctr"/>
              <a:r>
                <a:rPr lang="zh-CN" altLang="en-US" b="1"/>
                <a:t>（自愿或非自愿）</a:t>
              </a:r>
              <a:endParaRPr lang="zh-CN" altLang="en-US" b="1"/>
            </a:p>
          </p:txBody>
        </p:sp>
        <p:sp>
          <p:nvSpPr>
            <p:cNvPr id="67" name="右箭头标注 66"/>
            <p:cNvSpPr/>
            <p:nvPr>
              <p:custDataLst>
                <p:tags r:id="rId11"/>
              </p:custDataLst>
            </p:nvPr>
          </p:nvSpPr>
          <p:spPr>
            <a:xfrm flipH="1">
              <a:off x="6024" y="4994"/>
              <a:ext cx="3050" cy="1440"/>
            </a:xfrm>
            <a:prstGeom prst="rightArrowCallout">
              <a:avLst/>
            </a:prstGeom>
            <a:solidFill>
              <a:srgbClr val="D02F3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b="1"/>
                <a:t>得到</a:t>
              </a:r>
              <a:r>
                <a:rPr lang="en-US" altLang="zh-CN" b="1"/>
                <a:t>CPU</a:t>
              </a:r>
              <a:endParaRPr lang="en-US" altLang="zh-CN" b="1"/>
            </a:p>
            <a:p>
              <a:pPr algn="ctr"/>
              <a:r>
                <a:rPr lang="zh-CN" altLang="en-US" b="1"/>
                <a:t>（根据某种</a:t>
              </a:r>
              <a:r>
                <a:rPr lang="zh-CN" altLang="en-US" b="1"/>
                <a:t>规则）</a:t>
              </a:r>
              <a:endParaRPr lang="zh-CN" altLang="en-US" b="1"/>
            </a:p>
          </p:txBody>
        </p:sp>
        <p:sp>
          <p:nvSpPr>
            <p:cNvPr id="68" name="上箭头标注 67"/>
            <p:cNvSpPr/>
            <p:nvPr>
              <p:custDataLst>
                <p:tags r:id="rId12"/>
              </p:custDataLst>
            </p:nvPr>
          </p:nvSpPr>
          <p:spPr>
            <a:xfrm>
              <a:off x="6671" y="8643"/>
              <a:ext cx="2226" cy="1440"/>
            </a:xfrm>
            <a:prstGeom prst="upArrowCallout">
              <a:avLst/>
            </a:prstGeom>
            <a:solidFill>
              <a:srgbClr val="D02F3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b="1"/>
                <a:t>等待结束</a:t>
              </a:r>
              <a:endParaRPr lang="zh-CN" altLang="en-US" b="1"/>
            </a:p>
          </p:txBody>
        </p:sp>
        <p:sp>
          <p:nvSpPr>
            <p:cNvPr id="69" name="右箭头标注 68"/>
            <p:cNvSpPr/>
            <p:nvPr>
              <p:custDataLst>
                <p:tags r:id="rId13"/>
              </p:custDataLst>
            </p:nvPr>
          </p:nvSpPr>
          <p:spPr>
            <a:xfrm flipH="1">
              <a:off x="9455" y="4161"/>
              <a:ext cx="3220" cy="1440"/>
            </a:xfrm>
            <a:prstGeom prst="rightArrowCallout">
              <a:avLst/>
            </a:prstGeom>
            <a:solidFill>
              <a:srgbClr val="D02F3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b="1"/>
                <a:t>需要等待</a:t>
              </a:r>
              <a:endParaRPr lang="en-US" altLang="zh-CN" b="1"/>
            </a:p>
            <a:p>
              <a:pPr algn="ctr"/>
              <a:r>
                <a:rPr lang="zh-CN" altLang="en-US" b="1"/>
                <a:t>（因为某些</a:t>
              </a:r>
              <a:r>
                <a:rPr lang="zh-CN" altLang="en-US" b="1"/>
                <a:t>原因）</a:t>
              </a:r>
              <a:endParaRPr lang="zh-CN" altLang="en-US" b="1"/>
            </a:p>
          </p:txBody>
        </p:sp>
      </p:grpSp>
    </p:spTree>
    <p:custDataLst>
      <p:tags r:id="rId14"/>
    </p:custData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处理器</a:t>
                      </a: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调度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一、指令流</a:t>
                      </a: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与执行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应用程序与指令流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顺序与并发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执行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1.3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指令流的描述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en-US" altLang="zh-CN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线程与处理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器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2.1 CPU时间与线程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2.2</a:t>
                      </a: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线程的描述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2.3 纤程与协程</a:t>
                      </a:r>
                      <a:endParaRPr lang="zh-CN" altLang="en-US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三、处理器调度算法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3.1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调度算法原理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多处理器与并发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59385"/>
            <a:ext cx="9121140" cy="65544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rgbClr val="9C0B15"/>
                </a:solidFill>
              </a:rPr>
              <a:t>指令流与线程：</a:t>
            </a:r>
            <a:r>
              <a:rPr lang="zh-CN" altLang="en-US" sz="2000" b="1">
                <a:solidFill>
                  <a:srgbClr val="9C0B15"/>
                </a:solidFill>
              </a:rPr>
              <a:t>一对一</a:t>
            </a:r>
            <a:endParaRPr lang="zh-CN" altLang="en-US" sz="2000" b="1">
              <a:solidFill>
                <a:srgbClr val="9C0B15"/>
              </a:solidFill>
            </a:endParaRPr>
          </a:p>
          <a:p>
            <a:pPr algn="ctr"/>
            <a:endParaRPr lang="zh-CN" altLang="en-US" sz="2000"/>
          </a:p>
          <a:p>
            <a:pPr algn="ctr"/>
            <a:endParaRPr lang="zh-CN" altLang="en-US" sz="2000"/>
          </a:p>
          <a:p>
            <a:pPr algn="ctr"/>
            <a:endParaRPr lang="zh-CN" altLang="en-US" sz="2000"/>
          </a:p>
          <a:p>
            <a:pPr algn="ctr"/>
            <a:endParaRPr lang="zh-CN" altLang="en-US" sz="2000"/>
          </a:p>
          <a:p>
            <a:pPr algn="ctr"/>
            <a:endParaRPr lang="zh-CN" altLang="en-US" sz="2000"/>
          </a:p>
          <a:p>
            <a:pPr algn="ctr"/>
            <a:endParaRPr lang="zh-CN" altLang="en-US" sz="2000"/>
          </a:p>
          <a:p>
            <a:pPr algn="ctr"/>
            <a:endParaRPr lang="zh-CN" altLang="en-US" sz="2000"/>
          </a:p>
          <a:p>
            <a:pPr algn="ctr"/>
            <a:endParaRPr lang="zh-CN" altLang="en-US" sz="2000"/>
          </a:p>
          <a:p>
            <a:pPr algn="ctr"/>
            <a:endParaRPr lang="zh-CN" altLang="en-US" sz="2000"/>
          </a:p>
          <a:p>
            <a:pPr algn="ctr"/>
            <a:endParaRPr lang="zh-CN" altLang="en-US" sz="2000"/>
          </a:p>
          <a:p>
            <a:pPr algn="l"/>
            <a:r>
              <a:rPr lang="zh-CN" altLang="en-US" sz="2000" b="1">
                <a:solidFill>
                  <a:srgbClr val="9C0B15"/>
                </a:solidFill>
              </a:rPr>
              <a:t>优点</a:t>
            </a:r>
            <a:r>
              <a:rPr lang="en-US" altLang="zh-CN" sz="2000"/>
              <a:t>		</a:t>
            </a:r>
            <a:r>
              <a:rPr lang="zh-CN" altLang="en-US" sz="2000"/>
              <a:t>简单。最简单</a:t>
            </a:r>
            <a:r>
              <a:rPr lang="zh-CN" altLang="en-US" sz="2000">
                <a:sym typeface="+mn-ea"/>
              </a:rPr>
              <a:t>，最好实现</a:t>
            </a:r>
            <a:r>
              <a:rPr lang="zh-CN" altLang="en-US" sz="2000"/>
              <a:t>，最常见，常见到</a:t>
            </a:r>
            <a:r>
              <a:rPr lang="en-US" altLang="zh-CN" sz="2000">
                <a:solidFill>
                  <a:srgbClr val="9C0B15"/>
                </a:solidFill>
              </a:rPr>
              <a:t>足以让人把指令流</a:t>
            </a:r>
            <a:r>
              <a:rPr lang="en-US" altLang="zh-CN" sz="2000">
                <a:solidFill>
                  <a:srgbClr val="9C0B15"/>
                </a:solidFill>
                <a:sym typeface="+mn-ea"/>
              </a:rPr>
              <a:t>		</a:t>
            </a:r>
            <a:r>
              <a:rPr lang="en-US" altLang="zh-CN" sz="2000">
                <a:solidFill>
                  <a:srgbClr val="9C0B15"/>
                </a:solidFill>
              </a:rPr>
              <a:t>和线程的概念混淆起来</a:t>
            </a:r>
            <a:r>
              <a:rPr lang="zh-CN" altLang="en-US" sz="2000"/>
              <a:t>。</a:t>
            </a:r>
            <a:endParaRPr lang="zh-CN" altLang="en-US" sz="2000"/>
          </a:p>
          <a:p>
            <a:pPr algn="l"/>
            <a:endParaRPr lang="zh-CN" altLang="en-US" sz="2000"/>
          </a:p>
          <a:p>
            <a:pPr algn="l"/>
            <a:r>
              <a:rPr lang="zh-CN" altLang="en-US" sz="2000" b="1">
                <a:solidFill>
                  <a:srgbClr val="9C0B15"/>
                </a:solidFill>
              </a:rPr>
              <a:t>缺点</a:t>
            </a:r>
            <a:r>
              <a:rPr lang="en-US" altLang="zh-CN" sz="2000"/>
              <a:t>		</a:t>
            </a:r>
            <a:r>
              <a:rPr lang="zh-CN" altLang="en-US" sz="2000"/>
              <a:t>每个指令流都成了</a:t>
            </a:r>
            <a:r>
              <a:rPr lang="en-US" altLang="zh-CN" sz="2000">
                <a:solidFill>
                  <a:srgbClr val="9C0B15"/>
                </a:solidFill>
              </a:rPr>
              <a:t>单独分配时间</a:t>
            </a:r>
            <a:r>
              <a:rPr lang="zh-CN" altLang="en-US" sz="2000"/>
              <a:t>的对象，很多时候</a:t>
            </a:r>
            <a:r>
              <a:rPr lang="en-US" altLang="zh-CN" sz="2000">
                <a:solidFill>
                  <a:srgbClr val="9C0B15"/>
                </a:solidFill>
              </a:rPr>
              <a:t>不需要这样</a:t>
            </a:r>
            <a:r>
              <a:rPr lang="zh-CN" altLang="en-US" sz="2000"/>
              <a:t>。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/>
              <a:t>这样会增加操作系统的负担，因为操作系统需要为每个线程创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/>
              <a:t>建一些单独的管理数据，而且每次</a:t>
            </a:r>
            <a:r>
              <a:rPr lang="en-US" altLang="zh-CN" sz="2000">
                <a:solidFill>
                  <a:srgbClr val="9C0B15"/>
                </a:solidFill>
              </a:rPr>
              <a:t>切换当前CPU上的指令流</a:t>
            </a:r>
            <a:r>
              <a:rPr lang="zh-CN" altLang="en-US" sz="2000"/>
              <a:t>都需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/>
              <a:t>要通知</a:t>
            </a:r>
            <a:r>
              <a:rPr lang="zh-CN" altLang="en-US" sz="2000"/>
              <a:t>操作系统。</a:t>
            </a:r>
            <a:endParaRPr lang="zh-CN" altLang="en-US" sz="2000"/>
          </a:p>
          <a:p>
            <a:pPr algn="l"/>
            <a:endParaRPr lang="zh-CN" altLang="en-US" sz="2000"/>
          </a:p>
          <a:p>
            <a:pPr algn="l"/>
            <a:r>
              <a:rPr lang="zh-CN" altLang="en-US" sz="2000" b="1">
                <a:solidFill>
                  <a:srgbClr val="9C0B15"/>
                </a:solidFill>
                <a:sym typeface="+mn-ea"/>
              </a:rPr>
              <a:t>对应关系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	</a:t>
            </a:r>
            <a:r>
              <a:rPr lang="zh-CN" altLang="en-US" sz="2000">
                <a:sym typeface="+mn-ea"/>
              </a:rPr>
              <a:t>此时指令流的状态和线程的状态是</a:t>
            </a:r>
            <a:r>
              <a:rPr lang="en-US" altLang="zh-CN" sz="2000">
                <a:solidFill>
                  <a:srgbClr val="9C0B15"/>
                </a:solidFill>
                <a:sym typeface="+mn-ea"/>
              </a:rPr>
              <a:t>一对一对应</a:t>
            </a:r>
            <a:r>
              <a:rPr lang="zh-CN" altLang="en-US" sz="2000">
                <a:sym typeface="+mn-ea"/>
              </a:rPr>
              <a:t>的。线程处于什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>
                <a:sym typeface="+mn-ea"/>
              </a:rPr>
              <a:t>么状态，指令流就处于什么</a:t>
            </a:r>
            <a:r>
              <a:rPr lang="zh-CN" altLang="en-US" sz="2000">
                <a:sym typeface="+mn-ea"/>
              </a:rPr>
              <a:t>状态。	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	</a:t>
            </a:r>
            <a:endParaRPr lang="en-US" altLang="zh-CN" sz="2000" b="1">
              <a:solidFill>
                <a:srgbClr val="9C0B15"/>
              </a:solidFill>
              <a:sym typeface="+mn-ea"/>
            </a:endParaRPr>
          </a:p>
        </p:txBody>
      </p:sp>
      <p:sp>
        <p:nvSpPr>
          <p:cNvPr id="60" name="任意多边形 59"/>
          <p:cNvSpPr/>
          <p:nvPr>
            <p:custDataLst>
              <p:tags r:id="rId2"/>
            </p:custDataLst>
          </p:nvPr>
        </p:nvSpPr>
        <p:spPr>
          <a:xfrm>
            <a:off x="4731385" y="838835"/>
            <a:ext cx="324485" cy="696595"/>
          </a:xfrm>
          <a:custGeom>
            <a:avLst/>
            <a:gdLst>
              <a:gd name="connisteX0" fmla="*/ 276519 w 324439"/>
              <a:gd name="connsiteY0" fmla="*/ 0 h 828675"/>
              <a:gd name="connisteX1" fmla="*/ 294 w 324439"/>
              <a:gd name="connsiteY1" fmla="*/ 209550 h 828675"/>
              <a:gd name="connisteX2" fmla="*/ 324144 w 324439"/>
              <a:gd name="connsiteY2" fmla="*/ 561975 h 828675"/>
              <a:gd name="connisteX3" fmla="*/ 47919 w 324439"/>
              <a:gd name="connsiteY3" fmla="*/ 828675 h 828675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</a:cxnLst>
            <a:rect l="l" t="t" r="r" b="b"/>
            <a:pathLst>
              <a:path w="324439" h="828675">
                <a:moveTo>
                  <a:pt x="276520" y="0"/>
                </a:moveTo>
                <a:cubicBezTo>
                  <a:pt x="214925" y="34925"/>
                  <a:pt x="-9230" y="97155"/>
                  <a:pt x="295" y="209550"/>
                </a:cubicBezTo>
                <a:cubicBezTo>
                  <a:pt x="9820" y="321945"/>
                  <a:pt x="314620" y="438150"/>
                  <a:pt x="324145" y="561975"/>
                </a:cubicBezTo>
                <a:cubicBezTo>
                  <a:pt x="333670" y="685800"/>
                  <a:pt x="109515" y="782320"/>
                  <a:pt x="47920" y="828675"/>
                </a:cubicBezTo>
              </a:path>
            </a:pathLst>
          </a:custGeom>
          <a:noFill/>
          <a:ln w="762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2" name="任意多边形 61"/>
          <p:cNvSpPr/>
          <p:nvPr>
            <p:custDataLst>
              <p:tags r:id="rId3"/>
            </p:custDataLst>
          </p:nvPr>
        </p:nvSpPr>
        <p:spPr>
          <a:xfrm>
            <a:off x="7094220" y="838835"/>
            <a:ext cx="324485" cy="696595"/>
          </a:xfrm>
          <a:custGeom>
            <a:avLst/>
            <a:gdLst>
              <a:gd name="connisteX0" fmla="*/ 276519 w 324439"/>
              <a:gd name="connsiteY0" fmla="*/ 0 h 828675"/>
              <a:gd name="connisteX1" fmla="*/ 294 w 324439"/>
              <a:gd name="connsiteY1" fmla="*/ 209550 h 828675"/>
              <a:gd name="connisteX2" fmla="*/ 324144 w 324439"/>
              <a:gd name="connsiteY2" fmla="*/ 561975 h 828675"/>
              <a:gd name="connisteX3" fmla="*/ 47919 w 324439"/>
              <a:gd name="connsiteY3" fmla="*/ 828675 h 828675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</a:cxnLst>
            <a:rect l="l" t="t" r="r" b="b"/>
            <a:pathLst>
              <a:path w="324439" h="828675">
                <a:moveTo>
                  <a:pt x="276520" y="0"/>
                </a:moveTo>
                <a:cubicBezTo>
                  <a:pt x="214925" y="34925"/>
                  <a:pt x="-9230" y="97155"/>
                  <a:pt x="295" y="209550"/>
                </a:cubicBezTo>
                <a:cubicBezTo>
                  <a:pt x="9820" y="321945"/>
                  <a:pt x="314620" y="438150"/>
                  <a:pt x="324145" y="561975"/>
                </a:cubicBezTo>
                <a:cubicBezTo>
                  <a:pt x="333670" y="685800"/>
                  <a:pt x="109515" y="782320"/>
                  <a:pt x="47920" y="828675"/>
                </a:cubicBezTo>
              </a:path>
            </a:pathLst>
          </a:custGeom>
          <a:noFill/>
          <a:ln w="7620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3" name="任意多边形 62"/>
          <p:cNvSpPr/>
          <p:nvPr>
            <p:custDataLst>
              <p:tags r:id="rId4"/>
            </p:custDataLst>
          </p:nvPr>
        </p:nvSpPr>
        <p:spPr>
          <a:xfrm>
            <a:off x="2423160" y="838835"/>
            <a:ext cx="324485" cy="696595"/>
          </a:xfrm>
          <a:custGeom>
            <a:avLst/>
            <a:gdLst>
              <a:gd name="connisteX0" fmla="*/ 276519 w 324439"/>
              <a:gd name="connsiteY0" fmla="*/ 0 h 828675"/>
              <a:gd name="connisteX1" fmla="*/ 294 w 324439"/>
              <a:gd name="connsiteY1" fmla="*/ 209550 h 828675"/>
              <a:gd name="connisteX2" fmla="*/ 324144 w 324439"/>
              <a:gd name="connsiteY2" fmla="*/ 561975 h 828675"/>
              <a:gd name="connisteX3" fmla="*/ 47919 w 324439"/>
              <a:gd name="connsiteY3" fmla="*/ 828675 h 828675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</a:cxnLst>
            <a:rect l="l" t="t" r="r" b="b"/>
            <a:pathLst>
              <a:path w="324439" h="828675">
                <a:moveTo>
                  <a:pt x="276520" y="0"/>
                </a:moveTo>
                <a:cubicBezTo>
                  <a:pt x="214925" y="34925"/>
                  <a:pt x="-9230" y="97155"/>
                  <a:pt x="295" y="209550"/>
                </a:cubicBezTo>
                <a:cubicBezTo>
                  <a:pt x="9820" y="321945"/>
                  <a:pt x="314620" y="438150"/>
                  <a:pt x="324145" y="561975"/>
                </a:cubicBezTo>
                <a:cubicBezTo>
                  <a:pt x="333670" y="685800"/>
                  <a:pt x="109515" y="782320"/>
                  <a:pt x="47920" y="828675"/>
                </a:cubicBezTo>
              </a:path>
            </a:pathLst>
          </a:custGeom>
          <a:noFill/>
          <a:ln w="76200">
            <a:solidFill>
              <a:srgbClr val="D02F3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任意多边形 1"/>
          <p:cNvSpPr/>
          <p:nvPr>
            <p:custDataLst>
              <p:tags r:id="rId5"/>
            </p:custDataLst>
          </p:nvPr>
        </p:nvSpPr>
        <p:spPr>
          <a:xfrm>
            <a:off x="4731385" y="2437130"/>
            <a:ext cx="324485" cy="696595"/>
          </a:xfrm>
          <a:custGeom>
            <a:avLst/>
            <a:gdLst>
              <a:gd name="connisteX0" fmla="*/ 276519 w 324439"/>
              <a:gd name="connsiteY0" fmla="*/ 0 h 828675"/>
              <a:gd name="connisteX1" fmla="*/ 294 w 324439"/>
              <a:gd name="connsiteY1" fmla="*/ 209550 h 828675"/>
              <a:gd name="connisteX2" fmla="*/ 324144 w 324439"/>
              <a:gd name="connsiteY2" fmla="*/ 561975 h 828675"/>
              <a:gd name="connisteX3" fmla="*/ 47919 w 324439"/>
              <a:gd name="connsiteY3" fmla="*/ 828675 h 828675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</a:cxnLst>
            <a:rect l="l" t="t" r="r" b="b"/>
            <a:pathLst>
              <a:path w="324439" h="828675">
                <a:moveTo>
                  <a:pt x="276520" y="0"/>
                </a:moveTo>
                <a:cubicBezTo>
                  <a:pt x="214925" y="34925"/>
                  <a:pt x="-9230" y="97155"/>
                  <a:pt x="295" y="209550"/>
                </a:cubicBezTo>
                <a:cubicBezTo>
                  <a:pt x="9820" y="321945"/>
                  <a:pt x="314620" y="438150"/>
                  <a:pt x="324145" y="561975"/>
                </a:cubicBezTo>
                <a:cubicBezTo>
                  <a:pt x="333670" y="685800"/>
                  <a:pt x="109515" y="782320"/>
                  <a:pt x="47920" y="828675"/>
                </a:cubicBezTo>
              </a:path>
            </a:pathLst>
          </a:custGeom>
          <a:noFill/>
          <a:ln w="762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任意多边形 3"/>
          <p:cNvSpPr/>
          <p:nvPr>
            <p:custDataLst>
              <p:tags r:id="rId6"/>
            </p:custDataLst>
          </p:nvPr>
        </p:nvSpPr>
        <p:spPr>
          <a:xfrm>
            <a:off x="7094220" y="2437130"/>
            <a:ext cx="324485" cy="696595"/>
          </a:xfrm>
          <a:custGeom>
            <a:avLst/>
            <a:gdLst>
              <a:gd name="connisteX0" fmla="*/ 276519 w 324439"/>
              <a:gd name="connsiteY0" fmla="*/ 0 h 828675"/>
              <a:gd name="connisteX1" fmla="*/ 294 w 324439"/>
              <a:gd name="connsiteY1" fmla="*/ 209550 h 828675"/>
              <a:gd name="connisteX2" fmla="*/ 324144 w 324439"/>
              <a:gd name="connsiteY2" fmla="*/ 561975 h 828675"/>
              <a:gd name="connisteX3" fmla="*/ 47919 w 324439"/>
              <a:gd name="connsiteY3" fmla="*/ 828675 h 828675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</a:cxnLst>
            <a:rect l="l" t="t" r="r" b="b"/>
            <a:pathLst>
              <a:path w="324439" h="828675">
                <a:moveTo>
                  <a:pt x="276520" y="0"/>
                </a:moveTo>
                <a:cubicBezTo>
                  <a:pt x="214925" y="34925"/>
                  <a:pt x="-9230" y="97155"/>
                  <a:pt x="295" y="209550"/>
                </a:cubicBezTo>
                <a:cubicBezTo>
                  <a:pt x="9820" y="321945"/>
                  <a:pt x="314620" y="438150"/>
                  <a:pt x="324145" y="561975"/>
                </a:cubicBezTo>
                <a:cubicBezTo>
                  <a:pt x="333670" y="685800"/>
                  <a:pt x="109515" y="782320"/>
                  <a:pt x="47920" y="828675"/>
                </a:cubicBezTo>
              </a:path>
            </a:pathLst>
          </a:custGeom>
          <a:noFill/>
          <a:ln w="7620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任意多边形 4"/>
          <p:cNvSpPr/>
          <p:nvPr>
            <p:custDataLst>
              <p:tags r:id="rId7"/>
            </p:custDataLst>
          </p:nvPr>
        </p:nvSpPr>
        <p:spPr>
          <a:xfrm>
            <a:off x="2423160" y="2437130"/>
            <a:ext cx="324485" cy="696595"/>
          </a:xfrm>
          <a:custGeom>
            <a:avLst/>
            <a:gdLst>
              <a:gd name="connisteX0" fmla="*/ 276519 w 324439"/>
              <a:gd name="connsiteY0" fmla="*/ 0 h 828675"/>
              <a:gd name="connisteX1" fmla="*/ 294 w 324439"/>
              <a:gd name="connsiteY1" fmla="*/ 209550 h 828675"/>
              <a:gd name="connisteX2" fmla="*/ 324144 w 324439"/>
              <a:gd name="connsiteY2" fmla="*/ 561975 h 828675"/>
              <a:gd name="connisteX3" fmla="*/ 47919 w 324439"/>
              <a:gd name="connsiteY3" fmla="*/ 828675 h 828675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</a:cxnLst>
            <a:rect l="l" t="t" r="r" b="b"/>
            <a:pathLst>
              <a:path w="324439" h="828675">
                <a:moveTo>
                  <a:pt x="276520" y="0"/>
                </a:moveTo>
                <a:cubicBezTo>
                  <a:pt x="214925" y="34925"/>
                  <a:pt x="-9230" y="97155"/>
                  <a:pt x="295" y="209550"/>
                </a:cubicBezTo>
                <a:cubicBezTo>
                  <a:pt x="9820" y="321945"/>
                  <a:pt x="314620" y="438150"/>
                  <a:pt x="324145" y="561975"/>
                </a:cubicBezTo>
                <a:cubicBezTo>
                  <a:pt x="333670" y="685800"/>
                  <a:pt x="109515" y="782320"/>
                  <a:pt x="47920" y="828675"/>
                </a:cubicBezTo>
              </a:path>
            </a:pathLst>
          </a:custGeom>
          <a:noFill/>
          <a:ln w="76200">
            <a:solidFill>
              <a:srgbClr val="D02F3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9" name="直接箭头连接符 8"/>
          <p:cNvCxnSpPr/>
          <p:nvPr>
            <p:custDataLst>
              <p:tags r:id="rId8"/>
            </p:custDataLst>
          </p:nvPr>
        </p:nvCxnSpPr>
        <p:spPr>
          <a:xfrm flipH="1">
            <a:off x="2581275" y="1652905"/>
            <a:ext cx="7620" cy="671195"/>
          </a:xfrm>
          <a:prstGeom prst="straightConnector1">
            <a:avLst/>
          </a:prstGeom>
          <a:ln w="38100">
            <a:solidFill>
              <a:srgbClr val="D02F3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箭头连接符 6"/>
          <p:cNvCxnSpPr/>
          <p:nvPr>
            <p:custDataLst>
              <p:tags r:id="rId9"/>
            </p:custDataLst>
          </p:nvPr>
        </p:nvCxnSpPr>
        <p:spPr>
          <a:xfrm flipH="1">
            <a:off x="4890135" y="1652905"/>
            <a:ext cx="7620" cy="671195"/>
          </a:xfrm>
          <a:prstGeom prst="straightConnector1">
            <a:avLst/>
          </a:prstGeom>
          <a:ln w="38100">
            <a:solidFill>
              <a:srgbClr val="D02F3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箭头连接符 7"/>
          <p:cNvCxnSpPr/>
          <p:nvPr>
            <p:custDataLst>
              <p:tags r:id="rId10"/>
            </p:custDataLst>
          </p:nvPr>
        </p:nvCxnSpPr>
        <p:spPr>
          <a:xfrm flipH="1">
            <a:off x="7252970" y="1652905"/>
            <a:ext cx="7620" cy="671195"/>
          </a:xfrm>
          <a:prstGeom prst="straightConnector1">
            <a:avLst/>
          </a:prstGeom>
          <a:ln w="38100">
            <a:solidFill>
              <a:srgbClr val="D02F3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右箭头标注 25"/>
          <p:cNvSpPr/>
          <p:nvPr>
            <p:custDataLst>
              <p:tags r:id="rId11"/>
            </p:custDataLst>
          </p:nvPr>
        </p:nvSpPr>
        <p:spPr>
          <a:xfrm>
            <a:off x="333375" y="864870"/>
            <a:ext cx="1196975" cy="670560"/>
          </a:xfrm>
          <a:prstGeom prst="rightArrowCallout">
            <a:avLst/>
          </a:prstGeom>
          <a:solidFill>
            <a:srgbClr val="D02F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用户模式</a:t>
            </a:r>
            <a:endParaRPr lang="zh-CN" altLang="en-US"/>
          </a:p>
        </p:txBody>
      </p:sp>
      <p:sp>
        <p:nvSpPr>
          <p:cNvPr id="70" name="右箭头标注 69"/>
          <p:cNvSpPr/>
          <p:nvPr>
            <p:custDataLst>
              <p:tags r:id="rId12"/>
            </p:custDataLst>
          </p:nvPr>
        </p:nvSpPr>
        <p:spPr>
          <a:xfrm>
            <a:off x="333375" y="2437130"/>
            <a:ext cx="1196975" cy="670560"/>
          </a:xfrm>
          <a:prstGeom prst="rightArrowCallout">
            <a:avLst/>
          </a:prstGeom>
          <a:solidFill>
            <a:srgbClr val="D02F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内核模式</a:t>
            </a:r>
            <a:endParaRPr lang="zh-CN" altLang="en-US"/>
          </a:p>
        </p:txBody>
      </p:sp>
    </p:spTree>
    <p:custDataLst>
      <p:tags r:id="rId13"/>
    </p:custData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处理器</a:t>
                      </a: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调度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一、指令流</a:t>
                      </a: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与执行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应用程序与指令流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顺序与并发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执行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1.3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指令流的描述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en-US" altLang="zh-CN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线程与处理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器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2.1 CPU时间与线程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2.2</a:t>
                      </a: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线程的描述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2.3 纤程与协程</a:t>
                      </a:r>
                      <a:endParaRPr lang="zh-CN" altLang="en-US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三、处理器调度算法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3.1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调度算法原理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多处理器与并发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59385"/>
            <a:ext cx="9121140" cy="62471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rgbClr val="9C0B15"/>
                </a:solidFill>
              </a:rPr>
              <a:t>指令流与线程：</a:t>
            </a:r>
            <a:r>
              <a:rPr lang="zh-CN" altLang="en-US" sz="2000" b="1">
                <a:solidFill>
                  <a:srgbClr val="9C0B15"/>
                </a:solidFill>
              </a:rPr>
              <a:t>多对一</a:t>
            </a:r>
            <a:endParaRPr lang="zh-CN" altLang="en-US" sz="2000" b="1">
              <a:solidFill>
                <a:srgbClr val="9C0B15"/>
              </a:solidFill>
            </a:endParaRPr>
          </a:p>
          <a:p>
            <a:pPr algn="ctr"/>
            <a:endParaRPr lang="zh-CN" altLang="en-US" sz="2000"/>
          </a:p>
          <a:p>
            <a:pPr algn="ctr"/>
            <a:endParaRPr lang="zh-CN" altLang="en-US" sz="2000"/>
          </a:p>
          <a:p>
            <a:pPr algn="ctr"/>
            <a:endParaRPr lang="zh-CN" altLang="en-US" sz="2000"/>
          </a:p>
          <a:p>
            <a:pPr algn="ctr"/>
            <a:endParaRPr lang="zh-CN" altLang="en-US" sz="2000"/>
          </a:p>
          <a:p>
            <a:pPr algn="ctr"/>
            <a:endParaRPr lang="zh-CN" altLang="en-US" sz="2000"/>
          </a:p>
          <a:p>
            <a:pPr algn="ctr"/>
            <a:endParaRPr lang="zh-CN" altLang="en-US" sz="2000"/>
          </a:p>
          <a:p>
            <a:pPr algn="ctr"/>
            <a:endParaRPr lang="zh-CN" altLang="en-US" sz="2000"/>
          </a:p>
          <a:p>
            <a:pPr algn="ctr"/>
            <a:endParaRPr lang="zh-CN" altLang="en-US" sz="2000"/>
          </a:p>
          <a:p>
            <a:pPr algn="ctr"/>
            <a:endParaRPr lang="zh-CN" altLang="en-US" sz="2000"/>
          </a:p>
          <a:p>
            <a:pPr algn="l"/>
            <a:endParaRPr lang="zh-CN" altLang="en-US" sz="2000" b="1">
              <a:solidFill>
                <a:srgbClr val="9C0B15"/>
              </a:solidFill>
            </a:endParaRPr>
          </a:p>
          <a:p>
            <a:pPr algn="l"/>
            <a:endParaRPr lang="zh-CN" altLang="en-US" sz="2000" b="1">
              <a:solidFill>
                <a:srgbClr val="9C0B15"/>
              </a:solidFill>
            </a:endParaRPr>
          </a:p>
          <a:p>
            <a:pPr algn="l"/>
            <a:r>
              <a:rPr lang="zh-CN" altLang="en-US" sz="2000" b="1">
                <a:solidFill>
                  <a:srgbClr val="9C0B15"/>
                </a:solidFill>
              </a:rPr>
              <a:t>优点</a:t>
            </a:r>
            <a:r>
              <a:rPr lang="en-US" altLang="zh-CN" sz="2000"/>
              <a:t>		</a:t>
            </a:r>
            <a:r>
              <a:rPr lang="zh-CN" altLang="en-US" sz="2000"/>
              <a:t>高效。同一个线程中的多个指令流可以借由附着在同一个线程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/>
              <a:t>上</a:t>
            </a:r>
            <a:r>
              <a:rPr lang="en-US" altLang="zh-CN" sz="2000">
                <a:solidFill>
                  <a:srgbClr val="9C0B15"/>
                </a:solidFill>
              </a:rPr>
              <a:t>共享一份执行时间</a:t>
            </a:r>
            <a:r>
              <a:rPr lang="zh-CN" altLang="en-US" sz="2000"/>
              <a:t>，它们在内核中也被当作一个</a:t>
            </a:r>
            <a:r>
              <a:rPr lang="en-US" altLang="zh-CN" sz="2000">
                <a:solidFill>
                  <a:srgbClr val="9C0B15"/>
                </a:solidFill>
              </a:rPr>
              <a:t>对象</a:t>
            </a:r>
            <a:r>
              <a:rPr lang="zh-CN" altLang="en-US" sz="2000"/>
              <a:t>来处理，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/>
              <a:t>其</a:t>
            </a:r>
            <a:r>
              <a:rPr lang="en-US" altLang="zh-CN" sz="2000">
                <a:solidFill>
                  <a:srgbClr val="9C0B15"/>
                </a:solidFill>
              </a:rPr>
              <a:t>TCB仅仅创建一份</a:t>
            </a:r>
            <a:r>
              <a:rPr lang="zh-CN" altLang="en-US" sz="2000"/>
              <a:t>。对于每一个线程上附着的</a:t>
            </a:r>
            <a:r>
              <a:rPr lang="en-US" altLang="zh-CN" sz="2000">
                <a:solidFill>
                  <a:srgbClr val="9C0B15"/>
                </a:solidFill>
              </a:rPr>
              <a:t>多个就绪指令流</a:t>
            </a:r>
            <a:r>
              <a:rPr lang="zh-CN" altLang="en-US" sz="2000"/>
              <a:t>，</a:t>
            </a:r>
            <a:r>
              <a:rPr lang="en-US" altLang="zh-CN" sz="2000">
                <a:solidFill>
                  <a:srgbClr val="9C0B15"/>
                </a:solidFill>
                <a:sym typeface="+mn-ea"/>
              </a:rPr>
              <a:t>		</a:t>
            </a:r>
            <a:r>
              <a:rPr lang="en-US" altLang="zh-CN" sz="2000">
                <a:solidFill>
                  <a:srgbClr val="9C0B15"/>
                </a:solidFill>
              </a:rPr>
              <a:t>应用程序负责决定哪个指令流得到线程从而运行</a:t>
            </a:r>
            <a:r>
              <a:rPr lang="zh-CN" altLang="en-US" sz="2000">
                <a:solidFill>
                  <a:srgbClr val="9C0B15"/>
                </a:solidFill>
              </a:rPr>
              <a:t>，并切换到它</a:t>
            </a:r>
            <a:r>
              <a:rPr lang="zh-CN" altLang="en-US" sz="2000"/>
              <a:t>。</a:t>
            </a:r>
            <a:endParaRPr lang="zh-CN" altLang="en-US" sz="2000"/>
          </a:p>
          <a:p>
            <a:pPr algn="l"/>
            <a:endParaRPr lang="zh-CN" altLang="en-US" sz="2000"/>
          </a:p>
          <a:p>
            <a:pPr algn="l"/>
            <a:r>
              <a:rPr lang="en-US" altLang="zh-CN" sz="2000">
                <a:sym typeface="+mn-ea"/>
              </a:rPr>
              <a:t>		</a:t>
            </a:r>
            <a:r>
              <a:rPr lang="zh-CN" altLang="en-US" sz="2000"/>
              <a:t>通常而言，只有紧密协作的指令流才会被放在同一个线程上，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/>
              <a:t>而且</a:t>
            </a:r>
            <a:r>
              <a:rPr lang="en-US" altLang="zh-CN" sz="2000">
                <a:solidFill>
                  <a:srgbClr val="9C0B15"/>
                </a:solidFill>
              </a:rPr>
              <a:t>操作系统并不需要知道指令流的存在</a:t>
            </a:r>
            <a:r>
              <a:rPr lang="zh-CN" altLang="en-US" sz="2000"/>
              <a:t>，因此仍然可以在那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/>
              <a:t>些一对一的操作系统中</a:t>
            </a:r>
            <a:r>
              <a:rPr lang="zh-CN" altLang="en-US" sz="2000"/>
              <a:t>实现。</a:t>
            </a:r>
            <a:endParaRPr lang="zh-CN" altLang="en-US" sz="2000"/>
          </a:p>
        </p:txBody>
      </p:sp>
      <p:sp>
        <p:nvSpPr>
          <p:cNvPr id="60" name="任意多边形 59"/>
          <p:cNvSpPr/>
          <p:nvPr>
            <p:custDataLst>
              <p:tags r:id="rId2"/>
            </p:custDataLst>
          </p:nvPr>
        </p:nvSpPr>
        <p:spPr>
          <a:xfrm>
            <a:off x="4731385" y="838835"/>
            <a:ext cx="324485" cy="696595"/>
          </a:xfrm>
          <a:custGeom>
            <a:avLst/>
            <a:gdLst>
              <a:gd name="connisteX0" fmla="*/ 276519 w 324439"/>
              <a:gd name="connsiteY0" fmla="*/ 0 h 828675"/>
              <a:gd name="connisteX1" fmla="*/ 294 w 324439"/>
              <a:gd name="connsiteY1" fmla="*/ 209550 h 828675"/>
              <a:gd name="connisteX2" fmla="*/ 324144 w 324439"/>
              <a:gd name="connsiteY2" fmla="*/ 561975 h 828675"/>
              <a:gd name="connisteX3" fmla="*/ 47919 w 324439"/>
              <a:gd name="connsiteY3" fmla="*/ 828675 h 828675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</a:cxnLst>
            <a:rect l="l" t="t" r="r" b="b"/>
            <a:pathLst>
              <a:path w="324439" h="828675">
                <a:moveTo>
                  <a:pt x="276520" y="0"/>
                </a:moveTo>
                <a:cubicBezTo>
                  <a:pt x="214925" y="34925"/>
                  <a:pt x="-9230" y="97155"/>
                  <a:pt x="295" y="209550"/>
                </a:cubicBezTo>
                <a:cubicBezTo>
                  <a:pt x="9820" y="321945"/>
                  <a:pt x="314620" y="438150"/>
                  <a:pt x="324145" y="561975"/>
                </a:cubicBezTo>
                <a:cubicBezTo>
                  <a:pt x="333670" y="685800"/>
                  <a:pt x="109515" y="782320"/>
                  <a:pt x="47920" y="828675"/>
                </a:cubicBezTo>
              </a:path>
            </a:pathLst>
          </a:custGeom>
          <a:noFill/>
          <a:ln w="762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2" name="任意多边形 61"/>
          <p:cNvSpPr/>
          <p:nvPr>
            <p:custDataLst>
              <p:tags r:id="rId3"/>
            </p:custDataLst>
          </p:nvPr>
        </p:nvSpPr>
        <p:spPr>
          <a:xfrm>
            <a:off x="7094220" y="838835"/>
            <a:ext cx="324485" cy="696595"/>
          </a:xfrm>
          <a:custGeom>
            <a:avLst/>
            <a:gdLst>
              <a:gd name="connisteX0" fmla="*/ 276519 w 324439"/>
              <a:gd name="connsiteY0" fmla="*/ 0 h 828675"/>
              <a:gd name="connisteX1" fmla="*/ 294 w 324439"/>
              <a:gd name="connsiteY1" fmla="*/ 209550 h 828675"/>
              <a:gd name="connisteX2" fmla="*/ 324144 w 324439"/>
              <a:gd name="connsiteY2" fmla="*/ 561975 h 828675"/>
              <a:gd name="connisteX3" fmla="*/ 47919 w 324439"/>
              <a:gd name="connsiteY3" fmla="*/ 828675 h 828675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</a:cxnLst>
            <a:rect l="l" t="t" r="r" b="b"/>
            <a:pathLst>
              <a:path w="324439" h="828675">
                <a:moveTo>
                  <a:pt x="276520" y="0"/>
                </a:moveTo>
                <a:cubicBezTo>
                  <a:pt x="214925" y="34925"/>
                  <a:pt x="-9230" y="97155"/>
                  <a:pt x="295" y="209550"/>
                </a:cubicBezTo>
                <a:cubicBezTo>
                  <a:pt x="9820" y="321945"/>
                  <a:pt x="314620" y="438150"/>
                  <a:pt x="324145" y="561975"/>
                </a:cubicBezTo>
                <a:cubicBezTo>
                  <a:pt x="333670" y="685800"/>
                  <a:pt x="109515" y="782320"/>
                  <a:pt x="47920" y="828675"/>
                </a:cubicBezTo>
              </a:path>
            </a:pathLst>
          </a:custGeom>
          <a:noFill/>
          <a:ln w="7620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3" name="任意多边形 62"/>
          <p:cNvSpPr/>
          <p:nvPr>
            <p:custDataLst>
              <p:tags r:id="rId4"/>
            </p:custDataLst>
          </p:nvPr>
        </p:nvSpPr>
        <p:spPr>
          <a:xfrm>
            <a:off x="2423160" y="838835"/>
            <a:ext cx="324485" cy="696595"/>
          </a:xfrm>
          <a:custGeom>
            <a:avLst/>
            <a:gdLst>
              <a:gd name="connisteX0" fmla="*/ 276519 w 324439"/>
              <a:gd name="connsiteY0" fmla="*/ 0 h 828675"/>
              <a:gd name="connisteX1" fmla="*/ 294 w 324439"/>
              <a:gd name="connsiteY1" fmla="*/ 209550 h 828675"/>
              <a:gd name="connisteX2" fmla="*/ 324144 w 324439"/>
              <a:gd name="connsiteY2" fmla="*/ 561975 h 828675"/>
              <a:gd name="connisteX3" fmla="*/ 47919 w 324439"/>
              <a:gd name="connsiteY3" fmla="*/ 828675 h 828675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</a:cxnLst>
            <a:rect l="l" t="t" r="r" b="b"/>
            <a:pathLst>
              <a:path w="324439" h="828675">
                <a:moveTo>
                  <a:pt x="276520" y="0"/>
                </a:moveTo>
                <a:cubicBezTo>
                  <a:pt x="214925" y="34925"/>
                  <a:pt x="-9230" y="97155"/>
                  <a:pt x="295" y="209550"/>
                </a:cubicBezTo>
                <a:cubicBezTo>
                  <a:pt x="9820" y="321945"/>
                  <a:pt x="314620" y="438150"/>
                  <a:pt x="324145" y="561975"/>
                </a:cubicBezTo>
                <a:cubicBezTo>
                  <a:pt x="333670" y="685800"/>
                  <a:pt x="109515" y="782320"/>
                  <a:pt x="47920" y="828675"/>
                </a:cubicBezTo>
              </a:path>
            </a:pathLst>
          </a:custGeom>
          <a:noFill/>
          <a:ln w="76200">
            <a:solidFill>
              <a:srgbClr val="D02F3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任意多边形 1"/>
          <p:cNvSpPr/>
          <p:nvPr>
            <p:custDataLst>
              <p:tags r:id="rId5"/>
            </p:custDataLst>
          </p:nvPr>
        </p:nvSpPr>
        <p:spPr>
          <a:xfrm>
            <a:off x="4731385" y="2437130"/>
            <a:ext cx="324485" cy="696595"/>
          </a:xfrm>
          <a:custGeom>
            <a:avLst/>
            <a:gdLst>
              <a:gd name="connisteX0" fmla="*/ 276519 w 324439"/>
              <a:gd name="connsiteY0" fmla="*/ 0 h 828675"/>
              <a:gd name="connisteX1" fmla="*/ 294 w 324439"/>
              <a:gd name="connsiteY1" fmla="*/ 209550 h 828675"/>
              <a:gd name="connisteX2" fmla="*/ 324144 w 324439"/>
              <a:gd name="connsiteY2" fmla="*/ 561975 h 828675"/>
              <a:gd name="connisteX3" fmla="*/ 47919 w 324439"/>
              <a:gd name="connsiteY3" fmla="*/ 828675 h 828675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</a:cxnLst>
            <a:rect l="l" t="t" r="r" b="b"/>
            <a:pathLst>
              <a:path w="324439" h="828675">
                <a:moveTo>
                  <a:pt x="276520" y="0"/>
                </a:moveTo>
                <a:cubicBezTo>
                  <a:pt x="214925" y="34925"/>
                  <a:pt x="-9230" y="97155"/>
                  <a:pt x="295" y="209550"/>
                </a:cubicBezTo>
                <a:cubicBezTo>
                  <a:pt x="9820" y="321945"/>
                  <a:pt x="314620" y="438150"/>
                  <a:pt x="324145" y="561975"/>
                </a:cubicBezTo>
                <a:cubicBezTo>
                  <a:pt x="333670" y="685800"/>
                  <a:pt x="109515" y="782320"/>
                  <a:pt x="47920" y="828675"/>
                </a:cubicBezTo>
              </a:path>
            </a:pathLst>
          </a:custGeom>
          <a:noFill/>
          <a:ln w="762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任意多边形 3"/>
          <p:cNvSpPr/>
          <p:nvPr>
            <p:custDataLst>
              <p:tags r:id="rId6"/>
            </p:custDataLst>
          </p:nvPr>
        </p:nvSpPr>
        <p:spPr>
          <a:xfrm>
            <a:off x="7094220" y="2437130"/>
            <a:ext cx="324485" cy="696595"/>
          </a:xfrm>
          <a:custGeom>
            <a:avLst/>
            <a:gdLst>
              <a:gd name="connisteX0" fmla="*/ 276519 w 324439"/>
              <a:gd name="connsiteY0" fmla="*/ 0 h 828675"/>
              <a:gd name="connisteX1" fmla="*/ 294 w 324439"/>
              <a:gd name="connsiteY1" fmla="*/ 209550 h 828675"/>
              <a:gd name="connisteX2" fmla="*/ 324144 w 324439"/>
              <a:gd name="connsiteY2" fmla="*/ 561975 h 828675"/>
              <a:gd name="connisteX3" fmla="*/ 47919 w 324439"/>
              <a:gd name="connsiteY3" fmla="*/ 828675 h 828675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</a:cxnLst>
            <a:rect l="l" t="t" r="r" b="b"/>
            <a:pathLst>
              <a:path w="324439" h="828675">
                <a:moveTo>
                  <a:pt x="276520" y="0"/>
                </a:moveTo>
                <a:cubicBezTo>
                  <a:pt x="214925" y="34925"/>
                  <a:pt x="-9230" y="97155"/>
                  <a:pt x="295" y="209550"/>
                </a:cubicBezTo>
                <a:cubicBezTo>
                  <a:pt x="9820" y="321945"/>
                  <a:pt x="314620" y="438150"/>
                  <a:pt x="324145" y="561975"/>
                </a:cubicBezTo>
                <a:cubicBezTo>
                  <a:pt x="333670" y="685800"/>
                  <a:pt x="109515" y="782320"/>
                  <a:pt x="47920" y="828675"/>
                </a:cubicBezTo>
              </a:path>
            </a:pathLst>
          </a:custGeom>
          <a:noFill/>
          <a:ln w="7620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任意多边形 4"/>
          <p:cNvSpPr/>
          <p:nvPr>
            <p:custDataLst>
              <p:tags r:id="rId7"/>
            </p:custDataLst>
          </p:nvPr>
        </p:nvSpPr>
        <p:spPr>
          <a:xfrm>
            <a:off x="2423160" y="2437130"/>
            <a:ext cx="324485" cy="696595"/>
          </a:xfrm>
          <a:custGeom>
            <a:avLst/>
            <a:gdLst>
              <a:gd name="connisteX0" fmla="*/ 276519 w 324439"/>
              <a:gd name="connsiteY0" fmla="*/ 0 h 828675"/>
              <a:gd name="connisteX1" fmla="*/ 294 w 324439"/>
              <a:gd name="connsiteY1" fmla="*/ 209550 h 828675"/>
              <a:gd name="connisteX2" fmla="*/ 324144 w 324439"/>
              <a:gd name="connsiteY2" fmla="*/ 561975 h 828675"/>
              <a:gd name="connisteX3" fmla="*/ 47919 w 324439"/>
              <a:gd name="connsiteY3" fmla="*/ 828675 h 828675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</a:cxnLst>
            <a:rect l="l" t="t" r="r" b="b"/>
            <a:pathLst>
              <a:path w="324439" h="828675">
                <a:moveTo>
                  <a:pt x="276520" y="0"/>
                </a:moveTo>
                <a:cubicBezTo>
                  <a:pt x="214925" y="34925"/>
                  <a:pt x="-9230" y="97155"/>
                  <a:pt x="295" y="209550"/>
                </a:cubicBezTo>
                <a:cubicBezTo>
                  <a:pt x="9820" y="321945"/>
                  <a:pt x="314620" y="438150"/>
                  <a:pt x="324145" y="561975"/>
                </a:cubicBezTo>
                <a:cubicBezTo>
                  <a:pt x="333670" y="685800"/>
                  <a:pt x="109515" y="782320"/>
                  <a:pt x="47920" y="828675"/>
                </a:cubicBezTo>
              </a:path>
            </a:pathLst>
          </a:custGeom>
          <a:noFill/>
          <a:ln w="76200">
            <a:solidFill>
              <a:srgbClr val="D02F3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9" name="直接箭头连接符 8"/>
          <p:cNvCxnSpPr/>
          <p:nvPr>
            <p:custDataLst>
              <p:tags r:id="rId8"/>
            </p:custDataLst>
          </p:nvPr>
        </p:nvCxnSpPr>
        <p:spPr>
          <a:xfrm flipH="1">
            <a:off x="2581275" y="1652905"/>
            <a:ext cx="7620" cy="671195"/>
          </a:xfrm>
          <a:prstGeom prst="straightConnector1">
            <a:avLst/>
          </a:prstGeom>
          <a:ln w="38100">
            <a:solidFill>
              <a:srgbClr val="D02F3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箭头连接符 6"/>
          <p:cNvCxnSpPr/>
          <p:nvPr>
            <p:custDataLst>
              <p:tags r:id="rId9"/>
            </p:custDataLst>
          </p:nvPr>
        </p:nvCxnSpPr>
        <p:spPr>
          <a:xfrm flipH="1">
            <a:off x="4890135" y="1652905"/>
            <a:ext cx="7620" cy="671195"/>
          </a:xfrm>
          <a:prstGeom prst="straightConnector1">
            <a:avLst/>
          </a:prstGeom>
          <a:ln w="38100">
            <a:solidFill>
              <a:srgbClr val="D02F3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箭头连接符 7"/>
          <p:cNvCxnSpPr/>
          <p:nvPr>
            <p:custDataLst>
              <p:tags r:id="rId10"/>
            </p:custDataLst>
          </p:nvPr>
        </p:nvCxnSpPr>
        <p:spPr>
          <a:xfrm flipH="1">
            <a:off x="7252970" y="1652905"/>
            <a:ext cx="7620" cy="671195"/>
          </a:xfrm>
          <a:prstGeom prst="straightConnector1">
            <a:avLst/>
          </a:prstGeom>
          <a:ln w="38100">
            <a:solidFill>
              <a:srgbClr val="D02F3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任意多边形 5"/>
          <p:cNvSpPr/>
          <p:nvPr>
            <p:custDataLst>
              <p:tags r:id="rId11"/>
            </p:custDataLst>
          </p:nvPr>
        </p:nvSpPr>
        <p:spPr>
          <a:xfrm>
            <a:off x="1775460" y="838835"/>
            <a:ext cx="324485" cy="696595"/>
          </a:xfrm>
          <a:custGeom>
            <a:avLst/>
            <a:gdLst>
              <a:gd name="connisteX0" fmla="*/ 276519 w 324439"/>
              <a:gd name="connsiteY0" fmla="*/ 0 h 828675"/>
              <a:gd name="connisteX1" fmla="*/ 294 w 324439"/>
              <a:gd name="connsiteY1" fmla="*/ 209550 h 828675"/>
              <a:gd name="connisteX2" fmla="*/ 324144 w 324439"/>
              <a:gd name="connsiteY2" fmla="*/ 561975 h 828675"/>
              <a:gd name="connisteX3" fmla="*/ 47919 w 324439"/>
              <a:gd name="connsiteY3" fmla="*/ 828675 h 828675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</a:cxnLst>
            <a:rect l="l" t="t" r="r" b="b"/>
            <a:pathLst>
              <a:path w="324439" h="828675">
                <a:moveTo>
                  <a:pt x="276520" y="0"/>
                </a:moveTo>
                <a:cubicBezTo>
                  <a:pt x="214925" y="34925"/>
                  <a:pt x="-9230" y="97155"/>
                  <a:pt x="295" y="209550"/>
                </a:cubicBezTo>
                <a:cubicBezTo>
                  <a:pt x="9820" y="321945"/>
                  <a:pt x="314620" y="438150"/>
                  <a:pt x="324145" y="561975"/>
                </a:cubicBezTo>
                <a:cubicBezTo>
                  <a:pt x="333670" y="685800"/>
                  <a:pt x="109515" y="782320"/>
                  <a:pt x="47920" y="828675"/>
                </a:cubicBezTo>
              </a:path>
            </a:pathLst>
          </a:custGeom>
          <a:noFill/>
          <a:ln w="76200">
            <a:solidFill>
              <a:srgbClr val="D02F3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任意多边形 14"/>
          <p:cNvSpPr/>
          <p:nvPr>
            <p:custDataLst>
              <p:tags r:id="rId12"/>
            </p:custDataLst>
          </p:nvPr>
        </p:nvSpPr>
        <p:spPr>
          <a:xfrm>
            <a:off x="3090545" y="838835"/>
            <a:ext cx="324485" cy="696595"/>
          </a:xfrm>
          <a:custGeom>
            <a:avLst/>
            <a:gdLst>
              <a:gd name="connisteX0" fmla="*/ 276519 w 324439"/>
              <a:gd name="connsiteY0" fmla="*/ 0 h 828675"/>
              <a:gd name="connisteX1" fmla="*/ 294 w 324439"/>
              <a:gd name="connsiteY1" fmla="*/ 209550 h 828675"/>
              <a:gd name="connisteX2" fmla="*/ 324144 w 324439"/>
              <a:gd name="connsiteY2" fmla="*/ 561975 h 828675"/>
              <a:gd name="connisteX3" fmla="*/ 47919 w 324439"/>
              <a:gd name="connsiteY3" fmla="*/ 828675 h 828675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</a:cxnLst>
            <a:rect l="l" t="t" r="r" b="b"/>
            <a:pathLst>
              <a:path w="324439" h="828675">
                <a:moveTo>
                  <a:pt x="276520" y="0"/>
                </a:moveTo>
                <a:cubicBezTo>
                  <a:pt x="214925" y="34925"/>
                  <a:pt x="-9230" y="97155"/>
                  <a:pt x="295" y="209550"/>
                </a:cubicBezTo>
                <a:cubicBezTo>
                  <a:pt x="9820" y="321945"/>
                  <a:pt x="314620" y="438150"/>
                  <a:pt x="324145" y="561975"/>
                </a:cubicBezTo>
                <a:cubicBezTo>
                  <a:pt x="333670" y="685800"/>
                  <a:pt x="109515" y="782320"/>
                  <a:pt x="47920" y="828675"/>
                </a:cubicBezTo>
              </a:path>
            </a:pathLst>
          </a:custGeom>
          <a:noFill/>
          <a:ln w="76200">
            <a:solidFill>
              <a:srgbClr val="D02F3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任意多边形 16"/>
          <p:cNvSpPr/>
          <p:nvPr>
            <p:custDataLst>
              <p:tags r:id="rId13"/>
            </p:custDataLst>
          </p:nvPr>
        </p:nvSpPr>
        <p:spPr>
          <a:xfrm>
            <a:off x="4147820" y="838835"/>
            <a:ext cx="324485" cy="696595"/>
          </a:xfrm>
          <a:custGeom>
            <a:avLst/>
            <a:gdLst>
              <a:gd name="connisteX0" fmla="*/ 276519 w 324439"/>
              <a:gd name="connsiteY0" fmla="*/ 0 h 828675"/>
              <a:gd name="connisteX1" fmla="*/ 294 w 324439"/>
              <a:gd name="connsiteY1" fmla="*/ 209550 h 828675"/>
              <a:gd name="connisteX2" fmla="*/ 324144 w 324439"/>
              <a:gd name="connsiteY2" fmla="*/ 561975 h 828675"/>
              <a:gd name="connisteX3" fmla="*/ 47919 w 324439"/>
              <a:gd name="connsiteY3" fmla="*/ 828675 h 828675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</a:cxnLst>
            <a:rect l="l" t="t" r="r" b="b"/>
            <a:pathLst>
              <a:path w="324439" h="828675">
                <a:moveTo>
                  <a:pt x="276520" y="0"/>
                </a:moveTo>
                <a:cubicBezTo>
                  <a:pt x="214925" y="34925"/>
                  <a:pt x="-9230" y="97155"/>
                  <a:pt x="295" y="209550"/>
                </a:cubicBezTo>
                <a:cubicBezTo>
                  <a:pt x="9820" y="321945"/>
                  <a:pt x="314620" y="438150"/>
                  <a:pt x="324145" y="561975"/>
                </a:cubicBezTo>
                <a:cubicBezTo>
                  <a:pt x="333670" y="685800"/>
                  <a:pt x="109515" y="782320"/>
                  <a:pt x="47920" y="828675"/>
                </a:cubicBezTo>
              </a:path>
            </a:pathLst>
          </a:custGeom>
          <a:noFill/>
          <a:ln w="762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任意多边形 24"/>
          <p:cNvSpPr/>
          <p:nvPr>
            <p:custDataLst>
              <p:tags r:id="rId14"/>
            </p:custDataLst>
          </p:nvPr>
        </p:nvSpPr>
        <p:spPr>
          <a:xfrm>
            <a:off x="5374640" y="838835"/>
            <a:ext cx="324485" cy="696595"/>
          </a:xfrm>
          <a:custGeom>
            <a:avLst/>
            <a:gdLst>
              <a:gd name="connisteX0" fmla="*/ 276519 w 324439"/>
              <a:gd name="connsiteY0" fmla="*/ 0 h 828675"/>
              <a:gd name="connisteX1" fmla="*/ 294 w 324439"/>
              <a:gd name="connsiteY1" fmla="*/ 209550 h 828675"/>
              <a:gd name="connisteX2" fmla="*/ 324144 w 324439"/>
              <a:gd name="connsiteY2" fmla="*/ 561975 h 828675"/>
              <a:gd name="connisteX3" fmla="*/ 47919 w 324439"/>
              <a:gd name="connsiteY3" fmla="*/ 828675 h 828675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</a:cxnLst>
            <a:rect l="l" t="t" r="r" b="b"/>
            <a:pathLst>
              <a:path w="324439" h="828675">
                <a:moveTo>
                  <a:pt x="276520" y="0"/>
                </a:moveTo>
                <a:cubicBezTo>
                  <a:pt x="214925" y="34925"/>
                  <a:pt x="-9230" y="97155"/>
                  <a:pt x="295" y="209550"/>
                </a:cubicBezTo>
                <a:cubicBezTo>
                  <a:pt x="9820" y="321945"/>
                  <a:pt x="314620" y="438150"/>
                  <a:pt x="324145" y="561975"/>
                </a:cubicBezTo>
                <a:cubicBezTo>
                  <a:pt x="333670" y="685800"/>
                  <a:pt x="109515" y="782320"/>
                  <a:pt x="47920" y="828675"/>
                </a:cubicBezTo>
              </a:path>
            </a:pathLst>
          </a:custGeom>
          <a:noFill/>
          <a:ln w="762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8" name="任意多边形 27"/>
          <p:cNvSpPr/>
          <p:nvPr>
            <p:custDataLst>
              <p:tags r:id="rId15"/>
            </p:custDataLst>
          </p:nvPr>
        </p:nvSpPr>
        <p:spPr>
          <a:xfrm>
            <a:off x="6472555" y="838835"/>
            <a:ext cx="324485" cy="696595"/>
          </a:xfrm>
          <a:custGeom>
            <a:avLst/>
            <a:gdLst>
              <a:gd name="connisteX0" fmla="*/ 276519 w 324439"/>
              <a:gd name="connsiteY0" fmla="*/ 0 h 828675"/>
              <a:gd name="connisteX1" fmla="*/ 294 w 324439"/>
              <a:gd name="connsiteY1" fmla="*/ 209550 h 828675"/>
              <a:gd name="connisteX2" fmla="*/ 324144 w 324439"/>
              <a:gd name="connsiteY2" fmla="*/ 561975 h 828675"/>
              <a:gd name="connisteX3" fmla="*/ 47919 w 324439"/>
              <a:gd name="connsiteY3" fmla="*/ 828675 h 828675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</a:cxnLst>
            <a:rect l="l" t="t" r="r" b="b"/>
            <a:pathLst>
              <a:path w="324439" h="828675">
                <a:moveTo>
                  <a:pt x="276520" y="0"/>
                </a:moveTo>
                <a:cubicBezTo>
                  <a:pt x="214925" y="34925"/>
                  <a:pt x="-9230" y="97155"/>
                  <a:pt x="295" y="209550"/>
                </a:cubicBezTo>
                <a:cubicBezTo>
                  <a:pt x="9820" y="321945"/>
                  <a:pt x="314620" y="438150"/>
                  <a:pt x="324145" y="561975"/>
                </a:cubicBezTo>
                <a:cubicBezTo>
                  <a:pt x="333670" y="685800"/>
                  <a:pt x="109515" y="782320"/>
                  <a:pt x="47920" y="828675"/>
                </a:cubicBezTo>
              </a:path>
            </a:pathLst>
          </a:custGeom>
          <a:noFill/>
          <a:ln w="7620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1" name="任意多边形 60"/>
          <p:cNvSpPr/>
          <p:nvPr>
            <p:custDataLst>
              <p:tags r:id="rId16"/>
            </p:custDataLst>
          </p:nvPr>
        </p:nvSpPr>
        <p:spPr>
          <a:xfrm>
            <a:off x="7789545" y="838835"/>
            <a:ext cx="324485" cy="696595"/>
          </a:xfrm>
          <a:custGeom>
            <a:avLst/>
            <a:gdLst>
              <a:gd name="connisteX0" fmla="*/ 276519 w 324439"/>
              <a:gd name="connsiteY0" fmla="*/ 0 h 828675"/>
              <a:gd name="connisteX1" fmla="*/ 294 w 324439"/>
              <a:gd name="connsiteY1" fmla="*/ 209550 h 828675"/>
              <a:gd name="connisteX2" fmla="*/ 324144 w 324439"/>
              <a:gd name="connsiteY2" fmla="*/ 561975 h 828675"/>
              <a:gd name="connisteX3" fmla="*/ 47919 w 324439"/>
              <a:gd name="connsiteY3" fmla="*/ 828675 h 828675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</a:cxnLst>
            <a:rect l="l" t="t" r="r" b="b"/>
            <a:pathLst>
              <a:path w="324439" h="828675">
                <a:moveTo>
                  <a:pt x="276520" y="0"/>
                </a:moveTo>
                <a:cubicBezTo>
                  <a:pt x="214925" y="34925"/>
                  <a:pt x="-9230" y="97155"/>
                  <a:pt x="295" y="209550"/>
                </a:cubicBezTo>
                <a:cubicBezTo>
                  <a:pt x="9820" y="321945"/>
                  <a:pt x="314620" y="438150"/>
                  <a:pt x="324145" y="561975"/>
                </a:cubicBezTo>
                <a:cubicBezTo>
                  <a:pt x="333670" y="685800"/>
                  <a:pt x="109515" y="782320"/>
                  <a:pt x="47920" y="828675"/>
                </a:cubicBezTo>
              </a:path>
            </a:pathLst>
          </a:custGeom>
          <a:noFill/>
          <a:ln w="7620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64" name="直接箭头连接符 63"/>
          <p:cNvCxnSpPr/>
          <p:nvPr>
            <p:custDataLst>
              <p:tags r:id="rId17"/>
            </p:custDataLst>
          </p:nvPr>
        </p:nvCxnSpPr>
        <p:spPr>
          <a:xfrm>
            <a:off x="2051685" y="1678305"/>
            <a:ext cx="370840" cy="645795"/>
          </a:xfrm>
          <a:prstGeom prst="straightConnector1">
            <a:avLst/>
          </a:prstGeom>
          <a:ln w="38100">
            <a:solidFill>
              <a:srgbClr val="D02F3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接箭头连接符 64"/>
          <p:cNvCxnSpPr/>
          <p:nvPr>
            <p:custDataLst>
              <p:tags r:id="rId18"/>
            </p:custDataLst>
          </p:nvPr>
        </p:nvCxnSpPr>
        <p:spPr>
          <a:xfrm flipH="1">
            <a:off x="2767330" y="1678305"/>
            <a:ext cx="330200" cy="645795"/>
          </a:xfrm>
          <a:prstGeom prst="straightConnector1">
            <a:avLst/>
          </a:prstGeom>
          <a:ln w="38100">
            <a:solidFill>
              <a:srgbClr val="D02F3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接箭头连接符 65"/>
          <p:cNvCxnSpPr/>
          <p:nvPr>
            <p:custDataLst>
              <p:tags r:id="rId19"/>
            </p:custDataLst>
          </p:nvPr>
        </p:nvCxnSpPr>
        <p:spPr>
          <a:xfrm>
            <a:off x="4340225" y="1652905"/>
            <a:ext cx="370840" cy="645795"/>
          </a:xfrm>
          <a:prstGeom prst="straightConnector1">
            <a:avLst/>
          </a:prstGeom>
          <a:ln w="38100">
            <a:solidFill>
              <a:srgbClr val="D02F3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接箭头连接符 66"/>
          <p:cNvCxnSpPr/>
          <p:nvPr>
            <p:custDataLst>
              <p:tags r:id="rId20"/>
            </p:custDataLst>
          </p:nvPr>
        </p:nvCxnSpPr>
        <p:spPr>
          <a:xfrm flipH="1">
            <a:off x="5055870" y="1652905"/>
            <a:ext cx="330200" cy="645795"/>
          </a:xfrm>
          <a:prstGeom prst="straightConnector1">
            <a:avLst/>
          </a:prstGeom>
          <a:ln w="38100">
            <a:solidFill>
              <a:srgbClr val="D02F3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接箭头连接符 67"/>
          <p:cNvCxnSpPr/>
          <p:nvPr>
            <p:custDataLst>
              <p:tags r:id="rId21"/>
            </p:custDataLst>
          </p:nvPr>
        </p:nvCxnSpPr>
        <p:spPr>
          <a:xfrm>
            <a:off x="6743700" y="1652905"/>
            <a:ext cx="370840" cy="645795"/>
          </a:xfrm>
          <a:prstGeom prst="straightConnector1">
            <a:avLst/>
          </a:prstGeom>
          <a:ln w="38100">
            <a:solidFill>
              <a:srgbClr val="D02F3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接箭头连接符 68"/>
          <p:cNvCxnSpPr/>
          <p:nvPr>
            <p:custDataLst>
              <p:tags r:id="rId22"/>
            </p:custDataLst>
          </p:nvPr>
        </p:nvCxnSpPr>
        <p:spPr>
          <a:xfrm flipH="1">
            <a:off x="7459345" y="1652905"/>
            <a:ext cx="330200" cy="645795"/>
          </a:xfrm>
          <a:prstGeom prst="straightConnector1">
            <a:avLst/>
          </a:prstGeom>
          <a:ln w="38100">
            <a:solidFill>
              <a:srgbClr val="D02F3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右箭头标注 69"/>
          <p:cNvSpPr/>
          <p:nvPr>
            <p:custDataLst>
              <p:tags r:id="rId23"/>
            </p:custDataLst>
          </p:nvPr>
        </p:nvSpPr>
        <p:spPr>
          <a:xfrm>
            <a:off x="333375" y="864870"/>
            <a:ext cx="1196975" cy="670560"/>
          </a:xfrm>
          <a:prstGeom prst="rightArrowCallout">
            <a:avLst/>
          </a:prstGeom>
          <a:solidFill>
            <a:srgbClr val="D02F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用户模式</a:t>
            </a:r>
            <a:endParaRPr lang="zh-CN" altLang="en-US"/>
          </a:p>
        </p:txBody>
      </p:sp>
      <p:sp>
        <p:nvSpPr>
          <p:cNvPr id="71" name="右箭头标注 70"/>
          <p:cNvSpPr/>
          <p:nvPr>
            <p:custDataLst>
              <p:tags r:id="rId24"/>
            </p:custDataLst>
          </p:nvPr>
        </p:nvSpPr>
        <p:spPr>
          <a:xfrm>
            <a:off x="333375" y="2437130"/>
            <a:ext cx="1196975" cy="670560"/>
          </a:xfrm>
          <a:prstGeom prst="rightArrowCallout">
            <a:avLst/>
          </a:prstGeom>
          <a:solidFill>
            <a:srgbClr val="D02F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内核模式</a:t>
            </a:r>
            <a:endParaRPr lang="zh-CN" altLang="en-US"/>
          </a:p>
        </p:txBody>
      </p:sp>
    </p:spTree>
    <p:custDataLst>
      <p:tags r:id="rId25"/>
    </p:custData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处理器</a:t>
                      </a: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调度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一、指令流</a:t>
                      </a: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与执行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应用程序与指令流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顺序与并发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执行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1.3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指令流的描述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en-US" altLang="zh-CN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线程与处理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器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2.1 CPU时间与线程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2.2</a:t>
                      </a: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线程的描述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2.3 纤程与协程</a:t>
                      </a:r>
                      <a:endParaRPr lang="zh-CN" altLang="en-US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三、处理器调度算法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3.1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调度算法原理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多处理器与并发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59385"/>
            <a:ext cx="9121140" cy="65544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rgbClr val="9C0B15"/>
                </a:solidFill>
              </a:rPr>
              <a:t>指令流与线程：</a:t>
            </a:r>
            <a:r>
              <a:rPr lang="zh-CN" altLang="en-US" sz="2000" b="1">
                <a:solidFill>
                  <a:srgbClr val="9C0B15"/>
                </a:solidFill>
              </a:rPr>
              <a:t>多对一</a:t>
            </a:r>
            <a:endParaRPr lang="zh-CN" altLang="en-US" sz="2000" b="1">
              <a:solidFill>
                <a:srgbClr val="9C0B15"/>
              </a:solidFill>
            </a:endParaRPr>
          </a:p>
          <a:p>
            <a:pPr algn="ctr"/>
            <a:endParaRPr lang="zh-CN" altLang="en-US" sz="2000"/>
          </a:p>
          <a:p>
            <a:pPr algn="ctr"/>
            <a:endParaRPr lang="zh-CN" altLang="en-US" sz="2000"/>
          </a:p>
          <a:p>
            <a:pPr algn="ctr"/>
            <a:endParaRPr lang="zh-CN" altLang="en-US" sz="2000"/>
          </a:p>
          <a:p>
            <a:pPr algn="ctr"/>
            <a:endParaRPr lang="zh-CN" altLang="en-US" sz="2000"/>
          </a:p>
          <a:p>
            <a:pPr algn="ctr"/>
            <a:endParaRPr lang="zh-CN" altLang="en-US" sz="2000"/>
          </a:p>
          <a:p>
            <a:pPr algn="ctr"/>
            <a:endParaRPr lang="zh-CN" altLang="en-US" sz="2000"/>
          </a:p>
          <a:p>
            <a:pPr algn="ctr"/>
            <a:endParaRPr lang="zh-CN" altLang="en-US" sz="2000"/>
          </a:p>
          <a:p>
            <a:pPr algn="ctr"/>
            <a:endParaRPr lang="zh-CN" altLang="en-US" sz="2000"/>
          </a:p>
          <a:p>
            <a:pPr algn="ctr"/>
            <a:endParaRPr lang="zh-CN" altLang="en-US" sz="2000"/>
          </a:p>
          <a:p>
            <a:pPr algn="l"/>
            <a:endParaRPr lang="zh-CN" altLang="en-US" sz="2000" b="1">
              <a:solidFill>
                <a:srgbClr val="9C0B15"/>
              </a:solidFill>
            </a:endParaRPr>
          </a:p>
          <a:p>
            <a:pPr algn="l"/>
            <a:r>
              <a:rPr lang="zh-CN" altLang="en-US" sz="2000" b="1">
                <a:solidFill>
                  <a:srgbClr val="9C0B15"/>
                </a:solidFill>
              </a:rPr>
              <a:t>对应关系</a:t>
            </a:r>
            <a:r>
              <a:rPr lang="en-US" altLang="zh-CN" sz="2000"/>
              <a:t>	</a:t>
            </a:r>
            <a:r>
              <a:rPr lang="zh-CN" altLang="en-US" sz="2000"/>
              <a:t>线程处于</a:t>
            </a:r>
            <a:r>
              <a:rPr lang="en-US" altLang="zh-CN" sz="2000">
                <a:solidFill>
                  <a:srgbClr val="9C0B15"/>
                </a:solidFill>
              </a:rPr>
              <a:t>运行状态</a:t>
            </a:r>
            <a:r>
              <a:rPr lang="zh-CN" altLang="en-US" sz="2000"/>
              <a:t>，说明其上的指令流中</a:t>
            </a:r>
            <a:r>
              <a:rPr lang="en-US" altLang="zh-CN" sz="2000">
                <a:solidFill>
                  <a:srgbClr val="9C0B15"/>
                </a:solidFill>
              </a:rPr>
              <a:t>有一个在运行</a:t>
            </a:r>
            <a:r>
              <a:rPr lang="zh-CN" altLang="en-US" sz="2000"/>
              <a:t>。</a:t>
            </a:r>
            <a:endParaRPr lang="zh-CN" altLang="en-US" sz="2000"/>
          </a:p>
          <a:p>
            <a:pPr algn="l"/>
            <a:r>
              <a:rPr lang="en-US" altLang="zh-CN" sz="2000">
                <a:sym typeface="+mn-ea"/>
              </a:rPr>
              <a:t>		</a:t>
            </a:r>
            <a:r>
              <a:rPr lang="zh-CN" altLang="en-US" sz="2000"/>
              <a:t>线程处于</a:t>
            </a:r>
            <a:r>
              <a:rPr lang="en-US" altLang="zh-CN" sz="2000">
                <a:solidFill>
                  <a:srgbClr val="9C0B15"/>
                </a:solidFill>
              </a:rPr>
              <a:t>就绪状态</a:t>
            </a:r>
            <a:r>
              <a:rPr lang="zh-CN" altLang="en-US" sz="2000"/>
              <a:t>，说明其上的指令流中</a:t>
            </a:r>
            <a:r>
              <a:rPr lang="en-US" altLang="zh-CN" sz="2000">
                <a:solidFill>
                  <a:srgbClr val="9C0B15"/>
                </a:solidFill>
              </a:rPr>
              <a:t>至少存在一个就绪的</a:t>
            </a:r>
            <a:r>
              <a:rPr lang="zh-CN" altLang="en-US" sz="2000"/>
              <a:t>。</a:t>
            </a:r>
            <a:endParaRPr lang="zh-CN" altLang="en-US" sz="2000"/>
          </a:p>
          <a:p>
            <a:pPr algn="l"/>
            <a:r>
              <a:rPr lang="en-US" altLang="zh-CN" sz="2000">
                <a:sym typeface="+mn-ea"/>
              </a:rPr>
              <a:t>		</a:t>
            </a:r>
            <a:r>
              <a:rPr lang="zh-CN" altLang="en-US" sz="2000"/>
              <a:t>线程处于</a:t>
            </a:r>
            <a:r>
              <a:rPr lang="en-US" altLang="zh-CN" sz="2000">
                <a:solidFill>
                  <a:srgbClr val="9C0B15"/>
                </a:solidFill>
              </a:rPr>
              <a:t>阻塞状态</a:t>
            </a:r>
            <a:r>
              <a:rPr lang="zh-CN" altLang="en-US" sz="2000"/>
              <a:t>，说明其上的指令流中</a:t>
            </a:r>
            <a:r>
              <a:rPr lang="en-US" altLang="zh-CN" sz="2000">
                <a:solidFill>
                  <a:srgbClr val="9C0B15"/>
                </a:solidFill>
              </a:rPr>
              <a:t>至少一个</a:t>
            </a:r>
            <a:r>
              <a:rPr lang="zh-CN" altLang="en-US" sz="2000">
                <a:solidFill>
                  <a:srgbClr val="9C0B15"/>
                </a:solidFill>
              </a:rPr>
              <a:t>进入</a:t>
            </a:r>
            <a:r>
              <a:rPr lang="en-US" altLang="zh-CN" sz="2000">
                <a:solidFill>
                  <a:srgbClr val="9C0B15"/>
                </a:solidFill>
              </a:rPr>
              <a:t>了需要</a:t>
            </a:r>
            <a:r>
              <a:rPr lang="en-US" altLang="zh-CN" sz="2000">
                <a:solidFill>
                  <a:srgbClr val="9C0B15"/>
                </a:solidFill>
                <a:sym typeface="+mn-ea"/>
              </a:rPr>
              <a:t>		</a:t>
            </a:r>
            <a:r>
              <a:rPr lang="en-US" altLang="zh-CN" sz="2000">
                <a:solidFill>
                  <a:srgbClr val="9C0B15"/>
                </a:solidFill>
              </a:rPr>
              <a:t>操作系统介入的阻塞态</a:t>
            </a:r>
            <a:r>
              <a:rPr lang="zh-CN" altLang="en-US" sz="2000"/>
              <a:t>。</a:t>
            </a:r>
            <a:endParaRPr lang="zh-CN" altLang="en-US" sz="2000"/>
          </a:p>
          <a:p>
            <a:pPr algn="l"/>
            <a:endParaRPr lang="zh-CN" altLang="en-US" sz="2000"/>
          </a:p>
          <a:p>
            <a:pPr algn="l"/>
            <a:r>
              <a:rPr lang="zh-CN" altLang="en-US" sz="2000" b="1">
                <a:solidFill>
                  <a:srgbClr val="9C0B15"/>
                </a:solidFill>
              </a:rPr>
              <a:t>其它指令流</a:t>
            </a:r>
            <a:r>
              <a:rPr lang="en-US" altLang="zh-CN" sz="2000"/>
              <a:t>	</a:t>
            </a:r>
            <a:r>
              <a:rPr lang="zh-CN" altLang="en-US" sz="2000"/>
              <a:t>状态</a:t>
            </a:r>
            <a:r>
              <a:rPr lang="en-US" altLang="zh-CN" sz="2000">
                <a:solidFill>
                  <a:srgbClr val="9C0B15"/>
                </a:solidFill>
              </a:rPr>
              <a:t>无法预测</a:t>
            </a:r>
            <a:r>
              <a:rPr lang="zh-CN" altLang="en-US" sz="2000"/>
              <a:t>，因为只有</a:t>
            </a:r>
            <a:r>
              <a:rPr lang="en-US" altLang="zh-CN" sz="2000">
                <a:solidFill>
                  <a:srgbClr val="9C0B15"/>
                </a:solidFill>
              </a:rPr>
              <a:t>应用程序</a:t>
            </a:r>
            <a:r>
              <a:rPr lang="zh-CN" altLang="en-US" sz="2000"/>
              <a:t>才知道它们。操作系统是不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/>
              <a:t>知道它们的，因为操作系统感知的只是作为</a:t>
            </a:r>
            <a:r>
              <a:rPr lang="en-US" altLang="zh-CN" sz="2000">
                <a:solidFill>
                  <a:srgbClr val="9C0B15"/>
                </a:solidFill>
              </a:rPr>
              <a:t>时间分配</a:t>
            </a:r>
            <a:r>
              <a:rPr lang="zh-CN" altLang="en-US" sz="2000">
                <a:solidFill>
                  <a:srgbClr val="9C0B15"/>
                </a:solidFill>
              </a:rPr>
              <a:t>对象</a:t>
            </a:r>
            <a:r>
              <a:rPr lang="en-US" altLang="zh-CN" sz="2000">
                <a:solidFill>
                  <a:srgbClr val="9C0B15"/>
                </a:solidFill>
              </a:rPr>
              <a:t>的线</a:t>
            </a:r>
            <a:r>
              <a:rPr lang="en-US" altLang="zh-CN" sz="2000">
                <a:sym typeface="+mn-ea"/>
              </a:rPr>
              <a:t>		</a:t>
            </a:r>
            <a:r>
              <a:rPr lang="en-US" altLang="zh-CN" sz="2000">
                <a:solidFill>
                  <a:srgbClr val="9C0B15"/>
                </a:solidFill>
              </a:rPr>
              <a:t>程</a:t>
            </a:r>
            <a:r>
              <a:rPr lang="zh-CN" altLang="en-US" sz="2000"/>
              <a:t>的状态。线程阻塞了，意味着内核只知道这个</a:t>
            </a:r>
            <a:r>
              <a:rPr lang="en-US" altLang="zh-CN" sz="2000">
                <a:solidFill>
                  <a:srgbClr val="9C0B15"/>
                </a:solidFill>
              </a:rPr>
              <a:t>时间分配对象</a:t>
            </a:r>
            <a:r>
              <a:rPr lang="en-US" altLang="zh-CN" sz="2000">
                <a:solidFill>
                  <a:srgbClr val="9C0B15"/>
                </a:solidFill>
                <a:sym typeface="+mn-ea"/>
              </a:rPr>
              <a:t>		</a:t>
            </a:r>
            <a:r>
              <a:rPr lang="en-US" altLang="zh-CN" sz="2000">
                <a:solidFill>
                  <a:srgbClr val="9C0B15"/>
                </a:solidFill>
              </a:rPr>
              <a:t>上附着的某个指令流在请求内核完成一个一时半会无法完成的</a:t>
            </a:r>
            <a:r>
              <a:rPr lang="en-US" altLang="zh-CN" sz="2000">
                <a:solidFill>
                  <a:srgbClr val="9C0B15"/>
                </a:solidFill>
                <a:sym typeface="+mn-ea"/>
              </a:rPr>
              <a:t>		</a:t>
            </a:r>
            <a:r>
              <a:rPr lang="en-US" altLang="zh-CN" sz="2000">
                <a:solidFill>
                  <a:srgbClr val="9C0B15"/>
                </a:solidFill>
              </a:rPr>
              <a:t>功能</a:t>
            </a:r>
            <a:r>
              <a:rPr lang="zh-CN" altLang="en-US" sz="2000"/>
              <a:t>，因此内核能做的就是</a:t>
            </a:r>
            <a:r>
              <a:rPr lang="zh-CN" altLang="en-US" sz="2000">
                <a:solidFill>
                  <a:srgbClr val="9C0B15"/>
                </a:solidFill>
              </a:rPr>
              <a:t>暂停</a:t>
            </a:r>
            <a:r>
              <a:rPr lang="en-US" altLang="zh-CN" sz="2000">
                <a:solidFill>
                  <a:srgbClr val="9C0B15"/>
                </a:solidFill>
              </a:rPr>
              <a:t>整个时间分配对象的执行</a:t>
            </a:r>
            <a:r>
              <a:rPr lang="zh-CN" altLang="en-US" sz="2000"/>
              <a:t>。</a:t>
            </a:r>
            <a:endParaRPr lang="zh-CN" altLang="en-US" sz="2000"/>
          </a:p>
        </p:txBody>
      </p:sp>
      <p:sp>
        <p:nvSpPr>
          <p:cNvPr id="60" name="任意多边形 59"/>
          <p:cNvSpPr/>
          <p:nvPr>
            <p:custDataLst>
              <p:tags r:id="rId2"/>
            </p:custDataLst>
          </p:nvPr>
        </p:nvSpPr>
        <p:spPr>
          <a:xfrm>
            <a:off x="4731385" y="838835"/>
            <a:ext cx="324485" cy="696595"/>
          </a:xfrm>
          <a:custGeom>
            <a:avLst/>
            <a:gdLst>
              <a:gd name="connisteX0" fmla="*/ 276519 w 324439"/>
              <a:gd name="connsiteY0" fmla="*/ 0 h 828675"/>
              <a:gd name="connisteX1" fmla="*/ 294 w 324439"/>
              <a:gd name="connsiteY1" fmla="*/ 209550 h 828675"/>
              <a:gd name="connisteX2" fmla="*/ 324144 w 324439"/>
              <a:gd name="connsiteY2" fmla="*/ 561975 h 828675"/>
              <a:gd name="connisteX3" fmla="*/ 47919 w 324439"/>
              <a:gd name="connsiteY3" fmla="*/ 828675 h 828675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</a:cxnLst>
            <a:rect l="l" t="t" r="r" b="b"/>
            <a:pathLst>
              <a:path w="324439" h="828675">
                <a:moveTo>
                  <a:pt x="276520" y="0"/>
                </a:moveTo>
                <a:cubicBezTo>
                  <a:pt x="214925" y="34925"/>
                  <a:pt x="-9230" y="97155"/>
                  <a:pt x="295" y="209550"/>
                </a:cubicBezTo>
                <a:cubicBezTo>
                  <a:pt x="9820" y="321945"/>
                  <a:pt x="314620" y="438150"/>
                  <a:pt x="324145" y="561975"/>
                </a:cubicBezTo>
                <a:cubicBezTo>
                  <a:pt x="333670" y="685800"/>
                  <a:pt x="109515" y="782320"/>
                  <a:pt x="47920" y="828675"/>
                </a:cubicBezTo>
              </a:path>
            </a:pathLst>
          </a:custGeom>
          <a:noFill/>
          <a:ln w="762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2" name="任意多边形 61"/>
          <p:cNvSpPr/>
          <p:nvPr>
            <p:custDataLst>
              <p:tags r:id="rId3"/>
            </p:custDataLst>
          </p:nvPr>
        </p:nvSpPr>
        <p:spPr>
          <a:xfrm>
            <a:off x="7094220" y="838835"/>
            <a:ext cx="324485" cy="696595"/>
          </a:xfrm>
          <a:custGeom>
            <a:avLst/>
            <a:gdLst>
              <a:gd name="connisteX0" fmla="*/ 276519 w 324439"/>
              <a:gd name="connsiteY0" fmla="*/ 0 h 828675"/>
              <a:gd name="connisteX1" fmla="*/ 294 w 324439"/>
              <a:gd name="connsiteY1" fmla="*/ 209550 h 828675"/>
              <a:gd name="connisteX2" fmla="*/ 324144 w 324439"/>
              <a:gd name="connsiteY2" fmla="*/ 561975 h 828675"/>
              <a:gd name="connisteX3" fmla="*/ 47919 w 324439"/>
              <a:gd name="connsiteY3" fmla="*/ 828675 h 828675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</a:cxnLst>
            <a:rect l="l" t="t" r="r" b="b"/>
            <a:pathLst>
              <a:path w="324439" h="828675">
                <a:moveTo>
                  <a:pt x="276520" y="0"/>
                </a:moveTo>
                <a:cubicBezTo>
                  <a:pt x="214925" y="34925"/>
                  <a:pt x="-9230" y="97155"/>
                  <a:pt x="295" y="209550"/>
                </a:cubicBezTo>
                <a:cubicBezTo>
                  <a:pt x="9820" y="321945"/>
                  <a:pt x="314620" y="438150"/>
                  <a:pt x="324145" y="561975"/>
                </a:cubicBezTo>
                <a:cubicBezTo>
                  <a:pt x="333670" y="685800"/>
                  <a:pt x="109515" y="782320"/>
                  <a:pt x="47920" y="828675"/>
                </a:cubicBezTo>
              </a:path>
            </a:pathLst>
          </a:custGeom>
          <a:noFill/>
          <a:ln w="7620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3" name="任意多边形 62"/>
          <p:cNvSpPr/>
          <p:nvPr>
            <p:custDataLst>
              <p:tags r:id="rId4"/>
            </p:custDataLst>
          </p:nvPr>
        </p:nvSpPr>
        <p:spPr>
          <a:xfrm>
            <a:off x="2423160" y="838835"/>
            <a:ext cx="324485" cy="696595"/>
          </a:xfrm>
          <a:custGeom>
            <a:avLst/>
            <a:gdLst>
              <a:gd name="connisteX0" fmla="*/ 276519 w 324439"/>
              <a:gd name="connsiteY0" fmla="*/ 0 h 828675"/>
              <a:gd name="connisteX1" fmla="*/ 294 w 324439"/>
              <a:gd name="connsiteY1" fmla="*/ 209550 h 828675"/>
              <a:gd name="connisteX2" fmla="*/ 324144 w 324439"/>
              <a:gd name="connsiteY2" fmla="*/ 561975 h 828675"/>
              <a:gd name="connisteX3" fmla="*/ 47919 w 324439"/>
              <a:gd name="connsiteY3" fmla="*/ 828675 h 828675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</a:cxnLst>
            <a:rect l="l" t="t" r="r" b="b"/>
            <a:pathLst>
              <a:path w="324439" h="828675">
                <a:moveTo>
                  <a:pt x="276520" y="0"/>
                </a:moveTo>
                <a:cubicBezTo>
                  <a:pt x="214925" y="34925"/>
                  <a:pt x="-9230" y="97155"/>
                  <a:pt x="295" y="209550"/>
                </a:cubicBezTo>
                <a:cubicBezTo>
                  <a:pt x="9820" y="321945"/>
                  <a:pt x="314620" y="438150"/>
                  <a:pt x="324145" y="561975"/>
                </a:cubicBezTo>
                <a:cubicBezTo>
                  <a:pt x="333670" y="685800"/>
                  <a:pt x="109515" y="782320"/>
                  <a:pt x="47920" y="828675"/>
                </a:cubicBezTo>
              </a:path>
            </a:pathLst>
          </a:custGeom>
          <a:noFill/>
          <a:ln w="76200">
            <a:solidFill>
              <a:srgbClr val="D02F3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任意多边形 1"/>
          <p:cNvSpPr/>
          <p:nvPr>
            <p:custDataLst>
              <p:tags r:id="rId5"/>
            </p:custDataLst>
          </p:nvPr>
        </p:nvSpPr>
        <p:spPr>
          <a:xfrm>
            <a:off x="4731385" y="2437130"/>
            <a:ext cx="324485" cy="696595"/>
          </a:xfrm>
          <a:custGeom>
            <a:avLst/>
            <a:gdLst>
              <a:gd name="connisteX0" fmla="*/ 276519 w 324439"/>
              <a:gd name="connsiteY0" fmla="*/ 0 h 828675"/>
              <a:gd name="connisteX1" fmla="*/ 294 w 324439"/>
              <a:gd name="connsiteY1" fmla="*/ 209550 h 828675"/>
              <a:gd name="connisteX2" fmla="*/ 324144 w 324439"/>
              <a:gd name="connsiteY2" fmla="*/ 561975 h 828675"/>
              <a:gd name="connisteX3" fmla="*/ 47919 w 324439"/>
              <a:gd name="connsiteY3" fmla="*/ 828675 h 828675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</a:cxnLst>
            <a:rect l="l" t="t" r="r" b="b"/>
            <a:pathLst>
              <a:path w="324439" h="828675">
                <a:moveTo>
                  <a:pt x="276520" y="0"/>
                </a:moveTo>
                <a:cubicBezTo>
                  <a:pt x="214925" y="34925"/>
                  <a:pt x="-9230" y="97155"/>
                  <a:pt x="295" y="209550"/>
                </a:cubicBezTo>
                <a:cubicBezTo>
                  <a:pt x="9820" y="321945"/>
                  <a:pt x="314620" y="438150"/>
                  <a:pt x="324145" y="561975"/>
                </a:cubicBezTo>
                <a:cubicBezTo>
                  <a:pt x="333670" y="685800"/>
                  <a:pt x="109515" y="782320"/>
                  <a:pt x="47920" y="828675"/>
                </a:cubicBezTo>
              </a:path>
            </a:pathLst>
          </a:custGeom>
          <a:noFill/>
          <a:ln w="762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任意多边形 3"/>
          <p:cNvSpPr/>
          <p:nvPr>
            <p:custDataLst>
              <p:tags r:id="rId6"/>
            </p:custDataLst>
          </p:nvPr>
        </p:nvSpPr>
        <p:spPr>
          <a:xfrm>
            <a:off x="7094220" y="2437130"/>
            <a:ext cx="324485" cy="696595"/>
          </a:xfrm>
          <a:custGeom>
            <a:avLst/>
            <a:gdLst>
              <a:gd name="connisteX0" fmla="*/ 276519 w 324439"/>
              <a:gd name="connsiteY0" fmla="*/ 0 h 828675"/>
              <a:gd name="connisteX1" fmla="*/ 294 w 324439"/>
              <a:gd name="connsiteY1" fmla="*/ 209550 h 828675"/>
              <a:gd name="connisteX2" fmla="*/ 324144 w 324439"/>
              <a:gd name="connsiteY2" fmla="*/ 561975 h 828675"/>
              <a:gd name="connisteX3" fmla="*/ 47919 w 324439"/>
              <a:gd name="connsiteY3" fmla="*/ 828675 h 828675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</a:cxnLst>
            <a:rect l="l" t="t" r="r" b="b"/>
            <a:pathLst>
              <a:path w="324439" h="828675">
                <a:moveTo>
                  <a:pt x="276520" y="0"/>
                </a:moveTo>
                <a:cubicBezTo>
                  <a:pt x="214925" y="34925"/>
                  <a:pt x="-9230" y="97155"/>
                  <a:pt x="295" y="209550"/>
                </a:cubicBezTo>
                <a:cubicBezTo>
                  <a:pt x="9820" y="321945"/>
                  <a:pt x="314620" y="438150"/>
                  <a:pt x="324145" y="561975"/>
                </a:cubicBezTo>
                <a:cubicBezTo>
                  <a:pt x="333670" y="685800"/>
                  <a:pt x="109515" y="782320"/>
                  <a:pt x="47920" y="828675"/>
                </a:cubicBezTo>
              </a:path>
            </a:pathLst>
          </a:custGeom>
          <a:noFill/>
          <a:ln w="7620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任意多边形 4"/>
          <p:cNvSpPr/>
          <p:nvPr>
            <p:custDataLst>
              <p:tags r:id="rId7"/>
            </p:custDataLst>
          </p:nvPr>
        </p:nvSpPr>
        <p:spPr>
          <a:xfrm>
            <a:off x="2423160" y="2437130"/>
            <a:ext cx="324485" cy="696595"/>
          </a:xfrm>
          <a:custGeom>
            <a:avLst/>
            <a:gdLst>
              <a:gd name="connisteX0" fmla="*/ 276519 w 324439"/>
              <a:gd name="connsiteY0" fmla="*/ 0 h 828675"/>
              <a:gd name="connisteX1" fmla="*/ 294 w 324439"/>
              <a:gd name="connsiteY1" fmla="*/ 209550 h 828675"/>
              <a:gd name="connisteX2" fmla="*/ 324144 w 324439"/>
              <a:gd name="connsiteY2" fmla="*/ 561975 h 828675"/>
              <a:gd name="connisteX3" fmla="*/ 47919 w 324439"/>
              <a:gd name="connsiteY3" fmla="*/ 828675 h 828675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</a:cxnLst>
            <a:rect l="l" t="t" r="r" b="b"/>
            <a:pathLst>
              <a:path w="324439" h="828675">
                <a:moveTo>
                  <a:pt x="276520" y="0"/>
                </a:moveTo>
                <a:cubicBezTo>
                  <a:pt x="214925" y="34925"/>
                  <a:pt x="-9230" y="97155"/>
                  <a:pt x="295" y="209550"/>
                </a:cubicBezTo>
                <a:cubicBezTo>
                  <a:pt x="9820" y="321945"/>
                  <a:pt x="314620" y="438150"/>
                  <a:pt x="324145" y="561975"/>
                </a:cubicBezTo>
                <a:cubicBezTo>
                  <a:pt x="333670" y="685800"/>
                  <a:pt x="109515" y="782320"/>
                  <a:pt x="47920" y="828675"/>
                </a:cubicBezTo>
              </a:path>
            </a:pathLst>
          </a:custGeom>
          <a:noFill/>
          <a:ln w="76200">
            <a:solidFill>
              <a:srgbClr val="D02F3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9" name="直接箭头连接符 8"/>
          <p:cNvCxnSpPr/>
          <p:nvPr>
            <p:custDataLst>
              <p:tags r:id="rId8"/>
            </p:custDataLst>
          </p:nvPr>
        </p:nvCxnSpPr>
        <p:spPr>
          <a:xfrm flipH="1">
            <a:off x="2581275" y="1652905"/>
            <a:ext cx="7620" cy="671195"/>
          </a:xfrm>
          <a:prstGeom prst="straightConnector1">
            <a:avLst/>
          </a:prstGeom>
          <a:ln w="38100">
            <a:solidFill>
              <a:srgbClr val="D02F3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箭头连接符 6"/>
          <p:cNvCxnSpPr/>
          <p:nvPr>
            <p:custDataLst>
              <p:tags r:id="rId9"/>
            </p:custDataLst>
          </p:nvPr>
        </p:nvCxnSpPr>
        <p:spPr>
          <a:xfrm flipH="1">
            <a:off x="4890135" y="1652905"/>
            <a:ext cx="7620" cy="671195"/>
          </a:xfrm>
          <a:prstGeom prst="straightConnector1">
            <a:avLst/>
          </a:prstGeom>
          <a:ln w="38100">
            <a:solidFill>
              <a:srgbClr val="D02F3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箭头连接符 7"/>
          <p:cNvCxnSpPr/>
          <p:nvPr>
            <p:custDataLst>
              <p:tags r:id="rId10"/>
            </p:custDataLst>
          </p:nvPr>
        </p:nvCxnSpPr>
        <p:spPr>
          <a:xfrm flipH="1">
            <a:off x="7252970" y="1652905"/>
            <a:ext cx="7620" cy="671195"/>
          </a:xfrm>
          <a:prstGeom prst="straightConnector1">
            <a:avLst/>
          </a:prstGeom>
          <a:ln w="38100">
            <a:solidFill>
              <a:srgbClr val="D02F3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任意多边形 5"/>
          <p:cNvSpPr/>
          <p:nvPr>
            <p:custDataLst>
              <p:tags r:id="rId11"/>
            </p:custDataLst>
          </p:nvPr>
        </p:nvSpPr>
        <p:spPr>
          <a:xfrm>
            <a:off x="1775460" y="838835"/>
            <a:ext cx="324485" cy="696595"/>
          </a:xfrm>
          <a:custGeom>
            <a:avLst/>
            <a:gdLst>
              <a:gd name="connisteX0" fmla="*/ 276519 w 324439"/>
              <a:gd name="connsiteY0" fmla="*/ 0 h 828675"/>
              <a:gd name="connisteX1" fmla="*/ 294 w 324439"/>
              <a:gd name="connsiteY1" fmla="*/ 209550 h 828675"/>
              <a:gd name="connisteX2" fmla="*/ 324144 w 324439"/>
              <a:gd name="connsiteY2" fmla="*/ 561975 h 828675"/>
              <a:gd name="connisteX3" fmla="*/ 47919 w 324439"/>
              <a:gd name="connsiteY3" fmla="*/ 828675 h 828675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</a:cxnLst>
            <a:rect l="l" t="t" r="r" b="b"/>
            <a:pathLst>
              <a:path w="324439" h="828675">
                <a:moveTo>
                  <a:pt x="276520" y="0"/>
                </a:moveTo>
                <a:cubicBezTo>
                  <a:pt x="214925" y="34925"/>
                  <a:pt x="-9230" y="97155"/>
                  <a:pt x="295" y="209550"/>
                </a:cubicBezTo>
                <a:cubicBezTo>
                  <a:pt x="9820" y="321945"/>
                  <a:pt x="314620" y="438150"/>
                  <a:pt x="324145" y="561975"/>
                </a:cubicBezTo>
                <a:cubicBezTo>
                  <a:pt x="333670" y="685800"/>
                  <a:pt x="109515" y="782320"/>
                  <a:pt x="47920" y="828675"/>
                </a:cubicBezTo>
              </a:path>
            </a:pathLst>
          </a:custGeom>
          <a:noFill/>
          <a:ln w="76200">
            <a:solidFill>
              <a:srgbClr val="D02F3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任意多边形 14"/>
          <p:cNvSpPr/>
          <p:nvPr>
            <p:custDataLst>
              <p:tags r:id="rId12"/>
            </p:custDataLst>
          </p:nvPr>
        </p:nvSpPr>
        <p:spPr>
          <a:xfrm>
            <a:off x="3090545" y="838835"/>
            <a:ext cx="324485" cy="696595"/>
          </a:xfrm>
          <a:custGeom>
            <a:avLst/>
            <a:gdLst>
              <a:gd name="connisteX0" fmla="*/ 276519 w 324439"/>
              <a:gd name="connsiteY0" fmla="*/ 0 h 828675"/>
              <a:gd name="connisteX1" fmla="*/ 294 w 324439"/>
              <a:gd name="connsiteY1" fmla="*/ 209550 h 828675"/>
              <a:gd name="connisteX2" fmla="*/ 324144 w 324439"/>
              <a:gd name="connsiteY2" fmla="*/ 561975 h 828675"/>
              <a:gd name="connisteX3" fmla="*/ 47919 w 324439"/>
              <a:gd name="connsiteY3" fmla="*/ 828675 h 828675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</a:cxnLst>
            <a:rect l="l" t="t" r="r" b="b"/>
            <a:pathLst>
              <a:path w="324439" h="828675">
                <a:moveTo>
                  <a:pt x="276520" y="0"/>
                </a:moveTo>
                <a:cubicBezTo>
                  <a:pt x="214925" y="34925"/>
                  <a:pt x="-9230" y="97155"/>
                  <a:pt x="295" y="209550"/>
                </a:cubicBezTo>
                <a:cubicBezTo>
                  <a:pt x="9820" y="321945"/>
                  <a:pt x="314620" y="438150"/>
                  <a:pt x="324145" y="561975"/>
                </a:cubicBezTo>
                <a:cubicBezTo>
                  <a:pt x="333670" y="685800"/>
                  <a:pt x="109515" y="782320"/>
                  <a:pt x="47920" y="828675"/>
                </a:cubicBezTo>
              </a:path>
            </a:pathLst>
          </a:custGeom>
          <a:noFill/>
          <a:ln w="76200">
            <a:solidFill>
              <a:srgbClr val="D02F3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任意多边形 16"/>
          <p:cNvSpPr/>
          <p:nvPr>
            <p:custDataLst>
              <p:tags r:id="rId13"/>
            </p:custDataLst>
          </p:nvPr>
        </p:nvSpPr>
        <p:spPr>
          <a:xfrm>
            <a:off x="4147820" y="838835"/>
            <a:ext cx="324485" cy="696595"/>
          </a:xfrm>
          <a:custGeom>
            <a:avLst/>
            <a:gdLst>
              <a:gd name="connisteX0" fmla="*/ 276519 w 324439"/>
              <a:gd name="connsiteY0" fmla="*/ 0 h 828675"/>
              <a:gd name="connisteX1" fmla="*/ 294 w 324439"/>
              <a:gd name="connsiteY1" fmla="*/ 209550 h 828675"/>
              <a:gd name="connisteX2" fmla="*/ 324144 w 324439"/>
              <a:gd name="connsiteY2" fmla="*/ 561975 h 828675"/>
              <a:gd name="connisteX3" fmla="*/ 47919 w 324439"/>
              <a:gd name="connsiteY3" fmla="*/ 828675 h 828675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</a:cxnLst>
            <a:rect l="l" t="t" r="r" b="b"/>
            <a:pathLst>
              <a:path w="324439" h="828675">
                <a:moveTo>
                  <a:pt x="276520" y="0"/>
                </a:moveTo>
                <a:cubicBezTo>
                  <a:pt x="214925" y="34925"/>
                  <a:pt x="-9230" y="97155"/>
                  <a:pt x="295" y="209550"/>
                </a:cubicBezTo>
                <a:cubicBezTo>
                  <a:pt x="9820" y="321945"/>
                  <a:pt x="314620" y="438150"/>
                  <a:pt x="324145" y="561975"/>
                </a:cubicBezTo>
                <a:cubicBezTo>
                  <a:pt x="333670" y="685800"/>
                  <a:pt x="109515" y="782320"/>
                  <a:pt x="47920" y="828675"/>
                </a:cubicBezTo>
              </a:path>
            </a:pathLst>
          </a:custGeom>
          <a:noFill/>
          <a:ln w="762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任意多边形 24"/>
          <p:cNvSpPr/>
          <p:nvPr>
            <p:custDataLst>
              <p:tags r:id="rId14"/>
            </p:custDataLst>
          </p:nvPr>
        </p:nvSpPr>
        <p:spPr>
          <a:xfrm>
            <a:off x="5374640" y="838835"/>
            <a:ext cx="324485" cy="696595"/>
          </a:xfrm>
          <a:custGeom>
            <a:avLst/>
            <a:gdLst>
              <a:gd name="connisteX0" fmla="*/ 276519 w 324439"/>
              <a:gd name="connsiteY0" fmla="*/ 0 h 828675"/>
              <a:gd name="connisteX1" fmla="*/ 294 w 324439"/>
              <a:gd name="connsiteY1" fmla="*/ 209550 h 828675"/>
              <a:gd name="connisteX2" fmla="*/ 324144 w 324439"/>
              <a:gd name="connsiteY2" fmla="*/ 561975 h 828675"/>
              <a:gd name="connisteX3" fmla="*/ 47919 w 324439"/>
              <a:gd name="connsiteY3" fmla="*/ 828675 h 828675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</a:cxnLst>
            <a:rect l="l" t="t" r="r" b="b"/>
            <a:pathLst>
              <a:path w="324439" h="828675">
                <a:moveTo>
                  <a:pt x="276520" y="0"/>
                </a:moveTo>
                <a:cubicBezTo>
                  <a:pt x="214925" y="34925"/>
                  <a:pt x="-9230" y="97155"/>
                  <a:pt x="295" y="209550"/>
                </a:cubicBezTo>
                <a:cubicBezTo>
                  <a:pt x="9820" y="321945"/>
                  <a:pt x="314620" y="438150"/>
                  <a:pt x="324145" y="561975"/>
                </a:cubicBezTo>
                <a:cubicBezTo>
                  <a:pt x="333670" y="685800"/>
                  <a:pt x="109515" y="782320"/>
                  <a:pt x="47920" y="828675"/>
                </a:cubicBezTo>
              </a:path>
            </a:pathLst>
          </a:custGeom>
          <a:noFill/>
          <a:ln w="762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8" name="任意多边形 27"/>
          <p:cNvSpPr/>
          <p:nvPr>
            <p:custDataLst>
              <p:tags r:id="rId15"/>
            </p:custDataLst>
          </p:nvPr>
        </p:nvSpPr>
        <p:spPr>
          <a:xfrm>
            <a:off x="6472555" y="838835"/>
            <a:ext cx="324485" cy="696595"/>
          </a:xfrm>
          <a:custGeom>
            <a:avLst/>
            <a:gdLst>
              <a:gd name="connisteX0" fmla="*/ 276519 w 324439"/>
              <a:gd name="connsiteY0" fmla="*/ 0 h 828675"/>
              <a:gd name="connisteX1" fmla="*/ 294 w 324439"/>
              <a:gd name="connsiteY1" fmla="*/ 209550 h 828675"/>
              <a:gd name="connisteX2" fmla="*/ 324144 w 324439"/>
              <a:gd name="connsiteY2" fmla="*/ 561975 h 828675"/>
              <a:gd name="connisteX3" fmla="*/ 47919 w 324439"/>
              <a:gd name="connsiteY3" fmla="*/ 828675 h 828675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</a:cxnLst>
            <a:rect l="l" t="t" r="r" b="b"/>
            <a:pathLst>
              <a:path w="324439" h="828675">
                <a:moveTo>
                  <a:pt x="276520" y="0"/>
                </a:moveTo>
                <a:cubicBezTo>
                  <a:pt x="214925" y="34925"/>
                  <a:pt x="-9230" y="97155"/>
                  <a:pt x="295" y="209550"/>
                </a:cubicBezTo>
                <a:cubicBezTo>
                  <a:pt x="9820" y="321945"/>
                  <a:pt x="314620" y="438150"/>
                  <a:pt x="324145" y="561975"/>
                </a:cubicBezTo>
                <a:cubicBezTo>
                  <a:pt x="333670" y="685800"/>
                  <a:pt x="109515" y="782320"/>
                  <a:pt x="47920" y="828675"/>
                </a:cubicBezTo>
              </a:path>
            </a:pathLst>
          </a:custGeom>
          <a:noFill/>
          <a:ln w="7620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1" name="任意多边形 60"/>
          <p:cNvSpPr/>
          <p:nvPr>
            <p:custDataLst>
              <p:tags r:id="rId16"/>
            </p:custDataLst>
          </p:nvPr>
        </p:nvSpPr>
        <p:spPr>
          <a:xfrm>
            <a:off x="7789545" y="838835"/>
            <a:ext cx="324485" cy="696595"/>
          </a:xfrm>
          <a:custGeom>
            <a:avLst/>
            <a:gdLst>
              <a:gd name="connisteX0" fmla="*/ 276519 w 324439"/>
              <a:gd name="connsiteY0" fmla="*/ 0 h 828675"/>
              <a:gd name="connisteX1" fmla="*/ 294 w 324439"/>
              <a:gd name="connsiteY1" fmla="*/ 209550 h 828675"/>
              <a:gd name="connisteX2" fmla="*/ 324144 w 324439"/>
              <a:gd name="connsiteY2" fmla="*/ 561975 h 828675"/>
              <a:gd name="connisteX3" fmla="*/ 47919 w 324439"/>
              <a:gd name="connsiteY3" fmla="*/ 828675 h 828675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</a:cxnLst>
            <a:rect l="l" t="t" r="r" b="b"/>
            <a:pathLst>
              <a:path w="324439" h="828675">
                <a:moveTo>
                  <a:pt x="276520" y="0"/>
                </a:moveTo>
                <a:cubicBezTo>
                  <a:pt x="214925" y="34925"/>
                  <a:pt x="-9230" y="97155"/>
                  <a:pt x="295" y="209550"/>
                </a:cubicBezTo>
                <a:cubicBezTo>
                  <a:pt x="9820" y="321945"/>
                  <a:pt x="314620" y="438150"/>
                  <a:pt x="324145" y="561975"/>
                </a:cubicBezTo>
                <a:cubicBezTo>
                  <a:pt x="333670" y="685800"/>
                  <a:pt x="109515" y="782320"/>
                  <a:pt x="47920" y="828675"/>
                </a:cubicBezTo>
              </a:path>
            </a:pathLst>
          </a:custGeom>
          <a:noFill/>
          <a:ln w="7620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64" name="直接箭头连接符 63"/>
          <p:cNvCxnSpPr/>
          <p:nvPr>
            <p:custDataLst>
              <p:tags r:id="rId17"/>
            </p:custDataLst>
          </p:nvPr>
        </p:nvCxnSpPr>
        <p:spPr>
          <a:xfrm>
            <a:off x="2051685" y="1678305"/>
            <a:ext cx="370840" cy="645795"/>
          </a:xfrm>
          <a:prstGeom prst="straightConnector1">
            <a:avLst/>
          </a:prstGeom>
          <a:ln w="38100">
            <a:solidFill>
              <a:srgbClr val="D02F3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接箭头连接符 64"/>
          <p:cNvCxnSpPr/>
          <p:nvPr>
            <p:custDataLst>
              <p:tags r:id="rId18"/>
            </p:custDataLst>
          </p:nvPr>
        </p:nvCxnSpPr>
        <p:spPr>
          <a:xfrm flipH="1">
            <a:off x="2767330" y="1678305"/>
            <a:ext cx="330200" cy="645795"/>
          </a:xfrm>
          <a:prstGeom prst="straightConnector1">
            <a:avLst/>
          </a:prstGeom>
          <a:ln w="38100">
            <a:solidFill>
              <a:srgbClr val="D02F3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接箭头连接符 65"/>
          <p:cNvCxnSpPr/>
          <p:nvPr>
            <p:custDataLst>
              <p:tags r:id="rId19"/>
            </p:custDataLst>
          </p:nvPr>
        </p:nvCxnSpPr>
        <p:spPr>
          <a:xfrm>
            <a:off x="4340225" y="1652905"/>
            <a:ext cx="370840" cy="645795"/>
          </a:xfrm>
          <a:prstGeom prst="straightConnector1">
            <a:avLst/>
          </a:prstGeom>
          <a:ln w="38100">
            <a:solidFill>
              <a:srgbClr val="D02F3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接箭头连接符 66"/>
          <p:cNvCxnSpPr/>
          <p:nvPr>
            <p:custDataLst>
              <p:tags r:id="rId20"/>
            </p:custDataLst>
          </p:nvPr>
        </p:nvCxnSpPr>
        <p:spPr>
          <a:xfrm flipH="1">
            <a:off x="5055870" y="1652905"/>
            <a:ext cx="330200" cy="645795"/>
          </a:xfrm>
          <a:prstGeom prst="straightConnector1">
            <a:avLst/>
          </a:prstGeom>
          <a:ln w="38100">
            <a:solidFill>
              <a:srgbClr val="D02F3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接箭头连接符 67"/>
          <p:cNvCxnSpPr/>
          <p:nvPr>
            <p:custDataLst>
              <p:tags r:id="rId21"/>
            </p:custDataLst>
          </p:nvPr>
        </p:nvCxnSpPr>
        <p:spPr>
          <a:xfrm>
            <a:off x="6743700" y="1652905"/>
            <a:ext cx="370840" cy="645795"/>
          </a:xfrm>
          <a:prstGeom prst="straightConnector1">
            <a:avLst/>
          </a:prstGeom>
          <a:ln w="38100">
            <a:solidFill>
              <a:srgbClr val="D02F3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接箭头连接符 68"/>
          <p:cNvCxnSpPr/>
          <p:nvPr>
            <p:custDataLst>
              <p:tags r:id="rId22"/>
            </p:custDataLst>
          </p:nvPr>
        </p:nvCxnSpPr>
        <p:spPr>
          <a:xfrm flipH="1">
            <a:off x="7459345" y="1652905"/>
            <a:ext cx="330200" cy="645795"/>
          </a:xfrm>
          <a:prstGeom prst="straightConnector1">
            <a:avLst/>
          </a:prstGeom>
          <a:ln w="38100">
            <a:solidFill>
              <a:srgbClr val="D02F3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右箭头标注 25"/>
          <p:cNvSpPr/>
          <p:nvPr/>
        </p:nvSpPr>
        <p:spPr>
          <a:xfrm>
            <a:off x="333375" y="864870"/>
            <a:ext cx="1196975" cy="670560"/>
          </a:xfrm>
          <a:prstGeom prst="rightArrowCallout">
            <a:avLst/>
          </a:prstGeom>
          <a:solidFill>
            <a:srgbClr val="D02F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用户模式</a:t>
            </a:r>
            <a:endParaRPr lang="zh-CN" altLang="en-US"/>
          </a:p>
        </p:txBody>
      </p:sp>
      <p:sp>
        <p:nvSpPr>
          <p:cNvPr id="70" name="右箭头标注 69"/>
          <p:cNvSpPr/>
          <p:nvPr>
            <p:custDataLst>
              <p:tags r:id="rId23"/>
            </p:custDataLst>
          </p:nvPr>
        </p:nvSpPr>
        <p:spPr>
          <a:xfrm>
            <a:off x="333375" y="2437130"/>
            <a:ext cx="1196975" cy="670560"/>
          </a:xfrm>
          <a:prstGeom prst="rightArrowCallout">
            <a:avLst/>
          </a:prstGeom>
          <a:solidFill>
            <a:srgbClr val="D02F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内核模式</a:t>
            </a:r>
            <a:endParaRPr lang="zh-CN" altLang="en-US"/>
          </a:p>
        </p:txBody>
      </p:sp>
    </p:spTree>
    <p:custDataLst>
      <p:tags r:id="rId24"/>
    </p:custDataLst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处理器</a:t>
                      </a: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调度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一、指令流</a:t>
                      </a: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与执行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应用程序与指令流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顺序与并发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执行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1.3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指令流的描述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en-US" altLang="zh-CN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线程与处理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器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2.1 CPU时间与线程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2.2</a:t>
                      </a: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线程的描述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2.3 纤程与协程</a:t>
                      </a:r>
                      <a:endParaRPr lang="zh-CN" altLang="en-US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三、处理器调度算法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3.1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调度算法原理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多处理器与并发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59385"/>
            <a:ext cx="9121140" cy="65544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rgbClr val="9C0B15"/>
                </a:solidFill>
              </a:rPr>
              <a:t>指令流与线程：多对</a:t>
            </a:r>
            <a:r>
              <a:rPr lang="zh-CN" altLang="en-US" sz="2000" b="1">
                <a:solidFill>
                  <a:srgbClr val="9C0B15"/>
                </a:solidFill>
              </a:rPr>
              <a:t>多</a:t>
            </a:r>
            <a:endParaRPr lang="zh-CN" altLang="en-US" sz="2000" b="1">
              <a:solidFill>
                <a:srgbClr val="9C0B15"/>
              </a:solidFill>
            </a:endParaRPr>
          </a:p>
          <a:p>
            <a:pPr algn="ctr"/>
            <a:endParaRPr lang="zh-CN" altLang="en-US" sz="2000"/>
          </a:p>
          <a:p>
            <a:pPr algn="ctr"/>
            <a:endParaRPr lang="zh-CN" altLang="en-US" sz="2000"/>
          </a:p>
          <a:p>
            <a:pPr algn="ctr"/>
            <a:endParaRPr lang="zh-CN" altLang="en-US" sz="2000"/>
          </a:p>
          <a:p>
            <a:pPr algn="ctr"/>
            <a:endParaRPr lang="zh-CN" altLang="en-US" sz="2000"/>
          </a:p>
          <a:p>
            <a:pPr algn="ctr"/>
            <a:endParaRPr lang="zh-CN" altLang="en-US" sz="2000"/>
          </a:p>
          <a:p>
            <a:pPr algn="ctr"/>
            <a:endParaRPr lang="zh-CN" altLang="en-US" sz="2000"/>
          </a:p>
          <a:p>
            <a:pPr algn="ctr"/>
            <a:endParaRPr lang="zh-CN" altLang="en-US" sz="2000"/>
          </a:p>
          <a:p>
            <a:pPr algn="ctr"/>
            <a:endParaRPr lang="zh-CN" altLang="en-US" sz="2000"/>
          </a:p>
          <a:p>
            <a:pPr algn="ctr"/>
            <a:endParaRPr lang="zh-CN" altLang="en-US" sz="2000"/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原因</a:t>
            </a:r>
            <a:r>
              <a:rPr lang="en-US" altLang="zh-CN" sz="2000" b="1">
                <a:solidFill>
                  <a:srgbClr val="9C0B15"/>
                </a:solidFill>
              </a:rPr>
              <a:t>	</a:t>
            </a:r>
            <a:r>
              <a:rPr lang="zh-CN" altLang="en-US" sz="2000"/>
              <a:t>一旦指令流</a:t>
            </a:r>
            <a:r>
              <a:rPr lang="en-US" altLang="zh-CN" sz="2000">
                <a:solidFill>
                  <a:srgbClr val="9C0B15"/>
                </a:solidFill>
              </a:rPr>
              <a:t>阻塞在内核</a:t>
            </a:r>
            <a:r>
              <a:rPr lang="zh-CN" altLang="en-US" sz="2000">
                <a:solidFill>
                  <a:srgbClr val="9C0B15"/>
                </a:solidFill>
              </a:rPr>
              <a:t>（阻塞在应用程序中则无此问题，因为应用程序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	</a:t>
            </a:r>
            <a:r>
              <a:rPr lang="zh-CN" altLang="en-US" sz="2000">
                <a:solidFill>
                  <a:srgbClr val="9C0B15"/>
                </a:solidFill>
              </a:rPr>
              <a:t>可以自主选择一个新的指令流来使用这个线程）</a:t>
            </a:r>
            <a:r>
              <a:rPr lang="zh-CN" altLang="en-US" sz="2000"/>
              <a:t>，就会</a:t>
            </a:r>
            <a:r>
              <a:rPr lang="en-US" altLang="zh-CN" sz="2000">
                <a:solidFill>
                  <a:srgbClr val="9C0B15"/>
                </a:solidFill>
              </a:rPr>
              <a:t>阻塞整个</a:t>
            </a:r>
            <a:r>
              <a:rPr lang="en-US" altLang="zh-CN" sz="2000">
                <a:solidFill>
                  <a:srgbClr val="9C0B15"/>
                </a:solidFill>
                <a:sym typeface="+mn-ea"/>
              </a:rPr>
              <a:t>线程</a:t>
            </a:r>
            <a:r>
              <a:rPr lang="zh-CN" altLang="en-US" sz="2000">
                <a:sym typeface="+mn-ea"/>
              </a:rPr>
              <a:t>。</a:t>
            </a:r>
            <a:r>
              <a:rPr lang="zh-CN" altLang="en-US" sz="2000">
                <a:sym typeface="+mn-ea"/>
              </a:rPr>
              <a:t>	</a:t>
            </a:r>
            <a:r>
              <a:rPr lang="zh-CN" altLang="en-US" sz="2000">
                <a:sym typeface="+mn-ea"/>
              </a:rPr>
              <a:t>而如果线程上还有能运行的指令流，这些指令流也停止运行。我们自然</a:t>
            </a:r>
            <a:r>
              <a:rPr lang="zh-CN" altLang="en-US" sz="2000">
                <a:sym typeface="+mn-ea"/>
              </a:rPr>
              <a:t>	</a:t>
            </a:r>
            <a:r>
              <a:rPr lang="zh-CN" altLang="en-US" sz="2000">
                <a:sym typeface="+mn-ea"/>
              </a:rPr>
              <a:t>不希望这样；然而，每个线程仅提供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一个TCB</a:t>
            </a:r>
            <a:r>
              <a:rPr lang="zh-CN" altLang="en-US" sz="2000">
                <a:sym typeface="+mn-ea"/>
              </a:rPr>
              <a:t>，当前阻塞在内核的指令流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	</a:t>
            </a:r>
            <a:r>
              <a:rPr lang="zh-CN" altLang="en-US" sz="2000">
                <a:sym typeface="+mn-ea"/>
              </a:rPr>
              <a:t>的上下文已经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占用这个TCB里面的寄存器组了</a:t>
            </a:r>
            <a:r>
              <a:rPr lang="zh-CN" altLang="en-US" sz="2000">
                <a:sym typeface="+mn-ea"/>
              </a:rPr>
              <a:t>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 b="1">
              <a:solidFill>
                <a:srgbClr val="9C0B15"/>
              </a:solidFill>
            </a:endParaRPr>
          </a:p>
          <a:p>
            <a:pPr algn="l"/>
            <a:r>
              <a:rPr lang="zh-CN" altLang="en-US" sz="2000" b="1">
                <a:solidFill>
                  <a:srgbClr val="9C0B15"/>
                </a:solidFill>
              </a:rPr>
              <a:t>优点</a:t>
            </a:r>
            <a:r>
              <a:rPr lang="en-US" altLang="zh-CN" sz="2000"/>
              <a:t>	</a:t>
            </a:r>
            <a:r>
              <a:rPr lang="zh-CN" altLang="en-US" sz="2000">
                <a:sym typeface="+mn-ea"/>
              </a:rPr>
              <a:t>那么，我们可以考虑给这些指令流提供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多于一个上下文</a:t>
            </a:r>
            <a:r>
              <a:rPr lang="zh-CN" altLang="en-US" sz="2000">
                <a:sym typeface="+mn-ea"/>
              </a:rPr>
              <a:t>，也就是让多个	指令流对应多个线程，任何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一个不阻塞的线程都可以运行任何一个不阻</a:t>
            </a:r>
            <a:r>
              <a:rPr lang="en-US" altLang="zh-CN" sz="2000">
                <a:solidFill>
                  <a:srgbClr val="9C0B15"/>
                </a:solidFill>
                <a:sym typeface="+mn-ea"/>
              </a:rPr>
              <a:t>	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塞的指令流</a:t>
            </a:r>
            <a:r>
              <a:rPr lang="zh-CN" altLang="en-US" sz="2000">
                <a:sym typeface="+mn-ea"/>
              </a:rPr>
              <a:t>，指令流可以在线程之间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迁移</a:t>
            </a:r>
            <a:r>
              <a:rPr lang="zh-CN" altLang="en-US" sz="2000">
                <a:sym typeface="+mn-ea"/>
              </a:rPr>
              <a:t>。</a:t>
            </a:r>
            <a:endParaRPr lang="zh-CN" altLang="en-US" sz="2000"/>
          </a:p>
          <a:p>
            <a:pPr algn="l"/>
            <a:r>
              <a:rPr lang="en-US" altLang="zh-CN" sz="2000">
                <a:sym typeface="+mn-ea"/>
              </a:rPr>
              <a:t>		</a:t>
            </a:r>
            <a:endParaRPr lang="zh-CN" altLang="en-US" sz="2000"/>
          </a:p>
          <a:p>
            <a:pPr algn="l"/>
            <a:r>
              <a:rPr lang="zh-CN" altLang="en-US" sz="2000" b="1">
                <a:solidFill>
                  <a:srgbClr val="9C0B15"/>
                </a:solidFill>
              </a:rPr>
              <a:t>缺点</a:t>
            </a:r>
            <a:r>
              <a:rPr lang="en-US" altLang="zh-CN" sz="2000"/>
              <a:t>	</a:t>
            </a:r>
            <a:r>
              <a:rPr lang="zh-CN" altLang="en-US" sz="2000">
                <a:solidFill>
                  <a:srgbClr val="9C0B15"/>
                </a:solidFill>
              </a:rPr>
              <a:t>臭名昭著</a:t>
            </a:r>
            <a:r>
              <a:rPr lang="zh-CN" altLang="en-US" sz="2000"/>
              <a:t>地难以正确实现。内部细节很多很复杂，这就是</a:t>
            </a:r>
            <a:r>
              <a:rPr lang="zh-CN" altLang="en-US" sz="2000">
                <a:solidFill>
                  <a:srgbClr val="9C0B15"/>
                </a:solidFill>
              </a:rPr>
              <a:t>灵活的代价</a:t>
            </a:r>
            <a:r>
              <a:rPr lang="zh-CN" altLang="en-US" sz="2000"/>
              <a:t>。</a:t>
            </a:r>
            <a:endParaRPr lang="zh-CN" altLang="en-US" sz="2000"/>
          </a:p>
        </p:txBody>
      </p:sp>
      <p:sp>
        <p:nvSpPr>
          <p:cNvPr id="60" name="任意多边形 59"/>
          <p:cNvSpPr/>
          <p:nvPr>
            <p:custDataLst>
              <p:tags r:id="rId2"/>
            </p:custDataLst>
          </p:nvPr>
        </p:nvSpPr>
        <p:spPr>
          <a:xfrm>
            <a:off x="4731385" y="838835"/>
            <a:ext cx="324485" cy="696595"/>
          </a:xfrm>
          <a:custGeom>
            <a:avLst/>
            <a:gdLst>
              <a:gd name="connisteX0" fmla="*/ 276519 w 324439"/>
              <a:gd name="connsiteY0" fmla="*/ 0 h 828675"/>
              <a:gd name="connisteX1" fmla="*/ 294 w 324439"/>
              <a:gd name="connsiteY1" fmla="*/ 209550 h 828675"/>
              <a:gd name="connisteX2" fmla="*/ 324144 w 324439"/>
              <a:gd name="connsiteY2" fmla="*/ 561975 h 828675"/>
              <a:gd name="connisteX3" fmla="*/ 47919 w 324439"/>
              <a:gd name="connsiteY3" fmla="*/ 828675 h 828675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</a:cxnLst>
            <a:rect l="l" t="t" r="r" b="b"/>
            <a:pathLst>
              <a:path w="324439" h="828675">
                <a:moveTo>
                  <a:pt x="276520" y="0"/>
                </a:moveTo>
                <a:cubicBezTo>
                  <a:pt x="214925" y="34925"/>
                  <a:pt x="-9230" y="97155"/>
                  <a:pt x="295" y="209550"/>
                </a:cubicBezTo>
                <a:cubicBezTo>
                  <a:pt x="9820" y="321945"/>
                  <a:pt x="314620" y="438150"/>
                  <a:pt x="324145" y="561975"/>
                </a:cubicBezTo>
                <a:cubicBezTo>
                  <a:pt x="333670" y="685800"/>
                  <a:pt x="109515" y="782320"/>
                  <a:pt x="47920" y="828675"/>
                </a:cubicBezTo>
              </a:path>
            </a:pathLst>
          </a:custGeom>
          <a:noFill/>
          <a:ln w="762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2" name="任意多边形 61"/>
          <p:cNvSpPr/>
          <p:nvPr>
            <p:custDataLst>
              <p:tags r:id="rId3"/>
            </p:custDataLst>
          </p:nvPr>
        </p:nvSpPr>
        <p:spPr>
          <a:xfrm>
            <a:off x="7094220" y="838835"/>
            <a:ext cx="324485" cy="696595"/>
          </a:xfrm>
          <a:custGeom>
            <a:avLst/>
            <a:gdLst>
              <a:gd name="connisteX0" fmla="*/ 276519 w 324439"/>
              <a:gd name="connsiteY0" fmla="*/ 0 h 828675"/>
              <a:gd name="connisteX1" fmla="*/ 294 w 324439"/>
              <a:gd name="connsiteY1" fmla="*/ 209550 h 828675"/>
              <a:gd name="connisteX2" fmla="*/ 324144 w 324439"/>
              <a:gd name="connsiteY2" fmla="*/ 561975 h 828675"/>
              <a:gd name="connisteX3" fmla="*/ 47919 w 324439"/>
              <a:gd name="connsiteY3" fmla="*/ 828675 h 828675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</a:cxnLst>
            <a:rect l="l" t="t" r="r" b="b"/>
            <a:pathLst>
              <a:path w="324439" h="828675">
                <a:moveTo>
                  <a:pt x="276520" y="0"/>
                </a:moveTo>
                <a:cubicBezTo>
                  <a:pt x="214925" y="34925"/>
                  <a:pt x="-9230" y="97155"/>
                  <a:pt x="295" y="209550"/>
                </a:cubicBezTo>
                <a:cubicBezTo>
                  <a:pt x="9820" y="321945"/>
                  <a:pt x="314620" y="438150"/>
                  <a:pt x="324145" y="561975"/>
                </a:cubicBezTo>
                <a:cubicBezTo>
                  <a:pt x="333670" y="685800"/>
                  <a:pt x="109515" y="782320"/>
                  <a:pt x="47920" y="828675"/>
                </a:cubicBezTo>
              </a:path>
            </a:pathLst>
          </a:custGeom>
          <a:noFill/>
          <a:ln w="7620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3" name="任意多边形 62"/>
          <p:cNvSpPr/>
          <p:nvPr>
            <p:custDataLst>
              <p:tags r:id="rId4"/>
            </p:custDataLst>
          </p:nvPr>
        </p:nvSpPr>
        <p:spPr>
          <a:xfrm>
            <a:off x="2423160" y="838835"/>
            <a:ext cx="324485" cy="696595"/>
          </a:xfrm>
          <a:custGeom>
            <a:avLst/>
            <a:gdLst>
              <a:gd name="connisteX0" fmla="*/ 276519 w 324439"/>
              <a:gd name="connsiteY0" fmla="*/ 0 h 828675"/>
              <a:gd name="connisteX1" fmla="*/ 294 w 324439"/>
              <a:gd name="connsiteY1" fmla="*/ 209550 h 828675"/>
              <a:gd name="connisteX2" fmla="*/ 324144 w 324439"/>
              <a:gd name="connsiteY2" fmla="*/ 561975 h 828675"/>
              <a:gd name="connisteX3" fmla="*/ 47919 w 324439"/>
              <a:gd name="connsiteY3" fmla="*/ 828675 h 828675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</a:cxnLst>
            <a:rect l="l" t="t" r="r" b="b"/>
            <a:pathLst>
              <a:path w="324439" h="828675">
                <a:moveTo>
                  <a:pt x="276520" y="0"/>
                </a:moveTo>
                <a:cubicBezTo>
                  <a:pt x="214925" y="34925"/>
                  <a:pt x="-9230" y="97155"/>
                  <a:pt x="295" y="209550"/>
                </a:cubicBezTo>
                <a:cubicBezTo>
                  <a:pt x="9820" y="321945"/>
                  <a:pt x="314620" y="438150"/>
                  <a:pt x="324145" y="561975"/>
                </a:cubicBezTo>
                <a:cubicBezTo>
                  <a:pt x="333670" y="685800"/>
                  <a:pt x="109515" y="782320"/>
                  <a:pt x="47920" y="828675"/>
                </a:cubicBezTo>
              </a:path>
            </a:pathLst>
          </a:custGeom>
          <a:noFill/>
          <a:ln w="76200">
            <a:solidFill>
              <a:srgbClr val="D02F3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任意多边形 1"/>
          <p:cNvSpPr/>
          <p:nvPr>
            <p:custDataLst>
              <p:tags r:id="rId5"/>
            </p:custDataLst>
          </p:nvPr>
        </p:nvSpPr>
        <p:spPr>
          <a:xfrm>
            <a:off x="4406900" y="2437130"/>
            <a:ext cx="324485" cy="696595"/>
          </a:xfrm>
          <a:custGeom>
            <a:avLst/>
            <a:gdLst>
              <a:gd name="connisteX0" fmla="*/ 276519 w 324439"/>
              <a:gd name="connsiteY0" fmla="*/ 0 h 828675"/>
              <a:gd name="connisteX1" fmla="*/ 294 w 324439"/>
              <a:gd name="connsiteY1" fmla="*/ 209550 h 828675"/>
              <a:gd name="connisteX2" fmla="*/ 324144 w 324439"/>
              <a:gd name="connsiteY2" fmla="*/ 561975 h 828675"/>
              <a:gd name="connisteX3" fmla="*/ 47919 w 324439"/>
              <a:gd name="connsiteY3" fmla="*/ 828675 h 828675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</a:cxnLst>
            <a:rect l="l" t="t" r="r" b="b"/>
            <a:pathLst>
              <a:path w="324439" h="828675">
                <a:moveTo>
                  <a:pt x="276520" y="0"/>
                </a:moveTo>
                <a:cubicBezTo>
                  <a:pt x="214925" y="34925"/>
                  <a:pt x="-9230" y="97155"/>
                  <a:pt x="295" y="209550"/>
                </a:cubicBezTo>
                <a:cubicBezTo>
                  <a:pt x="9820" y="321945"/>
                  <a:pt x="314620" y="438150"/>
                  <a:pt x="324145" y="561975"/>
                </a:cubicBezTo>
                <a:cubicBezTo>
                  <a:pt x="333670" y="685800"/>
                  <a:pt x="109515" y="782320"/>
                  <a:pt x="47920" y="828675"/>
                </a:cubicBezTo>
              </a:path>
            </a:pathLst>
          </a:custGeom>
          <a:noFill/>
          <a:ln w="762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任意多边形 3"/>
          <p:cNvSpPr/>
          <p:nvPr>
            <p:custDataLst>
              <p:tags r:id="rId6"/>
            </p:custDataLst>
          </p:nvPr>
        </p:nvSpPr>
        <p:spPr>
          <a:xfrm>
            <a:off x="6797040" y="2437130"/>
            <a:ext cx="324485" cy="696595"/>
          </a:xfrm>
          <a:custGeom>
            <a:avLst/>
            <a:gdLst>
              <a:gd name="connisteX0" fmla="*/ 276519 w 324439"/>
              <a:gd name="connsiteY0" fmla="*/ 0 h 828675"/>
              <a:gd name="connisteX1" fmla="*/ 294 w 324439"/>
              <a:gd name="connsiteY1" fmla="*/ 209550 h 828675"/>
              <a:gd name="connisteX2" fmla="*/ 324144 w 324439"/>
              <a:gd name="connsiteY2" fmla="*/ 561975 h 828675"/>
              <a:gd name="connisteX3" fmla="*/ 47919 w 324439"/>
              <a:gd name="connsiteY3" fmla="*/ 828675 h 828675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</a:cxnLst>
            <a:rect l="l" t="t" r="r" b="b"/>
            <a:pathLst>
              <a:path w="324439" h="828675">
                <a:moveTo>
                  <a:pt x="276520" y="0"/>
                </a:moveTo>
                <a:cubicBezTo>
                  <a:pt x="214925" y="34925"/>
                  <a:pt x="-9230" y="97155"/>
                  <a:pt x="295" y="209550"/>
                </a:cubicBezTo>
                <a:cubicBezTo>
                  <a:pt x="9820" y="321945"/>
                  <a:pt x="314620" y="438150"/>
                  <a:pt x="324145" y="561975"/>
                </a:cubicBezTo>
                <a:cubicBezTo>
                  <a:pt x="333670" y="685800"/>
                  <a:pt x="109515" y="782320"/>
                  <a:pt x="47920" y="828675"/>
                </a:cubicBezTo>
              </a:path>
            </a:pathLst>
          </a:custGeom>
          <a:noFill/>
          <a:ln w="7620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任意多边形 4"/>
          <p:cNvSpPr/>
          <p:nvPr>
            <p:custDataLst>
              <p:tags r:id="rId7"/>
            </p:custDataLst>
          </p:nvPr>
        </p:nvSpPr>
        <p:spPr>
          <a:xfrm>
            <a:off x="2137410" y="2437130"/>
            <a:ext cx="324485" cy="696595"/>
          </a:xfrm>
          <a:custGeom>
            <a:avLst/>
            <a:gdLst>
              <a:gd name="connisteX0" fmla="*/ 276519 w 324439"/>
              <a:gd name="connsiteY0" fmla="*/ 0 h 828675"/>
              <a:gd name="connisteX1" fmla="*/ 294 w 324439"/>
              <a:gd name="connsiteY1" fmla="*/ 209550 h 828675"/>
              <a:gd name="connisteX2" fmla="*/ 324144 w 324439"/>
              <a:gd name="connsiteY2" fmla="*/ 561975 h 828675"/>
              <a:gd name="connisteX3" fmla="*/ 47919 w 324439"/>
              <a:gd name="connsiteY3" fmla="*/ 828675 h 828675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</a:cxnLst>
            <a:rect l="l" t="t" r="r" b="b"/>
            <a:pathLst>
              <a:path w="324439" h="828675">
                <a:moveTo>
                  <a:pt x="276520" y="0"/>
                </a:moveTo>
                <a:cubicBezTo>
                  <a:pt x="214925" y="34925"/>
                  <a:pt x="-9230" y="97155"/>
                  <a:pt x="295" y="209550"/>
                </a:cubicBezTo>
                <a:cubicBezTo>
                  <a:pt x="9820" y="321945"/>
                  <a:pt x="314620" y="438150"/>
                  <a:pt x="324145" y="561975"/>
                </a:cubicBezTo>
                <a:cubicBezTo>
                  <a:pt x="333670" y="685800"/>
                  <a:pt x="109515" y="782320"/>
                  <a:pt x="47920" y="828675"/>
                </a:cubicBezTo>
              </a:path>
            </a:pathLst>
          </a:custGeom>
          <a:noFill/>
          <a:ln w="76200">
            <a:solidFill>
              <a:srgbClr val="D02F3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9" name="直接箭头连接符 8"/>
          <p:cNvCxnSpPr/>
          <p:nvPr>
            <p:custDataLst>
              <p:tags r:id="rId8"/>
            </p:custDataLst>
          </p:nvPr>
        </p:nvCxnSpPr>
        <p:spPr>
          <a:xfrm flipH="1">
            <a:off x="2581275" y="1652905"/>
            <a:ext cx="7620" cy="671195"/>
          </a:xfrm>
          <a:prstGeom prst="straightConnector1">
            <a:avLst/>
          </a:prstGeom>
          <a:ln w="38100">
            <a:solidFill>
              <a:srgbClr val="D02F3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箭头连接符 6"/>
          <p:cNvCxnSpPr/>
          <p:nvPr>
            <p:custDataLst>
              <p:tags r:id="rId9"/>
            </p:custDataLst>
          </p:nvPr>
        </p:nvCxnSpPr>
        <p:spPr>
          <a:xfrm flipH="1">
            <a:off x="4890135" y="1652905"/>
            <a:ext cx="7620" cy="671195"/>
          </a:xfrm>
          <a:prstGeom prst="straightConnector1">
            <a:avLst/>
          </a:prstGeom>
          <a:ln w="38100">
            <a:solidFill>
              <a:srgbClr val="D02F3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箭头连接符 7"/>
          <p:cNvCxnSpPr/>
          <p:nvPr>
            <p:custDataLst>
              <p:tags r:id="rId10"/>
            </p:custDataLst>
          </p:nvPr>
        </p:nvCxnSpPr>
        <p:spPr>
          <a:xfrm flipH="1">
            <a:off x="7252970" y="1652905"/>
            <a:ext cx="7620" cy="671195"/>
          </a:xfrm>
          <a:prstGeom prst="straightConnector1">
            <a:avLst/>
          </a:prstGeom>
          <a:ln w="38100">
            <a:solidFill>
              <a:srgbClr val="D02F3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任意多边形 5"/>
          <p:cNvSpPr/>
          <p:nvPr>
            <p:custDataLst>
              <p:tags r:id="rId11"/>
            </p:custDataLst>
          </p:nvPr>
        </p:nvSpPr>
        <p:spPr>
          <a:xfrm>
            <a:off x="1775460" y="838835"/>
            <a:ext cx="324485" cy="696595"/>
          </a:xfrm>
          <a:custGeom>
            <a:avLst/>
            <a:gdLst>
              <a:gd name="connisteX0" fmla="*/ 276519 w 324439"/>
              <a:gd name="connsiteY0" fmla="*/ 0 h 828675"/>
              <a:gd name="connisteX1" fmla="*/ 294 w 324439"/>
              <a:gd name="connsiteY1" fmla="*/ 209550 h 828675"/>
              <a:gd name="connisteX2" fmla="*/ 324144 w 324439"/>
              <a:gd name="connsiteY2" fmla="*/ 561975 h 828675"/>
              <a:gd name="connisteX3" fmla="*/ 47919 w 324439"/>
              <a:gd name="connsiteY3" fmla="*/ 828675 h 828675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</a:cxnLst>
            <a:rect l="l" t="t" r="r" b="b"/>
            <a:pathLst>
              <a:path w="324439" h="828675">
                <a:moveTo>
                  <a:pt x="276520" y="0"/>
                </a:moveTo>
                <a:cubicBezTo>
                  <a:pt x="214925" y="34925"/>
                  <a:pt x="-9230" y="97155"/>
                  <a:pt x="295" y="209550"/>
                </a:cubicBezTo>
                <a:cubicBezTo>
                  <a:pt x="9820" y="321945"/>
                  <a:pt x="314620" y="438150"/>
                  <a:pt x="324145" y="561975"/>
                </a:cubicBezTo>
                <a:cubicBezTo>
                  <a:pt x="333670" y="685800"/>
                  <a:pt x="109515" y="782320"/>
                  <a:pt x="47920" y="828675"/>
                </a:cubicBezTo>
              </a:path>
            </a:pathLst>
          </a:custGeom>
          <a:noFill/>
          <a:ln w="76200">
            <a:solidFill>
              <a:srgbClr val="D02F3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任意多边形 14"/>
          <p:cNvSpPr/>
          <p:nvPr>
            <p:custDataLst>
              <p:tags r:id="rId12"/>
            </p:custDataLst>
          </p:nvPr>
        </p:nvSpPr>
        <p:spPr>
          <a:xfrm>
            <a:off x="3090545" y="838835"/>
            <a:ext cx="324485" cy="696595"/>
          </a:xfrm>
          <a:custGeom>
            <a:avLst/>
            <a:gdLst>
              <a:gd name="connisteX0" fmla="*/ 276519 w 324439"/>
              <a:gd name="connsiteY0" fmla="*/ 0 h 828675"/>
              <a:gd name="connisteX1" fmla="*/ 294 w 324439"/>
              <a:gd name="connsiteY1" fmla="*/ 209550 h 828675"/>
              <a:gd name="connisteX2" fmla="*/ 324144 w 324439"/>
              <a:gd name="connsiteY2" fmla="*/ 561975 h 828675"/>
              <a:gd name="connisteX3" fmla="*/ 47919 w 324439"/>
              <a:gd name="connsiteY3" fmla="*/ 828675 h 828675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</a:cxnLst>
            <a:rect l="l" t="t" r="r" b="b"/>
            <a:pathLst>
              <a:path w="324439" h="828675">
                <a:moveTo>
                  <a:pt x="276520" y="0"/>
                </a:moveTo>
                <a:cubicBezTo>
                  <a:pt x="214925" y="34925"/>
                  <a:pt x="-9230" y="97155"/>
                  <a:pt x="295" y="209550"/>
                </a:cubicBezTo>
                <a:cubicBezTo>
                  <a:pt x="9820" y="321945"/>
                  <a:pt x="314620" y="438150"/>
                  <a:pt x="324145" y="561975"/>
                </a:cubicBezTo>
                <a:cubicBezTo>
                  <a:pt x="333670" y="685800"/>
                  <a:pt x="109515" y="782320"/>
                  <a:pt x="47920" y="828675"/>
                </a:cubicBezTo>
              </a:path>
            </a:pathLst>
          </a:custGeom>
          <a:noFill/>
          <a:ln w="76200">
            <a:solidFill>
              <a:srgbClr val="D02F3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任意多边形 16"/>
          <p:cNvSpPr/>
          <p:nvPr>
            <p:custDataLst>
              <p:tags r:id="rId13"/>
            </p:custDataLst>
          </p:nvPr>
        </p:nvSpPr>
        <p:spPr>
          <a:xfrm>
            <a:off x="4147820" y="838835"/>
            <a:ext cx="324485" cy="696595"/>
          </a:xfrm>
          <a:custGeom>
            <a:avLst/>
            <a:gdLst>
              <a:gd name="connisteX0" fmla="*/ 276519 w 324439"/>
              <a:gd name="connsiteY0" fmla="*/ 0 h 828675"/>
              <a:gd name="connisteX1" fmla="*/ 294 w 324439"/>
              <a:gd name="connsiteY1" fmla="*/ 209550 h 828675"/>
              <a:gd name="connisteX2" fmla="*/ 324144 w 324439"/>
              <a:gd name="connsiteY2" fmla="*/ 561975 h 828675"/>
              <a:gd name="connisteX3" fmla="*/ 47919 w 324439"/>
              <a:gd name="connsiteY3" fmla="*/ 828675 h 828675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</a:cxnLst>
            <a:rect l="l" t="t" r="r" b="b"/>
            <a:pathLst>
              <a:path w="324439" h="828675">
                <a:moveTo>
                  <a:pt x="276520" y="0"/>
                </a:moveTo>
                <a:cubicBezTo>
                  <a:pt x="214925" y="34925"/>
                  <a:pt x="-9230" y="97155"/>
                  <a:pt x="295" y="209550"/>
                </a:cubicBezTo>
                <a:cubicBezTo>
                  <a:pt x="9820" y="321945"/>
                  <a:pt x="314620" y="438150"/>
                  <a:pt x="324145" y="561975"/>
                </a:cubicBezTo>
                <a:cubicBezTo>
                  <a:pt x="333670" y="685800"/>
                  <a:pt x="109515" y="782320"/>
                  <a:pt x="47920" y="828675"/>
                </a:cubicBezTo>
              </a:path>
            </a:pathLst>
          </a:custGeom>
          <a:noFill/>
          <a:ln w="762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任意多边形 24"/>
          <p:cNvSpPr/>
          <p:nvPr>
            <p:custDataLst>
              <p:tags r:id="rId14"/>
            </p:custDataLst>
          </p:nvPr>
        </p:nvSpPr>
        <p:spPr>
          <a:xfrm>
            <a:off x="5374640" y="838835"/>
            <a:ext cx="324485" cy="696595"/>
          </a:xfrm>
          <a:custGeom>
            <a:avLst/>
            <a:gdLst>
              <a:gd name="connisteX0" fmla="*/ 276519 w 324439"/>
              <a:gd name="connsiteY0" fmla="*/ 0 h 828675"/>
              <a:gd name="connisteX1" fmla="*/ 294 w 324439"/>
              <a:gd name="connsiteY1" fmla="*/ 209550 h 828675"/>
              <a:gd name="connisteX2" fmla="*/ 324144 w 324439"/>
              <a:gd name="connsiteY2" fmla="*/ 561975 h 828675"/>
              <a:gd name="connisteX3" fmla="*/ 47919 w 324439"/>
              <a:gd name="connsiteY3" fmla="*/ 828675 h 828675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</a:cxnLst>
            <a:rect l="l" t="t" r="r" b="b"/>
            <a:pathLst>
              <a:path w="324439" h="828675">
                <a:moveTo>
                  <a:pt x="276520" y="0"/>
                </a:moveTo>
                <a:cubicBezTo>
                  <a:pt x="214925" y="34925"/>
                  <a:pt x="-9230" y="97155"/>
                  <a:pt x="295" y="209550"/>
                </a:cubicBezTo>
                <a:cubicBezTo>
                  <a:pt x="9820" y="321945"/>
                  <a:pt x="314620" y="438150"/>
                  <a:pt x="324145" y="561975"/>
                </a:cubicBezTo>
                <a:cubicBezTo>
                  <a:pt x="333670" y="685800"/>
                  <a:pt x="109515" y="782320"/>
                  <a:pt x="47920" y="828675"/>
                </a:cubicBezTo>
              </a:path>
            </a:pathLst>
          </a:custGeom>
          <a:noFill/>
          <a:ln w="762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8" name="任意多边形 27"/>
          <p:cNvSpPr/>
          <p:nvPr>
            <p:custDataLst>
              <p:tags r:id="rId15"/>
            </p:custDataLst>
          </p:nvPr>
        </p:nvSpPr>
        <p:spPr>
          <a:xfrm>
            <a:off x="6472555" y="838835"/>
            <a:ext cx="324485" cy="696595"/>
          </a:xfrm>
          <a:custGeom>
            <a:avLst/>
            <a:gdLst>
              <a:gd name="connisteX0" fmla="*/ 276519 w 324439"/>
              <a:gd name="connsiteY0" fmla="*/ 0 h 828675"/>
              <a:gd name="connisteX1" fmla="*/ 294 w 324439"/>
              <a:gd name="connsiteY1" fmla="*/ 209550 h 828675"/>
              <a:gd name="connisteX2" fmla="*/ 324144 w 324439"/>
              <a:gd name="connsiteY2" fmla="*/ 561975 h 828675"/>
              <a:gd name="connisteX3" fmla="*/ 47919 w 324439"/>
              <a:gd name="connsiteY3" fmla="*/ 828675 h 828675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</a:cxnLst>
            <a:rect l="l" t="t" r="r" b="b"/>
            <a:pathLst>
              <a:path w="324439" h="828675">
                <a:moveTo>
                  <a:pt x="276520" y="0"/>
                </a:moveTo>
                <a:cubicBezTo>
                  <a:pt x="214925" y="34925"/>
                  <a:pt x="-9230" y="97155"/>
                  <a:pt x="295" y="209550"/>
                </a:cubicBezTo>
                <a:cubicBezTo>
                  <a:pt x="9820" y="321945"/>
                  <a:pt x="314620" y="438150"/>
                  <a:pt x="324145" y="561975"/>
                </a:cubicBezTo>
                <a:cubicBezTo>
                  <a:pt x="333670" y="685800"/>
                  <a:pt x="109515" y="782320"/>
                  <a:pt x="47920" y="828675"/>
                </a:cubicBezTo>
              </a:path>
            </a:pathLst>
          </a:custGeom>
          <a:noFill/>
          <a:ln w="7620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1" name="任意多边形 60"/>
          <p:cNvSpPr/>
          <p:nvPr>
            <p:custDataLst>
              <p:tags r:id="rId16"/>
            </p:custDataLst>
          </p:nvPr>
        </p:nvSpPr>
        <p:spPr>
          <a:xfrm>
            <a:off x="7789545" y="838835"/>
            <a:ext cx="324485" cy="696595"/>
          </a:xfrm>
          <a:custGeom>
            <a:avLst/>
            <a:gdLst>
              <a:gd name="connisteX0" fmla="*/ 276519 w 324439"/>
              <a:gd name="connsiteY0" fmla="*/ 0 h 828675"/>
              <a:gd name="connisteX1" fmla="*/ 294 w 324439"/>
              <a:gd name="connsiteY1" fmla="*/ 209550 h 828675"/>
              <a:gd name="connisteX2" fmla="*/ 324144 w 324439"/>
              <a:gd name="connsiteY2" fmla="*/ 561975 h 828675"/>
              <a:gd name="connisteX3" fmla="*/ 47919 w 324439"/>
              <a:gd name="connsiteY3" fmla="*/ 828675 h 828675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</a:cxnLst>
            <a:rect l="l" t="t" r="r" b="b"/>
            <a:pathLst>
              <a:path w="324439" h="828675">
                <a:moveTo>
                  <a:pt x="276520" y="0"/>
                </a:moveTo>
                <a:cubicBezTo>
                  <a:pt x="214925" y="34925"/>
                  <a:pt x="-9230" y="97155"/>
                  <a:pt x="295" y="209550"/>
                </a:cubicBezTo>
                <a:cubicBezTo>
                  <a:pt x="9820" y="321945"/>
                  <a:pt x="314620" y="438150"/>
                  <a:pt x="324145" y="561975"/>
                </a:cubicBezTo>
                <a:cubicBezTo>
                  <a:pt x="333670" y="685800"/>
                  <a:pt x="109515" y="782320"/>
                  <a:pt x="47920" y="828675"/>
                </a:cubicBezTo>
              </a:path>
            </a:pathLst>
          </a:custGeom>
          <a:noFill/>
          <a:ln w="7620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64" name="直接箭头连接符 63"/>
          <p:cNvCxnSpPr/>
          <p:nvPr>
            <p:custDataLst>
              <p:tags r:id="rId17"/>
            </p:custDataLst>
          </p:nvPr>
        </p:nvCxnSpPr>
        <p:spPr>
          <a:xfrm>
            <a:off x="2051685" y="1678305"/>
            <a:ext cx="370840" cy="645795"/>
          </a:xfrm>
          <a:prstGeom prst="straightConnector1">
            <a:avLst/>
          </a:prstGeom>
          <a:ln w="38100">
            <a:solidFill>
              <a:srgbClr val="D02F3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接箭头连接符 64"/>
          <p:cNvCxnSpPr/>
          <p:nvPr>
            <p:custDataLst>
              <p:tags r:id="rId18"/>
            </p:custDataLst>
          </p:nvPr>
        </p:nvCxnSpPr>
        <p:spPr>
          <a:xfrm flipH="1">
            <a:off x="2767330" y="1678305"/>
            <a:ext cx="330200" cy="645795"/>
          </a:xfrm>
          <a:prstGeom prst="straightConnector1">
            <a:avLst/>
          </a:prstGeom>
          <a:ln w="38100">
            <a:solidFill>
              <a:srgbClr val="D02F3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接箭头连接符 65"/>
          <p:cNvCxnSpPr/>
          <p:nvPr>
            <p:custDataLst>
              <p:tags r:id="rId19"/>
            </p:custDataLst>
          </p:nvPr>
        </p:nvCxnSpPr>
        <p:spPr>
          <a:xfrm>
            <a:off x="4340225" y="1652905"/>
            <a:ext cx="370840" cy="645795"/>
          </a:xfrm>
          <a:prstGeom prst="straightConnector1">
            <a:avLst/>
          </a:prstGeom>
          <a:ln w="38100">
            <a:solidFill>
              <a:srgbClr val="D02F3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接箭头连接符 66"/>
          <p:cNvCxnSpPr/>
          <p:nvPr>
            <p:custDataLst>
              <p:tags r:id="rId20"/>
            </p:custDataLst>
          </p:nvPr>
        </p:nvCxnSpPr>
        <p:spPr>
          <a:xfrm flipH="1">
            <a:off x="5055870" y="1652905"/>
            <a:ext cx="330200" cy="645795"/>
          </a:xfrm>
          <a:prstGeom prst="straightConnector1">
            <a:avLst/>
          </a:prstGeom>
          <a:ln w="38100">
            <a:solidFill>
              <a:srgbClr val="D02F3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接箭头连接符 67"/>
          <p:cNvCxnSpPr/>
          <p:nvPr>
            <p:custDataLst>
              <p:tags r:id="rId21"/>
            </p:custDataLst>
          </p:nvPr>
        </p:nvCxnSpPr>
        <p:spPr>
          <a:xfrm>
            <a:off x="6743700" y="1652905"/>
            <a:ext cx="370840" cy="645795"/>
          </a:xfrm>
          <a:prstGeom prst="straightConnector1">
            <a:avLst/>
          </a:prstGeom>
          <a:ln w="38100">
            <a:solidFill>
              <a:srgbClr val="D02F3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接箭头连接符 68"/>
          <p:cNvCxnSpPr/>
          <p:nvPr>
            <p:custDataLst>
              <p:tags r:id="rId22"/>
            </p:custDataLst>
          </p:nvPr>
        </p:nvCxnSpPr>
        <p:spPr>
          <a:xfrm flipH="1">
            <a:off x="7459345" y="1652905"/>
            <a:ext cx="330200" cy="645795"/>
          </a:xfrm>
          <a:prstGeom prst="straightConnector1">
            <a:avLst/>
          </a:prstGeom>
          <a:ln w="38100">
            <a:solidFill>
              <a:srgbClr val="D02F3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任意多边形 25"/>
          <p:cNvSpPr/>
          <p:nvPr>
            <p:custDataLst>
              <p:tags r:id="rId23"/>
            </p:custDataLst>
          </p:nvPr>
        </p:nvSpPr>
        <p:spPr>
          <a:xfrm>
            <a:off x="2747645" y="2437130"/>
            <a:ext cx="324485" cy="696595"/>
          </a:xfrm>
          <a:custGeom>
            <a:avLst/>
            <a:gdLst>
              <a:gd name="connisteX0" fmla="*/ 276519 w 324439"/>
              <a:gd name="connsiteY0" fmla="*/ 0 h 828675"/>
              <a:gd name="connisteX1" fmla="*/ 294 w 324439"/>
              <a:gd name="connsiteY1" fmla="*/ 209550 h 828675"/>
              <a:gd name="connisteX2" fmla="*/ 324144 w 324439"/>
              <a:gd name="connsiteY2" fmla="*/ 561975 h 828675"/>
              <a:gd name="connisteX3" fmla="*/ 47919 w 324439"/>
              <a:gd name="connsiteY3" fmla="*/ 828675 h 828675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</a:cxnLst>
            <a:rect l="l" t="t" r="r" b="b"/>
            <a:pathLst>
              <a:path w="324439" h="828675">
                <a:moveTo>
                  <a:pt x="276520" y="0"/>
                </a:moveTo>
                <a:cubicBezTo>
                  <a:pt x="214925" y="34925"/>
                  <a:pt x="-9230" y="97155"/>
                  <a:pt x="295" y="209550"/>
                </a:cubicBezTo>
                <a:cubicBezTo>
                  <a:pt x="9820" y="321945"/>
                  <a:pt x="314620" y="438150"/>
                  <a:pt x="324145" y="561975"/>
                </a:cubicBezTo>
                <a:cubicBezTo>
                  <a:pt x="333670" y="685800"/>
                  <a:pt x="109515" y="782320"/>
                  <a:pt x="47920" y="828675"/>
                </a:cubicBezTo>
              </a:path>
            </a:pathLst>
          </a:custGeom>
          <a:noFill/>
          <a:ln w="76200">
            <a:solidFill>
              <a:srgbClr val="D02F3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0" name="任意多边形 69"/>
          <p:cNvSpPr/>
          <p:nvPr>
            <p:custDataLst>
              <p:tags r:id="rId24"/>
            </p:custDataLst>
          </p:nvPr>
        </p:nvSpPr>
        <p:spPr>
          <a:xfrm>
            <a:off x="5061585" y="2437130"/>
            <a:ext cx="324485" cy="696595"/>
          </a:xfrm>
          <a:custGeom>
            <a:avLst/>
            <a:gdLst>
              <a:gd name="connisteX0" fmla="*/ 276519 w 324439"/>
              <a:gd name="connsiteY0" fmla="*/ 0 h 828675"/>
              <a:gd name="connisteX1" fmla="*/ 294 w 324439"/>
              <a:gd name="connsiteY1" fmla="*/ 209550 h 828675"/>
              <a:gd name="connisteX2" fmla="*/ 324144 w 324439"/>
              <a:gd name="connsiteY2" fmla="*/ 561975 h 828675"/>
              <a:gd name="connisteX3" fmla="*/ 47919 w 324439"/>
              <a:gd name="connsiteY3" fmla="*/ 828675 h 828675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</a:cxnLst>
            <a:rect l="l" t="t" r="r" b="b"/>
            <a:pathLst>
              <a:path w="324439" h="828675">
                <a:moveTo>
                  <a:pt x="276520" y="0"/>
                </a:moveTo>
                <a:cubicBezTo>
                  <a:pt x="214925" y="34925"/>
                  <a:pt x="-9230" y="97155"/>
                  <a:pt x="295" y="209550"/>
                </a:cubicBezTo>
                <a:cubicBezTo>
                  <a:pt x="9820" y="321945"/>
                  <a:pt x="314620" y="438150"/>
                  <a:pt x="324145" y="561975"/>
                </a:cubicBezTo>
                <a:cubicBezTo>
                  <a:pt x="333670" y="685800"/>
                  <a:pt x="109515" y="782320"/>
                  <a:pt x="47920" y="828675"/>
                </a:cubicBezTo>
              </a:path>
            </a:pathLst>
          </a:custGeom>
          <a:noFill/>
          <a:ln w="762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1" name="任意多边形 70"/>
          <p:cNvSpPr/>
          <p:nvPr>
            <p:custDataLst>
              <p:tags r:id="rId25"/>
            </p:custDataLst>
          </p:nvPr>
        </p:nvSpPr>
        <p:spPr>
          <a:xfrm>
            <a:off x="7465060" y="2437130"/>
            <a:ext cx="324485" cy="696595"/>
          </a:xfrm>
          <a:custGeom>
            <a:avLst/>
            <a:gdLst>
              <a:gd name="connisteX0" fmla="*/ 276519 w 324439"/>
              <a:gd name="connsiteY0" fmla="*/ 0 h 828675"/>
              <a:gd name="connisteX1" fmla="*/ 294 w 324439"/>
              <a:gd name="connsiteY1" fmla="*/ 209550 h 828675"/>
              <a:gd name="connisteX2" fmla="*/ 324144 w 324439"/>
              <a:gd name="connsiteY2" fmla="*/ 561975 h 828675"/>
              <a:gd name="connisteX3" fmla="*/ 47919 w 324439"/>
              <a:gd name="connsiteY3" fmla="*/ 828675 h 828675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</a:cxnLst>
            <a:rect l="l" t="t" r="r" b="b"/>
            <a:pathLst>
              <a:path w="324439" h="828675">
                <a:moveTo>
                  <a:pt x="276520" y="0"/>
                </a:moveTo>
                <a:cubicBezTo>
                  <a:pt x="214925" y="34925"/>
                  <a:pt x="-9230" y="97155"/>
                  <a:pt x="295" y="209550"/>
                </a:cubicBezTo>
                <a:cubicBezTo>
                  <a:pt x="9820" y="321945"/>
                  <a:pt x="314620" y="438150"/>
                  <a:pt x="324145" y="561975"/>
                </a:cubicBezTo>
                <a:cubicBezTo>
                  <a:pt x="333670" y="685800"/>
                  <a:pt x="109515" y="782320"/>
                  <a:pt x="47920" y="828675"/>
                </a:cubicBezTo>
              </a:path>
            </a:pathLst>
          </a:custGeom>
          <a:noFill/>
          <a:ln w="7620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2" name="右箭头标注 71"/>
          <p:cNvSpPr/>
          <p:nvPr>
            <p:custDataLst>
              <p:tags r:id="rId26"/>
            </p:custDataLst>
          </p:nvPr>
        </p:nvSpPr>
        <p:spPr>
          <a:xfrm>
            <a:off x="333375" y="864870"/>
            <a:ext cx="1196975" cy="670560"/>
          </a:xfrm>
          <a:prstGeom prst="rightArrowCallout">
            <a:avLst/>
          </a:prstGeom>
          <a:solidFill>
            <a:srgbClr val="D02F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用户模式</a:t>
            </a:r>
            <a:endParaRPr lang="zh-CN" altLang="en-US"/>
          </a:p>
        </p:txBody>
      </p:sp>
      <p:sp>
        <p:nvSpPr>
          <p:cNvPr id="73" name="右箭头标注 72"/>
          <p:cNvSpPr/>
          <p:nvPr>
            <p:custDataLst>
              <p:tags r:id="rId27"/>
            </p:custDataLst>
          </p:nvPr>
        </p:nvSpPr>
        <p:spPr>
          <a:xfrm>
            <a:off x="333375" y="2437130"/>
            <a:ext cx="1196975" cy="670560"/>
          </a:xfrm>
          <a:prstGeom prst="rightArrowCallout">
            <a:avLst/>
          </a:prstGeom>
          <a:solidFill>
            <a:srgbClr val="D02F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内核模式</a:t>
            </a:r>
            <a:endParaRPr lang="zh-CN" altLang="en-US"/>
          </a:p>
        </p:txBody>
      </p:sp>
    </p:spTree>
    <p:custDataLst>
      <p:tags r:id="rId28"/>
    </p:custDataLst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处理器</a:t>
                      </a: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调度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一、指令流</a:t>
                      </a: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与执行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应用程序与指令流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顺序与并发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执行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1.3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指令流的描述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en-US" altLang="zh-CN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线程与处理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器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2.1 CPU时间与线程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2.2</a:t>
                      </a: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线程的描述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2.3 纤程与协程</a:t>
                      </a:r>
                      <a:endParaRPr lang="zh-CN" altLang="en-US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三、处理器调度算法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3.1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调度算法原理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多处理器与并发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59385"/>
            <a:ext cx="9121140" cy="64312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rgbClr val="9C0B15"/>
                </a:solidFill>
              </a:rPr>
              <a:t>纤程与协程：一些额外</a:t>
            </a:r>
            <a:r>
              <a:rPr lang="zh-CN" altLang="en-US" sz="2000" b="1">
                <a:solidFill>
                  <a:srgbClr val="9C0B15"/>
                </a:solidFill>
              </a:rPr>
              <a:t>概念</a:t>
            </a:r>
            <a:endParaRPr lang="zh-CN" altLang="en-US" sz="2000" b="1">
              <a:solidFill>
                <a:srgbClr val="9C0B15"/>
              </a:solidFill>
            </a:endParaRPr>
          </a:p>
          <a:p>
            <a:pPr algn="ctr"/>
            <a:endParaRPr lang="zh-CN" altLang="en-US" sz="2000"/>
          </a:p>
          <a:p>
            <a:pPr algn="l">
              <a:lnSpc>
                <a:spcPct val="90000"/>
              </a:lnSpc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协程</a:t>
            </a:r>
            <a:r>
              <a:rPr lang="en-US" altLang="zh-CN" sz="2000" b="1">
                <a:solidFill>
                  <a:srgbClr val="9C0B15"/>
                </a:solidFill>
              </a:rPr>
              <a:t>	</a:t>
            </a:r>
            <a:r>
              <a:rPr lang="zh-CN" altLang="en-US" sz="2000"/>
              <a:t>合作执行的一组指令流</a:t>
            </a:r>
            <a:r>
              <a:rPr lang="zh-CN" altLang="en-US" sz="2000">
                <a:sym typeface="+mn-ea"/>
              </a:rPr>
              <a:t>。不仅强调它们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不是时间分配的独立对象</a:t>
            </a:r>
            <a:r>
              <a:rPr lang="zh-CN" altLang="en-US" sz="2000">
                <a:sym typeface="+mn-ea"/>
              </a:rPr>
              <a:t>（区别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	</a:t>
            </a:r>
            <a:r>
              <a:rPr lang="zh-CN" altLang="en-US" sz="2000">
                <a:sym typeface="+mn-ea"/>
              </a:rPr>
              <a:t>于线程），而且强调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只有其中某个指令流主动放弃CPU时</a:t>
            </a:r>
            <a:r>
              <a:rPr lang="zh-CN" altLang="en-US" sz="2000">
                <a:sym typeface="+mn-ea"/>
              </a:rPr>
              <a:t>，其它指令流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	</a:t>
            </a:r>
            <a:r>
              <a:rPr lang="zh-CN" altLang="en-US" sz="2000">
                <a:sym typeface="+mn-ea"/>
              </a:rPr>
              <a:t>才可得到</a:t>
            </a:r>
            <a:r>
              <a:rPr lang="en-US" altLang="zh-CN" sz="2000">
                <a:sym typeface="+mn-ea"/>
              </a:rPr>
              <a:t>CPU</a:t>
            </a:r>
            <a:r>
              <a:rPr lang="zh-CN" altLang="en-US" sz="2000">
                <a:sym typeface="+mn-ea"/>
              </a:rPr>
              <a:t>进行运行，并且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放弃CPU的那个指令流还倾向于指定谁来接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	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替它的执行</a:t>
            </a:r>
            <a:r>
              <a:rPr lang="zh-CN" altLang="en-US" sz="2000">
                <a:sym typeface="+mn-ea"/>
              </a:rPr>
              <a:t>。</a:t>
            </a:r>
            <a:endParaRPr lang="zh-CN" altLang="en-US" sz="2000">
              <a:sym typeface="+mn-ea"/>
            </a:endParaRPr>
          </a:p>
          <a:p>
            <a:pPr algn="l">
              <a:lnSpc>
                <a:spcPct val="90000"/>
              </a:lnSpc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lnSpc>
                <a:spcPct val="90000"/>
              </a:lnSpc>
              <a:buClrTx/>
              <a:buSzTx/>
              <a:buFontTx/>
            </a:pPr>
            <a:r>
              <a:rPr lang="en-US" altLang="zh-CN" sz="2000">
                <a:sym typeface="+mn-ea"/>
              </a:rPr>
              <a:t>	</a:t>
            </a:r>
            <a:r>
              <a:rPr lang="zh-CN" altLang="en-US" sz="2000" b="1">
                <a:solidFill>
                  <a:srgbClr val="9C0B15"/>
                </a:solidFill>
                <a:sym typeface="+mn-ea"/>
              </a:rPr>
              <a:t>实现</a:t>
            </a:r>
            <a:r>
              <a:rPr lang="en-US" altLang="zh-CN" sz="2000">
                <a:sym typeface="+mn-ea"/>
              </a:rPr>
              <a:t>	</a:t>
            </a:r>
            <a:r>
              <a:rPr lang="zh-CN" altLang="en-US" sz="2000">
                <a:sym typeface="+mn-ea"/>
              </a:rPr>
              <a:t>一般地，协程被实现为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在用户模式下的一系列数据结构</a:t>
            </a:r>
            <a:r>
              <a:rPr lang="zh-CN" altLang="en-US" sz="2000">
                <a:sym typeface="+mn-ea"/>
              </a:rPr>
              <a:t>，这些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数据结构中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会保存协程的寄存器上下文</a:t>
            </a:r>
            <a:r>
              <a:rPr lang="zh-CN" altLang="en-US" sz="2000">
                <a:sym typeface="+mn-ea"/>
              </a:rPr>
              <a:t>。在常见的实现中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协程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对线程都是多对一结构</a:t>
            </a:r>
            <a:r>
              <a:rPr lang="zh-CN" altLang="en-US" sz="2000">
                <a:sym typeface="+mn-ea"/>
              </a:rPr>
              <a:t>，因此在用户模式就可以完成互相切换，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无需通知内核，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切换的效率远高于线程</a:t>
            </a:r>
            <a:r>
              <a:rPr lang="zh-CN" altLang="en-US" sz="2000">
                <a:sym typeface="+mn-ea"/>
              </a:rPr>
              <a:t>。</a:t>
            </a:r>
            <a:endParaRPr lang="zh-CN" altLang="en-US" sz="2000">
              <a:sym typeface="+mn-ea"/>
            </a:endParaRPr>
          </a:p>
          <a:p>
            <a:pPr algn="l">
              <a:lnSpc>
                <a:spcPct val="90000"/>
              </a:lnSpc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lnSpc>
                <a:spcPct val="90000"/>
              </a:lnSpc>
              <a:buClrTx/>
              <a:buSzTx/>
              <a:buFontTx/>
            </a:pP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特别地，对于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无栈协程</a:t>
            </a:r>
            <a:r>
              <a:rPr lang="zh-CN" altLang="en-US" sz="2000">
                <a:sym typeface="+mn-ea"/>
              </a:rPr>
              <a:t>（也即那些不使用栈，或者在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放弃CPU时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能保证栈内不存在有效数据的情况下</a:t>
            </a:r>
            <a:r>
              <a:rPr lang="zh-CN" altLang="en-US" sz="2000">
                <a:sym typeface="+mn-ea"/>
              </a:rPr>
              <a:t>），它们可以用</a:t>
            </a:r>
            <a:r>
              <a:rPr lang="en-US" altLang="zh-CN" sz="2000">
                <a:sym typeface="+mn-ea"/>
              </a:rPr>
              <a:t>C</a:t>
            </a:r>
            <a:r>
              <a:rPr lang="zh-CN" altLang="en-US" sz="2000">
                <a:sym typeface="+mn-ea"/>
              </a:rPr>
              <a:t>语言的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#define配合switch-case</a:t>
            </a:r>
            <a:r>
              <a:rPr lang="zh-CN" altLang="en-US" sz="2000">
                <a:sym typeface="+mn-ea"/>
              </a:rPr>
              <a:t>实现。</a:t>
            </a:r>
            <a:endParaRPr lang="zh-CN" altLang="en-US" sz="2000">
              <a:sym typeface="+mn-ea"/>
            </a:endParaRPr>
          </a:p>
          <a:p>
            <a:pPr algn="l">
              <a:lnSpc>
                <a:spcPct val="90000"/>
              </a:lnSpc>
              <a:buClrTx/>
              <a:buSzTx/>
              <a:buFontTx/>
            </a:pPr>
            <a:endParaRPr lang="zh-CN" altLang="en-US" sz="2000" b="1">
              <a:solidFill>
                <a:srgbClr val="9C0B15"/>
              </a:solidFill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纤程</a:t>
            </a:r>
            <a:r>
              <a:rPr lang="en-US" altLang="zh-CN" sz="2000" b="1">
                <a:solidFill>
                  <a:srgbClr val="9C0B15"/>
                </a:solidFill>
              </a:rPr>
              <a:t>	</a:t>
            </a:r>
            <a:r>
              <a:rPr lang="zh-CN" altLang="en-US" sz="2000">
                <a:sym typeface="+mn-ea"/>
              </a:rPr>
              <a:t>合作执行的一组指令流</a:t>
            </a:r>
            <a:r>
              <a:rPr lang="zh-CN" altLang="en-US" sz="2000">
                <a:sym typeface="+mn-ea"/>
              </a:rPr>
              <a:t>。</a:t>
            </a:r>
            <a:r>
              <a:rPr lang="zh-CN" altLang="en-US" sz="2000"/>
              <a:t>相比于协程，</a:t>
            </a:r>
            <a:r>
              <a:rPr lang="zh-CN" altLang="en-US" sz="2000">
                <a:sym typeface="+mn-ea"/>
              </a:rPr>
              <a:t>放弃CPU的那个指令流不倾</a:t>
            </a:r>
            <a:r>
              <a:rPr lang="en-US" altLang="zh-CN" sz="2000">
                <a:sym typeface="+mn-ea"/>
              </a:rPr>
              <a:t>	</a:t>
            </a:r>
            <a:r>
              <a:rPr lang="zh-CN" altLang="en-US" sz="2000">
                <a:sym typeface="+mn-ea"/>
              </a:rPr>
              <a:t>向于</a:t>
            </a:r>
            <a:r>
              <a:rPr lang="en-US" altLang="zh-CN" sz="2000">
                <a:sym typeface="+mn-ea"/>
              </a:rPr>
              <a:t>	</a:t>
            </a:r>
            <a:r>
              <a:rPr lang="zh-CN" altLang="en-US" sz="2000">
                <a:sym typeface="+mn-ea"/>
              </a:rPr>
              <a:t>直接指定接替执行者，而</a:t>
            </a:r>
            <a:r>
              <a:rPr lang="zh-CN" altLang="en-US" sz="2000">
                <a:sym typeface="+mn-ea"/>
              </a:rPr>
              <a:t>倾向于唤起一个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在用户空间的调度器</a:t>
            </a:r>
            <a:r>
              <a:rPr lang="zh-CN" altLang="en-US" sz="2000">
                <a:sym typeface="+mn-ea"/>
              </a:rPr>
              <a:t>，由它来决</a:t>
            </a:r>
            <a:r>
              <a:rPr lang="en-US" altLang="zh-CN" sz="2000">
                <a:sym typeface="+mn-ea"/>
              </a:rPr>
              <a:t>	</a:t>
            </a:r>
            <a:r>
              <a:rPr lang="zh-CN" altLang="en-US" sz="2000">
                <a:sym typeface="+mn-ea"/>
              </a:rPr>
              <a:t>定下一个执行的指令流是谁。纤程之间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不一定有紧密的合作关系，仅仅	是强调它们比线程要轻量</a:t>
            </a:r>
            <a:r>
              <a:rPr lang="zh-CN" altLang="en-US" sz="2000">
                <a:sym typeface="+mn-ea"/>
              </a:rPr>
              <a:t>，也即多个纤程共享一个</a:t>
            </a:r>
            <a:r>
              <a:rPr lang="zh-CN" altLang="en-US" sz="2000">
                <a:sym typeface="+mn-ea"/>
              </a:rPr>
              <a:t>线程。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  <a:sym typeface="+mn-ea"/>
              </a:rPr>
              <a:t>比较</a:t>
            </a:r>
            <a:r>
              <a:rPr lang="en-US" altLang="zh-CN" sz="2000">
                <a:sym typeface="+mn-ea"/>
              </a:rPr>
              <a:t>	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同多于异，几乎是同义词</a:t>
            </a:r>
            <a:r>
              <a:rPr lang="zh-CN" altLang="en-US" sz="2000">
                <a:sym typeface="+mn-ea"/>
              </a:rPr>
              <a:t>，都是指令流，只不过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侧重点不同</a:t>
            </a:r>
            <a:r>
              <a:rPr lang="zh-CN" altLang="en-US" sz="2000">
                <a:sym typeface="+mn-ea"/>
              </a:rPr>
              <a:t>。</a:t>
            </a:r>
            <a:endParaRPr lang="zh-CN" altLang="en-US" sz="2000">
              <a:sym typeface="+mn-ea"/>
            </a:endParaRPr>
          </a:p>
        </p:txBody>
      </p:sp>
      <p:sp>
        <p:nvSpPr>
          <p:cNvPr id="74" name="右箭头标注 73"/>
          <p:cNvSpPr/>
          <p:nvPr>
            <p:custDataLst>
              <p:tags r:id="rId2"/>
            </p:custDataLst>
          </p:nvPr>
        </p:nvSpPr>
        <p:spPr>
          <a:xfrm>
            <a:off x="232410" y="1182370"/>
            <a:ext cx="975995" cy="670560"/>
          </a:xfrm>
          <a:prstGeom prst="rightArrowCallout">
            <a:avLst>
              <a:gd name="adj1" fmla="val 25000"/>
              <a:gd name="adj2" fmla="val 25000"/>
              <a:gd name="adj3" fmla="val 25000"/>
              <a:gd name="adj4" fmla="val 75278"/>
            </a:avLst>
          </a:prstGeom>
          <a:solidFill>
            <a:srgbClr val="D02F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强调</a:t>
            </a:r>
            <a:r>
              <a:rPr lang="zh-CN" altLang="en-US"/>
              <a:t>合作</a:t>
            </a:r>
            <a:endParaRPr lang="zh-CN" altLang="en-US"/>
          </a:p>
        </p:txBody>
      </p:sp>
      <p:sp>
        <p:nvSpPr>
          <p:cNvPr id="75" name="右箭头标注 74"/>
          <p:cNvSpPr/>
          <p:nvPr>
            <p:custDataLst>
              <p:tags r:id="rId3"/>
            </p:custDataLst>
          </p:nvPr>
        </p:nvSpPr>
        <p:spPr>
          <a:xfrm>
            <a:off x="232410" y="5094605"/>
            <a:ext cx="976630" cy="555625"/>
          </a:xfrm>
          <a:prstGeom prst="rightArrowCallout">
            <a:avLst>
              <a:gd name="adj1" fmla="val 25028"/>
              <a:gd name="adj2" fmla="val 25000"/>
              <a:gd name="adj3" fmla="val 25000"/>
              <a:gd name="adj4" fmla="val 76382"/>
            </a:avLst>
          </a:prstGeom>
          <a:solidFill>
            <a:srgbClr val="D02F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强调</a:t>
            </a:r>
            <a:r>
              <a:rPr lang="zh-CN" altLang="en-US"/>
              <a:t>轻量</a:t>
            </a:r>
            <a:endParaRPr lang="zh-CN" altLang="en-US"/>
          </a:p>
        </p:txBody>
      </p:sp>
    </p:spTree>
    <p:custDataLst>
      <p:tags r:id="rId4"/>
    </p:custDataLst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处理器</a:t>
                      </a: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调度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一、指令流</a:t>
                      </a: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与执行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应用程序与指令流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顺序与并发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执行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1.3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指令流的描述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en-US" altLang="zh-CN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线程与处理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器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2.1 CPU时间与线程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2.2</a:t>
                      </a: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线程的描述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2.3 纤程与协程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三、处理器调度算法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3.1 调度算法原理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多处理器与并发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59385"/>
            <a:ext cx="9121140" cy="65239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rgbClr val="9C0B15"/>
                </a:solidFill>
              </a:rPr>
              <a:t>优先级和时间片</a:t>
            </a:r>
            <a:endParaRPr lang="zh-CN" altLang="en-US" sz="2000" b="1">
              <a:solidFill>
                <a:srgbClr val="9C0B15"/>
              </a:solidFill>
            </a:endParaRPr>
          </a:p>
          <a:p>
            <a:pPr algn="ctr"/>
            <a:endParaRPr lang="zh-CN" altLang="en-US" sz="2000"/>
          </a:p>
          <a:p>
            <a:pPr>
              <a:lnSpc>
                <a:spcPct val="90000"/>
              </a:lnSpc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问题</a:t>
            </a:r>
            <a:r>
              <a:rPr lang="en-US" altLang="zh-CN" sz="2000" b="1">
                <a:solidFill>
                  <a:srgbClr val="9C0B15"/>
                </a:solidFill>
              </a:rPr>
              <a:t>		</a:t>
            </a:r>
            <a:r>
              <a:rPr lang="zh-CN" altLang="en-US" sz="2000"/>
              <a:t>现在有一系列线程在系统中运行。操作系统中的</a:t>
            </a:r>
            <a:r>
              <a:rPr lang="en-US" altLang="zh-CN" sz="2000">
                <a:solidFill>
                  <a:srgbClr val="9C0B15"/>
                </a:solidFill>
              </a:rPr>
              <a:t>调度器负责决</a:t>
            </a:r>
            <a:r>
              <a:rPr lang="en-US" altLang="zh-CN" sz="2000">
                <a:solidFill>
                  <a:srgbClr val="9C0B15"/>
                </a:solidFill>
                <a:sym typeface="+mn-ea"/>
              </a:rPr>
              <a:t>		</a:t>
            </a:r>
            <a:r>
              <a:rPr lang="en-US" altLang="zh-CN" sz="2000">
                <a:solidFill>
                  <a:srgbClr val="9C0B15"/>
                </a:solidFill>
              </a:rPr>
              <a:t>定每次运行哪个线程，运行多久</a:t>
            </a:r>
            <a:r>
              <a:rPr lang="zh-CN" altLang="en-US" sz="2000"/>
              <a:t>，但又</a:t>
            </a:r>
            <a:r>
              <a:rPr lang="en-US" altLang="zh-CN" sz="2000">
                <a:solidFill>
                  <a:srgbClr val="9C0B15"/>
                </a:solidFill>
              </a:rPr>
              <a:t>如何决定</a:t>
            </a:r>
            <a:r>
              <a:rPr lang="zh-CN" altLang="en-US" sz="2000">
                <a:solidFill>
                  <a:srgbClr val="9C0B15"/>
                </a:solidFill>
              </a:rPr>
              <a:t>做这个决定所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>
                <a:solidFill>
                  <a:srgbClr val="9C0B15"/>
                </a:solidFill>
              </a:rPr>
              <a:t>需的</a:t>
            </a:r>
            <a:r>
              <a:rPr lang="zh-CN" altLang="en-US" sz="2000"/>
              <a:t>每个线程的</a:t>
            </a:r>
            <a:r>
              <a:rPr lang="en-US" altLang="zh-CN" sz="2000">
                <a:solidFill>
                  <a:srgbClr val="9C0B15"/>
                </a:solidFill>
              </a:rPr>
              <a:t>优先级</a:t>
            </a:r>
            <a:r>
              <a:rPr lang="zh-CN" altLang="en-US" sz="2000"/>
              <a:t>和</a:t>
            </a:r>
            <a:r>
              <a:rPr lang="en-US" altLang="zh-CN" sz="2000">
                <a:solidFill>
                  <a:srgbClr val="9C0B15"/>
                </a:solidFill>
              </a:rPr>
              <a:t>时间</a:t>
            </a:r>
            <a:r>
              <a:rPr lang="zh-CN" altLang="en-US" sz="2000">
                <a:solidFill>
                  <a:srgbClr val="9C0B15"/>
                </a:solidFill>
              </a:rPr>
              <a:t>预算</a:t>
            </a:r>
            <a:r>
              <a:rPr lang="zh-CN" altLang="en-US" sz="2000"/>
              <a:t>？</a:t>
            </a:r>
            <a:endParaRPr lang="zh-CN" altLang="en-US" sz="2000"/>
          </a:p>
          <a:p>
            <a:pPr>
              <a:lnSpc>
                <a:spcPct val="90000"/>
              </a:lnSpc>
              <a:buClrTx/>
              <a:buSzTx/>
              <a:buFontTx/>
            </a:pPr>
            <a:endParaRPr lang="zh-CN" altLang="en-US" sz="2000"/>
          </a:p>
          <a:p>
            <a:pPr>
              <a:lnSpc>
                <a:spcPct val="90000"/>
              </a:lnSpc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解决方案一</a:t>
            </a:r>
            <a:r>
              <a:rPr lang="en-US" altLang="zh-CN" sz="2000"/>
              <a:t>	</a:t>
            </a:r>
            <a:r>
              <a:rPr lang="zh-CN" altLang="en-US" sz="2000"/>
              <a:t>事先指定。对于某些系统，我们可以根据</a:t>
            </a:r>
            <a:r>
              <a:rPr lang="en-US" altLang="zh-CN" sz="2000">
                <a:solidFill>
                  <a:srgbClr val="9C0B15"/>
                </a:solidFill>
              </a:rPr>
              <a:t>某线程负责运行的指</a:t>
            </a:r>
            <a:r>
              <a:rPr lang="en-US" altLang="zh-CN" sz="2000">
                <a:solidFill>
                  <a:srgbClr val="9C0B15"/>
                </a:solidFill>
                <a:sym typeface="+mn-ea"/>
              </a:rPr>
              <a:t>		</a:t>
            </a:r>
            <a:r>
              <a:rPr lang="en-US" altLang="zh-CN" sz="2000">
                <a:solidFill>
                  <a:srgbClr val="9C0B15"/>
                </a:solidFill>
              </a:rPr>
              <a:t>令流的性质</a:t>
            </a:r>
            <a:r>
              <a:rPr lang="zh-CN" altLang="en-US" sz="2000"/>
              <a:t>，将某些线程的优先级设置得高一些、时间预算设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/>
              <a:t>置的多一些，以体现资源分配的</a:t>
            </a:r>
            <a:r>
              <a:rPr lang="en-US" altLang="zh-CN" sz="2000">
                <a:solidFill>
                  <a:srgbClr val="9C0B15"/>
                </a:solidFill>
              </a:rPr>
              <a:t>倾向性</a:t>
            </a:r>
            <a:r>
              <a:rPr lang="zh-CN" altLang="en-US" sz="2000"/>
              <a:t>。整个系统只要按照这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/>
              <a:t>种设置来运行就足够完成其功能了。</a:t>
            </a:r>
            <a:endParaRPr lang="zh-CN" altLang="en-US" sz="2000"/>
          </a:p>
          <a:p>
            <a:pPr>
              <a:lnSpc>
                <a:spcPct val="90000"/>
              </a:lnSpc>
              <a:buClrTx/>
              <a:buSzTx/>
              <a:buFontTx/>
            </a:pPr>
            <a:endParaRPr lang="zh-CN" altLang="en-US" sz="2000"/>
          </a:p>
          <a:p>
            <a:pPr>
              <a:lnSpc>
                <a:spcPct val="90000"/>
              </a:lnSpc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优点</a:t>
            </a:r>
            <a:r>
              <a:rPr lang="en-US" altLang="zh-CN" sz="2000"/>
              <a:t>		</a:t>
            </a:r>
            <a:r>
              <a:rPr lang="en-US" altLang="zh-CN" sz="2000">
                <a:solidFill>
                  <a:srgbClr val="9C0B15"/>
                </a:solidFill>
              </a:rPr>
              <a:t>对任务知根知底，且任务固定</a:t>
            </a:r>
            <a:r>
              <a:rPr lang="zh-CN" altLang="en-US" sz="2000"/>
              <a:t>时，这就是最好选择。</a:t>
            </a:r>
            <a:endParaRPr lang="zh-CN" altLang="en-US" sz="2000"/>
          </a:p>
          <a:p>
            <a:pPr>
              <a:lnSpc>
                <a:spcPct val="90000"/>
              </a:lnSpc>
              <a:buClrTx/>
              <a:buSzTx/>
              <a:buFontTx/>
            </a:pPr>
            <a:endParaRPr lang="zh-CN" altLang="en-US" sz="2000"/>
          </a:p>
          <a:p>
            <a:pPr>
              <a:lnSpc>
                <a:spcPct val="90000"/>
              </a:lnSpc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缺点</a:t>
            </a:r>
            <a:r>
              <a:rPr lang="en-US" altLang="zh-CN" sz="2000"/>
              <a:t>		</a:t>
            </a:r>
            <a:r>
              <a:rPr lang="zh-CN" altLang="en-US" sz="2000"/>
              <a:t>这要求操作系统知晓</a:t>
            </a:r>
            <a:r>
              <a:rPr lang="en-US" altLang="zh-CN" sz="2000">
                <a:solidFill>
                  <a:srgbClr val="9C0B15"/>
                </a:solidFill>
              </a:rPr>
              <a:t>整个计算机体系内的应用程序的性质</a:t>
            </a:r>
            <a:r>
              <a:rPr lang="zh-CN" altLang="en-US" sz="2000"/>
              <a:t>，基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/>
              <a:t>本上要求应用程序都是同一个团队开发的。更精确地讲，</a:t>
            </a:r>
            <a:r>
              <a:rPr lang="en-US" altLang="zh-CN" sz="2000">
                <a:solidFill>
                  <a:srgbClr val="9C0B15"/>
                </a:solidFill>
              </a:rPr>
              <a:t>需要</a:t>
            </a:r>
            <a:r>
              <a:rPr lang="en-US" altLang="zh-CN" sz="2000">
                <a:solidFill>
                  <a:srgbClr val="9C0B15"/>
                </a:solidFill>
                <a:sym typeface="+mn-ea"/>
              </a:rPr>
              <a:t>		</a:t>
            </a:r>
            <a:r>
              <a:rPr lang="en-US" altLang="zh-CN" sz="2000">
                <a:solidFill>
                  <a:srgbClr val="9C0B15"/>
                </a:solidFill>
              </a:rPr>
              <a:t>额外信息来进行手动干预</a:t>
            </a:r>
            <a:r>
              <a:rPr lang="zh-CN" altLang="en-US" sz="2000"/>
              <a:t>。</a:t>
            </a:r>
            <a:endParaRPr lang="zh-CN" altLang="en-US" sz="2000"/>
          </a:p>
          <a:p>
            <a:pPr>
              <a:lnSpc>
                <a:spcPct val="90000"/>
              </a:lnSpc>
              <a:buClrTx/>
              <a:buSzTx/>
              <a:buFontTx/>
            </a:pPr>
            <a:endParaRPr lang="zh-CN" altLang="en-US" sz="2000"/>
          </a:p>
          <a:p>
            <a:pPr>
              <a:lnSpc>
                <a:spcPct val="90000"/>
              </a:lnSpc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用途</a:t>
            </a:r>
            <a:r>
              <a:rPr lang="en-US" altLang="zh-CN" sz="2000"/>
              <a:t>		</a:t>
            </a:r>
            <a:r>
              <a:rPr lang="zh-CN" altLang="en-US" sz="2000"/>
              <a:t>对于那些</a:t>
            </a:r>
            <a:r>
              <a:rPr lang="en-US" altLang="zh-CN" sz="2000">
                <a:solidFill>
                  <a:srgbClr val="9C0B15"/>
                </a:solidFill>
              </a:rPr>
              <a:t>功能简单，但要求绝对可靠</a:t>
            </a:r>
            <a:r>
              <a:rPr lang="zh-CN" altLang="en-US" sz="2000"/>
              <a:t>的系统，这是一个非常好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/>
              <a:t>的办法。它保证了某些指令流具有</a:t>
            </a:r>
            <a:r>
              <a:rPr lang="en-US" altLang="zh-CN" sz="2000">
                <a:solidFill>
                  <a:srgbClr val="9C0B15"/>
                </a:solidFill>
              </a:rPr>
              <a:t>绝对的资源优势</a:t>
            </a:r>
            <a:r>
              <a:rPr lang="zh-CN" altLang="en-US" sz="2000"/>
              <a:t>，确保那些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/>
              <a:t>指令流承担的工作</a:t>
            </a:r>
            <a:r>
              <a:rPr lang="en-US" altLang="zh-CN" sz="2000">
                <a:solidFill>
                  <a:srgbClr val="9C0B15"/>
                </a:solidFill>
              </a:rPr>
              <a:t>总能按时正确完成</a:t>
            </a:r>
            <a:r>
              <a:rPr lang="zh-CN" altLang="en-US" sz="2000"/>
              <a:t>。</a:t>
            </a:r>
            <a:endParaRPr lang="zh-CN" altLang="en-US" sz="2000"/>
          </a:p>
          <a:p>
            <a:pPr>
              <a:lnSpc>
                <a:spcPct val="90000"/>
              </a:lnSpc>
              <a:buClrTx/>
              <a:buSzTx/>
              <a:buFontTx/>
            </a:pPr>
            <a:endParaRPr lang="zh-CN" altLang="en-US" sz="2000"/>
          </a:p>
          <a:p>
            <a:pPr>
              <a:lnSpc>
                <a:spcPct val="90000"/>
              </a:lnSpc>
              <a:buClrTx/>
              <a:buSzTx/>
              <a:buFontTx/>
            </a:pPr>
            <a:endParaRPr lang="zh-CN" altLang="en-US" sz="2000"/>
          </a:p>
          <a:p>
            <a:pPr>
              <a:lnSpc>
                <a:spcPct val="90000"/>
              </a:lnSpc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例子</a:t>
            </a:r>
            <a:r>
              <a:rPr lang="en-US" altLang="zh-CN" sz="2000"/>
              <a:t>		</a:t>
            </a:r>
            <a:r>
              <a:rPr lang="en-US" altLang="zh-CN" sz="2000">
                <a:solidFill>
                  <a:srgbClr val="9C0B15"/>
                </a:solidFill>
              </a:rPr>
              <a:t>刹车</a:t>
            </a:r>
            <a:r>
              <a:rPr lang="zh-CN" altLang="en-US" sz="2000"/>
              <a:t>；火箭；飞机；导弹</a:t>
            </a:r>
            <a:endParaRPr lang="zh-CN" altLang="en-US" sz="2000"/>
          </a:p>
        </p:txBody>
      </p:sp>
      <p:pic>
        <p:nvPicPr>
          <p:cNvPr id="100" name="图片 99"/>
          <p:cNvPicPr/>
          <p:nvPr/>
        </p:nvPicPr>
        <p:blipFill>
          <a:blip r:embed="rId2"/>
          <a:stretch>
            <a:fillRect/>
          </a:stretch>
        </p:blipFill>
        <p:spPr>
          <a:xfrm>
            <a:off x="2238375" y="2057400"/>
            <a:ext cx="5310505" cy="3430270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3"/>
    </p:custData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1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处理器</a:t>
                      </a: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调度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一、指令流</a:t>
                      </a: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与执行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应用程序与指令流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顺序与并发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执行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1.3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指令流的描述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en-US" altLang="zh-CN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线程与处理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器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2.1 CPU时间与线程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2.2</a:t>
                      </a: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线程的描述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2.3 纤程与协程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三、处理器调度算法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3.1 调度算法原理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多处理器与并发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59385"/>
            <a:ext cx="9121140" cy="59080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lnSpc>
                <a:spcPct val="90000"/>
              </a:lnSpc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固定优先级</a:t>
            </a:r>
            <a:r>
              <a:rPr lang="zh-CN" altLang="en-US" sz="2000" b="1">
                <a:solidFill>
                  <a:srgbClr val="9C0B15"/>
                </a:solidFill>
              </a:rPr>
              <a:t>调度算法</a:t>
            </a:r>
            <a:endParaRPr lang="zh-CN" altLang="en-US" sz="2000" b="1">
              <a:solidFill>
                <a:srgbClr val="9C0B15"/>
              </a:solidFill>
            </a:endParaRPr>
          </a:p>
          <a:p>
            <a:pPr algn="ctr">
              <a:lnSpc>
                <a:spcPct val="90000"/>
              </a:lnSpc>
              <a:buClrTx/>
              <a:buSzTx/>
              <a:buFontTx/>
            </a:pPr>
            <a:endParaRPr lang="zh-CN" altLang="en-US" sz="2000"/>
          </a:p>
          <a:p>
            <a:pPr algn="l">
              <a:lnSpc>
                <a:spcPct val="90000"/>
              </a:lnSpc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  <a:sym typeface="+mn-ea"/>
              </a:rPr>
              <a:t>固定优先级	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Fixed-Priority</a:t>
            </a:r>
            <a:r>
              <a:rPr lang="zh-CN" altLang="en-US" sz="2000" b="1">
                <a:solidFill>
                  <a:srgbClr val="9C0B15"/>
                </a:solidFill>
                <a:sym typeface="+mn-ea"/>
              </a:rPr>
              <a:t>，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FP</a:t>
            </a:r>
            <a:endParaRPr lang="en-US" altLang="zh-CN" sz="2000" b="1">
              <a:solidFill>
                <a:srgbClr val="9C0B15"/>
              </a:solidFill>
            </a:endParaRPr>
          </a:p>
          <a:p>
            <a:pPr algn="l">
              <a:lnSpc>
                <a:spcPct val="90000"/>
              </a:lnSpc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>
                <a:sym typeface="+mn-ea"/>
              </a:rPr>
              <a:t>所有线程按照事先给定的优先级排序运行。时间</a:t>
            </a:r>
            <a:r>
              <a:rPr lang="zh-CN" altLang="en-US" sz="2000">
                <a:sym typeface="+mn-ea"/>
              </a:rPr>
              <a:t>预算无限长。</a:t>
            </a:r>
            <a:endParaRPr lang="zh-CN" altLang="en-US" sz="2000">
              <a:sym typeface="+mn-ea"/>
            </a:endParaRPr>
          </a:p>
          <a:p>
            <a:pPr algn="l">
              <a:lnSpc>
                <a:spcPct val="90000"/>
              </a:lnSpc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lnSpc>
                <a:spcPct val="90000"/>
              </a:lnSpc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lnSpc>
                <a:spcPct val="90000"/>
              </a:lnSpc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lnSpc>
                <a:spcPct val="90000"/>
              </a:lnSpc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lnSpc>
                <a:spcPct val="90000"/>
              </a:lnSpc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lnSpc>
                <a:spcPct val="90000"/>
              </a:lnSpc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lnSpc>
                <a:spcPct val="90000"/>
              </a:lnSpc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lnSpc>
                <a:spcPct val="90000"/>
              </a:lnSpc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  <a:sym typeface="+mn-ea"/>
              </a:rPr>
              <a:t>非抢占式</a:t>
            </a:r>
            <a:r>
              <a:rPr lang="en-US" altLang="zh-CN" sz="2000">
                <a:sym typeface="+mn-ea"/>
              </a:rPr>
              <a:t>	</a:t>
            </a:r>
            <a:r>
              <a:rPr lang="zh-CN" altLang="en-US" sz="2000">
                <a:sym typeface="+mn-ea"/>
              </a:rPr>
              <a:t>调度仅在</a:t>
            </a:r>
            <a:r>
              <a:rPr lang="en-US" altLang="zh-CN" sz="2000">
                <a:solidFill>
                  <a:srgbClr val="9C0B15"/>
                </a:solidFill>
                <a:sym typeface="+mn-ea"/>
              </a:rPr>
              <a:t>线程</a:t>
            </a:r>
            <a:r>
              <a:rPr lang="en-US" altLang="zh-CN" sz="2000">
                <a:solidFill>
                  <a:srgbClr val="9C0B15"/>
                </a:solidFill>
                <a:sym typeface="+mn-ea"/>
              </a:rPr>
              <a:t>结束</a:t>
            </a:r>
            <a:r>
              <a:rPr lang="zh-CN" altLang="en-US" sz="2000">
                <a:sym typeface="+mn-ea"/>
              </a:rPr>
              <a:t>时发生，此时从队列里拿出一个优先级最高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的线程</a:t>
            </a:r>
            <a:r>
              <a:rPr lang="zh-CN" altLang="en-US" sz="2000">
                <a:sym typeface="+mn-ea"/>
              </a:rPr>
              <a:t>运行。</a:t>
            </a:r>
            <a:endParaRPr lang="zh-CN" altLang="en-US" sz="2000">
              <a:sym typeface="+mn-ea"/>
            </a:endParaRPr>
          </a:p>
          <a:p>
            <a:pPr algn="l">
              <a:lnSpc>
                <a:spcPct val="90000"/>
              </a:lnSpc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lnSpc>
                <a:spcPct val="90000"/>
              </a:lnSpc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lnSpc>
                <a:spcPct val="90000"/>
              </a:lnSpc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lnSpc>
                <a:spcPct val="90000"/>
              </a:lnSpc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lnSpc>
                <a:spcPct val="90000"/>
              </a:lnSpc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lnSpc>
                <a:spcPct val="90000"/>
              </a:lnSpc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  <a:sym typeface="+mn-ea"/>
              </a:rPr>
              <a:t>抢占式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调度在</a:t>
            </a:r>
            <a:r>
              <a:rPr lang="en-US" altLang="zh-CN" sz="2000">
                <a:solidFill>
                  <a:srgbClr val="9C0B15"/>
                </a:solidFill>
                <a:sym typeface="+mn-ea"/>
              </a:rPr>
              <a:t>线程结束</a:t>
            </a:r>
            <a:r>
              <a:rPr lang="zh-CN" altLang="en-US" sz="2000">
                <a:sym typeface="+mn-ea"/>
              </a:rPr>
              <a:t>和</a:t>
            </a:r>
            <a:r>
              <a:rPr lang="en-US" altLang="zh-CN" sz="2000">
                <a:solidFill>
                  <a:srgbClr val="9C0B15"/>
                </a:solidFill>
                <a:sym typeface="+mn-ea"/>
              </a:rPr>
              <a:t>线程就绪</a:t>
            </a:r>
            <a:r>
              <a:rPr lang="zh-CN" altLang="en-US" sz="2000">
                <a:sym typeface="+mn-ea"/>
              </a:rPr>
              <a:t>时都发生，</a:t>
            </a:r>
            <a:r>
              <a:rPr lang="zh-CN" altLang="en-US" sz="2000">
                <a:sym typeface="+mn-ea"/>
              </a:rPr>
              <a:t>此时从队列里拿出一个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优先级最高的线程运行。这等于说，如果有一个新的高优先级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线程加入进来，</a:t>
            </a:r>
            <a:r>
              <a:rPr lang="en-US" altLang="zh-CN" sz="2000">
                <a:solidFill>
                  <a:srgbClr val="9C0B15"/>
                </a:solidFill>
                <a:sym typeface="+mn-ea"/>
              </a:rPr>
              <a:t>它会取代当前的任务，立即获得CPU并运行</a:t>
            </a:r>
            <a:r>
              <a:rPr lang="zh-CN" altLang="en-US" sz="2000">
                <a:sym typeface="+mn-ea"/>
              </a:rPr>
              <a:t>。</a:t>
            </a:r>
            <a:endParaRPr lang="zh-CN" altLang="en-US" sz="2000">
              <a:sym typeface="+mn-ea"/>
            </a:endParaRPr>
          </a:p>
        </p:txBody>
      </p:sp>
      <p:graphicFrame>
        <p:nvGraphicFramePr>
          <p:cNvPr id="2" name="表格 1"/>
          <p:cNvGraphicFramePr/>
          <p:nvPr>
            <p:custDataLst>
              <p:tags r:id="rId2"/>
            </p:custDataLst>
          </p:nvPr>
        </p:nvGraphicFramePr>
        <p:xfrm>
          <a:off x="2673985" y="1416685"/>
          <a:ext cx="4440555" cy="162687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737235"/>
                <a:gridCol w="1417955"/>
                <a:gridCol w="1283970"/>
                <a:gridCol w="1001395"/>
              </a:tblGrid>
              <a:tr h="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线程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到达时间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运行</a:t>
                      </a: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时间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优先级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021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E1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  <a:sym typeface="+mn-ea"/>
                        </a:rPr>
                        <a:t>2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4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1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021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E2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5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10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3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021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E3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11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5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2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6" name="矩形 25"/>
          <p:cNvSpPr/>
          <p:nvPr>
            <p:custDataLst>
              <p:tags r:id="rId3"/>
            </p:custDataLst>
          </p:nvPr>
        </p:nvSpPr>
        <p:spPr>
          <a:xfrm>
            <a:off x="1705610" y="3825875"/>
            <a:ext cx="1360805" cy="423545"/>
          </a:xfrm>
          <a:prstGeom prst="rect">
            <a:avLst/>
          </a:prstGeom>
          <a:solidFill>
            <a:schemeClr val="accent1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2800" b="1">
                <a:sym typeface="+mn-ea"/>
              </a:rPr>
              <a:t>E1</a:t>
            </a:r>
            <a:endParaRPr lang="en-US" altLang="zh-CN" sz="2800" b="1">
              <a:sym typeface="+mn-ea"/>
            </a:endParaRPr>
          </a:p>
        </p:txBody>
      </p:sp>
      <p:sp>
        <p:nvSpPr>
          <p:cNvPr id="4" name="矩形 3"/>
          <p:cNvSpPr/>
          <p:nvPr>
            <p:custDataLst>
              <p:tags r:id="rId4"/>
            </p:custDataLst>
          </p:nvPr>
        </p:nvSpPr>
        <p:spPr>
          <a:xfrm>
            <a:off x="3066415" y="3825875"/>
            <a:ext cx="3653790" cy="423545"/>
          </a:xfrm>
          <a:prstGeom prst="rect">
            <a:avLst/>
          </a:prstGeom>
          <a:solidFill>
            <a:srgbClr val="00B050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2800" b="1">
                <a:sym typeface="+mn-ea"/>
              </a:rPr>
              <a:t>E2</a:t>
            </a:r>
            <a:endParaRPr lang="en-US" altLang="zh-CN" sz="2800" b="1">
              <a:sym typeface="+mn-ea"/>
            </a:endParaRPr>
          </a:p>
        </p:txBody>
      </p:sp>
      <p:sp>
        <p:nvSpPr>
          <p:cNvPr id="5" name="矩形 4"/>
          <p:cNvSpPr/>
          <p:nvPr>
            <p:custDataLst>
              <p:tags r:id="rId5"/>
            </p:custDataLst>
          </p:nvPr>
        </p:nvSpPr>
        <p:spPr>
          <a:xfrm>
            <a:off x="6720840" y="3825875"/>
            <a:ext cx="1801495" cy="423545"/>
          </a:xfrm>
          <a:prstGeom prst="rect">
            <a:avLst/>
          </a:prstGeom>
          <a:solidFill>
            <a:srgbClr val="FFC000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2800" b="1">
                <a:sym typeface="+mn-ea"/>
              </a:rPr>
              <a:t>E3</a:t>
            </a:r>
            <a:endParaRPr lang="en-US" altLang="zh-CN" sz="2800" b="1">
              <a:sym typeface="+mn-ea"/>
            </a:endParaRPr>
          </a:p>
        </p:txBody>
      </p:sp>
      <p:cxnSp>
        <p:nvCxnSpPr>
          <p:cNvPr id="9" name="直接箭头连接符 8"/>
          <p:cNvCxnSpPr/>
          <p:nvPr>
            <p:custDataLst>
              <p:tags r:id="rId6"/>
            </p:custDataLst>
          </p:nvPr>
        </p:nvCxnSpPr>
        <p:spPr>
          <a:xfrm flipH="1" flipV="1">
            <a:off x="2829560" y="4303395"/>
            <a:ext cx="1905" cy="334645"/>
          </a:xfrm>
          <a:prstGeom prst="straightConnector1">
            <a:avLst/>
          </a:prstGeom>
          <a:ln w="3810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/>
          <p:cNvCxnSpPr/>
          <p:nvPr>
            <p:custDataLst>
              <p:tags r:id="rId7"/>
            </p:custDataLst>
          </p:nvPr>
        </p:nvCxnSpPr>
        <p:spPr>
          <a:xfrm flipV="1">
            <a:off x="4973320" y="4303395"/>
            <a:ext cx="0" cy="334645"/>
          </a:xfrm>
          <a:prstGeom prst="straightConnector1">
            <a:avLst/>
          </a:prstGeom>
          <a:ln w="38100"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/>
          <p:cNvCxnSpPr/>
          <p:nvPr>
            <p:custDataLst>
              <p:tags r:id="rId8"/>
            </p:custDataLst>
          </p:nvPr>
        </p:nvCxnSpPr>
        <p:spPr>
          <a:xfrm flipV="1">
            <a:off x="1701165" y="4303395"/>
            <a:ext cx="4445" cy="304800"/>
          </a:xfrm>
          <a:prstGeom prst="straightConnector1">
            <a:avLst/>
          </a:prstGeom>
          <a:ln w="38100">
            <a:solidFill>
              <a:schemeClr val="accent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本框 24"/>
          <p:cNvSpPr txBox="1"/>
          <p:nvPr>
            <p:custDataLst>
              <p:tags r:id="rId9"/>
            </p:custDataLst>
          </p:nvPr>
        </p:nvSpPr>
        <p:spPr>
          <a:xfrm>
            <a:off x="1529715" y="4549140"/>
            <a:ext cx="723074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buClrTx/>
              <a:buSzTx/>
              <a:buFontTx/>
              <a:buNone/>
            </a:pP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思源黑体 CN Regular" panose="020B0500000000000000" charset="-122"/>
                <a:sym typeface="+mn-ea"/>
              </a:rPr>
              <a:t>2             5     </a:t>
            </a: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思源黑体 CN Regular" panose="020B0500000000000000" charset="-122"/>
                <a:sym typeface="+mn-ea"/>
              </a:rPr>
              <a:t> </a:t>
            </a: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思源黑体 CN Regular" panose="020B0500000000000000" charset="-122"/>
                <a:sym typeface="+mn-ea"/>
              </a:rPr>
              <a:t>                    11 </a:t>
            </a: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思源黑体 CN Regular" panose="020B0500000000000000" charset="-122"/>
                <a:sym typeface="+mn-ea"/>
              </a:rPr>
              <a:t>  </a:t>
            </a: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思源黑体 CN Regular" panose="020B0500000000000000" charset="-122"/>
                <a:sym typeface="+mn-ea"/>
              </a:rPr>
              <a:t>  </a:t>
            </a: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思源黑体 CN Regular" panose="020B0500000000000000" charset="-122"/>
                <a:sym typeface="+mn-ea"/>
              </a:rPr>
              <a:t>   </a:t>
            </a: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思源黑体 CN Regular" panose="020B0500000000000000" charset="-122"/>
                <a:sym typeface="+mn-ea"/>
              </a:rPr>
              <a:t>  </a:t>
            </a: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思源黑体 CN Regular" panose="020B0500000000000000" charset="-122"/>
                <a:sym typeface="+mn-ea"/>
              </a:rPr>
              <a:t>     </a:t>
            </a: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思源黑体 CN Regular" panose="020B0500000000000000" charset="-122"/>
                <a:sym typeface="+mn-ea"/>
              </a:rPr>
              <a:t>    16  </a:t>
            </a: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思源黑体 CN Regular" panose="020B0500000000000000" charset="-122"/>
                <a:sym typeface="+mn-ea"/>
              </a:rPr>
              <a:t>        </a:t>
            </a: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思源黑体 CN Regular" panose="020B0500000000000000" charset="-122"/>
                <a:sym typeface="+mn-ea"/>
              </a:rPr>
              <a:t>   </a:t>
            </a: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思源黑体 CN Regular" panose="020B0500000000000000" charset="-122"/>
                <a:sym typeface="+mn-ea"/>
              </a:rPr>
              <a:t>   </a:t>
            </a: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思源黑体 CN Regular" panose="020B0500000000000000" charset="-122"/>
                <a:sym typeface="+mn-ea"/>
              </a:rPr>
              <a:t>    21  </a:t>
            </a:r>
            <a:endParaRPr lang="en-US" altLang="zh-CN" sz="2000">
              <a:latin typeface="微软雅黑" panose="020B0503020204020204" charset="-122"/>
              <a:ea typeface="微软雅黑" panose="020B0503020204020204" charset="-122"/>
              <a:cs typeface="思源黑体 CN Regular" panose="020B0500000000000000" charset="-122"/>
              <a:sym typeface="+mn-ea"/>
            </a:endParaRPr>
          </a:p>
        </p:txBody>
      </p:sp>
      <p:sp>
        <p:nvSpPr>
          <p:cNvPr id="7" name="矩形 6"/>
          <p:cNvSpPr/>
          <p:nvPr>
            <p:custDataLst>
              <p:tags r:id="rId10"/>
            </p:custDataLst>
          </p:nvPr>
        </p:nvSpPr>
        <p:spPr>
          <a:xfrm>
            <a:off x="1595755" y="6067425"/>
            <a:ext cx="1360805" cy="423545"/>
          </a:xfrm>
          <a:prstGeom prst="rect">
            <a:avLst/>
          </a:prstGeom>
          <a:solidFill>
            <a:schemeClr val="accent1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2800" b="1">
                <a:sym typeface="+mn-ea"/>
              </a:rPr>
              <a:t>E1</a:t>
            </a:r>
            <a:endParaRPr lang="en-US" altLang="zh-CN" sz="2800" b="1">
              <a:sym typeface="+mn-ea"/>
            </a:endParaRPr>
          </a:p>
        </p:txBody>
      </p:sp>
      <p:sp>
        <p:nvSpPr>
          <p:cNvPr id="8" name="矩形 7"/>
          <p:cNvSpPr/>
          <p:nvPr>
            <p:custDataLst>
              <p:tags r:id="rId11"/>
            </p:custDataLst>
          </p:nvPr>
        </p:nvSpPr>
        <p:spPr>
          <a:xfrm>
            <a:off x="2956560" y="6067425"/>
            <a:ext cx="2017395" cy="423545"/>
          </a:xfrm>
          <a:prstGeom prst="rect">
            <a:avLst/>
          </a:prstGeom>
          <a:solidFill>
            <a:srgbClr val="00B050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2800" b="1">
                <a:sym typeface="+mn-ea"/>
              </a:rPr>
              <a:t>E2</a:t>
            </a:r>
            <a:endParaRPr lang="en-US" altLang="zh-CN" sz="2800" b="1">
              <a:sym typeface="+mn-ea"/>
            </a:endParaRPr>
          </a:p>
        </p:txBody>
      </p:sp>
      <p:sp>
        <p:nvSpPr>
          <p:cNvPr id="28" name="矩形 27"/>
          <p:cNvSpPr/>
          <p:nvPr>
            <p:custDataLst>
              <p:tags r:id="rId12"/>
            </p:custDataLst>
          </p:nvPr>
        </p:nvSpPr>
        <p:spPr>
          <a:xfrm>
            <a:off x="4973955" y="6067425"/>
            <a:ext cx="1801495" cy="423545"/>
          </a:xfrm>
          <a:prstGeom prst="rect">
            <a:avLst/>
          </a:prstGeom>
          <a:solidFill>
            <a:srgbClr val="FFC000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2800" b="1">
                <a:sym typeface="+mn-ea"/>
              </a:rPr>
              <a:t>E3</a:t>
            </a:r>
            <a:endParaRPr lang="en-US" altLang="zh-CN" sz="2800" b="1">
              <a:sym typeface="+mn-ea"/>
            </a:endParaRPr>
          </a:p>
        </p:txBody>
      </p:sp>
      <p:sp>
        <p:nvSpPr>
          <p:cNvPr id="64" name="矩形 63"/>
          <p:cNvSpPr/>
          <p:nvPr>
            <p:custDataLst>
              <p:tags r:id="rId13"/>
            </p:custDataLst>
          </p:nvPr>
        </p:nvSpPr>
        <p:spPr>
          <a:xfrm>
            <a:off x="6775450" y="6067425"/>
            <a:ext cx="1746885" cy="423545"/>
          </a:xfrm>
          <a:prstGeom prst="rect">
            <a:avLst/>
          </a:prstGeom>
          <a:solidFill>
            <a:srgbClr val="00B050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2800" b="1">
                <a:sym typeface="+mn-ea"/>
              </a:rPr>
              <a:t>E2</a:t>
            </a:r>
            <a:endParaRPr lang="en-US" altLang="zh-CN" sz="2800" b="1">
              <a:sym typeface="+mn-ea"/>
            </a:endParaRPr>
          </a:p>
        </p:txBody>
      </p:sp>
      <p:sp>
        <p:nvSpPr>
          <p:cNvPr id="65" name="左箭头标注 64"/>
          <p:cNvSpPr/>
          <p:nvPr/>
        </p:nvSpPr>
        <p:spPr>
          <a:xfrm>
            <a:off x="7237095" y="1665605"/>
            <a:ext cx="2106295" cy="1129030"/>
          </a:xfrm>
          <a:prstGeom prst="leftArrowCallout">
            <a:avLst>
              <a:gd name="adj1" fmla="val 25000"/>
              <a:gd name="adj2" fmla="val 25000"/>
              <a:gd name="adj3" fmla="val 25000"/>
              <a:gd name="adj4" fmla="val 77630"/>
            </a:avLst>
          </a:prstGeom>
          <a:solidFill>
            <a:srgbClr val="D02F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在一般的操作系统中，优先级数字越小，</a:t>
            </a:r>
            <a:r>
              <a:rPr lang="zh-CN" altLang="en-US"/>
              <a:t>优先级越高</a:t>
            </a:r>
            <a:endParaRPr lang="zh-CN" altLang="en-US"/>
          </a:p>
        </p:txBody>
      </p:sp>
    </p:spTree>
    <p:custDataLst>
      <p:tags r:id="rId14"/>
    </p:custData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处理器</a:t>
                      </a: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调度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一、指令流</a:t>
                      </a: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与执行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应用程序与指令流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顺序与并发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执行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1.3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指令流的描述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en-US" altLang="zh-CN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线程与处理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器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2.1 CPU时间与线程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2.2</a:t>
                      </a: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线程的描述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2.3 纤程与协程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三、处理器调度算法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3.1 调度算法原理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多处理器与并发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59385"/>
            <a:ext cx="9121140" cy="64928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rgbClr val="9C0B15"/>
                </a:solidFill>
              </a:rPr>
              <a:t>调度策略</a:t>
            </a:r>
            <a:endParaRPr lang="zh-CN" altLang="en-US" sz="2000" b="1">
              <a:solidFill>
                <a:srgbClr val="9C0B15"/>
              </a:solidFill>
            </a:endParaRPr>
          </a:p>
          <a:p>
            <a:pPr>
              <a:lnSpc>
                <a:spcPct val="90000"/>
              </a:lnSpc>
              <a:buClrTx/>
              <a:buSzTx/>
              <a:buFontTx/>
            </a:pPr>
            <a:endParaRPr lang="zh-CN" altLang="en-US" sz="2000"/>
          </a:p>
          <a:p>
            <a:pPr>
              <a:lnSpc>
                <a:spcPct val="90000"/>
              </a:lnSpc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解决方案二</a:t>
            </a:r>
            <a:r>
              <a:rPr lang="en-US" altLang="zh-CN" sz="2000"/>
              <a:t>	</a:t>
            </a:r>
            <a:r>
              <a:rPr lang="zh-CN" altLang="en-US" sz="2000"/>
              <a:t>从应用程序的</a:t>
            </a:r>
            <a:r>
              <a:rPr lang="en-US" altLang="zh-CN" sz="2000">
                <a:solidFill>
                  <a:srgbClr val="9C0B15"/>
                </a:solidFill>
              </a:rPr>
              <a:t>行为</a:t>
            </a:r>
            <a:r>
              <a:rPr lang="zh-CN" altLang="en-US" sz="2000"/>
              <a:t>来推测其性质，并且按照某种</a:t>
            </a:r>
            <a:r>
              <a:rPr lang="en-US" altLang="zh-CN" sz="2000">
                <a:solidFill>
                  <a:srgbClr val="9C0B15"/>
                </a:solidFill>
              </a:rPr>
              <a:t>策略</a:t>
            </a:r>
            <a:r>
              <a:rPr lang="zh-CN" altLang="en-US" sz="2000"/>
              <a:t>给它分配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/>
              <a:t>优先级和时间预算。首先，我们需要一些</a:t>
            </a:r>
            <a:r>
              <a:rPr lang="en-US" altLang="zh-CN" sz="2000">
                <a:solidFill>
                  <a:srgbClr val="9C0B15"/>
                </a:solidFill>
              </a:rPr>
              <a:t>领导原则</a:t>
            </a:r>
            <a:r>
              <a:rPr lang="zh-CN" altLang="en-US" sz="2000"/>
              <a:t>，决定我们</a:t>
            </a:r>
            <a:r>
              <a:rPr lang="en-US" altLang="zh-CN" sz="2000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/>
              <a:t>的策略的</a:t>
            </a:r>
            <a:r>
              <a:rPr lang="en-US" altLang="zh-CN" sz="2000">
                <a:solidFill>
                  <a:srgbClr val="9C0B15"/>
                </a:solidFill>
              </a:rPr>
              <a:t>最终目的</a:t>
            </a:r>
            <a:r>
              <a:rPr lang="zh-CN" altLang="en-US" sz="2000"/>
              <a:t>；第二，这种我们需要一些程序行为的</a:t>
            </a:r>
            <a:r>
              <a:rPr lang="en-US" altLang="zh-CN" sz="2000">
                <a:solidFill>
                  <a:srgbClr val="9C0B15"/>
                </a:solidFill>
              </a:rPr>
              <a:t>测度</a:t>
            </a:r>
            <a:r>
              <a:rPr lang="zh-CN" altLang="en-US" sz="2000"/>
              <a:t>，</a:t>
            </a:r>
            <a:r>
              <a:rPr lang="en-US" altLang="zh-CN" sz="2000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/>
              <a:t>作为刻画程序行为的</a:t>
            </a:r>
            <a:r>
              <a:rPr lang="en-US" altLang="zh-CN" sz="2000">
                <a:solidFill>
                  <a:srgbClr val="9C0B15"/>
                </a:solidFill>
              </a:rPr>
              <a:t>手段</a:t>
            </a:r>
            <a:r>
              <a:rPr lang="zh-CN" altLang="en-US" sz="2000"/>
              <a:t>。</a:t>
            </a:r>
            <a:endParaRPr lang="zh-CN" altLang="en-US" sz="2000"/>
          </a:p>
          <a:p>
            <a:pPr>
              <a:lnSpc>
                <a:spcPct val="90000"/>
              </a:lnSpc>
              <a:buClrTx/>
              <a:buSzTx/>
              <a:buFontTx/>
            </a:pPr>
            <a:endParaRPr lang="zh-CN" altLang="en-US" sz="2000"/>
          </a:p>
          <a:p>
            <a:pPr>
              <a:lnSpc>
                <a:spcPct val="90000"/>
              </a:lnSpc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问题</a:t>
            </a:r>
            <a:r>
              <a:rPr lang="en-US" altLang="zh-CN" sz="2000"/>
              <a:t>		</a:t>
            </a:r>
            <a:r>
              <a:rPr lang="zh-CN" altLang="en-US" sz="2000"/>
              <a:t>领导原则包括</a:t>
            </a:r>
            <a:r>
              <a:rPr lang="zh-CN" altLang="en-US" sz="2000"/>
              <a:t>哪些？</a:t>
            </a:r>
            <a:endParaRPr lang="zh-CN" altLang="en-US" sz="2000"/>
          </a:p>
          <a:p>
            <a:pPr>
              <a:lnSpc>
                <a:spcPct val="90000"/>
              </a:lnSpc>
              <a:buClrTx/>
              <a:buSzTx/>
              <a:buFontTx/>
            </a:pPr>
            <a:r>
              <a:rPr lang="en-US" altLang="zh-CN" sz="2000">
                <a:sym typeface="+mn-ea"/>
              </a:rPr>
              <a:t>		</a:t>
            </a:r>
            <a:r>
              <a:rPr lang="zh-CN" altLang="en-US" sz="2000"/>
              <a:t>提示：考虑多道程序设计的</a:t>
            </a:r>
            <a:r>
              <a:rPr lang="zh-CN" altLang="en-US" sz="2000"/>
              <a:t>初衷。</a:t>
            </a:r>
            <a:endParaRPr lang="zh-CN" altLang="en-US" sz="2000"/>
          </a:p>
          <a:p>
            <a:pPr>
              <a:lnSpc>
                <a:spcPct val="90000"/>
              </a:lnSpc>
              <a:buClrTx/>
              <a:buSzTx/>
              <a:buFontTx/>
            </a:pPr>
            <a:endParaRPr lang="zh-CN" altLang="en-US" sz="2000"/>
          </a:p>
          <a:p>
            <a:pPr>
              <a:lnSpc>
                <a:spcPct val="90000"/>
              </a:lnSpc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CPU利用率</a:t>
            </a:r>
            <a:r>
              <a:rPr lang="en-US" altLang="zh-CN" sz="2000"/>
              <a:t>	</a:t>
            </a:r>
            <a:r>
              <a:rPr lang="zh-CN" altLang="en-US" sz="2000"/>
              <a:t>前面提过，一个很大的推动力就是</a:t>
            </a:r>
            <a:r>
              <a:rPr lang="en-US" altLang="zh-CN" sz="2000">
                <a:solidFill>
                  <a:srgbClr val="9C0B15"/>
                </a:solidFill>
              </a:rPr>
              <a:t>保证处理器不会闲着</a:t>
            </a:r>
            <a:r>
              <a:rPr lang="zh-CN" altLang="en-US" sz="2000"/>
              <a:t>。闲着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/>
              <a:t>就是浪费资源，因为</a:t>
            </a:r>
            <a:r>
              <a:rPr lang="en-US" altLang="zh-CN" sz="2000"/>
              <a:t>CPU</a:t>
            </a:r>
            <a:r>
              <a:rPr lang="zh-CN" altLang="en-US" sz="2000"/>
              <a:t>要</a:t>
            </a:r>
            <a:r>
              <a:rPr lang="en-US" altLang="zh-CN" sz="2000">
                <a:solidFill>
                  <a:srgbClr val="9C0B15"/>
                </a:solidFill>
              </a:rPr>
              <a:t>折旧</a:t>
            </a:r>
            <a:r>
              <a:rPr lang="zh-CN" altLang="en-US" sz="2000"/>
              <a:t>，而且即便不使用也会</a:t>
            </a:r>
            <a:r>
              <a:rPr lang="en-US" altLang="zh-CN" sz="2000">
                <a:solidFill>
                  <a:srgbClr val="9C0B15"/>
                </a:solidFill>
              </a:rPr>
              <a:t>耗电</a:t>
            </a:r>
            <a:r>
              <a:rPr lang="zh-CN" altLang="en-US" sz="2000"/>
              <a:t>。因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/>
              <a:t>此，我们需要保证</a:t>
            </a:r>
            <a:r>
              <a:rPr lang="en-US" altLang="zh-CN" sz="2000"/>
              <a:t>CPU</a:t>
            </a:r>
            <a:r>
              <a:rPr lang="zh-CN" altLang="en-US" sz="2000"/>
              <a:t>的利用</a:t>
            </a:r>
            <a:r>
              <a:rPr lang="zh-CN" altLang="en-US" sz="2000" b="1">
                <a:solidFill>
                  <a:srgbClr val="9C0B15"/>
                </a:solidFill>
              </a:rPr>
              <a:t>效率</a:t>
            </a:r>
            <a:r>
              <a:rPr lang="zh-CN" altLang="en-US" sz="2000"/>
              <a:t>。</a:t>
            </a:r>
            <a:endParaRPr lang="zh-CN" altLang="en-US" sz="2000"/>
          </a:p>
          <a:p>
            <a:pPr>
              <a:lnSpc>
                <a:spcPct val="90000"/>
              </a:lnSpc>
              <a:buClrTx/>
              <a:buSzTx/>
              <a:buFontTx/>
            </a:pPr>
            <a:endParaRPr lang="zh-CN" altLang="en-US" sz="2000"/>
          </a:p>
          <a:p>
            <a:pPr>
              <a:lnSpc>
                <a:spcPct val="90000"/>
              </a:lnSpc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系统的响应</a:t>
            </a:r>
            <a:r>
              <a:rPr lang="en-US" altLang="zh-CN" sz="2000"/>
              <a:t>	</a:t>
            </a:r>
            <a:r>
              <a:rPr lang="zh-CN" altLang="en-US" sz="2000"/>
              <a:t>多个程序可能同时</a:t>
            </a:r>
            <a:r>
              <a:rPr lang="en-US" altLang="zh-CN" sz="2000">
                <a:solidFill>
                  <a:srgbClr val="9C0B15"/>
                </a:solidFill>
              </a:rPr>
              <a:t>竞争CPU</a:t>
            </a:r>
            <a:r>
              <a:rPr lang="zh-CN" altLang="en-US" sz="2000"/>
              <a:t>。它们都</a:t>
            </a:r>
            <a:r>
              <a:rPr lang="en-US" altLang="zh-CN" sz="2000">
                <a:solidFill>
                  <a:srgbClr val="9C0B15"/>
                </a:solidFill>
              </a:rPr>
              <a:t>宣称自己最需要CPU来做计</a:t>
            </a:r>
            <a:r>
              <a:rPr lang="en-US" altLang="zh-CN" sz="2000">
                <a:solidFill>
                  <a:srgbClr val="9C0B15"/>
                </a:solidFill>
                <a:sym typeface="+mn-ea"/>
              </a:rPr>
              <a:t>		</a:t>
            </a:r>
            <a:r>
              <a:rPr lang="en-US" altLang="zh-CN" sz="2000">
                <a:solidFill>
                  <a:srgbClr val="9C0B15"/>
                </a:solidFill>
              </a:rPr>
              <a:t>算，而且确实也都会提交一时半会算不完的任务</a:t>
            </a:r>
            <a:r>
              <a:rPr lang="zh-CN" altLang="en-US" sz="2000"/>
              <a:t>。因此，我们</a:t>
            </a:r>
            <a:r>
              <a:rPr lang="en-US" altLang="zh-CN" sz="2000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/>
              <a:t>不能让某个应用程序霸占</a:t>
            </a:r>
            <a:r>
              <a:rPr lang="en-US" altLang="zh-CN" sz="2000"/>
              <a:t>CPU</a:t>
            </a:r>
            <a:r>
              <a:rPr lang="zh-CN" altLang="en-US" sz="2000"/>
              <a:t>，而是需要保证多个程序都能分到</a:t>
            </a:r>
            <a:r>
              <a:rPr lang="en-US" altLang="zh-CN" sz="2000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/>
              <a:t>一部分</a:t>
            </a:r>
            <a:r>
              <a:rPr lang="en-US" altLang="zh-CN" sz="2000"/>
              <a:t>CPU</a:t>
            </a:r>
            <a:r>
              <a:rPr lang="zh-CN" altLang="en-US" sz="2000"/>
              <a:t>来运行自己，</a:t>
            </a:r>
            <a:r>
              <a:rPr lang="zh-CN" altLang="en-US" sz="2000">
                <a:sym typeface="+mn-ea"/>
              </a:rPr>
              <a:t>保证</a:t>
            </a:r>
            <a:r>
              <a:rPr lang="en-US" altLang="zh-CN" sz="2000">
                <a:sym typeface="+mn-ea"/>
              </a:rPr>
              <a:t>CPU</a:t>
            </a:r>
            <a:r>
              <a:rPr lang="zh-CN" altLang="en-US" sz="2000">
                <a:sym typeface="+mn-ea"/>
              </a:rPr>
              <a:t>的利用</a:t>
            </a:r>
            <a:r>
              <a:rPr lang="zh-CN" altLang="en-US" sz="2000" b="1">
                <a:solidFill>
                  <a:srgbClr val="9C0B15"/>
                </a:solidFill>
                <a:sym typeface="+mn-ea"/>
              </a:rPr>
              <a:t>公正</a:t>
            </a:r>
            <a:r>
              <a:rPr lang="zh-CN" altLang="en-US" sz="2000">
                <a:sym typeface="+mn-ea"/>
              </a:rPr>
              <a:t>。</a:t>
            </a:r>
            <a:endParaRPr lang="zh-CN" altLang="en-US" sz="2000"/>
          </a:p>
          <a:p>
            <a:pPr>
              <a:lnSpc>
                <a:spcPct val="90000"/>
              </a:lnSpc>
              <a:buClrTx/>
              <a:buSzTx/>
              <a:buFontTx/>
            </a:pPr>
            <a:endParaRPr lang="zh-CN" altLang="en-US" sz="2000"/>
          </a:p>
          <a:p>
            <a:pPr>
              <a:lnSpc>
                <a:spcPct val="90000"/>
              </a:lnSpc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问题</a:t>
            </a:r>
            <a:r>
              <a:rPr lang="en-US" altLang="zh-CN" sz="2000"/>
              <a:t>		</a:t>
            </a:r>
            <a:r>
              <a:rPr lang="zh-CN" altLang="en-US" sz="2000"/>
              <a:t>保证</a:t>
            </a:r>
            <a:r>
              <a:rPr lang="zh-CN" altLang="en-US" sz="2000" b="1">
                <a:solidFill>
                  <a:srgbClr val="9C0B15"/>
                </a:solidFill>
              </a:rPr>
              <a:t>效率</a:t>
            </a:r>
            <a:r>
              <a:rPr lang="zh-CN" altLang="en-US" sz="2000"/>
              <a:t>简单，还是保证</a:t>
            </a:r>
            <a:r>
              <a:rPr lang="zh-CN" altLang="en-US" sz="2000" b="1">
                <a:solidFill>
                  <a:srgbClr val="9C0B15"/>
                </a:solidFill>
              </a:rPr>
              <a:t>公</a:t>
            </a:r>
            <a:r>
              <a:rPr lang="zh-CN" altLang="en-US" sz="2000" b="1">
                <a:solidFill>
                  <a:srgbClr val="9C0B15"/>
                </a:solidFill>
                <a:sym typeface="+mn-ea"/>
              </a:rPr>
              <a:t>正</a:t>
            </a:r>
            <a:r>
              <a:rPr lang="zh-CN" altLang="en-US" sz="2000"/>
              <a:t>简单？</a:t>
            </a:r>
            <a:endParaRPr lang="zh-CN" altLang="en-US" sz="2000"/>
          </a:p>
          <a:p>
            <a:pPr>
              <a:lnSpc>
                <a:spcPct val="90000"/>
              </a:lnSpc>
              <a:buClrTx/>
              <a:buSzTx/>
              <a:buFontTx/>
            </a:pPr>
            <a:endParaRPr lang="zh-CN" altLang="en-US" sz="2000"/>
          </a:p>
          <a:p>
            <a:pPr>
              <a:lnSpc>
                <a:spcPct val="90000"/>
              </a:lnSpc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保证</a:t>
            </a:r>
            <a:r>
              <a:rPr lang="en-US" altLang="zh-CN" sz="2000" b="1">
                <a:solidFill>
                  <a:srgbClr val="9C0B15"/>
                </a:solidFill>
              </a:rPr>
              <a:t>CPU</a:t>
            </a:r>
            <a:r>
              <a:rPr lang="zh-CN" altLang="en-US" sz="2000" b="1">
                <a:solidFill>
                  <a:srgbClr val="9C0B15"/>
                </a:solidFill>
              </a:rPr>
              <a:t>效率</a:t>
            </a:r>
            <a:r>
              <a:rPr lang="en-US" altLang="zh-CN" sz="2000"/>
              <a:t>	</a:t>
            </a:r>
            <a:r>
              <a:rPr lang="zh-CN" altLang="en-US" sz="2000"/>
              <a:t>非常容易，只要确保每次都选择</a:t>
            </a:r>
            <a:r>
              <a:rPr lang="en-US" altLang="zh-CN" sz="2000"/>
              <a:t>CPU</a:t>
            </a:r>
            <a:r>
              <a:rPr lang="zh-CN" altLang="en-US" sz="2000"/>
              <a:t>一直在跑某个就绪的线程就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/>
              <a:t>可以了。</a:t>
            </a:r>
            <a:r>
              <a:rPr lang="en-US" altLang="zh-CN" sz="2000">
                <a:solidFill>
                  <a:srgbClr val="9C0B15"/>
                </a:solidFill>
              </a:rPr>
              <a:t>只要CPU一直在做计算，CPU的效率肯定就是100%。</a:t>
            </a:r>
            <a:endParaRPr lang="zh-CN" altLang="en-US" sz="2000"/>
          </a:p>
        </p:txBody>
      </p:sp>
    </p:spTree>
    <p:custDataLst>
      <p:tags r:id="rId2"/>
    </p:custData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1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处理器</a:t>
                      </a: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调度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一、指令流</a:t>
                      </a: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与执行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应用程序与指令流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顺序与并发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执行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1.3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指令流的描述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en-US" altLang="zh-CN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线程与处理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器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2.1 CPU时间与线程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2.2</a:t>
                      </a: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线程的描述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2.3 纤程与协程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三、处理器调度算法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3.1 调度</a:t>
                      </a: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算法原理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多处理器与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并发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59385"/>
            <a:ext cx="9121140" cy="65239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rgbClr val="9C0B15"/>
                </a:solidFill>
              </a:rPr>
              <a:t>保证公正、公</a:t>
            </a:r>
            <a:r>
              <a:rPr lang="zh-CN" altLang="en-US" sz="2000" b="1">
                <a:solidFill>
                  <a:srgbClr val="9C0B15"/>
                </a:solidFill>
                <a:sym typeface="+mn-ea"/>
              </a:rPr>
              <a:t>正</a:t>
            </a:r>
            <a:r>
              <a:rPr lang="zh-CN" altLang="en-US" sz="2000" b="1">
                <a:solidFill>
                  <a:srgbClr val="9C0B15"/>
                </a:solidFill>
              </a:rPr>
              <a:t>、公</a:t>
            </a:r>
            <a:r>
              <a:rPr lang="zh-CN" altLang="en-US" sz="2000" b="1">
                <a:solidFill>
                  <a:srgbClr val="9C0B15"/>
                </a:solidFill>
                <a:sym typeface="+mn-ea"/>
              </a:rPr>
              <a:t>正</a:t>
            </a:r>
            <a:endParaRPr lang="zh-CN" altLang="en-US" sz="2000" b="1">
              <a:solidFill>
                <a:srgbClr val="9C0B15"/>
              </a:solidFill>
            </a:endParaRPr>
          </a:p>
          <a:p>
            <a:pPr>
              <a:lnSpc>
                <a:spcPct val="90000"/>
              </a:lnSpc>
              <a:buClrTx/>
              <a:buSzTx/>
              <a:buFontTx/>
            </a:pPr>
            <a:endParaRPr lang="zh-CN" altLang="en-US" sz="2000"/>
          </a:p>
          <a:p>
            <a:pPr>
              <a:lnSpc>
                <a:spcPct val="90000"/>
              </a:lnSpc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公</a:t>
            </a:r>
            <a:r>
              <a:rPr lang="zh-CN" altLang="en-US" sz="2000" b="1">
                <a:solidFill>
                  <a:srgbClr val="9C0B15"/>
                </a:solidFill>
                <a:sym typeface="+mn-ea"/>
              </a:rPr>
              <a:t>正</a:t>
            </a:r>
            <a:r>
              <a:rPr lang="en-US" altLang="zh-CN" sz="2000"/>
              <a:t>		</a:t>
            </a:r>
            <a:r>
              <a:rPr lang="zh-CN" altLang="en-US" sz="2000"/>
              <a:t>不像效率是一个</a:t>
            </a:r>
            <a:r>
              <a:rPr lang="en-US" altLang="zh-CN" sz="2000">
                <a:solidFill>
                  <a:srgbClr val="9C0B15"/>
                </a:solidFill>
              </a:rPr>
              <a:t>客观的利用率指标</a:t>
            </a:r>
            <a:r>
              <a:rPr lang="zh-CN" altLang="en-US" sz="2000"/>
              <a:t>，公</a:t>
            </a:r>
            <a:r>
              <a:rPr lang="zh-CN" altLang="en-US" sz="2000"/>
              <a:t>正是一个</a:t>
            </a:r>
            <a:r>
              <a:rPr lang="en-US" altLang="zh-CN" sz="2000">
                <a:solidFill>
                  <a:srgbClr val="9C0B15"/>
                </a:solidFill>
              </a:rPr>
              <a:t>抽象原则</a:t>
            </a:r>
            <a:r>
              <a:rPr lang="zh-CN" altLang="en-US" sz="2000"/>
              <a:t>。抽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/>
              <a:t>象原则没法执行，它一定要落到某些指标上来。</a:t>
            </a:r>
            <a:endParaRPr lang="zh-CN" altLang="en-US" sz="2000"/>
          </a:p>
          <a:p>
            <a:pPr>
              <a:lnSpc>
                <a:spcPct val="90000"/>
              </a:lnSpc>
              <a:buClrTx/>
              <a:buSzTx/>
              <a:buFontTx/>
            </a:pPr>
            <a:endParaRPr lang="zh-CN" altLang="en-US" sz="2000"/>
          </a:p>
          <a:p>
            <a:pPr>
              <a:lnSpc>
                <a:spcPct val="90000"/>
              </a:lnSpc>
              <a:buClrTx/>
              <a:buSzTx/>
              <a:buFontTx/>
            </a:pPr>
            <a:endParaRPr lang="zh-CN" altLang="en-US" sz="2000"/>
          </a:p>
          <a:p>
            <a:pPr>
              <a:lnSpc>
                <a:spcPct val="90000"/>
              </a:lnSpc>
              <a:buClrTx/>
              <a:buSzTx/>
              <a:buFontTx/>
            </a:pPr>
            <a:endParaRPr lang="zh-CN" altLang="en-US" sz="2000"/>
          </a:p>
          <a:p>
            <a:pPr>
              <a:lnSpc>
                <a:spcPct val="90000"/>
              </a:lnSpc>
              <a:buClrTx/>
              <a:buSzTx/>
              <a:buFontTx/>
            </a:pPr>
            <a:endParaRPr lang="zh-CN" altLang="en-US" sz="2000"/>
          </a:p>
          <a:p>
            <a:pPr>
              <a:lnSpc>
                <a:spcPct val="90000"/>
              </a:lnSpc>
              <a:buClrTx/>
              <a:buSzTx/>
              <a:buFontTx/>
            </a:pPr>
            <a:endParaRPr lang="zh-CN" altLang="en-US" sz="2000"/>
          </a:p>
          <a:p>
            <a:pPr>
              <a:lnSpc>
                <a:spcPct val="90000"/>
              </a:lnSpc>
              <a:buClrTx/>
              <a:buSzTx/>
              <a:buFontTx/>
            </a:pPr>
            <a:endParaRPr lang="zh-CN" altLang="en-US" sz="2000"/>
          </a:p>
          <a:p>
            <a:pPr>
              <a:lnSpc>
                <a:spcPct val="90000"/>
              </a:lnSpc>
              <a:buClrTx/>
              <a:buSzTx/>
              <a:buFontTx/>
            </a:pPr>
            <a:endParaRPr lang="zh-CN" altLang="en-US" sz="2000"/>
          </a:p>
          <a:p>
            <a:pPr>
              <a:lnSpc>
                <a:spcPct val="90000"/>
              </a:lnSpc>
              <a:buClrTx/>
              <a:buSzTx/>
              <a:buFontTx/>
            </a:pPr>
            <a:endParaRPr lang="zh-CN" altLang="en-US" sz="2000"/>
          </a:p>
          <a:p>
            <a:pPr>
              <a:lnSpc>
                <a:spcPct val="90000"/>
              </a:lnSpc>
              <a:buClrTx/>
              <a:buSzTx/>
              <a:buFontTx/>
            </a:pPr>
            <a:endParaRPr lang="zh-CN" altLang="en-US" sz="2000"/>
          </a:p>
          <a:p>
            <a:pPr>
              <a:lnSpc>
                <a:spcPct val="90000"/>
              </a:lnSpc>
              <a:buClrTx/>
              <a:buSzTx/>
              <a:buFontTx/>
            </a:pPr>
            <a:endParaRPr lang="zh-CN" altLang="en-US" sz="2000"/>
          </a:p>
          <a:p>
            <a:pPr>
              <a:lnSpc>
                <a:spcPct val="90000"/>
              </a:lnSpc>
              <a:buClrTx/>
              <a:buSzTx/>
              <a:buFontTx/>
            </a:pPr>
            <a:endParaRPr lang="zh-CN" altLang="en-US" sz="2000"/>
          </a:p>
          <a:p>
            <a:pPr>
              <a:lnSpc>
                <a:spcPct val="90000"/>
              </a:lnSpc>
              <a:buClrTx/>
              <a:buSzTx/>
              <a:buFontTx/>
            </a:pPr>
            <a:endParaRPr lang="zh-CN" altLang="en-US" sz="2000"/>
          </a:p>
          <a:p>
            <a:pPr>
              <a:lnSpc>
                <a:spcPct val="90000"/>
              </a:lnSpc>
              <a:buClrTx/>
              <a:buSzTx/>
              <a:buFontTx/>
            </a:pPr>
            <a:endParaRPr lang="zh-CN" altLang="en-US" sz="2000"/>
          </a:p>
          <a:p>
            <a:pPr>
              <a:lnSpc>
                <a:spcPct val="90000"/>
              </a:lnSpc>
              <a:buClrTx/>
              <a:buSzTx/>
              <a:buFontTx/>
            </a:pPr>
            <a:endParaRPr lang="zh-CN" altLang="en-US" sz="2000"/>
          </a:p>
          <a:p>
            <a:pPr>
              <a:lnSpc>
                <a:spcPct val="90000"/>
              </a:lnSpc>
              <a:buClrTx/>
              <a:buSzTx/>
              <a:buFontTx/>
            </a:pPr>
            <a:endParaRPr lang="zh-CN" altLang="en-US" sz="2000"/>
          </a:p>
          <a:p>
            <a:pPr>
              <a:lnSpc>
                <a:spcPct val="90000"/>
              </a:lnSpc>
              <a:buClrTx/>
              <a:buSzTx/>
              <a:buFontTx/>
            </a:pPr>
            <a:endParaRPr lang="zh-CN" altLang="en-US" sz="2000"/>
          </a:p>
          <a:p>
            <a:pPr>
              <a:lnSpc>
                <a:spcPct val="90000"/>
              </a:lnSpc>
              <a:buClrTx/>
              <a:buSzTx/>
              <a:buFontTx/>
            </a:pPr>
            <a:endParaRPr lang="zh-CN" altLang="en-US" sz="2000"/>
          </a:p>
          <a:p>
            <a:pPr>
              <a:lnSpc>
                <a:spcPct val="90000"/>
              </a:lnSpc>
              <a:buClrTx/>
              <a:buSzTx/>
              <a:buFontTx/>
            </a:pPr>
            <a:endParaRPr lang="zh-CN" altLang="en-US" sz="2000"/>
          </a:p>
          <a:p>
            <a:pPr algn="ctr">
              <a:lnSpc>
                <a:spcPct val="100000"/>
              </a:lnSpc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公正 = 公平 + 正义</a:t>
            </a:r>
            <a:endParaRPr lang="zh-CN" altLang="en-US" sz="2000" b="1">
              <a:solidFill>
                <a:srgbClr val="9C0B15"/>
              </a:solidFill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1259840" y="1487805"/>
            <a:ext cx="7268845" cy="4569460"/>
            <a:chOff x="2307" y="2716"/>
            <a:chExt cx="10800" cy="6450"/>
          </a:xfrm>
        </p:grpSpPr>
        <p:pic>
          <p:nvPicPr>
            <p:cNvPr id="101" name="图片 100"/>
            <p:cNvPicPr/>
            <p:nvPr>
              <p:custDataLst>
                <p:tags r:id="rId2"/>
              </p:custDataLst>
            </p:nvPr>
          </p:nvPicPr>
          <p:blipFill>
            <a:blip r:embed="rId3"/>
            <a:stretch>
              <a:fillRect/>
            </a:stretch>
          </p:blipFill>
          <p:spPr>
            <a:xfrm>
              <a:off x="2307" y="2716"/>
              <a:ext cx="10800" cy="6450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2" name="图片 1"/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5"/>
            <a:stretch>
              <a:fillRect/>
            </a:stretch>
          </p:blipFill>
          <p:spPr>
            <a:xfrm>
              <a:off x="8314" y="8734"/>
              <a:ext cx="945" cy="300"/>
            </a:xfrm>
            <a:prstGeom prst="rect">
              <a:avLst/>
            </a:prstGeom>
          </p:spPr>
        </p:pic>
      </p:grpSp>
    </p:spTree>
    <p:custDataLst>
      <p:tags r:id="rId6"/>
    </p:custData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处理器</a:t>
                      </a: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调度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一、指令流</a:t>
                      </a: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与执行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应用程序与指令流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顺序与并发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执行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1.3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指令流的描述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en-US" altLang="zh-CN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线程与处理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器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2.1 CPU时间与线程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2.2</a:t>
                      </a: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线程的描述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2.3 纤程与协程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三、处理器调度算法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3.1 调度算法原理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多处理器与并发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59385"/>
            <a:ext cx="9121140" cy="39998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rgbClr val="9C0B15"/>
                </a:solidFill>
              </a:rPr>
              <a:t>公平和</a:t>
            </a:r>
            <a:r>
              <a:rPr lang="zh-CN" altLang="en-US" sz="2000" b="1">
                <a:solidFill>
                  <a:srgbClr val="9C0B15"/>
                </a:solidFill>
              </a:rPr>
              <a:t>正义</a:t>
            </a:r>
            <a:endParaRPr lang="zh-CN" altLang="en-US" sz="2000" b="1">
              <a:solidFill>
                <a:srgbClr val="9C0B15"/>
              </a:solidFill>
            </a:endParaRPr>
          </a:p>
          <a:p>
            <a:pPr>
              <a:lnSpc>
                <a:spcPct val="90000"/>
              </a:lnSpc>
              <a:buClrTx/>
              <a:buSzTx/>
              <a:buFontTx/>
            </a:pPr>
            <a:endParaRPr lang="zh-CN" altLang="en-US" sz="2000"/>
          </a:p>
          <a:p>
            <a:pPr>
              <a:lnSpc>
                <a:spcPct val="90000"/>
              </a:lnSpc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公正</a:t>
            </a:r>
            <a:r>
              <a:rPr lang="en-US" altLang="zh-CN" sz="2000"/>
              <a:t>		</a:t>
            </a:r>
            <a:r>
              <a:rPr lang="zh-CN" altLang="en-US" sz="2000"/>
              <a:t>公正还可以进一步细分为</a:t>
            </a:r>
            <a:r>
              <a:rPr lang="zh-CN" altLang="en-US" sz="2000" b="1">
                <a:solidFill>
                  <a:srgbClr val="9C0B15"/>
                </a:solidFill>
              </a:rPr>
              <a:t>公平</a:t>
            </a:r>
            <a:r>
              <a:rPr lang="zh-CN" altLang="en-US" sz="2000"/>
              <a:t>和</a:t>
            </a:r>
            <a:r>
              <a:rPr lang="zh-CN" altLang="en-US" sz="2000" b="1">
                <a:solidFill>
                  <a:srgbClr val="9C0B15"/>
                </a:solidFill>
              </a:rPr>
              <a:t>正义</a:t>
            </a:r>
            <a:r>
              <a:rPr lang="zh-CN" altLang="en-US" sz="2000"/>
              <a:t>两个原则。</a:t>
            </a:r>
            <a:endParaRPr lang="zh-CN" altLang="en-US" sz="2000"/>
          </a:p>
          <a:p>
            <a:pPr>
              <a:lnSpc>
                <a:spcPct val="90000"/>
              </a:lnSpc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>
                <a:sym typeface="+mn-ea"/>
              </a:rPr>
              <a:t>一方面，</a:t>
            </a:r>
            <a:r>
              <a:rPr lang="zh-CN" altLang="en-US" sz="2000"/>
              <a:t>抽象的实质公平和实质正义</a:t>
            </a:r>
            <a:r>
              <a:rPr lang="en-US" altLang="zh-CN" sz="2000">
                <a:solidFill>
                  <a:srgbClr val="9C0B15"/>
                </a:solidFill>
                <a:sym typeface="+mn-ea"/>
              </a:rPr>
              <a:t>最终必须落到</a:t>
            </a:r>
            <a:r>
              <a:rPr lang="en-US" altLang="zh-CN" sz="2000">
                <a:solidFill>
                  <a:srgbClr val="9C0B15"/>
                </a:solidFill>
              </a:rPr>
              <a:t>程序公平和</a:t>
            </a:r>
            <a:r>
              <a:rPr lang="en-US" altLang="zh-CN" sz="2000">
                <a:solidFill>
                  <a:srgbClr val="9C0B15"/>
                </a:solidFill>
                <a:sym typeface="+mn-ea"/>
              </a:rPr>
              <a:t>		</a:t>
            </a:r>
            <a:r>
              <a:rPr lang="en-US" altLang="zh-CN" sz="2000">
                <a:solidFill>
                  <a:srgbClr val="9C0B15"/>
                </a:solidFill>
              </a:rPr>
              <a:t>程序正义层面来执行</a:t>
            </a:r>
            <a:r>
              <a:rPr lang="zh-CN" altLang="en-US" sz="2000"/>
              <a:t>。</a:t>
            </a:r>
            <a:endParaRPr lang="zh-CN" altLang="en-US" sz="2000"/>
          </a:p>
          <a:p>
            <a:pPr>
              <a:lnSpc>
                <a:spcPct val="90000"/>
              </a:lnSpc>
              <a:buClrTx/>
              <a:buSzTx/>
              <a:buFontTx/>
            </a:pPr>
            <a:r>
              <a:rPr lang="en-US" altLang="zh-CN" sz="2000">
                <a:sym typeface="+mn-ea"/>
              </a:rPr>
              <a:t>		</a:t>
            </a:r>
            <a:r>
              <a:rPr lang="zh-CN" altLang="en-US" sz="2000"/>
              <a:t>但另一方面，程序公平和程序正义</a:t>
            </a:r>
            <a:r>
              <a:rPr lang="en-US" altLang="zh-CN" sz="2000">
                <a:solidFill>
                  <a:srgbClr val="9C0B15"/>
                </a:solidFill>
              </a:rPr>
              <a:t>最终必须体现实质公平和实</a:t>
            </a:r>
            <a:r>
              <a:rPr lang="en-US" altLang="zh-CN" sz="2000">
                <a:solidFill>
                  <a:srgbClr val="9C0B15"/>
                </a:solidFill>
                <a:sym typeface="+mn-ea"/>
              </a:rPr>
              <a:t>		</a:t>
            </a:r>
            <a:r>
              <a:rPr lang="en-US" altLang="zh-CN" sz="2000">
                <a:solidFill>
                  <a:srgbClr val="9C0B15"/>
                </a:solidFill>
              </a:rPr>
              <a:t>质正义</a:t>
            </a:r>
            <a:r>
              <a:rPr lang="zh-CN" altLang="en-US" sz="2000">
                <a:solidFill>
                  <a:srgbClr val="9C0B15"/>
                </a:solidFill>
              </a:rPr>
              <a:t>的内涵</a:t>
            </a:r>
            <a:r>
              <a:rPr lang="zh-CN" altLang="en-US" sz="2000"/>
              <a:t>。</a:t>
            </a:r>
            <a:endParaRPr lang="zh-CN" altLang="en-US" sz="2000"/>
          </a:p>
          <a:p>
            <a:pPr>
              <a:lnSpc>
                <a:spcPct val="90000"/>
              </a:lnSpc>
              <a:buClrTx/>
              <a:buSzTx/>
              <a:buFontTx/>
            </a:pPr>
            <a:endParaRPr lang="zh-CN" altLang="en-US" sz="2000"/>
          </a:p>
          <a:p>
            <a:pPr>
              <a:lnSpc>
                <a:spcPct val="90000"/>
              </a:lnSpc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公平</a:t>
            </a:r>
            <a:r>
              <a:rPr lang="en-US" altLang="zh-CN" sz="2000"/>
              <a:t>		</a:t>
            </a:r>
            <a:r>
              <a:rPr lang="zh-CN" altLang="en-US" sz="2000"/>
              <a:t>同等的条件应当得到</a:t>
            </a:r>
            <a:r>
              <a:rPr lang="en-US" altLang="zh-CN" sz="2000">
                <a:solidFill>
                  <a:srgbClr val="9C0B15"/>
                </a:solidFill>
              </a:rPr>
              <a:t>同等的对待</a:t>
            </a:r>
            <a:r>
              <a:rPr lang="zh-CN" altLang="en-US" sz="2000"/>
              <a:t>。同等的程序应当得到同等的</a:t>
            </a:r>
            <a:r>
              <a:rPr lang="en-US" altLang="zh-CN" sz="2000">
                <a:sym typeface="+mn-ea"/>
              </a:rPr>
              <a:t>		</a:t>
            </a:r>
            <a:r>
              <a:rPr lang="en-US" altLang="zh-CN" sz="2000"/>
              <a:t>CPU</a:t>
            </a:r>
            <a:r>
              <a:rPr lang="zh-CN" altLang="en-US" sz="2000"/>
              <a:t>。强调</a:t>
            </a:r>
            <a:r>
              <a:rPr lang="en-US" altLang="zh-CN" sz="2000">
                <a:solidFill>
                  <a:srgbClr val="9C0B15"/>
                </a:solidFill>
              </a:rPr>
              <a:t>完全的同一性</a:t>
            </a:r>
            <a:r>
              <a:rPr lang="zh-CN" altLang="en-US" sz="2000"/>
              <a:t>。</a:t>
            </a:r>
            <a:endParaRPr lang="zh-CN" altLang="en-US" sz="2000"/>
          </a:p>
          <a:p>
            <a:pPr>
              <a:lnSpc>
                <a:spcPct val="90000"/>
              </a:lnSpc>
              <a:buClrTx/>
              <a:buSzTx/>
              <a:buFontTx/>
            </a:pPr>
            <a:endParaRPr lang="zh-CN" altLang="en-US" sz="2000"/>
          </a:p>
          <a:p>
            <a:pPr>
              <a:lnSpc>
                <a:spcPct val="90000"/>
              </a:lnSpc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正义</a:t>
            </a:r>
            <a:r>
              <a:rPr lang="en-US" altLang="zh-CN" sz="2000"/>
              <a:t>		</a:t>
            </a:r>
            <a:r>
              <a:rPr lang="zh-CN" altLang="en-US" sz="2000"/>
              <a:t>将各个应用程序按照（用户认为的）它们</a:t>
            </a:r>
            <a:r>
              <a:rPr lang="en-US" altLang="zh-CN" sz="2000">
                <a:solidFill>
                  <a:srgbClr val="9C0B15"/>
                </a:solidFill>
              </a:rPr>
              <a:t>应当得到的对待</a:t>
            </a:r>
            <a:r>
              <a:rPr lang="zh-CN" altLang="en-US" sz="2000"/>
              <a:t>来进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/>
              <a:t>行对待。对用户体现出不同性质的程序应当得到不同但合适的</a:t>
            </a:r>
            <a:r>
              <a:rPr lang="en-US" altLang="zh-CN" sz="2000">
                <a:sym typeface="+mn-ea"/>
              </a:rPr>
              <a:t>		</a:t>
            </a:r>
            <a:r>
              <a:rPr lang="en-US" altLang="zh-CN" sz="2000"/>
              <a:t>CPU</a:t>
            </a:r>
            <a:r>
              <a:rPr lang="zh-CN" altLang="en-US" sz="2000"/>
              <a:t>。强调</a:t>
            </a:r>
            <a:r>
              <a:rPr lang="en-US" altLang="zh-CN" sz="2000">
                <a:solidFill>
                  <a:srgbClr val="9C0B15"/>
                </a:solidFill>
              </a:rPr>
              <a:t>合理的差别性</a:t>
            </a:r>
            <a:r>
              <a:rPr lang="zh-CN" altLang="en-US" sz="2000"/>
              <a:t>。</a:t>
            </a:r>
            <a:endParaRPr lang="zh-CN" altLang="en-US" sz="2000"/>
          </a:p>
        </p:txBody>
      </p:sp>
      <p:pic>
        <p:nvPicPr>
          <p:cNvPr id="102" name="图片 101"/>
          <p:cNvPicPr/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3245485" y="4159250"/>
            <a:ext cx="3296285" cy="2469515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4"/>
    </p:custData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处理器</a:t>
                      </a: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调度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一、指令流</a:t>
                      </a: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与执行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应用程序与指令流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顺序与并发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执行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1.3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指令流的描述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en-US" altLang="zh-CN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线程与处理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器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2.1 CPU时间与线程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2.2</a:t>
                      </a: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线程的描述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2.3 纤程与协程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三、处理器调度算法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3.1 调度算法原理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多处理器与并发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59385"/>
            <a:ext cx="9121140" cy="62160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rgbClr val="9C0B15"/>
                </a:solidFill>
              </a:rPr>
              <a:t>公平的常见</a:t>
            </a:r>
            <a:r>
              <a:rPr lang="zh-CN" altLang="en-US" sz="2000" b="1">
                <a:solidFill>
                  <a:srgbClr val="9C0B15"/>
                </a:solidFill>
              </a:rPr>
              <a:t>测度</a:t>
            </a:r>
            <a:endParaRPr lang="zh-CN" altLang="en-US" sz="2000" b="1">
              <a:solidFill>
                <a:srgbClr val="9C0B15"/>
              </a:solidFill>
            </a:endParaRPr>
          </a:p>
          <a:p>
            <a:pPr>
              <a:lnSpc>
                <a:spcPct val="90000"/>
              </a:lnSpc>
              <a:buClrTx/>
              <a:buSzTx/>
              <a:buFontTx/>
            </a:pPr>
            <a:endParaRPr lang="zh-CN" altLang="en-US" sz="2000"/>
          </a:p>
          <a:p>
            <a:pPr>
              <a:lnSpc>
                <a:spcPct val="90000"/>
              </a:lnSpc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吞吐率	</a:t>
            </a:r>
            <a:r>
              <a:rPr lang="en-US" altLang="zh-CN" sz="2000"/>
              <a:t>	</a:t>
            </a:r>
            <a:r>
              <a:rPr lang="zh-CN" altLang="en-US" sz="2000"/>
              <a:t>单位时间内执行完的</a:t>
            </a:r>
            <a:r>
              <a:rPr lang="zh-CN" altLang="en-US" sz="2000"/>
              <a:t>线程的</a:t>
            </a:r>
            <a:r>
              <a:rPr lang="zh-CN" altLang="en-US" sz="2000"/>
              <a:t>个数</a:t>
            </a:r>
            <a:endParaRPr lang="zh-CN" altLang="en-US" sz="2000"/>
          </a:p>
          <a:p>
            <a:pPr>
              <a:lnSpc>
                <a:spcPct val="90000"/>
              </a:lnSpc>
              <a:buClrTx/>
              <a:buSzTx/>
              <a:buFontTx/>
            </a:pP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如果在某段时间内，执行完成的任务越多，说明</a:t>
            </a:r>
            <a:r>
              <a:rPr lang="en-US" altLang="zh-CN" sz="2000">
                <a:sym typeface="+mn-ea"/>
              </a:rPr>
              <a:t>CPU</a:t>
            </a:r>
            <a:r>
              <a:rPr lang="zh-CN" altLang="en-US" sz="2000">
                <a:sym typeface="+mn-ea"/>
              </a:rPr>
              <a:t>分配</a:t>
            </a:r>
            <a:r>
              <a:rPr lang="en-US" altLang="zh-CN" sz="2000">
                <a:solidFill>
                  <a:srgbClr val="9C0B15"/>
                </a:solidFill>
                <a:sym typeface="+mn-ea"/>
              </a:rPr>
              <a:t>越普惠，</a:t>
            </a:r>
            <a:r>
              <a:rPr lang="en-US" altLang="zh-CN" sz="2000">
                <a:sym typeface="+mn-ea"/>
              </a:rPr>
              <a:t>		</a:t>
            </a:r>
            <a:r>
              <a:rPr lang="en-US" altLang="zh-CN" sz="2000">
                <a:solidFill>
                  <a:srgbClr val="9C0B15"/>
                </a:solidFill>
                <a:sym typeface="+mn-ea"/>
              </a:rPr>
              <a:t>就越公平</a:t>
            </a:r>
            <a:r>
              <a:rPr lang="zh-CN" altLang="en-US" sz="2000"/>
              <a:t>。</a:t>
            </a:r>
            <a:endParaRPr lang="zh-CN" altLang="en-US" sz="2000"/>
          </a:p>
          <a:p>
            <a:pPr>
              <a:lnSpc>
                <a:spcPct val="90000"/>
              </a:lnSpc>
              <a:buClrTx/>
              <a:buSzTx/>
              <a:buFontTx/>
            </a:pPr>
            <a:r>
              <a:rPr lang="en-US" altLang="zh-CN" sz="2000">
                <a:sym typeface="+mn-ea"/>
              </a:rPr>
              <a:t>		</a:t>
            </a:r>
            <a:r>
              <a:rPr lang="zh-CN" altLang="en-US" sz="2000"/>
              <a:t>假设在时间</a:t>
            </a:r>
            <a:r>
              <a:rPr lang="en-US" altLang="zh-CN" sz="2000"/>
              <a:t>T</a:t>
            </a:r>
            <a:r>
              <a:rPr lang="zh-CN" altLang="en-US" sz="2000"/>
              <a:t>内，有</a:t>
            </a:r>
            <a:r>
              <a:rPr lang="en-US" altLang="zh-CN" sz="2000"/>
              <a:t>N</a:t>
            </a:r>
            <a:r>
              <a:rPr lang="zh-CN" altLang="en-US" sz="2000"/>
              <a:t>个线程完成执行，就说它的</a:t>
            </a:r>
            <a:r>
              <a:rPr lang="en-US" altLang="zh-CN" sz="2000">
                <a:solidFill>
                  <a:srgbClr val="9C0B15"/>
                </a:solidFill>
              </a:rPr>
              <a:t>吞吐率为N/T</a:t>
            </a:r>
            <a:r>
              <a:rPr lang="zh-CN" altLang="en-US" sz="2000"/>
              <a:t>。</a:t>
            </a:r>
            <a:endParaRPr lang="zh-CN" altLang="en-US" sz="2000"/>
          </a:p>
          <a:p>
            <a:pPr>
              <a:lnSpc>
                <a:spcPct val="90000"/>
              </a:lnSpc>
              <a:buClrTx/>
              <a:buSzTx/>
              <a:buFontTx/>
            </a:pPr>
            <a:endParaRPr lang="zh-CN" altLang="en-US" sz="2000"/>
          </a:p>
          <a:p>
            <a:pPr>
              <a:lnSpc>
                <a:spcPct val="90000"/>
              </a:lnSpc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平均等待时间</a:t>
            </a:r>
            <a:r>
              <a:rPr lang="en-US" altLang="zh-CN" sz="2000"/>
              <a:t>	</a:t>
            </a:r>
            <a:r>
              <a:rPr lang="zh-CN" altLang="en-US" sz="2000"/>
              <a:t>线程从就绪态到运行</a:t>
            </a:r>
            <a:r>
              <a:rPr lang="zh-CN" altLang="en-US" sz="2000"/>
              <a:t>态平均等待的</a:t>
            </a:r>
            <a:r>
              <a:rPr lang="zh-CN" altLang="en-US" sz="2000"/>
              <a:t>时间</a:t>
            </a:r>
            <a:endParaRPr lang="zh-CN" altLang="en-US" sz="2000"/>
          </a:p>
          <a:p>
            <a:pPr>
              <a:lnSpc>
                <a:spcPct val="90000"/>
              </a:lnSpc>
              <a:buClrTx/>
              <a:buSzTx/>
              <a:buFontTx/>
            </a:pPr>
            <a:r>
              <a:rPr lang="en-US" altLang="zh-CN" sz="2000">
                <a:sym typeface="+mn-ea"/>
              </a:rPr>
              <a:t>		</a:t>
            </a:r>
            <a:r>
              <a:rPr lang="zh-CN" altLang="en-US" sz="2000"/>
              <a:t>如果任何一个就绪的线程都越能尽快得到</a:t>
            </a:r>
            <a:r>
              <a:rPr lang="en-US" altLang="zh-CN" sz="2000"/>
              <a:t>CPU</a:t>
            </a:r>
            <a:r>
              <a:rPr lang="zh-CN" altLang="en-US" sz="2000"/>
              <a:t>，说明</a:t>
            </a:r>
            <a:r>
              <a:rPr lang="en-US" altLang="zh-CN" sz="2000"/>
              <a:t>CPU</a:t>
            </a:r>
            <a:r>
              <a:rPr lang="zh-CN" altLang="en-US" sz="2000"/>
              <a:t>分配的</a:t>
            </a:r>
            <a:r>
              <a:rPr lang="en-US" altLang="zh-CN" sz="2000">
                <a:sym typeface="+mn-ea"/>
              </a:rPr>
              <a:t>		</a:t>
            </a:r>
            <a:r>
              <a:rPr lang="en-US" altLang="zh-CN" sz="2000">
                <a:solidFill>
                  <a:srgbClr val="9C0B15"/>
                </a:solidFill>
              </a:rPr>
              <a:t>歧视性成分越低，就越公平</a:t>
            </a:r>
            <a:r>
              <a:rPr lang="zh-CN" altLang="en-US" sz="2000"/>
              <a:t>。</a:t>
            </a:r>
            <a:endParaRPr lang="zh-CN" altLang="en-US" sz="2000"/>
          </a:p>
          <a:p>
            <a:pPr>
              <a:lnSpc>
                <a:spcPct val="90000"/>
              </a:lnSpc>
              <a:buClrTx/>
              <a:buSzTx/>
              <a:buFontTx/>
            </a:pPr>
            <a:r>
              <a:rPr lang="en-US" altLang="zh-CN" sz="2000">
                <a:sym typeface="+mn-ea"/>
              </a:rPr>
              <a:t>		</a:t>
            </a:r>
            <a:r>
              <a:rPr lang="zh-CN" altLang="en-US" sz="2000"/>
              <a:t>假设一共有</a:t>
            </a:r>
            <a:r>
              <a:rPr lang="en-US" altLang="zh-CN" sz="2000"/>
              <a:t>N</a:t>
            </a:r>
            <a:r>
              <a:rPr lang="zh-CN" altLang="en-US" sz="2000"/>
              <a:t>个线程，它们从就绪到得到</a:t>
            </a:r>
            <a:r>
              <a:rPr lang="en-US" altLang="zh-CN" sz="2000"/>
              <a:t>CPU</a:t>
            </a:r>
            <a:r>
              <a:rPr lang="zh-CN" altLang="en-US" sz="2000"/>
              <a:t>之前必须等</a:t>
            </a:r>
            <a:r>
              <a:rPr lang="en-US" altLang="zh-CN" sz="2000"/>
              <a:t>W</a:t>
            </a:r>
            <a:r>
              <a:rPr lang="en-US" altLang="zh-CN" sz="2000" baseline="-25000"/>
              <a:t>1</a:t>
            </a:r>
            <a:r>
              <a:rPr lang="zh-CN" altLang="en-US" sz="2000"/>
              <a:t>，</a:t>
            </a:r>
            <a:r>
              <a:rPr lang="en-US" altLang="zh-CN" sz="2000"/>
              <a:t>...</a:t>
            </a:r>
            <a:r>
              <a:rPr lang="zh-CN" altLang="en-US" sz="2000"/>
              <a:t>，</a:t>
            </a:r>
            <a:r>
              <a:rPr lang="en-US" altLang="zh-CN" sz="2000">
                <a:sym typeface="+mn-ea"/>
              </a:rPr>
              <a:t>		</a:t>
            </a:r>
            <a:r>
              <a:rPr lang="en-US" altLang="zh-CN" sz="2000"/>
              <a:t>W</a:t>
            </a:r>
            <a:r>
              <a:rPr lang="en-US" altLang="zh-CN" sz="2000" baseline="-25000"/>
              <a:t>n</a:t>
            </a:r>
            <a:r>
              <a:rPr lang="zh-CN" altLang="en-US" sz="2000"/>
              <a:t>时间，则</a:t>
            </a:r>
            <a:r>
              <a:rPr lang="en-US" altLang="zh-CN" sz="2000">
                <a:solidFill>
                  <a:srgbClr val="9C0B15"/>
                </a:solidFill>
              </a:rPr>
              <a:t>平均等待时间为</a:t>
            </a:r>
            <a:r>
              <a:rPr lang="en-US" altLang="zh-CN" sz="2000">
                <a:solidFill>
                  <a:srgbClr val="9C0B15"/>
                </a:solidFill>
                <a:sym typeface="+mn-ea"/>
              </a:rPr>
              <a:t>(W</a:t>
            </a:r>
            <a:r>
              <a:rPr lang="en-US" altLang="zh-CN" sz="2000" baseline="-25000">
                <a:solidFill>
                  <a:srgbClr val="9C0B15"/>
                </a:solidFill>
                <a:sym typeface="+mn-ea"/>
              </a:rPr>
              <a:t>1</a:t>
            </a:r>
            <a:r>
              <a:rPr lang="en-US" altLang="zh-CN" sz="2000">
                <a:solidFill>
                  <a:srgbClr val="9C0B15"/>
                </a:solidFill>
                <a:sym typeface="+mn-ea"/>
              </a:rPr>
              <a:t>+W</a:t>
            </a:r>
            <a:r>
              <a:rPr lang="en-US" altLang="zh-CN" sz="2000" baseline="-25000">
                <a:solidFill>
                  <a:srgbClr val="9C0B15"/>
                </a:solidFill>
                <a:sym typeface="+mn-ea"/>
              </a:rPr>
              <a:t>2</a:t>
            </a:r>
            <a:r>
              <a:rPr lang="en-US" altLang="zh-CN" sz="2000">
                <a:solidFill>
                  <a:srgbClr val="9C0B15"/>
                </a:solidFill>
                <a:sym typeface="+mn-ea"/>
              </a:rPr>
              <a:t>+...+W</a:t>
            </a:r>
            <a:r>
              <a:rPr lang="en-US" altLang="zh-CN" sz="2000" baseline="-25000">
                <a:solidFill>
                  <a:srgbClr val="9C0B15"/>
                </a:solidFill>
                <a:sym typeface="+mn-ea"/>
              </a:rPr>
              <a:t>n</a:t>
            </a:r>
            <a:r>
              <a:rPr lang="en-US" altLang="zh-CN" sz="2000">
                <a:solidFill>
                  <a:srgbClr val="9C0B15"/>
                </a:solidFill>
                <a:sym typeface="+mn-ea"/>
              </a:rPr>
              <a:t>)/N</a:t>
            </a:r>
            <a:r>
              <a:rPr lang="zh-CN" altLang="en-US" sz="2000">
                <a:sym typeface="+mn-ea"/>
              </a:rPr>
              <a:t>。</a:t>
            </a:r>
            <a:endParaRPr lang="zh-CN" altLang="en-US" sz="2000">
              <a:sym typeface="+mn-ea"/>
            </a:endParaRPr>
          </a:p>
          <a:p>
            <a:pPr>
              <a:lnSpc>
                <a:spcPct val="90000"/>
              </a:lnSpc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>
              <a:lnSpc>
                <a:spcPct val="90000"/>
              </a:lnSpc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  <a:sym typeface="+mn-ea"/>
              </a:rPr>
              <a:t>平均周转时间</a:t>
            </a:r>
            <a:r>
              <a:rPr lang="en-US" altLang="zh-CN" sz="2000">
                <a:sym typeface="+mn-ea"/>
              </a:rPr>
              <a:t>	</a:t>
            </a:r>
            <a:r>
              <a:rPr lang="zh-CN" altLang="en-US" sz="2000">
                <a:sym typeface="+mn-ea"/>
              </a:rPr>
              <a:t>线程从就绪态到阻塞或</a:t>
            </a:r>
            <a:r>
              <a:rPr lang="zh-CN" altLang="en-US" sz="2000">
                <a:sym typeface="+mn-ea"/>
              </a:rPr>
              <a:t>停止态平均花费的</a:t>
            </a:r>
            <a:r>
              <a:rPr lang="zh-CN" altLang="en-US" sz="2000">
                <a:sym typeface="+mn-ea"/>
              </a:rPr>
              <a:t>时间</a:t>
            </a:r>
            <a:endParaRPr lang="zh-CN" altLang="en-US" sz="2000">
              <a:sym typeface="+mn-ea"/>
            </a:endParaRPr>
          </a:p>
          <a:p>
            <a:pPr>
              <a:lnSpc>
                <a:spcPct val="90000"/>
              </a:lnSpc>
              <a:buClrTx/>
              <a:buSzTx/>
              <a:buFontTx/>
            </a:pP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如果任何一个就绪的线程都越能尽快完成其执行</a:t>
            </a:r>
            <a:r>
              <a:rPr lang="zh-CN" altLang="en-US" sz="2000">
                <a:sym typeface="+mn-ea"/>
              </a:rPr>
              <a:t>，说明</a:t>
            </a:r>
            <a:r>
              <a:rPr lang="en-US" altLang="zh-CN" sz="2000">
                <a:sym typeface="+mn-ea"/>
              </a:rPr>
              <a:t>CPU</a:t>
            </a:r>
            <a:r>
              <a:rPr lang="zh-CN" altLang="en-US" sz="2000">
                <a:sym typeface="+mn-ea"/>
              </a:rPr>
              <a:t>分配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的</a:t>
            </a:r>
            <a:r>
              <a:rPr lang="en-US" altLang="zh-CN" sz="2000">
                <a:solidFill>
                  <a:srgbClr val="9C0B15"/>
                </a:solidFill>
                <a:sym typeface="+mn-ea"/>
              </a:rPr>
              <a:t>歧视性成分越低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、包容性成分越高</a:t>
            </a:r>
            <a:r>
              <a:rPr lang="en-US" altLang="zh-CN" sz="2000">
                <a:solidFill>
                  <a:srgbClr val="9C0B15"/>
                </a:solidFill>
                <a:sym typeface="+mn-ea"/>
              </a:rPr>
              <a:t>，就越公平</a:t>
            </a:r>
            <a:r>
              <a:rPr lang="zh-CN" altLang="en-US" sz="2000">
                <a:sym typeface="+mn-ea"/>
              </a:rPr>
              <a:t>。</a:t>
            </a:r>
            <a:endParaRPr lang="zh-CN" altLang="en-US" sz="2000">
              <a:sym typeface="+mn-ea"/>
            </a:endParaRPr>
          </a:p>
          <a:p>
            <a:pPr>
              <a:lnSpc>
                <a:spcPct val="90000"/>
              </a:lnSpc>
              <a:buClrTx/>
              <a:buSzTx/>
              <a:buFontTx/>
            </a:pP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假设一共有</a:t>
            </a:r>
            <a:r>
              <a:rPr lang="en-US" altLang="zh-CN" sz="2000">
                <a:sym typeface="+mn-ea"/>
              </a:rPr>
              <a:t>N</a:t>
            </a:r>
            <a:r>
              <a:rPr lang="zh-CN" altLang="en-US" sz="2000">
                <a:sym typeface="+mn-ea"/>
              </a:rPr>
              <a:t>个线程，它们从就绪到得到停止运作分别经过</a:t>
            </a:r>
            <a:r>
              <a:rPr lang="en-US" altLang="zh-CN" sz="2000">
                <a:sym typeface="+mn-ea"/>
              </a:rPr>
              <a:t>		</a:t>
            </a:r>
            <a:r>
              <a:rPr lang="en-US" altLang="zh-CN" sz="2000">
                <a:sym typeface="+mn-ea"/>
              </a:rPr>
              <a:t>T</a:t>
            </a:r>
            <a:r>
              <a:rPr lang="en-US" altLang="zh-CN" sz="2000" baseline="-25000">
                <a:sym typeface="+mn-ea"/>
              </a:rPr>
              <a:t>1</a:t>
            </a:r>
            <a:r>
              <a:rPr lang="zh-CN" altLang="en-US" sz="2000">
                <a:sym typeface="+mn-ea"/>
              </a:rPr>
              <a:t>，</a:t>
            </a:r>
            <a:r>
              <a:rPr lang="en-US" altLang="zh-CN" sz="2000">
                <a:sym typeface="+mn-ea"/>
              </a:rPr>
              <a:t> ... </a:t>
            </a:r>
            <a:r>
              <a:rPr lang="zh-CN" altLang="en-US" sz="2000">
                <a:sym typeface="+mn-ea"/>
              </a:rPr>
              <a:t>，</a:t>
            </a:r>
            <a:r>
              <a:rPr lang="en-US" altLang="zh-CN" sz="2000">
                <a:sym typeface="+mn-ea"/>
              </a:rPr>
              <a:t>T</a:t>
            </a:r>
            <a:r>
              <a:rPr lang="en-US" altLang="zh-CN" sz="2000" baseline="-25000">
                <a:sym typeface="+mn-ea"/>
              </a:rPr>
              <a:t>n</a:t>
            </a:r>
            <a:r>
              <a:rPr lang="zh-CN" altLang="en-US" sz="2000">
                <a:sym typeface="+mn-ea"/>
              </a:rPr>
              <a:t>时间，则</a:t>
            </a:r>
            <a:r>
              <a:rPr lang="en-US" altLang="zh-CN" sz="2000">
                <a:solidFill>
                  <a:srgbClr val="9C0B15"/>
                </a:solidFill>
                <a:sym typeface="+mn-ea"/>
              </a:rPr>
              <a:t>平均等待时间为</a:t>
            </a:r>
            <a:r>
              <a:rPr lang="en-US" altLang="zh-CN" sz="2000">
                <a:solidFill>
                  <a:srgbClr val="9C0B15"/>
                </a:solidFill>
                <a:sym typeface="+mn-ea"/>
              </a:rPr>
              <a:t>(T</a:t>
            </a:r>
            <a:r>
              <a:rPr lang="en-US" altLang="zh-CN" sz="2000" baseline="-25000">
                <a:solidFill>
                  <a:srgbClr val="9C0B15"/>
                </a:solidFill>
                <a:sym typeface="+mn-ea"/>
              </a:rPr>
              <a:t>1</a:t>
            </a:r>
            <a:r>
              <a:rPr lang="en-US" altLang="zh-CN" sz="2000">
                <a:solidFill>
                  <a:srgbClr val="9C0B15"/>
                </a:solidFill>
                <a:sym typeface="+mn-ea"/>
              </a:rPr>
              <a:t>+T</a:t>
            </a:r>
            <a:r>
              <a:rPr lang="en-US" altLang="zh-CN" sz="2000" baseline="-25000">
                <a:solidFill>
                  <a:srgbClr val="9C0B15"/>
                </a:solidFill>
                <a:sym typeface="+mn-ea"/>
              </a:rPr>
              <a:t>2</a:t>
            </a:r>
            <a:r>
              <a:rPr lang="en-US" altLang="zh-CN" sz="2000">
                <a:solidFill>
                  <a:srgbClr val="9C0B15"/>
                </a:solidFill>
                <a:sym typeface="+mn-ea"/>
              </a:rPr>
              <a:t>+...+T</a:t>
            </a:r>
            <a:r>
              <a:rPr lang="en-US" altLang="zh-CN" sz="2000" baseline="-25000">
                <a:solidFill>
                  <a:srgbClr val="9C0B15"/>
                </a:solidFill>
                <a:sym typeface="+mn-ea"/>
              </a:rPr>
              <a:t>n</a:t>
            </a:r>
            <a:r>
              <a:rPr lang="en-US" altLang="zh-CN" sz="2000">
                <a:solidFill>
                  <a:srgbClr val="9C0B15"/>
                </a:solidFill>
                <a:sym typeface="+mn-ea"/>
              </a:rPr>
              <a:t>)/N</a:t>
            </a:r>
            <a:r>
              <a:rPr lang="zh-CN" altLang="en-US" sz="2000">
                <a:sym typeface="+mn-ea"/>
              </a:rPr>
              <a:t>。</a:t>
            </a:r>
            <a:endParaRPr lang="zh-CN" altLang="en-US" sz="2000">
              <a:sym typeface="+mn-ea"/>
            </a:endParaRPr>
          </a:p>
          <a:p>
            <a:pPr>
              <a:lnSpc>
                <a:spcPct val="90000"/>
              </a:lnSpc>
              <a:buClrTx/>
              <a:buSzTx/>
              <a:buFontTx/>
            </a:pP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若设线程的运行时间为</a:t>
            </a:r>
            <a:r>
              <a:rPr lang="en-US" altLang="zh-CN" sz="2000">
                <a:sym typeface="+mn-ea"/>
              </a:rPr>
              <a:t>R</a:t>
            </a:r>
            <a:r>
              <a:rPr lang="en-US" altLang="zh-CN" sz="2000" baseline="-25000">
                <a:sym typeface="+mn-ea"/>
              </a:rPr>
              <a:t>i</a:t>
            </a:r>
            <a:r>
              <a:rPr lang="zh-CN" altLang="en-US" sz="2000">
                <a:sym typeface="+mn-ea"/>
              </a:rPr>
              <a:t>，则</a:t>
            </a:r>
            <a:r>
              <a:rPr lang="en-US" altLang="zh-CN" sz="2000">
                <a:solidFill>
                  <a:srgbClr val="9C0B15"/>
                </a:solidFill>
                <a:sym typeface="+mn-ea"/>
              </a:rPr>
              <a:t>T</a:t>
            </a:r>
            <a:r>
              <a:rPr lang="en-US" altLang="zh-CN" sz="2000" baseline="-25000">
                <a:solidFill>
                  <a:srgbClr val="9C0B15"/>
                </a:solidFill>
                <a:sym typeface="+mn-ea"/>
              </a:rPr>
              <a:t>i</a:t>
            </a:r>
            <a:r>
              <a:rPr lang="en-US" altLang="zh-CN" sz="2000">
                <a:solidFill>
                  <a:srgbClr val="9C0B15"/>
                </a:solidFill>
                <a:sym typeface="+mn-ea"/>
              </a:rPr>
              <a:t>=W</a:t>
            </a:r>
            <a:r>
              <a:rPr lang="en-US" altLang="zh-CN" sz="2000" baseline="-25000">
                <a:solidFill>
                  <a:srgbClr val="9C0B15"/>
                </a:solidFill>
                <a:sym typeface="+mn-ea"/>
              </a:rPr>
              <a:t>i</a:t>
            </a:r>
            <a:r>
              <a:rPr lang="en-US" altLang="zh-CN" sz="2000">
                <a:solidFill>
                  <a:srgbClr val="9C0B15"/>
                </a:solidFill>
                <a:sym typeface="+mn-ea"/>
              </a:rPr>
              <a:t>+R</a:t>
            </a:r>
            <a:r>
              <a:rPr lang="en-US" altLang="zh-CN" sz="2000" baseline="-25000">
                <a:solidFill>
                  <a:srgbClr val="9C0B15"/>
                </a:solidFill>
                <a:sym typeface="+mn-ea"/>
              </a:rPr>
              <a:t>i</a:t>
            </a:r>
            <a:r>
              <a:rPr lang="zh-CN" altLang="en-US" sz="2000">
                <a:sym typeface="+mn-ea"/>
              </a:rPr>
              <a:t>。</a:t>
            </a:r>
            <a:endParaRPr lang="zh-CN" altLang="en-US" sz="2000">
              <a:sym typeface="+mn-ea"/>
            </a:endParaRPr>
          </a:p>
          <a:p>
            <a:pPr>
              <a:lnSpc>
                <a:spcPct val="90000"/>
              </a:lnSpc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>
              <a:lnSpc>
                <a:spcPct val="90000"/>
              </a:lnSpc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  <a:sym typeface="+mn-ea"/>
              </a:rPr>
              <a:t>问题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平均周转时间测度与平均等待时间测度下，公平的具体含义发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生了什么变化？为什么？</a:t>
            </a:r>
            <a:endParaRPr lang="zh-CN" altLang="en-US" sz="2000">
              <a:sym typeface="+mn-ea"/>
            </a:endParaRPr>
          </a:p>
        </p:txBody>
      </p:sp>
    </p:spTree>
    <p:custDataLst>
      <p:tags r:id="rId2"/>
    </p:custData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处理器</a:t>
                      </a: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调度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一、指令流</a:t>
                      </a: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与执行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应用程序与指令流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顺序与并发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执行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1.3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指令流的描述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en-US" altLang="zh-CN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线程与处理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器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2.1 CPU时间与线程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2.2</a:t>
                      </a: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线程的描述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2.3 纤程与协程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三、处理器调度算法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3.1 调度算法原理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多处理器与并发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59385"/>
            <a:ext cx="9121140" cy="64928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rgbClr val="9C0B15"/>
                </a:solidFill>
              </a:rPr>
              <a:t>正义的常见</a:t>
            </a:r>
            <a:r>
              <a:rPr lang="zh-CN" altLang="en-US" sz="2000" b="1">
                <a:solidFill>
                  <a:srgbClr val="9C0B15"/>
                </a:solidFill>
              </a:rPr>
              <a:t>测度</a:t>
            </a:r>
            <a:endParaRPr lang="zh-CN" altLang="en-US" sz="2000" b="1">
              <a:solidFill>
                <a:srgbClr val="9C0B15"/>
              </a:solidFill>
            </a:endParaRPr>
          </a:p>
          <a:p>
            <a:pPr>
              <a:lnSpc>
                <a:spcPct val="90000"/>
              </a:lnSpc>
              <a:buClrTx/>
              <a:buSzTx/>
              <a:buFontTx/>
            </a:pPr>
            <a:endParaRPr lang="zh-CN" altLang="en-US" sz="2000"/>
          </a:p>
          <a:p>
            <a:pPr algn="l">
              <a:lnSpc>
                <a:spcPct val="90000"/>
              </a:lnSpc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响应时间	</a:t>
            </a:r>
            <a:r>
              <a:rPr lang="zh-CN" altLang="en-US" sz="2000"/>
              <a:t>从用户提交第一个请求到系统做出第一个反馈的时间。</a:t>
            </a:r>
            <a:endParaRPr lang="zh-CN" altLang="en-US" sz="2000"/>
          </a:p>
          <a:p>
            <a:pPr algn="l">
              <a:lnSpc>
                <a:spcPct val="90000"/>
              </a:lnSpc>
              <a:buClrTx/>
              <a:buSzTx/>
              <a:buFontTx/>
            </a:pPr>
            <a:r>
              <a:rPr lang="zh-CN" altLang="en-US" sz="2000">
                <a:sym typeface="+mn-ea"/>
              </a:rPr>
              <a:t>		</a:t>
            </a:r>
            <a:r>
              <a:rPr lang="zh-CN" altLang="en-US" sz="2000"/>
              <a:t>用户必然希望系统越快做出响应越好，不要拖拖拉拉。如果响</a:t>
            </a:r>
            <a:r>
              <a:rPr lang="zh-CN" altLang="en-US" sz="2000">
                <a:sym typeface="+mn-ea"/>
              </a:rPr>
              <a:t>		</a:t>
            </a:r>
            <a:r>
              <a:rPr lang="zh-CN" altLang="en-US" sz="2000"/>
              <a:t>应时间越短，说明执行顺序的安排</a:t>
            </a:r>
            <a:r>
              <a:rPr lang="en-US" altLang="zh-CN" sz="2000">
                <a:solidFill>
                  <a:srgbClr val="9C0B15"/>
                </a:solidFill>
              </a:rPr>
              <a:t>越符合用户的意图，就越正</a:t>
            </a:r>
            <a:r>
              <a:rPr lang="en-US" altLang="zh-CN" sz="2000">
                <a:solidFill>
                  <a:srgbClr val="9C0B15"/>
                </a:solidFill>
                <a:sym typeface="+mn-ea"/>
              </a:rPr>
              <a:t>		</a:t>
            </a:r>
            <a:r>
              <a:rPr lang="en-US" altLang="zh-CN" sz="2000">
                <a:solidFill>
                  <a:srgbClr val="9C0B15"/>
                </a:solidFill>
              </a:rPr>
              <a:t>义</a:t>
            </a:r>
            <a:r>
              <a:rPr lang="zh-CN" altLang="en-US" sz="2000"/>
              <a:t>。</a:t>
            </a:r>
            <a:endParaRPr lang="zh-CN" altLang="en-US" sz="2000"/>
          </a:p>
          <a:p>
            <a:pPr>
              <a:lnSpc>
                <a:spcPct val="90000"/>
              </a:lnSpc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>
              <a:lnSpc>
                <a:spcPct val="90000"/>
              </a:lnSpc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  <a:sym typeface="+mn-ea"/>
              </a:rPr>
              <a:t>问题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平均周转时间和</a:t>
            </a:r>
            <a:r>
              <a:rPr lang="zh-CN" altLang="en-US" sz="2000">
                <a:sym typeface="+mn-ea"/>
              </a:rPr>
              <a:t>响应时间相比有何区别？为何说前者</a:t>
            </a:r>
            <a:r>
              <a:rPr lang="en-US" altLang="zh-CN" sz="2000">
                <a:solidFill>
                  <a:srgbClr val="9C0B15"/>
                </a:solidFill>
                <a:sym typeface="+mn-ea"/>
              </a:rPr>
              <a:t>体现了公</a:t>
            </a:r>
            <a:r>
              <a:rPr lang="en-US" altLang="zh-CN" sz="2000">
                <a:solidFill>
                  <a:srgbClr val="9C0B15"/>
                </a:solidFill>
                <a:sym typeface="+mn-ea"/>
              </a:rPr>
              <a:t>		</a:t>
            </a:r>
            <a:r>
              <a:rPr lang="en-US" altLang="zh-CN" sz="2000">
                <a:solidFill>
                  <a:srgbClr val="9C0B15"/>
                </a:solidFill>
                <a:sym typeface="+mn-ea"/>
              </a:rPr>
              <a:t>平</a:t>
            </a:r>
            <a:r>
              <a:rPr lang="zh-CN" altLang="en-US" sz="2000">
                <a:sym typeface="+mn-ea"/>
              </a:rPr>
              <a:t>，</a:t>
            </a:r>
            <a:r>
              <a:rPr lang="zh-CN" altLang="en-US" sz="2000">
                <a:sym typeface="+mn-ea"/>
              </a:rPr>
              <a:t>后者</a:t>
            </a:r>
            <a:r>
              <a:rPr lang="en-US" altLang="zh-CN" sz="2000">
                <a:solidFill>
                  <a:srgbClr val="9C0B15"/>
                </a:solidFill>
                <a:sym typeface="+mn-ea"/>
              </a:rPr>
              <a:t>体现的则是正义</a:t>
            </a:r>
            <a:r>
              <a:rPr lang="zh-CN" altLang="en-US" sz="2000">
                <a:sym typeface="+mn-ea"/>
              </a:rPr>
              <a:t>？</a:t>
            </a:r>
            <a:endParaRPr lang="zh-CN" altLang="en-US" sz="2000">
              <a:sym typeface="+mn-ea"/>
            </a:endParaRPr>
          </a:p>
          <a:p>
            <a:pPr>
              <a:lnSpc>
                <a:spcPct val="90000"/>
              </a:lnSpc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>
              <a:lnSpc>
                <a:spcPct val="90000"/>
              </a:lnSpc>
              <a:buClrTx/>
              <a:buSzTx/>
              <a:buFontTx/>
            </a:pPr>
            <a:r>
              <a:rPr lang="en-US" altLang="zh-CN" sz="2000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>
                <a:sym typeface="+mn-ea"/>
              </a:rPr>
              <a:t>平均周转时间关心一切线程的运行时间，而响应时间仅仅关心</a:t>
            </a:r>
            <a:r>
              <a:rPr lang="en-US" altLang="zh-CN" sz="2000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>
                <a:sym typeface="+mn-ea"/>
              </a:rPr>
              <a:t>那个用户刚刚提交的线程产生的第一个反馈。前者关心</a:t>
            </a:r>
            <a:r>
              <a:rPr lang="en-US" altLang="zh-CN" sz="2000">
                <a:solidFill>
                  <a:srgbClr val="9C0B15"/>
                </a:solidFill>
                <a:sym typeface="+mn-ea"/>
              </a:rPr>
              <a:t>所有线</a:t>
            </a:r>
            <a:r>
              <a:rPr lang="en-US" altLang="zh-CN" sz="2000">
                <a:solidFill>
                  <a:srgbClr val="9C0B15"/>
                </a:solidFill>
                <a:sym typeface="+mn-ea"/>
              </a:rPr>
              <a:t>		</a:t>
            </a:r>
            <a:r>
              <a:rPr lang="en-US" altLang="zh-CN" sz="2000">
                <a:solidFill>
                  <a:srgbClr val="9C0B15"/>
                </a:solidFill>
                <a:sym typeface="+mn-ea"/>
              </a:rPr>
              <a:t>程</a:t>
            </a:r>
            <a:r>
              <a:rPr lang="zh-CN" altLang="en-US" sz="2000">
                <a:sym typeface="+mn-ea"/>
              </a:rPr>
              <a:t>，后者只关心</a:t>
            </a:r>
            <a:r>
              <a:rPr lang="en-US" altLang="zh-CN" sz="2000">
                <a:solidFill>
                  <a:srgbClr val="9C0B15"/>
                </a:solidFill>
                <a:sym typeface="+mn-ea"/>
              </a:rPr>
              <a:t>某个线程</a:t>
            </a:r>
            <a:r>
              <a:rPr lang="zh-CN" altLang="en-US" sz="2000">
                <a:sym typeface="+mn-ea"/>
              </a:rPr>
              <a:t>，仅仅是因为那个线程是用户刚刚提</a:t>
            </a:r>
            <a:r>
              <a:rPr lang="en-US" altLang="zh-CN" sz="2000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>
                <a:sym typeface="+mn-ea"/>
              </a:rPr>
              <a:t>交的，它的响应结果可能是用户</a:t>
            </a:r>
            <a:r>
              <a:rPr lang="zh-CN" altLang="en-US" sz="2000">
                <a:sym typeface="+mn-ea"/>
              </a:rPr>
              <a:t>正在等待</a:t>
            </a:r>
            <a:r>
              <a:rPr lang="zh-CN" altLang="en-US" sz="2000">
                <a:sym typeface="+mn-ea"/>
              </a:rPr>
              <a:t>的。</a:t>
            </a:r>
            <a:endParaRPr lang="zh-CN" altLang="en-US" sz="2000">
              <a:sym typeface="+mn-ea"/>
            </a:endParaRPr>
          </a:p>
          <a:p>
            <a:pPr>
              <a:lnSpc>
                <a:spcPct val="90000"/>
              </a:lnSpc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>
              <a:lnSpc>
                <a:spcPct val="90000"/>
              </a:lnSpc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  <a:sym typeface="+mn-ea"/>
              </a:rPr>
              <a:t>综合指标</a:t>
            </a:r>
            <a:r>
              <a:rPr lang="en-US" altLang="zh-CN" sz="2000">
                <a:sym typeface="+mn-ea"/>
              </a:rPr>
              <a:t>	</a:t>
            </a:r>
            <a:r>
              <a:rPr lang="zh-CN" altLang="en-US" sz="2000">
                <a:sym typeface="+mn-ea"/>
              </a:rPr>
              <a:t>采用平均带权周转时间，其计算式为</a:t>
            </a:r>
            <a:r>
              <a:rPr lang="en-US" altLang="zh-CN" sz="2000">
                <a:solidFill>
                  <a:srgbClr val="9C0B15"/>
                </a:solidFill>
                <a:sym typeface="+mn-ea"/>
              </a:rPr>
              <a:t>(T</a:t>
            </a:r>
            <a:r>
              <a:rPr lang="en-US" altLang="zh-CN" sz="2000" baseline="-25000">
                <a:solidFill>
                  <a:srgbClr val="9C0B15"/>
                </a:solidFill>
                <a:sym typeface="+mn-ea"/>
              </a:rPr>
              <a:t>1</a:t>
            </a:r>
            <a:r>
              <a:rPr lang="en-US" altLang="zh-CN" sz="2000">
                <a:solidFill>
                  <a:srgbClr val="9C0B15"/>
                </a:solidFill>
                <a:sym typeface="+mn-ea"/>
              </a:rPr>
              <a:t>/R</a:t>
            </a:r>
            <a:r>
              <a:rPr lang="en-US" altLang="zh-CN" sz="2000" baseline="-25000">
                <a:solidFill>
                  <a:srgbClr val="9C0B15"/>
                </a:solidFill>
                <a:sym typeface="+mn-ea"/>
              </a:rPr>
              <a:t>1</a:t>
            </a:r>
            <a:r>
              <a:rPr lang="en-US" altLang="zh-CN" sz="2000">
                <a:solidFill>
                  <a:srgbClr val="9C0B15"/>
                </a:solidFill>
                <a:sym typeface="+mn-ea"/>
              </a:rPr>
              <a:t>+T</a:t>
            </a:r>
            <a:r>
              <a:rPr lang="en-US" altLang="zh-CN" sz="2000" baseline="-25000">
                <a:solidFill>
                  <a:srgbClr val="9C0B15"/>
                </a:solidFill>
                <a:sym typeface="+mn-ea"/>
              </a:rPr>
              <a:t>2</a:t>
            </a:r>
            <a:r>
              <a:rPr lang="en-US" altLang="zh-CN" sz="2000">
                <a:solidFill>
                  <a:srgbClr val="9C0B15"/>
                </a:solidFill>
                <a:sym typeface="+mn-ea"/>
              </a:rPr>
              <a:t>/</a:t>
            </a:r>
            <a:r>
              <a:rPr lang="en-US" altLang="zh-CN" sz="2000">
                <a:solidFill>
                  <a:srgbClr val="9C0B15"/>
                </a:solidFill>
                <a:sym typeface="+mn-ea"/>
              </a:rPr>
              <a:t>R</a:t>
            </a:r>
            <a:r>
              <a:rPr lang="en-US" altLang="zh-CN" sz="2000" baseline="-25000">
                <a:solidFill>
                  <a:srgbClr val="9C0B15"/>
                </a:solidFill>
                <a:sym typeface="+mn-ea"/>
              </a:rPr>
              <a:t>2</a:t>
            </a:r>
            <a:r>
              <a:rPr lang="en-US" altLang="zh-CN" sz="2000">
                <a:solidFill>
                  <a:srgbClr val="9C0B15"/>
                </a:solidFill>
                <a:sym typeface="+mn-ea"/>
              </a:rPr>
              <a:t>+...+T</a:t>
            </a:r>
            <a:r>
              <a:rPr lang="en-US" altLang="zh-CN" sz="2000" baseline="-25000">
                <a:solidFill>
                  <a:srgbClr val="9C0B15"/>
                </a:solidFill>
                <a:sym typeface="+mn-ea"/>
              </a:rPr>
              <a:t>n</a:t>
            </a:r>
            <a:r>
              <a:rPr lang="en-US" altLang="zh-CN" sz="2000">
                <a:solidFill>
                  <a:srgbClr val="9C0B15"/>
                </a:solidFill>
                <a:sym typeface="+mn-ea"/>
              </a:rPr>
              <a:t>/</a:t>
            </a:r>
            <a:r>
              <a:rPr lang="en-US" altLang="zh-CN" sz="2000">
                <a:solidFill>
                  <a:srgbClr val="9C0B15"/>
                </a:solidFill>
                <a:sym typeface="+mn-ea"/>
              </a:rPr>
              <a:t>R</a:t>
            </a:r>
            <a:r>
              <a:rPr lang="en-US" altLang="zh-CN" sz="2000" baseline="-25000">
                <a:solidFill>
                  <a:srgbClr val="9C0B15"/>
                </a:solidFill>
                <a:sym typeface="+mn-ea"/>
              </a:rPr>
              <a:t>n</a:t>
            </a:r>
            <a:r>
              <a:rPr lang="en-US" altLang="zh-CN" sz="2000">
                <a:solidFill>
                  <a:srgbClr val="9C0B15"/>
                </a:solidFill>
                <a:sym typeface="+mn-ea"/>
              </a:rPr>
              <a:t>)/N</a:t>
            </a:r>
            <a:r>
              <a:rPr lang="zh-CN" altLang="en-US" sz="2000">
                <a:sym typeface="+mn-ea"/>
              </a:rPr>
              <a:t>。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T/</a:t>
            </a:r>
            <a:r>
              <a:rPr lang="zh-CN" altLang="en-US" sz="2000">
                <a:sym typeface="+mn-ea"/>
              </a:rPr>
              <a:t>R</a:t>
            </a:r>
            <a:r>
              <a:rPr lang="zh-CN" altLang="en-US" sz="2000">
                <a:sym typeface="+mn-ea"/>
              </a:rPr>
              <a:t>又叫</a:t>
            </a:r>
            <a:r>
              <a:rPr lang="zh-CN" altLang="en-US" sz="2000" b="1">
                <a:solidFill>
                  <a:srgbClr val="9C0B15"/>
                </a:solidFill>
                <a:sym typeface="+mn-ea"/>
              </a:rPr>
              <a:t>响应比</a:t>
            </a:r>
            <a:r>
              <a:rPr lang="zh-CN" altLang="en-US" sz="2000">
                <a:sym typeface="+mn-ea"/>
              </a:rPr>
              <a:t>，</a:t>
            </a:r>
            <a:r>
              <a:rPr lang="en-US" altLang="zh-CN" sz="2000">
                <a:solidFill>
                  <a:srgbClr val="9C0B15"/>
                </a:solidFill>
                <a:sym typeface="+mn-ea"/>
              </a:rPr>
              <a:t>T/</a:t>
            </a:r>
            <a:r>
              <a:rPr lang="en-US" altLang="zh-CN" sz="2000">
                <a:solidFill>
                  <a:srgbClr val="9C0B15"/>
                </a:solidFill>
                <a:sym typeface="+mn-ea"/>
              </a:rPr>
              <a:t>R</a:t>
            </a:r>
            <a:r>
              <a:rPr lang="en-US" altLang="zh-CN" sz="2000">
                <a:solidFill>
                  <a:srgbClr val="9C0B15"/>
                </a:solidFill>
                <a:sym typeface="+mn-ea"/>
              </a:rPr>
              <a:t>=1+(W/</a:t>
            </a:r>
            <a:r>
              <a:rPr lang="en-US" altLang="zh-CN" sz="2000">
                <a:solidFill>
                  <a:srgbClr val="9C0B15"/>
                </a:solidFill>
                <a:sym typeface="+mn-ea"/>
              </a:rPr>
              <a:t>R)</a:t>
            </a:r>
            <a:r>
              <a:rPr lang="zh-CN" altLang="en-US" sz="2000">
                <a:sym typeface="+mn-ea"/>
              </a:rPr>
              <a:t>。</a:t>
            </a:r>
            <a:endParaRPr lang="en-US" altLang="zh-CN" sz="2000">
              <a:sym typeface="+mn-ea"/>
            </a:endParaRPr>
          </a:p>
          <a:p>
            <a:pPr>
              <a:lnSpc>
                <a:spcPct val="90000"/>
              </a:lnSpc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>
              <a:lnSpc>
                <a:spcPct val="90000"/>
              </a:lnSpc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  <a:sym typeface="+mn-ea"/>
              </a:rPr>
              <a:t>观察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对于同样的</a:t>
            </a:r>
            <a:r>
              <a:rPr lang="en-US" altLang="zh-CN" sz="2000">
                <a:sym typeface="+mn-ea"/>
              </a:rPr>
              <a:t>W</a:t>
            </a:r>
            <a:r>
              <a:rPr lang="zh-CN" altLang="en-US" sz="2000">
                <a:sym typeface="+mn-ea"/>
              </a:rPr>
              <a:t>，</a:t>
            </a:r>
            <a:r>
              <a:rPr lang="en-US" altLang="zh-CN" sz="2000">
                <a:sym typeface="+mn-ea"/>
              </a:rPr>
              <a:t>R</a:t>
            </a:r>
            <a:r>
              <a:rPr lang="zh-CN" altLang="en-US" sz="2000">
                <a:sym typeface="+mn-ea"/>
              </a:rPr>
              <a:t>越小，</a:t>
            </a:r>
            <a:r>
              <a:rPr lang="en-US" altLang="zh-CN" sz="2000">
                <a:sym typeface="+mn-ea"/>
              </a:rPr>
              <a:t>W/R</a:t>
            </a:r>
            <a:r>
              <a:rPr lang="zh-CN" altLang="en-US" sz="2000">
                <a:sym typeface="+mn-ea"/>
              </a:rPr>
              <a:t>越大；对于同样的</a:t>
            </a:r>
            <a:r>
              <a:rPr lang="en-US" altLang="zh-CN" sz="2000">
                <a:sym typeface="+mn-ea"/>
              </a:rPr>
              <a:t>R</a:t>
            </a:r>
            <a:r>
              <a:rPr lang="zh-CN" altLang="en-US" sz="2000">
                <a:sym typeface="+mn-ea"/>
              </a:rPr>
              <a:t>，</a:t>
            </a:r>
            <a:r>
              <a:rPr lang="en-US" altLang="zh-CN" sz="2000">
                <a:sym typeface="+mn-ea"/>
              </a:rPr>
              <a:t>W</a:t>
            </a:r>
            <a:r>
              <a:rPr lang="zh-CN" altLang="en-US" sz="2000">
                <a:sym typeface="+mn-ea"/>
              </a:rPr>
              <a:t>越大，</a:t>
            </a:r>
            <a:r>
              <a:rPr lang="en-US" altLang="zh-CN" sz="2000">
                <a:sym typeface="+mn-ea"/>
              </a:rPr>
              <a:t>W/</a:t>
            </a:r>
            <a:r>
              <a:rPr lang="en-US" altLang="zh-CN" sz="2000">
                <a:sym typeface="+mn-ea"/>
              </a:rPr>
              <a:t>R		</a:t>
            </a:r>
            <a:r>
              <a:rPr lang="zh-CN" altLang="en-US" sz="2000">
                <a:sym typeface="+mn-ea"/>
              </a:rPr>
              <a:t>也越大。一个越短任务的等待时间越长，对这个指标</a:t>
            </a:r>
            <a:r>
              <a:rPr lang="zh-CN" altLang="en-US" sz="2000">
                <a:sym typeface="+mn-ea"/>
              </a:rPr>
              <a:t>越不利。</a:t>
            </a:r>
            <a:endParaRPr lang="zh-CN" altLang="en-US" sz="2000">
              <a:sym typeface="+mn-ea"/>
            </a:endParaRPr>
          </a:p>
          <a:p>
            <a:pPr>
              <a:lnSpc>
                <a:spcPct val="90000"/>
              </a:lnSpc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>
              <a:lnSpc>
                <a:spcPct val="90000"/>
              </a:lnSpc>
              <a:buClrTx/>
              <a:buSzTx/>
              <a:buFontTx/>
            </a:pPr>
            <a:r>
              <a:rPr lang="en-US" altLang="zh-CN" sz="2000">
                <a:sym typeface="+mn-ea"/>
              </a:rPr>
              <a:t>		</a:t>
            </a:r>
            <a:r>
              <a:rPr lang="zh-CN" altLang="en-US" sz="2000" b="1">
                <a:solidFill>
                  <a:srgbClr val="9C0B15"/>
                </a:solidFill>
                <a:sym typeface="+mn-ea"/>
              </a:rPr>
              <a:t>公平</a:t>
            </a:r>
            <a:r>
              <a:rPr lang="zh-CN" altLang="en-US" sz="2000">
                <a:sym typeface="+mn-ea"/>
              </a:rPr>
              <a:t>体现在该式包含了</a:t>
            </a:r>
            <a:r>
              <a:rPr lang="en-US" altLang="zh-CN" sz="2000">
                <a:solidFill>
                  <a:srgbClr val="9C0B15"/>
                </a:solidFill>
                <a:sym typeface="+mn-ea"/>
              </a:rPr>
              <a:t>对所有任务的考虑</a:t>
            </a:r>
            <a:r>
              <a:rPr lang="zh-CN" altLang="en-US" sz="2000">
                <a:sym typeface="+mn-ea"/>
              </a:rPr>
              <a:t>。</a:t>
            </a:r>
            <a:endParaRPr lang="zh-CN" altLang="en-US" sz="2000">
              <a:sym typeface="+mn-ea"/>
            </a:endParaRPr>
          </a:p>
          <a:p>
            <a:pPr>
              <a:lnSpc>
                <a:spcPct val="90000"/>
              </a:lnSpc>
              <a:buClrTx/>
              <a:buSzTx/>
              <a:buFontTx/>
            </a:pPr>
            <a:r>
              <a:rPr lang="en-US" altLang="zh-CN" sz="2000">
                <a:sym typeface="+mn-ea"/>
              </a:rPr>
              <a:t>		</a:t>
            </a:r>
            <a:r>
              <a:rPr lang="zh-CN" altLang="en-US" sz="2000" b="1">
                <a:solidFill>
                  <a:srgbClr val="9C0B15"/>
                </a:solidFill>
                <a:sym typeface="+mn-ea"/>
              </a:rPr>
              <a:t>正义</a:t>
            </a:r>
            <a:r>
              <a:rPr lang="zh-CN" altLang="en-US" sz="2000">
                <a:sym typeface="+mn-ea"/>
              </a:rPr>
              <a:t>体现在该式</a:t>
            </a:r>
            <a:r>
              <a:rPr lang="en-US" altLang="zh-CN" sz="2000">
                <a:solidFill>
                  <a:srgbClr val="9C0B15"/>
                </a:solidFill>
                <a:sym typeface="+mn-ea"/>
              </a:rPr>
              <a:t>对越短任务的越长等待越不容忍</a:t>
            </a:r>
            <a:r>
              <a:rPr lang="zh-CN" altLang="en-US" sz="2000">
                <a:sym typeface="+mn-ea"/>
              </a:rPr>
              <a:t>。</a:t>
            </a:r>
            <a:endParaRPr lang="zh-CN" altLang="en-US" sz="2000">
              <a:sym typeface="+mn-ea"/>
            </a:endParaRPr>
          </a:p>
        </p:txBody>
      </p:sp>
    </p:spTree>
    <p:custDataLst>
      <p:tags r:id="rId2"/>
    </p:custData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1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处理器</a:t>
                      </a: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调度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一、指令流</a:t>
                      </a: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与执行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应用程序与指令流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顺序与并发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执行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1.3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指令流的描述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en-US" altLang="zh-CN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线程与处理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器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2.1 CPU时间与线程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2.2</a:t>
                      </a: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线程的描述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2.3 纤程与协程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三、处理器调度算法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3.1 调度算法原理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多处理器与并发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59385"/>
            <a:ext cx="9121140" cy="64928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rgbClr val="9C0B15"/>
                </a:solidFill>
              </a:rPr>
              <a:t>公平的极端：先来先服务（</a:t>
            </a:r>
            <a:r>
              <a:rPr lang="zh-CN" altLang="en-US" sz="2000" b="1">
                <a:solidFill>
                  <a:srgbClr val="9C0B15"/>
                </a:solidFill>
              </a:rPr>
              <a:t>动态优先级）</a:t>
            </a:r>
            <a:endParaRPr lang="zh-CN" altLang="en-US" sz="2000" b="1">
              <a:solidFill>
                <a:srgbClr val="9C0B15"/>
              </a:solidFill>
            </a:endParaRPr>
          </a:p>
          <a:p>
            <a:pPr>
              <a:lnSpc>
                <a:spcPct val="90000"/>
              </a:lnSpc>
              <a:buClrTx/>
              <a:buSzTx/>
              <a:buFontTx/>
            </a:pPr>
            <a:endParaRPr lang="zh-CN" altLang="en-US" sz="2000"/>
          </a:p>
          <a:p>
            <a:pPr algn="l">
              <a:lnSpc>
                <a:spcPct val="90000"/>
              </a:lnSpc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先来先服务	</a:t>
            </a:r>
            <a:r>
              <a:rPr lang="en-US" altLang="zh-CN" sz="2000" b="1">
                <a:solidFill>
                  <a:srgbClr val="9C0B15"/>
                </a:solidFill>
              </a:rPr>
              <a:t>First-Come First-Served</a:t>
            </a:r>
            <a:r>
              <a:rPr lang="zh-CN" altLang="en-US" sz="2000" b="1">
                <a:solidFill>
                  <a:srgbClr val="9C0B15"/>
                </a:solidFill>
              </a:rPr>
              <a:t>，</a:t>
            </a:r>
            <a:r>
              <a:rPr lang="en-US" altLang="zh-CN" sz="2000" b="1">
                <a:solidFill>
                  <a:srgbClr val="9C0B15"/>
                </a:solidFill>
              </a:rPr>
              <a:t>FCFS</a:t>
            </a:r>
            <a:endParaRPr lang="en-US" altLang="zh-CN" sz="2000" b="1">
              <a:solidFill>
                <a:srgbClr val="9C0B15"/>
              </a:solidFill>
            </a:endParaRPr>
          </a:p>
          <a:p>
            <a:pPr algn="l">
              <a:lnSpc>
                <a:spcPct val="90000"/>
              </a:lnSpc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/>
              <a:t>所有任务按照其提交时间排序，提交时间越早的任务优先级越</a:t>
            </a:r>
            <a:r>
              <a:rPr lang="zh-CN" altLang="en-US" sz="2000" b="1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/>
              <a:t>高，越优先得到</a:t>
            </a:r>
            <a:r>
              <a:rPr lang="en-US" altLang="zh-CN" sz="2000"/>
              <a:t>CPU</a:t>
            </a:r>
            <a:r>
              <a:rPr lang="zh-CN" altLang="en-US" sz="2000"/>
              <a:t>。</a:t>
            </a:r>
            <a:r>
              <a:rPr lang="zh-CN" altLang="en-US" sz="2000">
                <a:sym typeface="+mn-ea"/>
              </a:rPr>
              <a:t>调度仅在任务结束时发生。</a:t>
            </a:r>
            <a:endParaRPr lang="zh-CN" altLang="en-US" sz="2000"/>
          </a:p>
          <a:p>
            <a:pPr>
              <a:lnSpc>
                <a:spcPct val="90000"/>
              </a:lnSpc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>
              <a:lnSpc>
                <a:spcPct val="90000"/>
              </a:lnSpc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  <a:sym typeface="+mn-ea"/>
              </a:rPr>
              <a:t>特点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公平简单有效，对于</a:t>
            </a:r>
            <a:r>
              <a:rPr lang="en-US" altLang="zh-CN" sz="2000">
                <a:solidFill>
                  <a:srgbClr val="9C0B15"/>
                </a:solidFill>
                <a:sym typeface="+mn-ea"/>
              </a:rPr>
              <a:t>任务短小且简单</a:t>
            </a:r>
            <a:r>
              <a:rPr lang="zh-CN" altLang="en-US" sz="2000">
                <a:sym typeface="+mn-ea"/>
              </a:rPr>
              <a:t>的场合</a:t>
            </a:r>
            <a:r>
              <a:rPr lang="zh-CN" altLang="en-US" sz="2000">
                <a:sym typeface="+mn-ea"/>
              </a:rPr>
              <a:t>这就足够了。</a:t>
            </a:r>
            <a:endParaRPr lang="zh-CN" altLang="en-US" sz="2000">
              <a:sym typeface="+mn-ea"/>
            </a:endParaRPr>
          </a:p>
          <a:p>
            <a:pPr>
              <a:lnSpc>
                <a:spcPct val="90000"/>
              </a:lnSpc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>
              <a:lnSpc>
                <a:spcPct val="90000"/>
              </a:lnSpc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  <a:sym typeface="+mn-ea"/>
              </a:rPr>
              <a:t>例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三个线程</a:t>
            </a:r>
            <a:r>
              <a:rPr lang="en-US" altLang="zh-CN" sz="2000">
                <a:sym typeface="+mn-ea"/>
              </a:rPr>
              <a:t>E1</a:t>
            </a:r>
            <a:r>
              <a:rPr lang="zh-CN" altLang="en-US" sz="2000">
                <a:sym typeface="+mn-ea"/>
              </a:rPr>
              <a:t>、</a:t>
            </a:r>
            <a:r>
              <a:rPr lang="en-US" altLang="zh-CN" sz="2000">
                <a:sym typeface="+mn-ea"/>
              </a:rPr>
              <a:t>E2</a:t>
            </a:r>
            <a:r>
              <a:rPr lang="zh-CN" altLang="en-US" sz="2000">
                <a:sym typeface="+mn-ea"/>
              </a:rPr>
              <a:t>、</a:t>
            </a:r>
            <a:r>
              <a:rPr lang="en-US" altLang="zh-CN" sz="2000">
                <a:sym typeface="+mn-ea"/>
              </a:rPr>
              <a:t>E3</a:t>
            </a:r>
            <a:r>
              <a:rPr lang="zh-CN" altLang="en-US" sz="2000">
                <a:sym typeface="+mn-ea"/>
              </a:rPr>
              <a:t>，参数如下所示，</a:t>
            </a:r>
            <a:r>
              <a:rPr lang="zh-CN" altLang="en-US" sz="2000">
                <a:sym typeface="+mn-ea"/>
              </a:rPr>
              <a:t>提交给操作系统。</a:t>
            </a:r>
            <a:endParaRPr lang="zh-CN" altLang="en-US" sz="2000">
              <a:sym typeface="+mn-ea"/>
            </a:endParaRPr>
          </a:p>
          <a:p>
            <a:pPr>
              <a:lnSpc>
                <a:spcPct val="90000"/>
              </a:lnSpc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>
              <a:lnSpc>
                <a:spcPct val="90000"/>
              </a:lnSpc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>
              <a:lnSpc>
                <a:spcPct val="90000"/>
              </a:lnSpc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>
              <a:lnSpc>
                <a:spcPct val="90000"/>
              </a:lnSpc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>
              <a:lnSpc>
                <a:spcPct val="90000"/>
              </a:lnSpc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>
              <a:lnSpc>
                <a:spcPct val="90000"/>
              </a:lnSpc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>
              <a:lnSpc>
                <a:spcPct val="90000"/>
              </a:lnSpc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>
              <a:lnSpc>
                <a:spcPct val="90000"/>
              </a:lnSpc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>
              <a:lnSpc>
                <a:spcPct val="90000"/>
              </a:lnSpc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>
              <a:lnSpc>
                <a:spcPct val="90000"/>
              </a:lnSpc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>
              <a:lnSpc>
                <a:spcPct val="90000"/>
              </a:lnSpc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>
              <a:lnSpc>
                <a:spcPct val="90000"/>
              </a:lnSpc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>
              <a:lnSpc>
                <a:spcPct val="90000"/>
              </a:lnSpc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>
              <a:lnSpc>
                <a:spcPct val="90000"/>
              </a:lnSpc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  <a:sym typeface="+mn-ea"/>
              </a:rPr>
              <a:t>问题</a:t>
            </a:r>
            <a:r>
              <a:rPr lang="en-US" altLang="zh-CN" sz="2000">
                <a:sym typeface="+mn-ea"/>
              </a:rPr>
              <a:t>		E1~E3</a:t>
            </a:r>
            <a:r>
              <a:rPr lang="zh-CN" altLang="en-US" sz="2000">
                <a:sym typeface="+mn-ea"/>
              </a:rPr>
              <a:t>的等待时间和周转时间各是多少？整个体系</a:t>
            </a:r>
            <a:r>
              <a:rPr lang="zh-CN" altLang="en-US" sz="2000">
                <a:sym typeface="+mn-ea"/>
              </a:rPr>
              <a:t>的平均时间呢？</a:t>
            </a:r>
            <a:endParaRPr lang="zh-CN" altLang="en-US" sz="2000">
              <a:sym typeface="+mn-ea"/>
            </a:endParaRPr>
          </a:p>
        </p:txBody>
      </p:sp>
      <p:graphicFrame>
        <p:nvGraphicFramePr>
          <p:cNvPr id="2" name="表格 1"/>
          <p:cNvGraphicFramePr/>
          <p:nvPr>
            <p:custDataLst>
              <p:tags r:id="rId2"/>
            </p:custDataLst>
          </p:nvPr>
        </p:nvGraphicFramePr>
        <p:xfrm>
          <a:off x="2872740" y="2857500"/>
          <a:ext cx="4041140" cy="162687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936625"/>
                <a:gridCol w="1508125"/>
                <a:gridCol w="1596390"/>
              </a:tblGrid>
              <a:tr h="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线程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到达时间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运行</a:t>
                      </a: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时间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021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E1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  <a:sym typeface="+mn-ea"/>
                        </a:rPr>
                        <a:t>2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4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021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E2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5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10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021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E3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6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5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6" name="矩形 25"/>
          <p:cNvSpPr/>
          <p:nvPr>
            <p:custDataLst>
              <p:tags r:id="rId3"/>
            </p:custDataLst>
          </p:nvPr>
        </p:nvSpPr>
        <p:spPr>
          <a:xfrm>
            <a:off x="1620520" y="4805680"/>
            <a:ext cx="1360805" cy="423545"/>
          </a:xfrm>
          <a:prstGeom prst="rect">
            <a:avLst/>
          </a:prstGeom>
          <a:solidFill>
            <a:schemeClr val="accent1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2800" b="1">
                <a:sym typeface="+mn-ea"/>
              </a:rPr>
              <a:t>E1</a:t>
            </a:r>
            <a:endParaRPr lang="en-US" altLang="zh-CN" sz="2800" b="1">
              <a:sym typeface="+mn-ea"/>
            </a:endParaRPr>
          </a:p>
        </p:txBody>
      </p:sp>
      <p:sp>
        <p:nvSpPr>
          <p:cNvPr id="4" name="矩形 3"/>
          <p:cNvSpPr/>
          <p:nvPr>
            <p:custDataLst>
              <p:tags r:id="rId4"/>
            </p:custDataLst>
          </p:nvPr>
        </p:nvSpPr>
        <p:spPr>
          <a:xfrm>
            <a:off x="2981325" y="4805680"/>
            <a:ext cx="3653790" cy="423545"/>
          </a:xfrm>
          <a:prstGeom prst="rect">
            <a:avLst/>
          </a:prstGeom>
          <a:solidFill>
            <a:srgbClr val="00B050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2800" b="1">
                <a:sym typeface="+mn-ea"/>
              </a:rPr>
              <a:t>E2</a:t>
            </a:r>
            <a:endParaRPr lang="en-US" altLang="zh-CN" sz="2800" b="1">
              <a:sym typeface="+mn-ea"/>
            </a:endParaRPr>
          </a:p>
        </p:txBody>
      </p:sp>
      <p:sp>
        <p:nvSpPr>
          <p:cNvPr id="5" name="矩形 4"/>
          <p:cNvSpPr/>
          <p:nvPr>
            <p:custDataLst>
              <p:tags r:id="rId5"/>
            </p:custDataLst>
          </p:nvPr>
        </p:nvSpPr>
        <p:spPr>
          <a:xfrm>
            <a:off x="6635750" y="4805680"/>
            <a:ext cx="1801495" cy="423545"/>
          </a:xfrm>
          <a:prstGeom prst="rect">
            <a:avLst/>
          </a:prstGeom>
          <a:solidFill>
            <a:srgbClr val="FFC000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2800" b="1">
                <a:sym typeface="+mn-ea"/>
              </a:rPr>
              <a:t>E3</a:t>
            </a:r>
            <a:endParaRPr lang="en-US" altLang="zh-CN" sz="2800" b="1">
              <a:sym typeface="+mn-ea"/>
            </a:endParaRPr>
          </a:p>
        </p:txBody>
      </p:sp>
      <p:cxnSp>
        <p:nvCxnSpPr>
          <p:cNvPr id="9" name="直接箭头连接符 8"/>
          <p:cNvCxnSpPr/>
          <p:nvPr>
            <p:custDataLst>
              <p:tags r:id="rId6"/>
            </p:custDataLst>
          </p:nvPr>
        </p:nvCxnSpPr>
        <p:spPr>
          <a:xfrm flipV="1">
            <a:off x="2744470" y="5283200"/>
            <a:ext cx="0" cy="529590"/>
          </a:xfrm>
          <a:prstGeom prst="straightConnector1">
            <a:avLst/>
          </a:prstGeom>
          <a:ln w="3810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/>
          <p:cNvCxnSpPr/>
          <p:nvPr>
            <p:custDataLst>
              <p:tags r:id="rId7"/>
            </p:custDataLst>
          </p:nvPr>
        </p:nvCxnSpPr>
        <p:spPr>
          <a:xfrm flipV="1">
            <a:off x="2981325" y="5283200"/>
            <a:ext cx="0" cy="529590"/>
          </a:xfrm>
          <a:prstGeom prst="straightConnector1">
            <a:avLst/>
          </a:prstGeom>
          <a:ln w="38100"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/>
          <p:cNvCxnSpPr/>
          <p:nvPr>
            <p:custDataLst>
              <p:tags r:id="rId8"/>
            </p:custDataLst>
          </p:nvPr>
        </p:nvCxnSpPr>
        <p:spPr>
          <a:xfrm flipV="1">
            <a:off x="1620520" y="5283200"/>
            <a:ext cx="0" cy="529590"/>
          </a:xfrm>
          <a:prstGeom prst="straightConnector1">
            <a:avLst/>
          </a:prstGeom>
          <a:ln w="38100">
            <a:solidFill>
              <a:schemeClr val="accent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9"/>
    </p:custData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处理器</a:t>
                      </a: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调度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一、指令流</a:t>
                      </a: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与执行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应用程序与指令流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顺序与并发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执行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1.3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指令流的描述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en-US" altLang="zh-CN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线程与处理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器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2.1 CPU时间与线程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2.2</a:t>
                      </a: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线程的描述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2.3 纤程与协程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三、处理器调度算法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3.1 调度算法原理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多处理器与并发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59385"/>
            <a:ext cx="9121140" cy="64928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rgbClr val="9C0B15"/>
                </a:solidFill>
              </a:rPr>
              <a:t>正义的极端：短作业优先</a:t>
            </a:r>
            <a:r>
              <a:rPr lang="zh-CN" altLang="en-US" sz="2000" b="1">
                <a:solidFill>
                  <a:srgbClr val="9C0B15"/>
                </a:solidFill>
                <a:sym typeface="+mn-ea"/>
              </a:rPr>
              <a:t>（动态优先级）</a:t>
            </a:r>
            <a:endParaRPr lang="zh-CN" altLang="en-US" sz="2000" b="1">
              <a:solidFill>
                <a:srgbClr val="9C0B15"/>
              </a:solidFill>
            </a:endParaRPr>
          </a:p>
          <a:p>
            <a:pPr>
              <a:lnSpc>
                <a:spcPct val="90000"/>
              </a:lnSpc>
              <a:buClrTx/>
              <a:buSzTx/>
              <a:buFontTx/>
            </a:pPr>
            <a:endParaRPr lang="zh-CN" altLang="en-US" sz="2000"/>
          </a:p>
          <a:p>
            <a:pPr algn="l">
              <a:lnSpc>
                <a:spcPct val="90000"/>
              </a:lnSpc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短作业优先	</a:t>
            </a:r>
            <a:r>
              <a:rPr lang="en-US" altLang="zh-CN" sz="2000" b="1">
                <a:solidFill>
                  <a:srgbClr val="9C0B15"/>
                </a:solidFill>
              </a:rPr>
              <a:t>Shortest-(Remaining)Job First</a:t>
            </a:r>
            <a:r>
              <a:rPr lang="zh-CN" altLang="en-US" sz="2000" b="1">
                <a:solidFill>
                  <a:srgbClr val="9C0B15"/>
                </a:solidFill>
              </a:rPr>
              <a:t>，</a:t>
            </a:r>
            <a:r>
              <a:rPr lang="en-US" altLang="zh-CN" sz="2000" b="1">
                <a:solidFill>
                  <a:srgbClr val="9C0B15"/>
                </a:solidFill>
              </a:rPr>
              <a:t>SJF</a:t>
            </a:r>
            <a:endParaRPr lang="en-US" altLang="zh-CN" sz="2000" b="1">
              <a:solidFill>
                <a:srgbClr val="9C0B15"/>
              </a:solidFill>
            </a:endParaRPr>
          </a:p>
          <a:p>
            <a:pPr algn="l">
              <a:lnSpc>
                <a:spcPct val="90000"/>
              </a:lnSpc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/>
              <a:t>所有任务按照其运行时间排序，运行时间越短的任务优先级越</a:t>
            </a:r>
            <a:r>
              <a:rPr lang="zh-CN" altLang="en-US" sz="2000" b="1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/>
              <a:t>高，越优先得到</a:t>
            </a:r>
            <a:r>
              <a:rPr lang="en-US" altLang="zh-CN" sz="2000"/>
              <a:t>CPU</a:t>
            </a:r>
            <a:r>
              <a:rPr lang="zh-CN" altLang="en-US" sz="2000"/>
              <a:t>。调度可在任务结束时和任务提交时</a:t>
            </a:r>
            <a:r>
              <a:rPr lang="zh-CN" altLang="en-US" sz="2000"/>
              <a:t>发生。</a:t>
            </a:r>
            <a:endParaRPr lang="zh-CN" altLang="en-US" sz="2000"/>
          </a:p>
          <a:p>
            <a:pPr>
              <a:lnSpc>
                <a:spcPct val="90000"/>
              </a:lnSpc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>
              <a:lnSpc>
                <a:spcPct val="90000"/>
              </a:lnSpc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  <a:sym typeface="+mn-ea"/>
              </a:rPr>
              <a:t>特点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响应性好，适合</a:t>
            </a:r>
            <a:r>
              <a:rPr lang="en-US" altLang="zh-CN" sz="2000">
                <a:solidFill>
                  <a:srgbClr val="9C0B15"/>
                </a:solidFill>
                <a:sym typeface="+mn-ea"/>
              </a:rPr>
              <a:t>简单的交互式系统</a:t>
            </a:r>
            <a:r>
              <a:rPr lang="zh-CN" altLang="en-US" sz="2000">
                <a:sym typeface="+mn-ea"/>
              </a:rPr>
              <a:t>。</a:t>
            </a:r>
            <a:endParaRPr lang="zh-CN" altLang="en-US" sz="2000">
              <a:sym typeface="+mn-ea"/>
            </a:endParaRPr>
          </a:p>
          <a:p>
            <a:pPr>
              <a:lnSpc>
                <a:spcPct val="90000"/>
              </a:lnSpc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>
              <a:lnSpc>
                <a:spcPct val="90000"/>
              </a:lnSpc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  <a:sym typeface="+mn-ea"/>
              </a:rPr>
              <a:t>例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三个线程</a:t>
            </a:r>
            <a:r>
              <a:rPr lang="en-US" altLang="zh-CN" sz="2000">
                <a:sym typeface="+mn-ea"/>
              </a:rPr>
              <a:t>E1</a:t>
            </a:r>
            <a:r>
              <a:rPr lang="zh-CN" altLang="en-US" sz="2000">
                <a:sym typeface="+mn-ea"/>
              </a:rPr>
              <a:t>、</a:t>
            </a:r>
            <a:r>
              <a:rPr lang="en-US" altLang="zh-CN" sz="2000">
                <a:sym typeface="+mn-ea"/>
              </a:rPr>
              <a:t>E2</a:t>
            </a:r>
            <a:r>
              <a:rPr lang="zh-CN" altLang="en-US" sz="2000">
                <a:sym typeface="+mn-ea"/>
              </a:rPr>
              <a:t>、</a:t>
            </a:r>
            <a:r>
              <a:rPr lang="en-US" altLang="zh-CN" sz="2000">
                <a:sym typeface="+mn-ea"/>
              </a:rPr>
              <a:t>E3</a:t>
            </a:r>
            <a:r>
              <a:rPr lang="zh-CN" altLang="en-US" sz="2000">
                <a:sym typeface="+mn-ea"/>
              </a:rPr>
              <a:t>，参数如下所示，</a:t>
            </a:r>
            <a:r>
              <a:rPr lang="zh-CN" altLang="en-US" sz="2000">
                <a:sym typeface="+mn-ea"/>
              </a:rPr>
              <a:t>提交给操作系统。</a:t>
            </a:r>
            <a:endParaRPr lang="zh-CN" altLang="en-US" sz="2000">
              <a:sym typeface="+mn-ea"/>
            </a:endParaRPr>
          </a:p>
          <a:p>
            <a:pPr>
              <a:lnSpc>
                <a:spcPct val="90000"/>
              </a:lnSpc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>
              <a:lnSpc>
                <a:spcPct val="90000"/>
              </a:lnSpc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>
              <a:lnSpc>
                <a:spcPct val="90000"/>
              </a:lnSpc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>
              <a:lnSpc>
                <a:spcPct val="90000"/>
              </a:lnSpc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>
              <a:lnSpc>
                <a:spcPct val="90000"/>
              </a:lnSpc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>
              <a:lnSpc>
                <a:spcPct val="90000"/>
              </a:lnSpc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>
              <a:lnSpc>
                <a:spcPct val="90000"/>
              </a:lnSpc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>
              <a:lnSpc>
                <a:spcPct val="90000"/>
              </a:lnSpc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>
              <a:lnSpc>
                <a:spcPct val="90000"/>
              </a:lnSpc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>
              <a:lnSpc>
                <a:spcPct val="90000"/>
              </a:lnSpc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>
              <a:lnSpc>
                <a:spcPct val="90000"/>
              </a:lnSpc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>
              <a:lnSpc>
                <a:spcPct val="90000"/>
              </a:lnSpc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>
              <a:lnSpc>
                <a:spcPct val="90000"/>
              </a:lnSpc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>
              <a:lnSpc>
                <a:spcPct val="90000"/>
              </a:lnSpc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  <a:sym typeface="+mn-ea"/>
              </a:rPr>
              <a:t>问题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看上去</a:t>
            </a:r>
            <a:r>
              <a:rPr lang="en-US" altLang="zh-CN" sz="2000">
                <a:sym typeface="+mn-ea"/>
              </a:rPr>
              <a:t>SJF</a:t>
            </a:r>
            <a:r>
              <a:rPr lang="zh-CN" altLang="en-US" sz="2000">
                <a:sym typeface="+mn-ea"/>
              </a:rPr>
              <a:t>就是比</a:t>
            </a:r>
            <a:r>
              <a:rPr lang="en-US" altLang="zh-CN" sz="2000">
                <a:sym typeface="+mn-ea"/>
              </a:rPr>
              <a:t>FCFS</a:t>
            </a:r>
            <a:r>
              <a:rPr lang="zh-CN" altLang="en-US" sz="2000">
                <a:sym typeface="+mn-ea"/>
              </a:rPr>
              <a:t>好，短作业很快就能得到响应。</a:t>
            </a:r>
            <a:r>
              <a:rPr lang="zh-CN" altLang="en-US" sz="2000">
                <a:sym typeface="+mn-ea"/>
              </a:rPr>
              <a:t>果真如此？</a:t>
            </a:r>
            <a:endParaRPr lang="zh-CN" altLang="en-US" sz="2000">
              <a:sym typeface="+mn-ea"/>
            </a:endParaRPr>
          </a:p>
        </p:txBody>
      </p:sp>
      <p:graphicFrame>
        <p:nvGraphicFramePr>
          <p:cNvPr id="2" name="表格 1"/>
          <p:cNvGraphicFramePr/>
          <p:nvPr>
            <p:custDataLst>
              <p:tags r:id="rId2"/>
            </p:custDataLst>
          </p:nvPr>
        </p:nvGraphicFramePr>
        <p:xfrm>
          <a:off x="2872740" y="2857500"/>
          <a:ext cx="4041140" cy="162687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936625"/>
                <a:gridCol w="1508125"/>
                <a:gridCol w="1596390"/>
              </a:tblGrid>
              <a:tr h="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线程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到达时间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运行</a:t>
                      </a: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时间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021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E1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  <a:sym typeface="+mn-ea"/>
                        </a:rPr>
                        <a:t>2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4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021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E2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5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10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021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E3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6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5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6" name="矩形 25"/>
          <p:cNvSpPr/>
          <p:nvPr>
            <p:custDataLst>
              <p:tags r:id="rId3"/>
            </p:custDataLst>
          </p:nvPr>
        </p:nvSpPr>
        <p:spPr>
          <a:xfrm>
            <a:off x="1620520" y="4805680"/>
            <a:ext cx="1360805" cy="423545"/>
          </a:xfrm>
          <a:prstGeom prst="rect">
            <a:avLst/>
          </a:prstGeom>
          <a:solidFill>
            <a:schemeClr val="accent1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2800" b="1">
                <a:sym typeface="+mn-ea"/>
              </a:rPr>
              <a:t>E1</a:t>
            </a:r>
            <a:endParaRPr lang="en-US" altLang="zh-CN" sz="2800" b="1">
              <a:sym typeface="+mn-ea"/>
            </a:endParaRPr>
          </a:p>
        </p:txBody>
      </p:sp>
      <p:sp>
        <p:nvSpPr>
          <p:cNvPr id="4" name="矩形 3"/>
          <p:cNvSpPr/>
          <p:nvPr>
            <p:custDataLst>
              <p:tags r:id="rId4"/>
            </p:custDataLst>
          </p:nvPr>
        </p:nvSpPr>
        <p:spPr>
          <a:xfrm>
            <a:off x="4782820" y="4805680"/>
            <a:ext cx="3653790" cy="423545"/>
          </a:xfrm>
          <a:prstGeom prst="rect">
            <a:avLst/>
          </a:prstGeom>
          <a:solidFill>
            <a:srgbClr val="00B050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2800" b="1">
                <a:sym typeface="+mn-ea"/>
              </a:rPr>
              <a:t>E2</a:t>
            </a:r>
            <a:endParaRPr lang="en-US" altLang="zh-CN" sz="2800" b="1">
              <a:sym typeface="+mn-ea"/>
            </a:endParaRPr>
          </a:p>
        </p:txBody>
      </p:sp>
      <p:sp>
        <p:nvSpPr>
          <p:cNvPr id="5" name="矩形 4"/>
          <p:cNvSpPr/>
          <p:nvPr>
            <p:custDataLst>
              <p:tags r:id="rId5"/>
            </p:custDataLst>
          </p:nvPr>
        </p:nvSpPr>
        <p:spPr>
          <a:xfrm>
            <a:off x="2981325" y="4805680"/>
            <a:ext cx="1801495" cy="423545"/>
          </a:xfrm>
          <a:prstGeom prst="rect">
            <a:avLst/>
          </a:prstGeom>
          <a:solidFill>
            <a:srgbClr val="FFC000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2800" b="1">
                <a:sym typeface="+mn-ea"/>
              </a:rPr>
              <a:t>E3</a:t>
            </a:r>
            <a:endParaRPr lang="en-US" altLang="zh-CN" sz="2800" b="1">
              <a:sym typeface="+mn-ea"/>
            </a:endParaRPr>
          </a:p>
        </p:txBody>
      </p:sp>
      <p:cxnSp>
        <p:nvCxnSpPr>
          <p:cNvPr id="9" name="直接箭头连接符 8"/>
          <p:cNvCxnSpPr/>
          <p:nvPr>
            <p:custDataLst>
              <p:tags r:id="rId6"/>
            </p:custDataLst>
          </p:nvPr>
        </p:nvCxnSpPr>
        <p:spPr>
          <a:xfrm flipV="1">
            <a:off x="2744470" y="5283200"/>
            <a:ext cx="0" cy="529590"/>
          </a:xfrm>
          <a:prstGeom prst="straightConnector1">
            <a:avLst/>
          </a:prstGeom>
          <a:ln w="3810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/>
          <p:cNvCxnSpPr/>
          <p:nvPr>
            <p:custDataLst>
              <p:tags r:id="rId7"/>
            </p:custDataLst>
          </p:nvPr>
        </p:nvCxnSpPr>
        <p:spPr>
          <a:xfrm flipV="1">
            <a:off x="2981325" y="5283200"/>
            <a:ext cx="0" cy="529590"/>
          </a:xfrm>
          <a:prstGeom prst="straightConnector1">
            <a:avLst/>
          </a:prstGeom>
          <a:ln w="38100"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/>
          <p:cNvCxnSpPr/>
          <p:nvPr>
            <p:custDataLst>
              <p:tags r:id="rId8"/>
            </p:custDataLst>
          </p:nvPr>
        </p:nvCxnSpPr>
        <p:spPr>
          <a:xfrm flipV="1">
            <a:off x="1620520" y="5283200"/>
            <a:ext cx="0" cy="529590"/>
          </a:xfrm>
          <a:prstGeom prst="straightConnector1">
            <a:avLst/>
          </a:prstGeom>
          <a:ln w="38100">
            <a:solidFill>
              <a:schemeClr val="accent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本框 24"/>
          <p:cNvSpPr txBox="1"/>
          <p:nvPr/>
        </p:nvSpPr>
        <p:spPr>
          <a:xfrm>
            <a:off x="1014095" y="5812790"/>
            <a:ext cx="723074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buClrTx/>
              <a:buSzTx/>
              <a:buFontTx/>
              <a:buNone/>
            </a:pPr>
            <a:r>
              <a:rPr lang="en-US" altLang="zh-CN" sz="2000">
                <a:latin typeface="思源黑体 CN Regular" panose="020B0500000000000000" charset="-122"/>
                <a:ea typeface="思源黑体 CN Regular" panose="020B0500000000000000" charset="-122"/>
                <a:cs typeface="思源黑体 CN Regular" panose="020B0500000000000000" charset="-122"/>
                <a:sym typeface="+mn-ea"/>
              </a:rPr>
              <a:t>2                 5  6                            11                                                          21  </a:t>
            </a:r>
            <a:endParaRPr lang="en-US" altLang="zh-CN" sz="2000">
              <a:latin typeface="思源黑体 CN Regular" panose="020B0500000000000000" charset="-122"/>
              <a:ea typeface="思源黑体 CN Regular" panose="020B0500000000000000" charset="-122"/>
              <a:cs typeface="思源黑体 CN Regular" panose="020B0500000000000000" charset="-122"/>
              <a:sym typeface="+mn-ea"/>
            </a:endParaRPr>
          </a:p>
        </p:txBody>
      </p:sp>
    </p:spTree>
    <p:custDataLst>
      <p:tags r:id="rId9"/>
    </p:custData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处理器</a:t>
                      </a: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调度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一、指令流</a:t>
                      </a: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与执行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应用程序与指令流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顺序与并发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执行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1.3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指令流的描述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en-US" altLang="zh-CN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线程与处理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器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2.1 CPU时间与线程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2.2</a:t>
                      </a: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线程的描述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2.3 纤程与协程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三、处理器调度算法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3.1 调度算法原理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多处理器与并发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59385"/>
            <a:ext cx="9121140" cy="64928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rgbClr val="9C0B15"/>
                </a:solidFill>
              </a:rPr>
              <a:t>调度算法的</a:t>
            </a:r>
            <a:r>
              <a:rPr lang="zh-CN" altLang="en-US" sz="2000" b="1">
                <a:solidFill>
                  <a:srgbClr val="9C0B15"/>
                </a:solidFill>
              </a:rPr>
              <a:t>在线性</a:t>
            </a:r>
            <a:endParaRPr lang="zh-CN" altLang="en-US" sz="2000" b="1">
              <a:solidFill>
                <a:srgbClr val="9C0B15"/>
              </a:solidFill>
            </a:endParaRPr>
          </a:p>
          <a:p>
            <a:pPr>
              <a:lnSpc>
                <a:spcPct val="90000"/>
              </a:lnSpc>
              <a:buClrTx/>
              <a:buSzTx/>
              <a:buFontTx/>
            </a:pPr>
            <a:endParaRPr lang="zh-CN" altLang="en-US" sz="2000"/>
          </a:p>
          <a:p>
            <a:pPr algn="l">
              <a:lnSpc>
                <a:spcPct val="90000"/>
              </a:lnSpc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在线算法	</a:t>
            </a:r>
            <a:r>
              <a:rPr lang="en-US" altLang="zh-CN" sz="2000" b="1">
                <a:solidFill>
                  <a:srgbClr val="9C0B15"/>
                </a:solidFill>
              </a:rPr>
              <a:t>On-Line Algorithm</a:t>
            </a:r>
            <a:endParaRPr lang="en-US" altLang="zh-CN" sz="2000" b="1">
              <a:solidFill>
                <a:srgbClr val="9C0B15"/>
              </a:solidFill>
            </a:endParaRPr>
          </a:p>
          <a:p>
            <a:pPr algn="l">
              <a:lnSpc>
                <a:spcPct val="90000"/>
              </a:lnSpc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/>
              <a:t>算法必须在启动后</a:t>
            </a:r>
            <a:r>
              <a:rPr lang="en-US" altLang="zh-CN" sz="2000">
                <a:solidFill>
                  <a:srgbClr val="9C0B15"/>
                </a:solidFill>
              </a:rPr>
              <a:t>逐个接受输入并即时给出输出</a:t>
            </a:r>
            <a:r>
              <a:rPr lang="zh-CN" altLang="en-US" sz="2000"/>
              <a:t>。输入并非一</a:t>
            </a:r>
            <a:r>
              <a:rPr lang="zh-CN" altLang="en-US" sz="2000" b="1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/>
              <a:t>次交给算法的，</a:t>
            </a:r>
            <a:r>
              <a:rPr lang="en-US" altLang="zh-CN" sz="2000">
                <a:solidFill>
                  <a:srgbClr val="9C0B15"/>
                </a:solidFill>
              </a:rPr>
              <a:t>算法无法预测之后会遇到什么输入</a:t>
            </a:r>
            <a:r>
              <a:rPr lang="zh-CN" altLang="en-US" sz="2000"/>
              <a:t>。</a:t>
            </a:r>
            <a:endParaRPr lang="zh-CN" altLang="en-US" sz="2000"/>
          </a:p>
          <a:p>
            <a:pPr>
              <a:lnSpc>
                <a:spcPct val="90000"/>
              </a:lnSpc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>
              <a:lnSpc>
                <a:spcPct val="90000"/>
              </a:lnSpc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  <a:sym typeface="+mn-ea"/>
              </a:rPr>
              <a:t>问题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如果在</a:t>
            </a:r>
            <a:r>
              <a:rPr lang="en-US" altLang="zh-CN" sz="2000">
                <a:sym typeface="+mn-ea"/>
              </a:rPr>
              <a:t>E3</a:t>
            </a:r>
            <a:r>
              <a:rPr lang="zh-CN" altLang="en-US" sz="2000">
                <a:sym typeface="+mn-ea"/>
              </a:rPr>
              <a:t>执行完成前，用户向系统中提交</a:t>
            </a:r>
            <a:r>
              <a:rPr lang="en-US" altLang="zh-CN" sz="2000">
                <a:sym typeface="+mn-ea"/>
              </a:rPr>
              <a:t>E4</a:t>
            </a:r>
            <a:r>
              <a:rPr lang="zh-CN" altLang="en-US" sz="2000">
                <a:sym typeface="+mn-ea"/>
              </a:rPr>
              <a:t>、</a:t>
            </a:r>
            <a:r>
              <a:rPr lang="en-US" altLang="zh-CN" sz="2000">
                <a:sym typeface="+mn-ea"/>
              </a:rPr>
              <a:t>E5</a:t>
            </a:r>
            <a:r>
              <a:rPr lang="zh-CN" altLang="en-US" sz="2000">
                <a:sym typeface="+mn-ea"/>
              </a:rPr>
              <a:t>、</a:t>
            </a:r>
            <a:r>
              <a:rPr lang="en-US" altLang="zh-CN" sz="2000">
                <a:sym typeface="+mn-ea"/>
              </a:rPr>
              <a:t>E6</a:t>
            </a:r>
            <a:r>
              <a:rPr lang="zh-CN" altLang="en-US" sz="2000">
                <a:sym typeface="+mn-ea"/>
              </a:rPr>
              <a:t>，这些任务</a:t>
            </a:r>
            <a:r>
              <a:rPr lang="zh-CN" altLang="en-US" sz="2000" b="1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>
                <a:sym typeface="+mn-ea"/>
              </a:rPr>
              <a:t>所需要的执行时间</a:t>
            </a:r>
            <a:r>
              <a:rPr lang="zh-CN" altLang="en-US" sz="2000">
                <a:sym typeface="+mn-ea"/>
              </a:rPr>
              <a:t>都比</a:t>
            </a:r>
            <a:r>
              <a:rPr lang="zh-CN" altLang="en-US" sz="2000">
                <a:sym typeface="+mn-ea"/>
              </a:rPr>
              <a:t>E3短，那么意味着它们会插队到</a:t>
            </a:r>
            <a:r>
              <a:rPr lang="en-US" altLang="zh-CN" sz="2000">
                <a:sym typeface="+mn-ea"/>
              </a:rPr>
              <a:t>E3</a:t>
            </a:r>
            <a:r>
              <a:rPr lang="zh-CN" altLang="en-US" sz="2000">
                <a:sym typeface="+mn-ea"/>
              </a:rPr>
              <a:t>之前。</a:t>
            </a:r>
            <a:endParaRPr lang="zh-CN" altLang="en-US" sz="2000">
              <a:sym typeface="+mn-ea"/>
            </a:endParaRPr>
          </a:p>
          <a:p>
            <a:pPr>
              <a:lnSpc>
                <a:spcPct val="90000"/>
              </a:lnSpc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>
              <a:lnSpc>
                <a:spcPct val="90000"/>
              </a:lnSpc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>
              <a:lnSpc>
                <a:spcPct val="90000"/>
              </a:lnSpc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>
              <a:lnSpc>
                <a:spcPct val="90000"/>
              </a:lnSpc>
              <a:buClrTx/>
              <a:buSzTx/>
              <a:buFontTx/>
            </a:pP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如果用户</a:t>
            </a:r>
            <a:r>
              <a:rPr lang="en-US" altLang="zh-CN" sz="2000">
                <a:solidFill>
                  <a:srgbClr val="9C0B15"/>
                </a:solidFill>
                <a:sym typeface="+mn-ea"/>
              </a:rPr>
              <a:t>一直提交短作业</a:t>
            </a:r>
            <a:r>
              <a:rPr lang="zh-CN" altLang="en-US" sz="2000">
                <a:sym typeface="+mn-ea"/>
              </a:rPr>
              <a:t>，那意味着</a:t>
            </a:r>
            <a:r>
              <a:rPr lang="en-US" altLang="zh-CN" sz="2000">
                <a:sym typeface="+mn-ea"/>
              </a:rPr>
              <a:t>E2</a:t>
            </a:r>
            <a:r>
              <a:rPr lang="zh-CN" altLang="en-US" sz="2000">
                <a:sym typeface="+mn-ea"/>
              </a:rPr>
              <a:t>将永远得不到执行了。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这和</a:t>
            </a:r>
            <a:r>
              <a:rPr lang="en-US" altLang="zh-CN" sz="2000">
                <a:sym typeface="+mn-ea"/>
              </a:rPr>
              <a:t>FCFS</a:t>
            </a:r>
            <a:r>
              <a:rPr lang="zh-CN" altLang="en-US" sz="2000">
                <a:sym typeface="+mn-ea"/>
              </a:rPr>
              <a:t>的情况不同，对于</a:t>
            </a:r>
            <a:r>
              <a:rPr lang="en-US" altLang="zh-CN" sz="2000">
                <a:sym typeface="+mn-ea"/>
              </a:rPr>
              <a:t>FCFS</a:t>
            </a:r>
            <a:r>
              <a:rPr lang="zh-CN" altLang="en-US" sz="2000">
                <a:sym typeface="+mn-ea"/>
              </a:rPr>
              <a:t>，后到的作业一定</a:t>
            </a:r>
            <a:r>
              <a:rPr lang="zh-CN" altLang="en-US" sz="2000">
                <a:sym typeface="+mn-ea"/>
              </a:rPr>
              <a:t>后运行。</a:t>
            </a:r>
            <a:endParaRPr lang="zh-CN" altLang="en-US" sz="2000">
              <a:sym typeface="+mn-ea"/>
            </a:endParaRPr>
          </a:p>
          <a:p>
            <a:pPr>
              <a:lnSpc>
                <a:spcPct val="90000"/>
              </a:lnSpc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>
              <a:lnSpc>
                <a:spcPct val="90000"/>
              </a:lnSpc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  <a:sym typeface="+mn-ea"/>
              </a:rPr>
              <a:t>饥饿现象</a:t>
            </a:r>
            <a:r>
              <a:rPr lang="en-US" altLang="zh-CN" sz="2000">
                <a:sym typeface="+mn-ea"/>
              </a:rPr>
              <a:t>	</a:t>
            </a:r>
            <a:r>
              <a:rPr lang="zh-CN" altLang="en-US" sz="2000">
                <a:sym typeface="+mn-ea"/>
              </a:rPr>
              <a:t>依照某种资源分配策略，</a:t>
            </a:r>
            <a:r>
              <a:rPr lang="en-US" altLang="zh-CN" sz="2000">
                <a:solidFill>
                  <a:srgbClr val="9C0B15"/>
                </a:solidFill>
                <a:sym typeface="+mn-ea"/>
              </a:rPr>
              <a:t>某些请求无限增加时，另一些请求将</a:t>
            </a:r>
            <a:r>
              <a:rPr lang="en-US" altLang="zh-CN" sz="2000">
                <a:solidFill>
                  <a:srgbClr val="9C0B15"/>
                </a:solidFill>
                <a:sym typeface="+mn-ea"/>
              </a:rPr>
              <a:t>		</a:t>
            </a:r>
            <a:r>
              <a:rPr lang="en-US" altLang="zh-CN" sz="2000">
                <a:solidFill>
                  <a:srgbClr val="9C0B15"/>
                </a:solidFill>
                <a:sym typeface="+mn-ea"/>
              </a:rPr>
              <a:t>永远得不到分配</a:t>
            </a:r>
            <a:r>
              <a:rPr lang="zh-CN" altLang="en-US" sz="2000">
                <a:sym typeface="+mn-ea"/>
              </a:rPr>
              <a:t>。在</a:t>
            </a:r>
            <a:r>
              <a:rPr lang="en-US" altLang="zh-CN" sz="2000">
                <a:sym typeface="+mn-ea"/>
              </a:rPr>
              <a:t>CPU</a:t>
            </a:r>
            <a:r>
              <a:rPr lang="zh-CN" altLang="en-US" sz="2000">
                <a:sym typeface="+mn-ea"/>
              </a:rPr>
              <a:t>调度的问题上，它体现为</a:t>
            </a:r>
            <a:r>
              <a:rPr lang="en-US" altLang="zh-CN" sz="2000">
                <a:solidFill>
                  <a:srgbClr val="9C0B15"/>
                </a:solidFill>
                <a:sym typeface="+mn-ea"/>
              </a:rPr>
              <a:t>某些线程将永</a:t>
            </a:r>
            <a:r>
              <a:rPr lang="en-US" altLang="zh-CN" sz="2000">
                <a:solidFill>
                  <a:srgbClr val="9C0B15"/>
                </a:solidFill>
                <a:sym typeface="+mn-ea"/>
              </a:rPr>
              <a:t>		</a:t>
            </a:r>
            <a:r>
              <a:rPr lang="en-US" altLang="zh-CN" sz="2000">
                <a:solidFill>
                  <a:srgbClr val="9C0B15"/>
                </a:solidFill>
                <a:sym typeface="+mn-ea"/>
              </a:rPr>
              <a:t>远不能获得CPU</a:t>
            </a:r>
            <a:r>
              <a:rPr lang="zh-CN" altLang="en-US" sz="2000">
                <a:sym typeface="+mn-ea"/>
              </a:rPr>
              <a:t>。</a:t>
            </a:r>
            <a:endParaRPr lang="zh-CN" altLang="en-US" sz="2000">
              <a:sym typeface="+mn-ea"/>
            </a:endParaRPr>
          </a:p>
          <a:p>
            <a:pPr>
              <a:lnSpc>
                <a:spcPct val="90000"/>
              </a:lnSpc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lnSpc>
                <a:spcPct val="90000"/>
              </a:lnSpc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  <a:sym typeface="+mn-ea"/>
              </a:rPr>
              <a:t>响应比高优先	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Highest Response Ratio Next</a:t>
            </a:r>
            <a:r>
              <a:rPr lang="zh-CN" altLang="en-US" sz="2000" b="1">
                <a:solidFill>
                  <a:srgbClr val="9C0B15"/>
                </a:solidFill>
                <a:sym typeface="+mn-ea"/>
              </a:rPr>
              <a:t>，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HRRN</a:t>
            </a:r>
            <a:r>
              <a:rPr lang="zh-CN" altLang="en-US" sz="2000" b="1">
                <a:solidFill>
                  <a:srgbClr val="9C0B15"/>
                </a:solidFill>
                <a:sym typeface="+mn-ea"/>
              </a:rPr>
              <a:t>（动态优先级）</a:t>
            </a:r>
            <a:endParaRPr lang="en-US" altLang="zh-CN" sz="2000" b="1">
              <a:solidFill>
                <a:srgbClr val="9C0B15"/>
              </a:solidFill>
            </a:endParaRPr>
          </a:p>
          <a:p>
            <a:pPr algn="l">
              <a:lnSpc>
                <a:spcPct val="90000"/>
              </a:lnSpc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>
                <a:sym typeface="+mn-ea"/>
              </a:rPr>
              <a:t>所有任务按照其响应比排序，</a:t>
            </a:r>
            <a:r>
              <a:rPr lang="en-US" altLang="zh-CN" sz="2000">
                <a:solidFill>
                  <a:srgbClr val="9C0B15"/>
                </a:solidFill>
                <a:sym typeface="+mn-ea"/>
              </a:rPr>
              <a:t>响应比越高的任务优先级越高</a:t>
            </a:r>
            <a:r>
              <a:rPr lang="zh-CN" altLang="en-US" sz="2000">
                <a:sym typeface="+mn-ea"/>
              </a:rPr>
              <a:t>，</a:t>
            </a:r>
            <a:r>
              <a:rPr lang="zh-CN" altLang="en-US" sz="2000" b="1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>
                <a:sym typeface="+mn-ea"/>
              </a:rPr>
              <a:t>越优先得到</a:t>
            </a:r>
            <a:r>
              <a:rPr lang="en-US" altLang="zh-CN" sz="2000">
                <a:sym typeface="+mn-ea"/>
              </a:rPr>
              <a:t>CPU</a:t>
            </a:r>
            <a:r>
              <a:rPr lang="zh-CN" altLang="en-US" sz="2000">
                <a:sym typeface="+mn-ea"/>
              </a:rPr>
              <a:t>。</a:t>
            </a:r>
            <a:r>
              <a:rPr lang="zh-CN" altLang="en-US" sz="2000">
                <a:sym typeface="+mn-ea"/>
              </a:rPr>
              <a:t>调度仅在任务结束时发生。</a:t>
            </a:r>
            <a:r>
              <a:rPr lang="zh-CN" altLang="en-US" sz="2000">
                <a:sym typeface="+mn-ea"/>
              </a:rPr>
              <a:t>是</a:t>
            </a:r>
            <a:r>
              <a:rPr lang="en-US" altLang="zh-CN" sz="2000">
                <a:sym typeface="+mn-ea"/>
              </a:rPr>
              <a:t>FCFS</a:t>
            </a:r>
            <a:r>
              <a:rPr lang="zh-CN" altLang="en-US" sz="2000">
                <a:sym typeface="+mn-ea"/>
              </a:rPr>
              <a:t>和</a:t>
            </a:r>
            <a:r>
              <a:rPr lang="en-US" altLang="zh-CN" sz="2000">
                <a:sym typeface="+mn-ea"/>
              </a:rPr>
              <a:t>SJF</a:t>
            </a:r>
            <a:r>
              <a:rPr lang="zh-CN" altLang="en-US" sz="2000">
                <a:sym typeface="+mn-ea"/>
              </a:rPr>
              <a:t>的折中，</a:t>
            </a:r>
            <a:r>
              <a:rPr lang="zh-CN" altLang="en-US" sz="2000" b="1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>
                <a:sym typeface="+mn-ea"/>
              </a:rPr>
              <a:t>具备两方优点但又不极端。</a:t>
            </a:r>
            <a:endParaRPr lang="zh-CN" altLang="en-US" sz="2000">
              <a:sym typeface="+mn-ea"/>
            </a:endParaRPr>
          </a:p>
          <a:p>
            <a:pPr>
              <a:lnSpc>
                <a:spcPct val="90000"/>
              </a:lnSpc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>
                <a:sym typeface="+mn-ea"/>
              </a:rPr>
              <a:t>通常而言，</a:t>
            </a:r>
            <a:r>
              <a:rPr lang="zh-CN" altLang="en-US" sz="2000">
                <a:sym typeface="+mn-ea"/>
              </a:rPr>
              <a:t>调度仅在任务结束时发生。</a:t>
            </a:r>
            <a:endParaRPr lang="zh-CN" altLang="en-US" sz="2000">
              <a:sym typeface="+mn-ea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347345" y="2599690"/>
            <a:ext cx="1360805" cy="423545"/>
          </a:xfrm>
          <a:prstGeom prst="rect">
            <a:avLst/>
          </a:prstGeom>
          <a:solidFill>
            <a:schemeClr val="accent1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2800" b="1">
                <a:sym typeface="+mn-ea"/>
              </a:rPr>
              <a:t>E1</a:t>
            </a:r>
            <a:endParaRPr lang="en-US" altLang="zh-CN" sz="2800" b="1">
              <a:sym typeface="+mn-ea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096000" y="2599690"/>
            <a:ext cx="3358515" cy="423545"/>
          </a:xfrm>
          <a:prstGeom prst="rect">
            <a:avLst/>
          </a:prstGeom>
          <a:solidFill>
            <a:srgbClr val="00B050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2800" b="1">
                <a:sym typeface="+mn-ea"/>
              </a:rPr>
              <a:t>E2</a:t>
            </a:r>
            <a:endParaRPr lang="en-US" altLang="zh-CN" sz="2800" b="1">
              <a:sym typeface="+mn-ea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08150" y="2599690"/>
            <a:ext cx="1801495" cy="423545"/>
          </a:xfrm>
          <a:prstGeom prst="rect">
            <a:avLst/>
          </a:prstGeom>
          <a:solidFill>
            <a:srgbClr val="FFC000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2800" b="1">
                <a:sym typeface="+mn-ea"/>
              </a:rPr>
              <a:t>E3</a:t>
            </a:r>
            <a:endParaRPr lang="en-US" altLang="zh-CN" sz="2800" b="1">
              <a:sym typeface="+mn-ea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3509645" y="2599690"/>
            <a:ext cx="1801495" cy="423545"/>
          </a:xfrm>
          <a:prstGeom prst="rect">
            <a:avLst/>
          </a:prstGeom>
          <a:solidFill>
            <a:srgbClr val="7030A0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2800" b="1">
                <a:sym typeface="+mn-ea"/>
              </a:rPr>
              <a:t>E4</a:t>
            </a:r>
            <a:endParaRPr lang="en-US" altLang="zh-CN" sz="2800" b="1">
              <a:sym typeface="+mn-ea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5311140" y="2599690"/>
            <a:ext cx="784860" cy="423545"/>
          </a:xfrm>
          <a:prstGeom prst="rect">
            <a:avLst/>
          </a:prstGeom>
          <a:solidFill>
            <a:srgbClr val="FF0000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2800" b="1">
                <a:sym typeface="+mn-ea"/>
              </a:rPr>
              <a:t>......</a:t>
            </a:r>
            <a:endParaRPr lang="en-US" altLang="zh-CN" sz="2800" b="1">
              <a:sym typeface="+mn-ea"/>
            </a:endParaRPr>
          </a:p>
        </p:txBody>
      </p:sp>
    </p:spTree>
    <p:custDataLst>
      <p:tags r:id="rId2"/>
    </p:custData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1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1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1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1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1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6" grpId="0" animBg="1"/>
      <p:bldP spid="5" grpId="0" animBg="1"/>
      <p:bldP spid="26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处理器</a:t>
                      </a: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调度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一、指令流</a:t>
                      </a: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与执行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应用程序与指令流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顺序与并发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执行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1.3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指令流的描述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en-US" altLang="zh-CN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线程与处理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器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2.1 CPU时间与线程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2.2</a:t>
                      </a: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线程的描述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2.3 纤程与协程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三、处理器调度算法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3.1 调度算法原理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多处理器与并发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59385"/>
            <a:ext cx="9121140" cy="64928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rgbClr val="9C0B15"/>
                </a:solidFill>
              </a:rPr>
              <a:t>交互系统的</a:t>
            </a:r>
            <a:r>
              <a:rPr lang="zh-CN" altLang="en-US" sz="2000" b="1">
                <a:solidFill>
                  <a:srgbClr val="9C0B15"/>
                </a:solidFill>
              </a:rPr>
              <a:t>调度</a:t>
            </a:r>
            <a:endParaRPr lang="zh-CN" altLang="en-US" sz="2000"/>
          </a:p>
          <a:p>
            <a:pPr algn="l">
              <a:lnSpc>
                <a:spcPct val="90000"/>
              </a:lnSpc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lnSpc>
                <a:spcPct val="90000"/>
              </a:lnSpc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  <a:sym typeface="+mn-ea"/>
              </a:rPr>
              <a:t>问题</a:t>
            </a:r>
            <a:r>
              <a:rPr lang="en-US" altLang="zh-CN" sz="2000">
                <a:sym typeface="+mn-ea"/>
              </a:rPr>
              <a:t>	</a:t>
            </a:r>
            <a:r>
              <a:rPr lang="en-US" altLang="zh-CN" sz="2000">
                <a:sym typeface="+mn-ea"/>
              </a:rPr>
              <a:t>	</a:t>
            </a:r>
            <a:r>
              <a:rPr lang="zh-CN" altLang="en-US" sz="2000">
                <a:sym typeface="+mn-ea"/>
              </a:rPr>
              <a:t>前面提到的各个算法中，要么使用基于</a:t>
            </a:r>
            <a:r>
              <a:rPr lang="en-US" altLang="zh-CN" sz="2000">
                <a:solidFill>
                  <a:srgbClr val="9C0B15"/>
                </a:solidFill>
                <a:sym typeface="+mn-ea"/>
              </a:rPr>
              <a:t>固定优先级的抢占（FP或</a:t>
            </a:r>
            <a:r>
              <a:rPr lang="en-US" altLang="zh-CN" sz="2000">
                <a:sym typeface="+mn-ea"/>
              </a:rPr>
              <a:t>		</a:t>
            </a:r>
            <a:r>
              <a:rPr lang="en-US" altLang="zh-CN" sz="2000">
                <a:solidFill>
                  <a:srgbClr val="9C0B15"/>
                </a:solidFill>
                <a:sym typeface="+mn-ea"/>
              </a:rPr>
              <a:t>者SJF）</a:t>
            </a:r>
            <a:r>
              <a:rPr lang="zh-CN" altLang="en-US" sz="2000">
                <a:sym typeface="+mn-ea"/>
              </a:rPr>
              <a:t>，要么就干脆</a:t>
            </a:r>
            <a:r>
              <a:rPr lang="en-US" altLang="zh-CN" sz="2000">
                <a:solidFill>
                  <a:srgbClr val="9C0B15"/>
                </a:solidFill>
                <a:sym typeface="+mn-ea"/>
              </a:rPr>
              <a:t>排排坐吃果果</a:t>
            </a:r>
            <a:r>
              <a:rPr lang="zh-CN" altLang="en-US" sz="2000">
                <a:sym typeface="+mn-ea"/>
              </a:rPr>
              <a:t>。前者在复杂的场景会导致</a:t>
            </a:r>
            <a:r>
              <a:rPr lang="en-US" altLang="zh-CN" sz="2000">
                <a:sym typeface="+mn-ea"/>
              </a:rPr>
              <a:t>		</a:t>
            </a:r>
            <a:r>
              <a:rPr lang="en-US" altLang="zh-CN" sz="2000">
                <a:solidFill>
                  <a:srgbClr val="9C0B15"/>
                </a:solidFill>
                <a:sym typeface="+mn-ea"/>
              </a:rPr>
              <a:t>饥饿</a:t>
            </a:r>
            <a:r>
              <a:rPr lang="zh-CN" altLang="en-US" sz="2000">
                <a:sym typeface="+mn-ea"/>
              </a:rPr>
              <a:t>，从而可能导致系统卡死，后者则无法在一个任务开始执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行后将其</a:t>
            </a:r>
            <a:r>
              <a:rPr lang="en-US" altLang="zh-CN" sz="2000">
                <a:solidFill>
                  <a:srgbClr val="9C0B15"/>
                </a:solidFill>
                <a:sym typeface="+mn-ea"/>
              </a:rPr>
              <a:t>中途打断</a:t>
            </a:r>
            <a:r>
              <a:rPr lang="zh-CN" altLang="en-US" sz="2000">
                <a:sym typeface="+mn-ea"/>
              </a:rPr>
              <a:t>。那么，能否有一种算法，</a:t>
            </a:r>
            <a:r>
              <a:rPr lang="en-US" altLang="zh-CN" sz="2000">
                <a:solidFill>
                  <a:srgbClr val="9C0B15"/>
                </a:solidFill>
                <a:sym typeface="+mn-ea"/>
              </a:rPr>
              <a:t>不产生饥饿</a:t>
            </a:r>
            <a:r>
              <a:rPr lang="zh-CN" altLang="en-US" sz="2000">
                <a:sym typeface="+mn-ea"/>
              </a:rPr>
              <a:t>，又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能</a:t>
            </a:r>
            <a:r>
              <a:rPr lang="en-US" altLang="zh-CN" sz="2000">
                <a:solidFill>
                  <a:srgbClr val="9C0B15"/>
                </a:solidFill>
                <a:sym typeface="+mn-ea"/>
              </a:rPr>
              <a:t>打断长任务</a:t>
            </a:r>
            <a:r>
              <a:rPr lang="zh-CN" altLang="en-US" sz="2000">
                <a:sym typeface="+mn-ea"/>
              </a:rPr>
              <a:t>以获得交互能力</a:t>
            </a:r>
            <a:r>
              <a:rPr lang="zh-CN" altLang="en-US" sz="2000">
                <a:sym typeface="+mn-ea"/>
              </a:rPr>
              <a:t>呢？</a:t>
            </a:r>
            <a:endParaRPr lang="zh-CN" altLang="en-US" sz="2000">
              <a:sym typeface="+mn-ea"/>
            </a:endParaRPr>
          </a:p>
          <a:p>
            <a:pPr algn="l">
              <a:lnSpc>
                <a:spcPct val="90000"/>
              </a:lnSpc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lnSpc>
                <a:spcPct val="90000"/>
              </a:lnSpc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  <a:sym typeface="+mn-ea"/>
              </a:rPr>
              <a:t>时间片轮转法	Round-Robin，RR</a:t>
            </a:r>
            <a:r>
              <a:rPr lang="zh-CN" altLang="en-US" sz="2000" b="1">
                <a:solidFill>
                  <a:srgbClr val="9C0B15"/>
                </a:solidFill>
                <a:sym typeface="+mn-ea"/>
              </a:rPr>
              <a:t>（动态优先级）</a:t>
            </a: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>
              <a:lnSpc>
                <a:spcPct val="90000"/>
              </a:lnSpc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>
                <a:sym typeface="+mn-ea"/>
              </a:rPr>
              <a:t>将每个线程的时间预算切成</a:t>
            </a:r>
            <a:r>
              <a:rPr lang="zh-CN" altLang="en-US" sz="2000">
                <a:sym typeface="+mn-ea"/>
              </a:rPr>
              <a:t>规模较小的时间片，每次只运行一</a:t>
            </a:r>
            <a:r>
              <a:rPr lang="zh-CN" altLang="en-US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片时间，然后再运行下一个任务。可以看作是</a:t>
            </a:r>
            <a:r>
              <a:rPr lang="en-US" altLang="zh-CN" sz="2000">
                <a:solidFill>
                  <a:srgbClr val="9C0B15"/>
                </a:solidFill>
                <a:sym typeface="+mn-ea"/>
              </a:rPr>
              <a:t>FCFS的一种改进</a:t>
            </a:r>
            <a:r>
              <a:rPr lang="zh-CN" altLang="en-US" sz="2000">
                <a:sym typeface="+mn-ea"/>
              </a:rPr>
              <a:t>：</a:t>
            </a:r>
            <a:r>
              <a:rPr lang="zh-CN" altLang="en-US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任务先来先执行，但执行时间到就换成下一个任务，等到所有</a:t>
            </a:r>
            <a:r>
              <a:rPr lang="zh-CN" altLang="en-US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任务都轮到一遍了，再回到第一个任务</a:t>
            </a:r>
            <a:r>
              <a:rPr lang="zh-CN" altLang="en-US" sz="2000">
                <a:sym typeface="+mn-ea"/>
              </a:rPr>
              <a:t>执行。</a:t>
            </a:r>
            <a:endParaRPr lang="zh-CN" altLang="en-US" sz="2000">
              <a:sym typeface="+mn-ea"/>
            </a:endParaRPr>
          </a:p>
          <a:p>
            <a:pPr algn="l">
              <a:lnSpc>
                <a:spcPct val="90000"/>
              </a:lnSpc>
              <a:buClrTx/>
              <a:buSzTx/>
              <a:buFontTx/>
            </a:pPr>
            <a:r>
              <a:rPr lang="zh-CN" altLang="en-US" sz="2000">
                <a:sym typeface="+mn-ea"/>
              </a:rPr>
              <a:t>		</a:t>
            </a:r>
            <a:r>
              <a:rPr lang="en-US" altLang="zh-CN" sz="2000">
                <a:sym typeface="+mn-ea"/>
              </a:rPr>
              <a:t>RR</a:t>
            </a:r>
            <a:r>
              <a:rPr lang="zh-CN" altLang="en-US" sz="2000">
                <a:sym typeface="+mn-ea"/>
              </a:rPr>
              <a:t>是</a:t>
            </a:r>
            <a:r>
              <a:rPr lang="en-US" altLang="zh-CN" sz="2000">
                <a:solidFill>
                  <a:srgbClr val="9C0B15"/>
                </a:solidFill>
                <a:sym typeface="+mn-ea"/>
              </a:rPr>
              <a:t>抢占式</a:t>
            </a:r>
            <a:r>
              <a:rPr lang="zh-CN" altLang="en-US" sz="2000">
                <a:sym typeface="+mn-ea"/>
              </a:rPr>
              <a:t>的，因为它会</a:t>
            </a:r>
            <a:r>
              <a:rPr lang="en-US" altLang="zh-CN" sz="2000">
                <a:solidFill>
                  <a:srgbClr val="9C0B15"/>
                </a:solidFill>
                <a:sym typeface="+mn-ea"/>
              </a:rPr>
              <a:t>打断超时线程</a:t>
            </a:r>
            <a:r>
              <a:rPr lang="zh-CN" altLang="en-US" sz="2000">
                <a:sym typeface="+mn-ea"/>
              </a:rPr>
              <a:t>的</a:t>
            </a:r>
            <a:r>
              <a:rPr lang="zh-CN" altLang="en-US" sz="2000">
                <a:sym typeface="+mn-ea"/>
              </a:rPr>
              <a:t>执行。</a:t>
            </a:r>
            <a:endParaRPr lang="zh-CN" altLang="en-US" sz="2000">
              <a:sym typeface="+mn-ea"/>
            </a:endParaRPr>
          </a:p>
          <a:p>
            <a:pPr algn="l">
              <a:lnSpc>
                <a:spcPct val="90000"/>
              </a:lnSpc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lnSpc>
                <a:spcPct val="90000"/>
              </a:lnSpc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lnSpc>
                <a:spcPct val="90000"/>
              </a:lnSpc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lnSpc>
                <a:spcPct val="90000"/>
              </a:lnSpc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lnSpc>
                <a:spcPct val="90000"/>
              </a:lnSpc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  <a:sym typeface="+mn-ea"/>
              </a:rPr>
              <a:t>特点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交互性好，所有线程都获得了执行的机会，无论长短；可以保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证在某个时间周期之内，所有的线程都获得至少一次执行</a:t>
            </a:r>
            <a:r>
              <a:rPr lang="zh-CN" altLang="en-US" sz="2000">
                <a:sym typeface="+mn-ea"/>
              </a:rPr>
              <a:t>机会。</a:t>
            </a:r>
            <a:endParaRPr lang="zh-CN" altLang="en-US" sz="2000">
              <a:sym typeface="+mn-ea"/>
            </a:endParaRPr>
          </a:p>
          <a:p>
            <a:pPr algn="l">
              <a:lnSpc>
                <a:spcPct val="90000"/>
              </a:lnSpc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lnSpc>
                <a:spcPct val="90000"/>
              </a:lnSpc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  <a:sym typeface="+mn-ea"/>
              </a:rPr>
              <a:t>问题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时间片的大小怎么决定？长了会怎么样？短了呢？每次每个线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程分配到的时间片都必须</a:t>
            </a:r>
            <a:r>
              <a:rPr lang="zh-CN" altLang="en-US" sz="2000">
                <a:sym typeface="+mn-ea"/>
              </a:rPr>
              <a:t>一样吗？</a:t>
            </a:r>
            <a:endParaRPr lang="zh-CN" altLang="en-US" sz="2000">
              <a:sym typeface="+mn-ea"/>
            </a:endParaRPr>
          </a:p>
        </p:txBody>
      </p:sp>
      <p:sp>
        <p:nvSpPr>
          <p:cNvPr id="6" name="矩形 5"/>
          <p:cNvSpPr/>
          <p:nvPr>
            <p:custDataLst>
              <p:tags r:id="rId2"/>
            </p:custDataLst>
          </p:nvPr>
        </p:nvSpPr>
        <p:spPr>
          <a:xfrm>
            <a:off x="737870" y="4382135"/>
            <a:ext cx="781050" cy="423545"/>
          </a:xfrm>
          <a:prstGeom prst="rect">
            <a:avLst/>
          </a:prstGeom>
          <a:solidFill>
            <a:schemeClr val="accent1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2800" b="1">
                <a:sym typeface="+mn-ea"/>
              </a:rPr>
              <a:t>E1</a:t>
            </a:r>
            <a:endParaRPr lang="en-US" altLang="zh-CN" sz="2800" b="1">
              <a:sym typeface="+mn-ea"/>
            </a:endParaRPr>
          </a:p>
        </p:txBody>
      </p:sp>
      <p:sp>
        <p:nvSpPr>
          <p:cNvPr id="7" name="矩形 6"/>
          <p:cNvSpPr/>
          <p:nvPr>
            <p:custDataLst>
              <p:tags r:id="rId3"/>
            </p:custDataLst>
          </p:nvPr>
        </p:nvSpPr>
        <p:spPr>
          <a:xfrm>
            <a:off x="1518920" y="4382135"/>
            <a:ext cx="781050" cy="423545"/>
          </a:xfrm>
          <a:prstGeom prst="rect">
            <a:avLst/>
          </a:prstGeom>
          <a:solidFill>
            <a:srgbClr val="00B050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2800" b="1">
                <a:sym typeface="+mn-ea"/>
              </a:rPr>
              <a:t>E2</a:t>
            </a:r>
            <a:endParaRPr lang="en-US" altLang="zh-CN" sz="2800" b="1">
              <a:sym typeface="+mn-ea"/>
            </a:endParaRPr>
          </a:p>
        </p:txBody>
      </p:sp>
      <p:sp>
        <p:nvSpPr>
          <p:cNvPr id="8" name="矩形 7"/>
          <p:cNvSpPr/>
          <p:nvPr>
            <p:custDataLst>
              <p:tags r:id="rId4"/>
            </p:custDataLst>
          </p:nvPr>
        </p:nvSpPr>
        <p:spPr>
          <a:xfrm>
            <a:off x="2299970" y="4382135"/>
            <a:ext cx="781685" cy="423545"/>
          </a:xfrm>
          <a:prstGeom prst="rect">
            <a:avLst/>
          </a:prstGeom>
          <a:solidFill>
            <a:srgbClr val="FFC000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2800" b="1">
                <a:sym typeface="+mn-ea"/>
              </a:rPr>
              <a:t>E3</a:t>
            </a:r>
            <a:endParaRPr lang="en-US" altLang="zh-CN" sz="2800" b="1">
              <a:sym typeface="+mn-ea"/>
            </a:endParaRPr>
          </a:p>
        </p:txBody>
      </p:sp>
      <p:sp>
        <p:nvSpPr>
          <p:cNvPr id="28" name="矩形 27"/>
          <p:cNvSpPr/>
          <p:nvPr>
            <p:custDataLst>
              <p:tags r:id="rId5"/>
            </p:custDataLst>
          </p:nvPr>
        </p:nvSpPr>
        <p:spPr>
          <a:xfrm>
            <a:off x="3033395" y="4382135"/>
            <a:ext cx="781050" cy="423545"/>
          </a:xfrm>
          <a:prstGeom prst="rect">
            <a:avLst/>
          </a:prstGeom>
          <a:solidFill>
            <a:schemeClr val="accent1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2800" b="1">
                <a:sym typeface="+mn-ea"/>
              </a:rPr>
              <a:t>E1</a:t>
            </a:r>
            <a:endParaRPr lang="en-US" altLang="zh-CN" sz="2800" b="1">
              <a:sym typeface="+mn-ea"/>
            </a:endParaRPr>
          </a:p>
        </p:txBody>
      </p:sp>
      <p:sp>
        <p:nvSpPr>
          <p:cNvPr id="60" name="矩形 59"/>
          <p:cNvSpPr/>
          <p:nvPr>
            <p:custDataLst>
              <p:tags r:id="rId6"/>
            </p:custDataLst>
          </p:nvPr>
        </p:nvSpPr>
        <p:spPr>
          <a:xfrm>
            <a:off x="3814445" y="4382135"/>
            <a:ext cx="781050" cy="423545"/>
          </a:xfrm>
          <a:prstGeom prst="rect">
            <a:avLst/>
          </a:prstGeom>
          <a:solidFill>
            <a:srgbClr val="00B050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2800" b="1">
                <a:sym typeface="+mn-ea"/>
              </a:rPr>
              <a:t>E2</a:t>
            </a:r>
            <a:endParaRPr lang="en-US" altLang="zh-CN" sz="2800" b="1">
              <a:sym typeface="+mn-ea"/>
            </a:endParaRPr>
          </a:p>
        </p:txBody>
      </p:sp>
      <p:sp>
        <p:nvSpPr>
          <p:cNvPr id="61" name="矩形 60"/>
          <p:cNvSpPr/>
          <p:nvPr>
            <p:custDataLst>
              <p:tags r:id="rId7"/>
            </p:custDataLst>
          </p:nvPr>
        </p:nvSpPr>
        <p:spPr>
          <a:xfrm>
            <a:off x="4595495" y="4382135"/>
            <a:ext cx="781685" cy="423545"/>
          </a:xfrm>
          <a:prstGeom prst="rect">
            <a:avLst/>
          </a:prstGeom>
          <a:solidFill>
            <a:srgbClr val="FFC000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2800" b="1">
                <a:sym typeface="+mn-ea"/>
              </a:rPr>
              <a:t>E3</a:t>
            </a:r>
            <a:endParaRPr lang="en-US" altLang="zh-CN" sz="2800" b="1">
              <a:sym typeface="+mn-ea"/>
            </a:endParaRPr>
          </a:p>
        </p:txBody>
      </p:sp>
      <p:sp>
        <p:nvSpPr>
          <p:cNvPr id="62" name="矩形 61"/>
          <p:cNvSpPr/>
          <p:nvPr>
            <p:custDataLst>
              <p:tags r:id="rId8"/>
            </p:custDataLst>
          </p:nvPr>
        </p:nvSpPr>
        <p:spPr>
          <a:xfrm>
            <a:off x="6158230" y="4382135"/>
            <a:ext cx="605790" cy="423545"/>
          </a:xfrm>
          <a:prstGeom prst="rect">
            <a:avLst/>
          </a:prstGeom>
          <a:solidFill>
            <a:srgbClr val="FFC000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2800" b="1">
                <a:sym typeface="+mn-ea"/>
              </a:rPr>
              <a:t>E3</a:t>
            </a:r>
            <a:endParaRPr lang="en-US" altLang="zh-CN" sz="2800" b="1">
              <a:sym typeface="+mn-ea"/>
            </a:endParaRPr>
          </a:p>
        </p:txBody>
      </p:sp>
      <p:sp>
        <p:nvSpPr>
          <p:cNvPr id="63" name="矩形 62"/>
          <p:cNvSpPr/>
          <p:nvPr>
            <p:custDataLst>
              <p:tags r:id="rId9"/>
            </p:custDataLst>
          </p:nvPr>
        </p:nvSpPr>
        <p:spPr>
          <a:xfrm>
            <a:off x="5377180" y="4382135"/>
            <a:ext cx="781050" cy="423545"/>
          </a:xfrm>
          <a:prstGeom prst="rect">
            <a:avLst/>
          </a:prstGeom>
          <a:solidFill>
            <a:srgbClr val="00B050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2800" b="1">
                <a:sym typeface="+mn-ea"/>
              </a:rPr>
              <a:t>E2</a:t>
            </a:r>
            <a:endParaRPr lang="en-US" altLang="zh-CN" sz="2800" b="1">
              <a:sym typeface="+mn-ea"/>
            </a:endParaRPr>
          </a:p>
        </p:txBody>
      </p:sp>
      <p:sp>
        <p:nvSpPr>
          <p:cNvPr id="64" name="矩形 63"/>
          <p:cNvSpPr/>
          <p:nvPr>
            <p:custDataLst>
              <p:tags r:id="rId10"/>
            </p:custDataLst>
          </p:nvPr>
        </p:nvSpPr>
        <p:spPr>
          <a:xfrm>
            <a:off x="6764020" y="4382135"/>
            <a:ext cx="2331720" cy="423545"/>
          </a:xfrm>
          <a:prstGeom prst="rect">
            <a:avLst/>
          </a:prstGeom>
          <a:solidFill>
            <a:srgbClr val="00B050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2800" b="1">
                <a:sym typeface="+mn-ea"/>
              </a:rPr>
              <a:t>E2</a:t>
            </a:r>
            <a:endParaRPr lang="en-US" altLang="zh-CN" sz="2800" b="1">
              <a:sym typeface="+mn-ea"/>
            </a:endParaRPr>
          </a:p>
        </p:txBody>
      </p:sp>
    </p:spTree>
    <p:custDataLst>
      <p:tags r:id="rId11"/>
    </p:custData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处理器</a:t>
                      </a: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调度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一、指令流</a:t>
                      </a: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与执行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应用程序与指令流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顺序与并发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执行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1.3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指令流的描述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en-US" altLang="zh-CN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线程与处理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器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2.1 CPU时间与线程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2.2</a:t>
                      </a: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线程的描述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2.3 纤程与协程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三、处理器调度算法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3.1 调度算法原理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多处理器与并发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59385"/>
            <a:ext cx="9121140" cy="64928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rgbClr val="9C0B15"/>
                </a:solidFill>
              </a:rPr>
              <a:t>时间片轮转法的改进</a:t>
            </a:r>
            <a:endParaRPr lang="zh-CN" altLang="en-US" sz="2000"/>
          </a:p>
          <a:p>
            <a:pPr algn="l">
              <a:lnSpc>
                <a:spcPct val="90000"/>
              </a:lnSpc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lnSpc>
                <a:spcPct val="90000"/>
              </a:lnSpc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  <a:sym typeface="+mn-ea"/>
              </a:rPr>
              <a:t>问题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时间片轮转法无视了进程的固定优先级。如何把固定优先级加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回系统，使其能够做到保证</a:t>
            </a:r>
            <a:r>
              <a:rPr lang="en-US" altLang="zh-CN" sz="2000">
                <a:solidFill>
                  <a:srgbClr val="9C0B15"/>
                </a:solidFill>
                <a:sym typeface="+mn-ea"/>
              </a:rPr>
              <a:t>平均CPU获得</a:t>
            </a:r>
            <a:r>
              <a:rPr lang="zh-CN" altLang="en-US" sz="2000">
                <a:sym typeface="+mn-ea"/>
              </a:rPr>
              <a:t>的基础上，满足某些特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别任务的</a:t>
            </a:r>
            <a:r>
              <a:rPr lang="en-US" altLang="zh-CN" sz="2000">
                <a:solidFill>
                  <a:srgbClr val="9C0B15"/>
                </a:solidFill>
                <a:sym typeface="+mn-ea"/>
              </a:rPr>
              <a:t>高优先级需求</a:t>
            </a:r>
            <a:r>
              <a:rPr lang="zh-CN" altLang="en-US" sz="2000">
                <a:sym typeface="+mn-ea"/>
              </a:rPr>
              <a:t>？</a:t>
            </a:r>
            <a:endParaRPr lang="zh-CN" altLang="en-US" sz="2000">
              <a:sym typeface="+mn-ea"/>
            </a:endParaRPr>
          </a:p>
          <a:p>
            <a:pPr algn="l">
              <a:lnSpc>
                <a:spcPct val="90000"/>
              </a:lnSpc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lnSpc>
                <a:spcPct val="90000"/>
              </a:lnSpc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  <a:sym typeface="+mn-ea"/>
              </a:rPr>
              <a:t>固定优先级时间片轮转法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 Fixed-Priority </a:t>
            </a:r>
            <a:r>
              <a:rPr lang="zh-CN" altLang="en-US" sz="2000" b="1">
                <a:solidFill>
                  <a:srgbClr val="9C0B15"/>
                </a:solidFill>
                <a:sym typeface="+mn-ea"/>
              </a:rPr>
              <a:t>Round-Robin，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FP</a:t>
            </a:r>
            <a:r>
              <a:rPr lang="zh-CN" altLang="en-US" sz="2000" b="1">
                <a:solidFill>
                  <a:srgbClr val="9C0B15"/>
                </a:solidFill>
                <a:sym typeface="+mn-ea"/>
              </a:rPr>
              <a:t>RR</a:t>
            </a: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>
              <a:lnSpc>
                <a:spcPct val="90000"/>
              </a:lnSpc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>
                <a:sym typeface="+mn-ea"/>
              </a:rPr>
              <a:t>将时间片轮转法进行改进，同一个优先级的任务采取</a:t>
            </a:r>
            <a:r>
              <a:rPr lang="en-US" altLang="zh-CN" sz="2000">
                <a:solidFill>
                  <a:srgbClr val="9C0B15"/>
                </a:solidFill>
                <a:sym typeface="+mn-ea"/>
              </a:rPr>
              <a:t>时间片轮		转法</a:t>
            </a:r>
            <a:r>
              <a:rPr lang="zh-CN" altLang="en-US" sz="2000">
                <a:sym typeface="+mn-ea"/>
              </a:rPr>
              <a:t>，不同优先级的任务之间则采取严格的</a:t>
            </a:r>
            <a:r>
              <a:rPr lang="en-US" altLang="zh-CN" sz="2000">
                <a:solidFill>
                  <a:srgbClr val="9C0B15"/>
                </a:solidFill>
                <a:sym typeface="+mn-ea"/>
              </a:rPr>
              <a:t>抢占式固定优先级		调度</a:t>
            </a:r>
            <a:r>
              <a:rPr lang="zh-CN" altLang="en-US" sz="2000">
                <a:sym typeface="+mn-ea"/>
              </a:rPr>
              <a:t>。结合了两者的</a:t>
            </a:r>
            <a:r>
              <a:rPr lang="zh-CN" altLang="en-US" sz="2000">
                <a:sym typeface="+mn-ea"/>
              </a:rPr>
              <a:t>优点。</a:t>
            </a:r>
            <a:endParaRPr lang="zh-CN" altLang="en-US" sz="2000">
              <a:sym typeface="+mn-ea"/>
            </a:endParaRPr>
          </a:p>
          <a:p>
            <a:pPr algn="l">
              <a:lnSpc>
                <a:spcPct val="90000"/>
              </a:lnSpc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lnSpc>
                <a:spcPct val="90000"/>
              </a:lnSpc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lnSpc>
                <a:spcPct val="90000"/>
              </a:lnSpc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lnSpc>
                <a:spcPct val="90000"/>
              </a:lnSpc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lnSpc>
                <a:spcPct val="90000"/>
              </a:lnSpc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lnSpc>
                <a:spcPct val="90000"/>
              </a:lnSpc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lnSpc>
                <a:spcPct val="90000"/>
              </a:lnSpc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lnSpc>
                <a:spcPct val="90000"/>
              </a:lnSpc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lnSpc>
                <a:spcPct val="90000"/>
              </a:lnSpc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lnSpc>
                <a:spcPct val="90000"/>
              </a:lnSpc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lnSpc>
                <a:spcPct val="90000"/>
              </a:lnSpc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  <a:sym typeface="+mn-ea"/>
              </a:rPr>
              <a:t>特点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非常适合某些小型实时系统。即便在大型系统中，有时候也能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取得不错的性能。最重要的是，在所有效果不错的调度器里面，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它能做到</a:t>
            </a:r>
            <a:r>
              <a:rPr lang="en-US" altLang="zh-CN" sz="2000">
                <a:sym typeface="+mn-ea"/>
              </a:rPr>
              <a:t>O(1)</a:t>
            </a:r>
            <a:r>
              <a:rPr lang="zh-CN" altLang="en-US" sz="2000">
                <a:sym typeface="+mn-ea"/>
              </a:rPr>
              <a:t>查询。（</a:t>
            </a:r>
            <a:r>
              <a:rPr lang="en-US" altLang="zh-CN" sz="2000">
                <a:solidFill>
                  <a:srgbClr val="9C0B15"/>
                </a:solidFill>
                <a:sym typeface="+mn-ea"/>
              </a:rPr>
              <a:t>调度器的性能为何重要？</a:t>
            </a:r>
            <a:r>
              <a:rPr lang="zh-CN" altLang="en-US" sz="2000">
                <a:sym typeface="+mn-ea"/>
              </a:rPr>
              <a:t>）</a:t>
            </a:r>
            <a:endParaRPr lang="zh-CN" altLang="en-US" sz="2000">
              <a:sym typeface="+mn-ea"/>
            </a:endParaRPr>
          </a:p>
        </p:txBody>
      </p:sp>
      <p:sp>
        <p:nvSpPr>
          <p:cNvPr id="6" name="矩形 5"/>
          <p:cNvSpPr/>
          <p:nvPr>
            <p:custDataLst>
              <p:tags r:id="rId2"/>
            </p:custDataLst>
          </p:nvPr>
        </p:nvSpPr>
        <p:spPr>
          <a:xfrm>
            <a:off x="737870" y="4966970"/>
            <a:ext cx="1513840" cy="423545"/>
          </a:xfrm>
          <a:prstGeom prst="rect">
            <a:avLst/>
          </a:prstGeom>
          <a:solidFill>
            <a:schemeClr val="accent1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2800" b="1">
                <a:sym typeface="+mn-ea"/>
              </a:rPr>
              <a:t>E1</a:t>
            </a:r>
            <a:endParaRPr lang="en-US" altLang="zh-CN" sz="2800" b="1">
              <a:sym typeface="+mn-ea"/>
            </a:endParaRPr>
          </a:p>
        </p:txBody>
      </p:sp>
      <p:sp>
        <p:nvSpPr>
          <p:cNvPr id="7" name="矩形 6"/>
          <p:cNvSpPr/>
          <p:nvPr>
            <p:custDataLst>
              <p:tags r:id="rId3"/>
            </p:custDataLst>
          </p:nvPr>
        </p:nvSpPr>
        <p:spPr>
          <a:xfrm>
            <a:off x="2251710" y="4966970"/>
            <a:ext cx="781050" cy="423545"/>
          </a:xfrm>
          <a:prstGeom prst="rect">
            <a:avLst/>
          </a:prstGeom>
          <a:solidFill>
            <a:srgbClr val="00B050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2800" b="1">
                <a:sym typeface="+mn-ea"/>
              </a:rPr>
              <a:t>E2</a:t>
            </a:r>
            <a:endParaRPr lang="en-US" altLang="zh-CN" sz="2800" b="1">
              <a:sym typeface="+mn-ea"/>
            </a:endParaRPr>
          </a:p>
        </p:txBody>
      </p:sp>
      <p:sp>
        <p:nvSpPr>
          <p:cNvPr id="8" name="矩形 7"/>
          <p:cNvSpPr/>
          <p:nvPr>
            <p:custDataLst>
              <p:tags r:id="rId4"/>
            </p:custDataLst>
          </p:nvPr>
        </p:nvSpPr>
        <p:spPr>
          <a:xfrm>
            <a:off x="3032760" y="4966970"/>
            <a:ext cx="781685" cy="423545"/>
          </a:xfrm>
          <a:prstGeom prst="rect">
            <a:avLst/>
          </a:prstGeom>
          <a:solidFill>
            <a:srgbClr val="FFC000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2800" b="1">
                <a:sym typeface="+mn-ea"/>
              </a:rPr>
              <a:t>E3</a:t>
            </a:r>
            <a:endParaRPr lang="en-US" altLang="zh-CN" sz="2800" b="1">
              <a:sym typeface="+mn-ea"/>
            </a:endParaRPr>
          </a:p>
        </p:txBody>
      </p:sp>
      <p:sp>
        <p:nvSpPr>
          <p:cNvPr id="60" name="矩形 59"/>
          <p:cNvSpPr/>
          <p:nvPr>
            <p:custDataLst>
              <p:tags r:id="rId5"/>
            </p:custDataLst>
          </p:nvPr>
        </p:nvSpPr>
        <p:spPr>
          <a:xfrm>
            <a:off x="3814445" y="4966970"/>
            <a:ext cx="781050" cy="423545"/>
          </a:xfrm>
          <a:prstGeom prst="rect">
            <a:avLst/>
          </a:prstGeom>
          <a:solidFill>
            <a:srgbClr val="00B050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2800" b="1">
                <a:sym typeface="+mn-ea"/>
              </a:rPr>
              <a:t>E2</a:t>
            </a:r>
            <a:endParaRPr lang="en-US" altLang="zh-CN" sz="2800" b="1">
              <a:sym typeface="+mn-ea"/>
            </a:endParaRPr>
          </a:p>
        </p:txBody>
      </p:sp>
      <p:sp>
        <p:nvSpPr>
          <p:cNvPr id="61" name="矩形 60"/>
          <p:cNvSpPr/>
          <p:nvPr>
            <p:custDataLst>
              <p:tags r:id="rId6"/>
            </p:custDataLst>
          </p:nvPr>
        </p:nvSpPr>
        <p:spPr>
          <a:xfrm>
            <a:off x="4595495" y="4966970"/>
            <a:ext cx="781685" cy="423545"/>
          </a:xfrm>
          <a:prstGeom prst="rect">
            <a:avLst/>
          </a:prstGeom>
          <a:solidFill>
            <a:srgbClr val="FFC000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2800" b="1">
                <a:sym typeface="+mn-ea"/>
              </a:rPr>
              <a:t>E3</a:t>
            </a:r>
            <a:endParaRPr lang="en-US" altLang="zh-CN" sz="2800" b="1">
              <a:sym typeface="+mn-ea"/>
            </a:endParaRPr>
          </a:p>
        </p:txBody>
      </p:sp>
      <p:sp>
        <p:nvSpPr>
          <p:cNvPr id="62" name="矩形 61"/>
          <p:cNvSpPr/>
          <p:nvPr>
            <p:custDataLst>
              <p:tags r:id="rId7"/>
            </p:custDataLst>
          </p:nvPr>
        </p:nvSpPr>
        <p:spPr>
          <a:xfrm>
            <a:off x="6158230" y="4966970"/>
            <a:ext cx="605790" cy="423545"/>
          </a:xfrm>
          <a:prstGeom prst="rect">
            <a:avLst/>
          </a:prstGeom>
          <a:solidFill>
            <a:srgbClr val="FFC000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2800" b="1">
                <a:sym typeface="+mn-ea"/>
              </a:rPr>
              <a:t>E3</a:t>
            </a:r>
            <a:endParaRPr lang="en-US" altLang="zh-CN" sz="2800" b="1">
              <a:sym typeface="+mn-ea"/>
            </a:endParaRPr>
          </a:p>
        </p:txBody>
      </p:sp>
      <p:sp>
        <p:nvSpPr>
          <p:cNvPr id="63" name="矩形 62"/>
          <p:cNvSpPr/>
          <p:nvPr>
            <p:custDataLst>
              <p:tags r:id="rId8"/>
            </p:custDataLst>
          </p:nvPr>
        </p:nvSpPr>
        <p:spPr>
          <a:xfrm>
            <a:off x="5377180" y="4966970"/>
            <a:ext cx="781050" cy="423545"/>
          </a:xfrm>
          <a:prstGeom prst="rect">
            <a:avLst/>
          </a:prstGeom>
          <a:solidFill>
            <a:srgbClr val="00B050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2800" b="1">
                <a:sym typeface="+mn-ea"/>
              </a:rPr>
              <a:t>E2</a:t>
            </a:r>
            <a:endParaRPr lang="en-US" altLang="zh-CN" sz="2800" b="1">
              <a:sym typeface="+mn-ea"/>
            </a:endParaRPr>
          </a:p>
        </p:txBody>
      </p:sp>
      <p:sp>
        <p:nvSpPr>
          <p:cNvPr id="64" name="矩形 63"/>
          <p:cNvSpPr/>
          <p:nvPr>
            <p:custDataLst>
              <p:tags r:id="rId9"/>
            </p:custDataLst>
          </p:nvPr>
        </p:nvSpPr>
        <p:spPr>
          <a:xfrm>
            <a:off x="6764020" y="4966970"/>
            <a:ext cx="2331720" cy="423545"/>
          </a:xfrm>
          <a:prstGeom prst="rect">
            <a:avLst/>
          </a:prstGeom>
          <a:solidFill>
            <a:srgbClr val="00B050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2800" b="1">
                <a:sym typeface="+mn-ea"/>
              </a:rPr>
              <a:t>E2</a:t>
            </a:r>
            <a:endParaRPr lang="en-US" altLang="zh-CN" sz="2800" b="1">
              <a:sym typeface="+mn-ea"/>
            </a:endParaRPr>
          </a:p>
        </p:txBody>
      </p:sp>
      <p:graphicFrame>
        <p:nvGraphicFramePr>
          <p:cNvPr id="2" name="表格 1"/>
          <p:cNvGraphicFramePr/>
          <p:nvPr>
            <p:custDataLst>
              <p:tags r:id="rId10"/>
            </p:custDataLst>
          </p:nvPr>
        </p:nvGraphicFramePr>
        <p:xfrm>
          <a:off x="2673985" y="3143885"/>
          <a:ext cx="4440555" cy="162687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737235"/>
                <a:gridCol w="1417955"/>
                <a:gridCol w="1283970"/>
                <a:gridCol w="1001395"/>
              </a:tblGrid>
              <a:tr h="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线程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到达时间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运行</a:t>
                      </a: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时间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优先级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021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E1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0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4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1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021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E2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0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10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2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021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E3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0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5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2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</p:spTree>
    <p:custDataLst>
      <p:tags r:id="rId11"/>
    </p:custData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处理器</a:t>
                      </a: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调度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一、指令流</a:t>
                      </a: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与执行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应用程序与指令流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顺序与并发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执行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1.3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指令流的描述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en-US" altLang="zh-CN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线程与处理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器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2.1 CPU时间与线程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2.2</a:t>
                      </a: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线程的描述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2.3 纤程与协程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三、处理器调度算法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3.1 调度算法原理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多处理器与并发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59385"/>
            <a:ext cx="9121140" cy="64623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lnSpc>
                <a:spcPct val="90000"/>
              </a:lnSpc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复杂系统的调度：按线程行为</a:t>
            </a:r>
            <a:r>
              <a:rPr lang="zh-CN" altLang="en-US" sz="2000" b="1">
                <a:solidFill>
                  <a:srgbClr val="9C0B15"/>
                </a:solidFill>
              </a:rPr>
              <a:t>分类</a:t>
            </a:r>
            <a:endParaRPr lang="zh-CN" altLang="en-US" sz="2000" b="1">
              <a:solidFill>
                <a:srgbClr val="9C0B15"/>
              </a:solidFill>
            </a:endParaRPr>
          </a:p>
          <a:p>
            <a:pPr algn="ctr">
              <a:lnSpc>
                <a:spcPct val="90000"/>
              </a:lnSpc>
              <a:buClrTx/>
              <a:buSzTx/>
              <a:buFontTx/>
            </a:pPr>
            <a:endParaRPr lang="zh-CN" altLang="en-US" sz="2000" b="1">
              <a:solidFill>
                <a:srgbClr val="9C0B15"/>
              </a:solidFill>
            </a:endParaRPr>
          </a:p>
          <a:p>
            <a:pPr algn="l">
              <a:lnSpc>
                <a:spcPct val="90000"/>
              </a:lnSpc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问题</a:t>
            </a:r>
            <a:r>
              <a:rPr lang="en-US" altLang="zh-CN" sz="2000" b="1">
                <a:solidFill>
                  <a:srgbClr val="9C0B15"/>
                </a:solidFill>
              </a:rPr>
              <a:t>		</a:t>
            </a:r>
            <a:r>
              <a:rPr lang="zh-CN" altLang="en-US" sz="2000"/>
              <a:t>单一的调度算法</a:t>
            </a:r>
            <a:r>
              <a:rPr lang="en-US" altLang="zh-CN" sz="2000">
                <a:solidFill>
                  <a:srgbClr val="9C0B15"/>
                </a:solidFill>
              </a:rPr>
              <a:t>各有各的缺点</a:t>
            </a:r>
            <a:r>
              <a:rPr lang="zh-CN" altLang="en-US" sz="2000"/>
              <a:t>。怎么将这些调度算法组合起来，</a:t>
            </a:r>
            <a:r>
              <a:rPr lang="zh-CN" altLang="en-US" sz="2000">
                <a:sym typeface="+mn-ea"/>
              </a:rPr>
              <a:t>		</a:t>
            </a:r>
            <a:r>
              <a:rPr lang="zh-CN" altLang="en-US" sz="2000"/>
              <a:t>形成一个</a:t>
            </a:r>
            <a:r>
              <a:rPr lang="en-US" altLang="zh-CN" sz="2000">
                <a:solidFill>
                  <a:srgbClr val="9C0B15"/>
                </a:solidFill>
              </a:rPr>
              <a:t>综合的算法</a:t>
            </a:r>
            <a:r>
              <a:rPr lang="zh-CN" altLang="en-US" sz="2000"/>
              <a:t>？</a:t>
            </a:r>
            <a:endParaRPr lang="zh-CN" altLang="en-US" sz="2000"/>
          </a:p>
          <a:p>
            <a:pPr algn="l">
              <a:lnSpc>
                <a:spcPct val="90000"/>
              </a:lnSpc>
              <a:buClrTx/>
              <a:buSzTx/>
              <a:buFontTx/>
            </a:pPr>
            <a:endParaRPr lang="zh-CN" altLang="en-US" sz="2000" b="1">
              <a:solidFill>
                <a:srgbClr val="9C0B15"/>
              </a:solidFill>
            </a:endParaRPr>
          </a:p>
          <a:p>
            <a:pPr algn="l">
              <a:lnSpc>
                <a:spcPct val="90000"/>
              </a:lnSpc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多级队列</a:t>
            </a:r>
            <a:r>
              <a:rPr lang="en-US" altLang="zh-CN" sz="2000" b="1">
                <a:solidFill>
                  <a:srgbClr val="9C0B15"/>
                </a:solidFill>
              </a:rPr>
              <a:t>	</a:t>
            </a:r>
            <a:r>
              <a:rPr lang="zh-CN" altLang="en-US" sz="2000">
                <a:sym typeface="+mn-ea"/>
              </a:rPr>
              <a:t>将线程按</a:t>
            </a:r>
            <a:r>
              <a:rPr lang="en-US" altLang="zh-CN" sz="2000">
                <a:solidFill>
                  <a:srgbClr val="9C0B15"/>
                </a:solidFill>
                <a:sym typeface="+mn-ea"/>
              </a:rPr>
              <a:t>类型</a:t>
            </a:r>
            <a:r>
              <a:rPr lang="zh-CN" altLang="en-US" sz="2000">
                <a:sym typeface="+mn-ea"/>
              </a:rPr>
              <a:t>分成不同的队列，每个队列采用</a:t>
            </a:r>
            <a:r>
              <a:rPr lang="en-US" altLang="zh-CN" sz="2000">
                <a:solidFill>
                  <a:srgbClr val="9C0B15"/>
                </a:solidFill>
                <a:sym typeface="+mn-ea"/>
              </a:rPr>
              <a:t>适合自身的调度</a:t>
            </a:r>
            <a:r>
              <a:rPr lang="en-US" altLang="zh-CN" sz="2000">
                <a:solidFill>
                  <a:srgbClr val="9C0B15"/>
                </a:solidFill>
                <a:sym typeface="+mn-ea"/>
              </a:rPr>
              <a:t>		</a:t>
            </a:r>
            <a:r>
              <a:rPr lang="en-US" altLang="zh-CN" sz="2000">
                <a:solidFill>
                  <a:srgbClr val="9C0B15"/>
                </a:solidFill>
                <a:sym typeface="+mn-ea"/>
              </a:rPr>
              <a:t>算法</a:t>
            </a:r>
            <a:r>
              <a:rPr lang="zh-CN" altLang="en-US" sz="2000">
                <a:sym typeface="+mn-ea"/>
              </a:rPr>
              <a:t>，队列之间又有</a:t>
            </a:r>
            <a:r>
              <a:rPr lang="en-US" altLang="zh-CN" sz="2000">
                <a:solidFill>
                  <a:srgbClr val="9C0B15"/>
                </a:solidFill>
                <a:sym typeface="+mn-ea"/>
              </a:rPr>
              <a:t>队列间的调度算法</a:t>
            </a:r>
            <a:r>
              <a:rPr lang="zh-CN" altLang="en-US" sz="2000">
                <a:sym typeface="+mn-ea"/>
              </a:rPr>
              <a:t>。</a:t>
            </a:r>
            <a:endParaRPr lang="zh-CN" altLang="en-US" sz="2000">
              <a:sym typeface="+mn-ea"/>
            </a:endParaRPr>
          </a:p>
          <a:p>
            <a:pPr algn="l">
              <a:lnSpc>
                <a:spcPct val="90000"/>
              </a:lnSpc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lnSpc>
                <a:spcPct val="90000"/>
              </a:lnSpc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lnSpc>
                <a:spcPct val="90000"/>
              </a:lnSpc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lnSpc>
                <a:spcPct val="90000"/>
              </a:lnSpc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lnSpc>
                <a:spcPct val="90000"/>
              </a:lnSpc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lnSpc>
                <a:spcPct val="90000"/>
              </a:lnSpc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lnSpc>
                <a:spcPct val="90000"/>
              </a:lnSpc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lnSpc>
                <a:spcPct val="90000"/>
              </a:lnSpc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lnSpc>
                <a:spcPct val="90000"/>
              </a:lnSpc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lnSpc>
                <a:spcPct val="90000"/>
              </a:lnSpc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lnSpc>
                <a:spcPct val="90000"/>
              </a:lnSpc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lnSpc>
                <a:spcPct val="90000"/>
              </a:lnSpc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  <a:sym typeface="+mn-ea"/>
              </a:rPr>
              <a:t>问题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同一个线程可能承载</a:t>
            </a:r>
            <a:r>
              <a:rPr lang="en-US" altLang="zh-CN" sz="2000">
                <a:solidFill>
                  <a:srgbClr val="9C0B15"/>
                </a:solidFill>
                <a:sym typeface="+mn-ea"/>
              </a:rPr>
              <a:t>不同的指令流</a:t>
            </a:r>
            <a:r>
              <a:rPr lang="zh-CN" altLang="en-US" sz="2000">
                <a:sym typeface="+mn-ea"/>
              </a:rPr>
              <a:t>；同一个指令流的行为在不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同的</a:t>
            </a:r>
            <a:r>
              <a:rPr lang="en-US" altLang="zh-CN" sz="2000">
                <a:solidFill>
                  <a:srgbClr val="9C0B15"/>
                </a:solidFill>
                <a:sym typeface="+mn-ea"/>
              </a:rPr>
              <a:t>执行阶段</a:t>
            </a:r>
            <a:r>
              <a:rPr lang="zh-CN" altLang="en-US" sz="2000">
                <a:sym typeface="+mn-ea"/>
              </a:rPr>
              <a:t>也可能</a:t>
            </a:r>
            <a:r>
              <a:rPr lang="en-US" altLang="zh-CN" sz="2000">
                <a:solidFill>
                  <a:srgbClr val="9C0B15"/>
                </a:solidFill>
                <a:sym typeface="+mn-ea"/>
              </a:rPr>
              <a:t>发生改变</a:t>
            </a:r>
            <a:r>
              <a:rPr lang="zh-CN" altLang="en-US" sz="2000">
                <a:sym typeface="+mn-ea"/>
              </a:rPr>
              <a:t>。</a:t>
            </a:r>
            <a:endParaRPr lang="zh-CN" altLang="en-US" sz="2000" b="1">
              <a:solidFill>
                <a:srgbClr val="9C0B15"/>
              </a:solidFill>
            </a:endParaRPr>
          </a:p>
          <a:p>
            <a:pPr algn="l">
              <a:lnSpc>
                <a:spcPct val="90000"/>
              </a:lnSpc>
              <a:buClrTx/>
              <a:buSzTx/>
              <a:buFontTx/>
            </a:pPr>
            <a:endParaRPr lang="zh-CN" altLang="en-US" sz="2000" b="1">
              <a:solidFill>
                <a:srgbClr val="9C0B15"/>
              </a:solidFill>
            </a:endParaRPr>
          </a:p>
          <a:p>
            <a:pPr algn="l">
              <a:lnSpc>
                <a:spcPct val="90000"/>
              </a:lnSpc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多级反馈队列</a:t>
            </a:r>
            <a:r>
              <a:rPr lang="en-US" altLang="zh-CN" sz="2000" b="1">
                <a:solidFill>
                  <a:srgbClr val="9C0B15"/>
                </a:solidFill>
              </a:rPr>
              <a:t>	</a:t>
            </a:r>
            <a:r>
              <a:rPr lang="zh-CN" altLang="en-US" sz="2000"/>
              <a:t>在多级队列的基础上，</a:t>
            </a:r>
            <a:r>
              <a:rPr lang="en-US" altLang="zh-CN" sz="2000">
                <a:solidFill>
                  <a:srgbClr val="9C0B15"/>
                </a:solidFill>
              </a:rPr>
              <a:t>实时动态检测每个线程的行为</a:t>
            </a:r>
            <a:r>
              <a:rPr lang="zh-CN" altLang="en-US" sz="2000"/>
              <a:t>，并在原</a:t>
            </a:r>
            <a:r>
              <a:rPr lang="zh-CN" altLang="en-US" sz="2000">
                <a:sym typeface="+mn-ea"/>
              </a:rPr>
              <a:t>		</a:t>
            </a:r>
            <a:r>
              <a:rPr lang="zh-CN" altLang="en-US" sz="2000"/>
              <a:t>有队列不合适时</a:t>
            </a:r>
            <a:r>
              <a:rPr lang="en-US" altLang="zh-CN" sz="2000">
                <a:solidFill>
                  <a:srgbClr val="9C0B15"/>
                </a:solidFill>
              </a:rPr>
              <a:t>为其</a:t>
            </a:r>
            <a:r>
              <a:rPr lang="zh-CN" altLang="en-US" sz="2000">
                <a:solidFill>
                  <a:srgbClr val="9C0B15"/>
                </a:solidFill>
              </a:rPr>
              <a:t>更换到</a:t>
            </a:r>
            <a:r>
              <a:rPr lang="en-US" altLang="zh-CN" sz="2000">
                <a:solidFill>
                  <a:srgbClr val="9C0B15"/>
                </a:solidFill>
              </a:rPr>
              <a:t>合适的队列</a:t>
            </a:r>
            <a:r>
              <a:rPr lang="zh-CN" altLang="en-US" sz="2000"/>
              <a:t>。</a:t>
            </a:r>
            <a:endParaRPr lang="zh-CN" altLang="en-US" sz="2000"/>
          </a:p>
        </p:txBody>
      </p:sp>
      <p:sp>
        <p:nvSpPr>
          <p:cNvPr id="6" name="矩形 5"/>
          <p:cNvSpPr/>
          <p:nvPr/>
        </p:nvSpPr>
        <p:spPr>
          <a:xfrm>
            <a:off x="1725930" y="2247265"/>
            <a:ext cx="6504940" cy="401955"/>
          </a:xfrm>
          <a:prstGeom prst="rect">
            <a:avLst/>
          </a:prstGeom>
          <a:solidFill>
            <a:srgbClr val="FF0000">
              <a:alpha val="50000"/>
            </a:srgbClr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b="1">
                <a:sym typeface="+mn-ea"/>
              </a:rPr>
              <a:t>安全监控线程：</a:t>
            </a:r>
            <a:r>
              <a:rPr lang="en-US" altLang="zh-CN" b="1">
                <a:sym typeface="+mn-ea"/>
              </a:rPr>
              <a:t>FP</a:t>
            </a:r>
            <a:endParaRPr lang="en-US" altLang="zh-CN" b="1">
              <a:sym typeface="+mn-ea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731010" y="3027045"/>
            <a:ext cx="6504940" cy="401955"/>
          </a:xfrm>
          <a:prstGeom prst="rect">
            <a:avLst/>
          </a:prstGeom>
          <a:solidFill>
            <a:srgbClr val="FFC000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b="1">
                <a:sym typeface="+mn-ea"/>
              </a:rPr>
              <a:t>驱动程序线程：</a:t>
            </a:r>
            <a:r>
              <a:rPr lang="en-US" altLang="zh-CN" b="1">
                <a:sym typeface="+mn-ea"/>
              </a:rPr>
              <a:t>FP</a:t>
            </a:r>
            <a:r>
              <a:rPr lang="en-US" altLang="zh-CN" b="1">
                <a:sym typeface="+mn-ea"/>
              </a:rPr>
              <a:t>RR</a:t>
            </a:r>
            <a:endParaRPr lang="en-US" altLang="zh-CN" b="1">
              <a:sym typeface="+mn-ea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727200" y="3811905"/>
            <a:ext cx="6504940" cy="401955"/>
          </a:xfrm>
          <a:prstGeom prst="rect">
            <a:avLst/>
          </a:prstGeom>
          <a:solidFill>
            <a:srgbClr val="00B050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b="1">
                <a:sym typeface="+mn-ea"/>
              </a:rPr>
              <a:t>前台交互线程：</a:t>
            </a:r>
            <a:r>
              <a:rPr lang="en-US" altLang="zh-CN" b="1">
                <a:sym typeface="+mn-ea"/>
              </a:rPr>
              <a:t>SJF/RR</a:t>
            </a:r>
            <a:endParaRPr lang="en-US" altLang="zh-CN" b="1">
              <a:sym typeface="+mn-ea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29740" y="4575810"/>
            <a:ext cx="6504940" cy="401955"/>
          </a:xfrm>
          <a:prstGeom prst="rect">
            <a:avLst/>
          </a:prstGeom>
          <a:solidFill>
            <a:schemeClr val="accent1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b="1">
                <a:sym typeface="+mn-ea"/>
              </a:rPr>
              <a:t>后台计算线程：</a:t>
            </a:r>
            <a:r>
              <a:rPr lang="en-US" altLang="zh-CN" b="1">
                <a:sym typeface="+mn-ea"/>
              </a:rPr>
              <a:t>F</a:t>
            </a:r>
            <a:r>
              <a:rPr lang="en-US" altLang="zh-CN" b="1">
                <a:sym typeface="+mn-ea"/>
              </a:rPr>
              <a:t>CFS</a:t>
            </a:r>
            <a:endParaRPr lang="en-US" altLang="zh-CN" b="1">
              <a:sym typeface="+mn-ea"/>
            </a:endParaRPr>
          </a:p>
        </p:txBody>
      </p:sp>
      <p:sp>
        <p:nvSpPr>
          <p:cNvPr id="7" name="右箭头 6"/>
          <p:cNvSpPr/>
          <p:nvPr/>
        </p:nvSpPr>
        <p:spPr>
          <a:xfrm>
            <a:off x="746760" y="2263775"/>
            <a:ext cx="979170" cy="385445"/>
          </a:xfrm>
          <a:prstGeom prst="rightArrow">
            <a:avLst/>
          </a:prstGeom>
          <a:solidFill>
            <a:srgbClr val="FF0000">
              <a:alpha val="50000"/>
            </a:srgbClr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右箭头 8"/>
          <p:cNvSpPr/>
          <p:nvPr/>
        </p:nvSpPr>
        <p:spPr>
          <a:xfrm>
            <a:off x="8232140" y="2263775"/>
            <a:ext cx="979170" cy="385445"/>
          </a:xfrm>
          <a:prstGeom prst="rightArrow">
            <a:avLst/>
          </a:prstGeom>
          <a:solidFill>
            <a:srgbClr val="FF0000">
              <a:alpha val="50000"/>
            </a:srgbClr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右箭头 14"/>
          <p:cNvSpPr/>
          <p:nvPr/>
        </p:nvSpPr>
        <p:spPr>
          <a:xfrm>
            <a:off x="750570" y="3043555"/>
            <a:ext cx="979170" cy="385445"/>
          </a:xfrm>
          <a:prstGeom prst="rightArrow">
            <a:avLst/>
          </a:prstGeom>
          <a:solidFill>
            <a:srgbClr val="FFC000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右箭头 16"/>
          <p:cNvSpPr/>
          <p:nvPr/>
        </p:nvSpPr>
        <p:spPr>
          <a:xfrm>
            <a:off x="746760" y="3828415"/>
            <a:ext cx="979170" cy="385445"/>
          </a:xfrm>
          <a:prstGeom prst="rightArrow">
            <a:avLst/>
          </a:prstGeom>
          <a:solidFill>
            <a:srgbClr val="00B050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右箭头 24"/>
          <p:cNvSpPr/>
          <p:nvPr/>
        </p:nvSpPr>
        <p:spPr>
          <a:xfrm>
            <a:off x="751840" y="4592320"/>
            <a:ext cx="979170" cy="385445"/>
          </a:xfrm>
          <a:prstGeom prst="rightArrow">
            <a:avLst/>
          </a:prstGeom>
          <a:solidFill>
            <a:srgbClr val="0070C0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" name="右箭头 25"/>
          <p:cNvSpPr/>
          <p:nvPr/>
        </p:nvSpPr>
        <p:spPr>
          <a:xfrm>
            <a:off x="8235950" y="3043555"/>
            <a:ext cx="979170" cy="385445"/>
          </a:xfrm>
          <a:prstGeom prst="rightArrow">
            <a:avLst/>
          </a:prstGeom>
          <a:solidFill>
            <a:srgbClr val="FFC000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8" name="右箭头 27"/>
          <p:cNvSpPr/>
          <p:nvPr/>
        </p:nvSpPr>
        <p:spPr>
          <a:xfrm>
            <a:off x="8230870" y="3811905"/>
            <a:ext cx="979170" cy="385445"/>
          </a:xfrm>
          <a:prstGeom prst="rightArrow">
            <a:avLst/>
          </a:prstGeom>
          <a:solidFill>
            <a:srgbClr val="00B050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0" name="右箭头 59"/>
          <p:cNvSpPr/>
          <p:nvPr/>
        </p:nvSpPr>
        <p:spPr>
          <a:xfrm>
            <a:off x="8235950" y="4592320"/>
            <a:ext cx="979170" cy="385445"/>
          </a:xfrm>
          <a:prstGeom prst="rightArrow">
            <a:avLst/>
          </a:prstGeom>
          <a:solidFill>
            <a:srgbClr val="0070C0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65" name="直接箭头连接符 64"/>
          <p:cNvCxnSpPr>
            <a:stCxn id="6" idx="2"/>
            <a:endCxn id="2" idx="0"/>
          </p:cNvCxnSpPr>
          <p:nvPr/>
        </p:nvCxnSpPr>
        <p:spPr>
          <a:xfrm>
            <a:off x="4978400" y="2649220"/>
            <a:ext cx="5080" cy="377825"/>
          </a:xfrm>
          <a:prstGeom prst="straightConnector1">
            <a:avLst/>
          </a:prstGeom>
          <a:ln w="38100">
            <a:solidFill>
              <a:srgbClr val="D02F35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接箭头连接符 61"/>
          <p:cNvCxnSpPr>
            <a:endCxn id="4" idx="0"/>
          </p:cNvCxnSpPr>
          <p:nvPr/>
        </p:nvCxnSpPr>
        <p:spPr>
          <a:xfrm flipH="1">
            <a:off x="4979670" y="3429000"/>
            <a:ext cx="3810" cy="382905"/>
          </a:xfrm>
          <a:prstGeom prst="straightConnector1">
            <a:avLst/>
          </a:prstGeom>
          <a:ln w="38100">
            <a:solidFill>
              <a:srgbClr val="D02F35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接箭头连接符 62"/>
          <p:cNvCxnSpPr/>
          <p:nvPr/>
        </p:nvCxnSpPr>
        <p:spPr>
          <a:xfrm flipH="1">
            <a:off x="4974590" y="4213860"/>
            <a:ext cx="3810" cy="382905"/>
          </a:xfrm>
          <a:prstGeom prst="straightConnector1">
            <a:avLst/>
          </a:prstGeom>
          <a:ln w="38100">
            <a:solidFill>
              <a:srgbClr val="D02F35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2"/>
    </p:custData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1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1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ldLvl="0" animBg="1"/>
      <p:bldP spid="2" grpId="0" animBg="1"/>
      <p:bldP spid="4" grpId="0" bldLvl="0" animBg="1"/>
      <p:bldP spid="5" grpId="0" animBg="1"/>
      <p:bldP spid="7" grpId="0" bldLvl="0" animBg="1"/>
      <p:bldP spid="9" grpId="0" bldLvl="0" animBg="1"/>
      <p:bldP spid="15" grpId="0" animBg="1"/>
      <p:bldP spid="17" grpId="0" bldLvl="0" animBg="1"/>
      <p:bldP spid="25" grpId="0" animBg="1"/>
      <p:bldP spid="26" grpId="0" animBg="1"/>
      <p:bldP spid="28" grpId="0" bldLvl="0" animBg="1"/>
      <p:bldP spid="60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处理器</a:t>
                      </a: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调度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一、指令流</a:t>
                      </a: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与执行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应用程序与指令流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顺序与并发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执行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1.3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指令流的描述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en-US" altLang="zh-CN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线程与处理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器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2.1 CPU时间与线程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2.2</a:t>
                      </a: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线程的描述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2.3 纤程与协程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三、处理器调度算法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3.1 调度算法原理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多处理器与并发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59385"/>
            <a:ext cx="9121140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lnSpc>
                <a:spcPct val="90000"/>
              </a:lnSpc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层次化调度算法：按线程所在的子系统分类</a:t>
            </a:r>
            <a:endParaRPr lang="zh-CN" altLang="en-US" sz="2000"/>
          </a:p>
          <a:p>
            <a:pPr algn="l">
              <a:lnSpc>
                <a:spcPct val="90000"/>
              </a:lnSpc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lnSpc>
                <a:spcPct val="90000"/>
              </a:lnSpc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问题</a:t>
            </a:r>
            <a:r>
              <a:rPr lang="en-US" altLang="zh-CN" sz="2000" b="1">
                <a:solidFill>
                  <a:srgbClr val="9C0B15"/>
                </a:solidFill>
              </a:rPr>
              <a:t>		</a:t>
            </a:r>
            <a:r>
              <a:rPr lang="zh-CN" altLang="en-US" sz="2000"/>
              <a:t>除了将线程按照</a:t>
            </a:r>
            <a:r>
              <a:rPr lang="en-US" altLang="zh-CN" sz="2000">
                <a:solidFill>
                  <a:srgbClr val="9C0B15"/>
                </a:solidFill>
              </a:rPr>
              <a:t>自身类别分类</a:t>
            </a:r>
            <a:r>
              <a:rPr lang="zh-CN" altLang="en-US" sz="2000"/>
              <a:t>，还可以按照什么方法分类？</a:t>
            </a:r>
            <a:endParaRPr lang="zh-CN" altLang="en-US" sz="2000"/>
          </a:p>
          <a:p>
            <a:pPr algn="l">
              <a:lnSpc>
                <a:spcPct val="90000"/>
              </a:lnSpc>
              <a:buClrTx/>
              <a:buSzTx/>
              <a:buFontTx/>
            </a:pPr>
            <a:endParaRPr lang="zh-CN" altLang="en-US" sz="2000" b="1">
              <a:solidFill>
                <a:srgbClr val="9C0B15"/>
              </a:solidFill>
            </a:endParaRPr>
          </a:p>
          <a:p>
            <a:pPr algn="l">
              <a:lnSpc>
                <a:spcPct val="90000"/>
              </a:lnSpc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  <a:sym typeface="+mn-ea"/>
              </a:rPr>
              <a:t>层次化调度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	</a:t>
            </a:r>
            <a:r>
              <a:rPr lang="zh-CN" altLang="en-US" sz="2000">
                <a:sym typeface="+mn-ea"/>
              </a:rPr>
              <a:t>将一个系统分成</a:t>
            </a:r>
            <a:r>
              <a:rPr lang="en-US" altLang="zh-CN" sz="2000">
                <a:solidFill>
                  <a:srgbClr val="9C0B15"/>
                </a:solidFill>
                <a:sym typeface="+mn-ea"/>
              </a:rPr>
              <a:t>多个子系统</a:t>
            </a:r>
            <a:r>
              <a:rPr lang="zh-CN" altLang="en-US" sz="2000">
                <a:sym typeface="+mn-ea"/>
              </a:rPr>
              <a:t>，每个子系统内部有自己的子调度</a:t>
            </a:r>
            <a:r>
              <a:rPr lang="zh-CN" altLang="en-US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器并采用适合自身的调度算法，一个父调度器则</a:t>
            </a:r>
            <a:r>
              <a:rPr lang="en-US" altLang="zh-CN" sz="2000">
                <a:solidFill>
                  <a:srgbClr val="9C0B15"/>
                </a:solidFill>
                <a:sym typeface="+mn-ea"/>
              </a:rPr>
              <a:t>负责调度多个</a:t>
            </a:r>
            <a:r>
              <a:rPr lang="en-US" altLang="zh-CN" sz="2000">
                <a:solidFill>
                  <a:srgbClr val="9C0B15"/>
                </a:solidFill>
                <a:sym typeface="+mn-ea"/>
              </a:rPr>
              <a:t>		</a:t>
            </a:r>
            <a:r>
              <a:rPr lang="en-US" altLang="zh-CN" sz="2000">
                <a:solidFill>
                  <a:srgbClr val="9C0B15"/>
                </a:solidFill>
                <a:sym typeface="+mn-ea"/>
              </a:rPr>
              <a:t>子系统</a:t>
            </a:r>
            <a:r>
              <a:rPr lang="zh-CN" altLang="en-US" sz="2000">
                <a:sym typeface="+mn-ea"/>
              </a:rPr>
              <a:t>。子系统间的</a:t>
            </a:r>
            <a:r>
              <a:rPr lang="en-US" altLang="zh-CN" sz="2000">
                <a:solidFill>
                  <a:srgbClr val="9C0B15"/>
                </a:solidFill>
                <a:sym typeface="+mn-ea"/>
              </a:rPr>
              <a:t>时间干扰</a:t>
            </a:r>
            <a:r>
              <a:rPr lang="zh-CN" altLang="en-US" sz="2000">
                <a:sym typeface="+mn-ea"/>
              </a:rPr>
              <a:t>可以被父调度器加以限制，非常</a:t>
            </a:r>
            <a:r>
              <a:rPr lang="en-US" altLang="zh-CN" sz="2000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>
                <a:sym typeface="+mn-ea"/>
              </a:rPr>
              <a:t>适合</a:t>
            </a:r>
            <a:r>
              <a:rPr lang="en-US" altLang="zh-CN" sz="2000">
                <a:solidFill>
                  <a:srgbClr val="9C0B15"/>
                </a:solidFill>
                <a:sym typeface="+mn-ea"/>
              </a:rPr>
              <a:t>混合关键度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（</a:t>
            </a:r>
            <a:r>
              <a:rPr lang="en-US" altLang="zh-CN" sz="2000">
                <a:solidFill>
                  <a:srgbClr val="9C0B15"/>
                </a:solidFill>
                <a:sym typeface="+mn-ea"/>
              </a:rPr>
              <a:t>Mixed-Criticality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）</a:t>
            </a:r>
            <a:r>
              <a:rPr lang="zh-CN" altLang="en-US" sz="2000">
                <a:sym typeface="+mn-ea"/>
              </a:rPr>
              <a:t>系统。</a:t>
            </a:r>
            <a:endParaRPr lang="zh-CN" altLang="en-US" sz="2000">
              <a:sym typeface="+mn-ea"/>
            </a:endParaRPr>
          </a:p>
          <a:p>
            <a:pPr algn="l">
              <a:lnSpc>
                <a:spcPct val="90000"/>
              </a:lnSpc>
              <a:buClrTx/>
              <a:buSzTx/>
              <a:buFontTx/>
            </a:pPr>
            <a:r>
              <a:rPr lang="zh-CN" altLang="en-US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关于层次化调度，我们在实时系统和</a:t>
            </a:r>
            <a:r>
              <a:rPr lang="zh-CN" altLang="en-US" sz="2000">
                <a:sym typeface="+mn-ea"/>
              </a:rPr>
              <a:t>混合关键度系统</a:t>
            </a:r>
            <a:r>
              <a:rPr lang="zh-CN" altLang="en-US" sz="2000">
                <a:sym typeface="+mn-ea"/>
              </a:rPr>
              <a:t>的章节再</a:t>
            </a:r>
            <a:r>
              <a:rPr lang="en-US" altLang="zh-CN" sz="2000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>
                <a:sym typeface="+mn-ea"/>
              </a:rPr>
              <a:t>加以涉及。</a:t>
            </a:r>
            <a:endParaRPr lang="zh-CN" altLang="en-US" sz="2000">
              <a:sym typeface="+mn-ea"/>
            </a:endParaRPr>
          </a:p>
        </p:txBody>
      </p:sp>
      <p:sp>
        <p:nvSpPr>
          <p:cNvPr id="2" name="椭圆 1"/>
          <p:cNvSpPr/>
          <p:nvPr/>
        </p:nvSpPr>
        <p:spPr>
          <a:xfrm>
            <a:off x="1714500" y="3020695"/>
            <a:ext cx="7190105" cy="3576955"/>
          </a:xfrm>
          <a:prstGeom prst="ellipse">
            <a:avLst/>
          </a:prstGeom>
          <a:solidFill>
            <a:schemeClr val="bg1">
              <a:alpha val="25000"/>
            </a:schemeClr>
          </a:solidFill>
          <a:ln w="381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p>
            <a:pPr algn="ctr">
              <a:buClrTx/>
              <a:buSzTx/>
              <a:buFontTx/>
            </a:pPr>
            <a:r>
              <a:rPr lang="en-US" altLang="zh-CN" sz="4400" b="1">
                <a:solidFill>
                  <a:schemeClr val="tx1"/>
                </a:solidFill>
              </a:rPr>
              <a:t>A</a:t>
            </a:r>
            <a:endParaRPr lang="en-US" altLang="zh-CN" sz="4400" b="1">
              <a:solidFill>
                <a:schemeClr val="tx1"/>
              </a:solidFill>
            </a:endParaRPr>
          </a:p>
        </p:txBody>
      </p:sp>
      <p:sp>
        <p:nvSpPr>
          <p:cNvPr id="4" name="椭圆 3"/>
          <p:cNvSpPr/>
          <p:nvPr>
            <p:custDataLst>
              <p:tags r:id="rId2"/>
            </p:custDataLst>
          </p:nvPr>
        </p:nvSpPr>
        <p:spPr>
          <a:xfrm>
            <a:off x="2084705" y="3526155"/>
            <a:ext cx="2999105" cy="2566670"/>
          </a:xfrm>
          <a:prstGeom prst="ellipse">
            <a:avLst/>
          </a:prstGeom>
          <a:solidFill>
            <a:srgbClr val="00B050">
              <a:alpha val="25000"/>
            </a:srgbClr>
          </a:solidFill>
          <a:ln w="381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p>
            <a:pPr algn="ctr">
              <a:buClrTx/>
              <a:buSzTx/>
              <a:buFontTx/>
            </a:pPr>
            <a:r>
              <a:rPr lang="en-US" altLang="zh-CN" sz="4400" b="1">
                <a:solidFill>
                  <a:schemeClr val="tx1"/>
                </a:solidFill>
              </a:rPr>
              <a:t>B</a:t>
            </a:r>
            <a:endParaRPr lang="en-US" altLang="zh-CN" sz="4400" b="1">
              <a:solidFill>
                <a:schemeClr val="tx1"/>
              </a:solidFill>
            </a:endParaRPr>
          </a:p>
        </p:txBody>
      </p:sp>
      <p:sp>
        <p:nvSpPr>
          <p:cNvPr id="5" name="椭圆 4"/>
          <p:cNvSpPr/>
          <p:nvPr>
            <p:custDataLst>
              <p:tags r:id="rId3"/>
            </p:custDataLst>
          </p:nvPr>
        </p:nvSpPr>
        <p:spPr>
          <a:xfrm>
            <a:off x="5340350" y="3393440"/>
            <a:ext cx="3132455" cy="2832100"/>
          </a:xfrm>
          <a:prstGeom prst="ellipse">
            <a:avLst/>
          </a:prstGeom>
          <a:solidFill>
            <a:srgbClr val="0070C0">
              <a:alpha val="25000"/>
            </a:srgbClr>
          </a:solidFill>
          <a:ln w="381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p>
            <a:pPr algn="ctr"/>
            <a:r>
              <a:rPr lang="en-US" altLang="zh-CN" sz="4400" b="1">
                <a:solidFill>
                  <a:schemeClr val="tx1"/>
                </a:solidFill>
              </a:rPr>
              <a:t>C</a:t>
            </a:r>
            <a:endParaRPr lang="en-US" altLang="zh-CN" sz="4400" b="1">
              <a:solidFill>
                <a:schemeClr val="tx1"/>
              </a:solidFill>
            </a:endParaRPr>
          </a:p>
        </p:txBody>
      </p:sp>
      <p:sp>
        <p:nvSpPr>
          <p:cNvPr id="6" name="椭圆 5"/>
          <p:cNvSpPr/>
          <p:nvPr>
            <p:custDataLst>
              <p:tags r:id="rId4"/>
            </p:custDataLst>
          </p:nvPr>
        </p:nvSpPr>
        <p:spPr>
          <a:xfrm>
            <a:off x="2212340" y="4443095"/>
            <a:ext cx="1236345" cy="1058545"/>
          </a:xfrm>
          <a:prstGeom prst="ellipse">
            <a:avLst/>
          </a:prstGeom>
          <a:solidFill>
            <a:srgbClr val="D02F35"/>
          </a:solidFill>
          <a:ln w="381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p>
            <a:pPr algn="ctr">
              <a:buClrTx/>
              <a:buSzTx/>
              <a:buFontTx/>
            </a:pPr>
            <a:r>
              <a:rPr lang="en-US" altLang="zh-CN" sz="4400" b="1">
                <a:solidFill>
                  <a:schemeClr val="tx1"/>
                </a:solidFill>
              </a:rPr>
              <a:t>D</a:t>
            </a:r>
            <a:endParaRPr lang="en-US" altLang="zh-CN" sz="4400" b="1">
              <a:solidFill>
                <a:schemeClr val="tx1"/>
              </a:solidFill>
            </a:endParaRPr>
          </a:p>
        </p:txBody>
      </p:sp>
      <p:sp>
        <p:nvSpPr>
          <p:cNvPr id="7" name="椭圆 6"/>
          <p:cNvSpPr/>
          <p:nvPr>
            <p:custDataLst>
              <p:tags r:id="rId5"/>
            </p:custDataLst>
          </p:nvPr>
        </p:nvSpPr>
        <p:spPr>
          <a:xfrm>
            <a:off x="3597275" y="4654550"/>
            <a:ext cx="1236345" cy="1058545"/>
          </a:xfrm>
          <a:prstGeom prst="ellipse">
            <a:avLst/>
          </a:prstGeom>
          <a:solidFill>
            <a:srgbClr val="00B0F0"/>
          </a:solidFill>
          <a:ln w="381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p>
            <a:pPr algn="ctr">
              <a:buClrTx/>
              <a:buSzTx/>
              <a:buFontTx/>
            </a:pPr>
            <a:r>
              <a:rPr lang="en-US" altLang="zh-CN" sz="4400" b="1">
                <a:solidFill>
                  <a:schemeClr val="tx1"/>
                </a:solidFill>
              </a:rPr>
              <a:t>E</a:t>
            </a:r>
            <a:endParaRPr lang="en-US" altLang="zh-CN" sz="4400" b="1">
              <a:solidFill>
                <a:schemeClr val="tx1"/>
              </a:solidFill>
            </a:endParaRPr>
          </a:p>
        </p:txBody>
      </p:sp>
      <p:sp>
        <p:nvSpPr>
          <p:cNvPr id="8" name="椭圆 7"/>
          <p:cNvSpPr/>
          <p:nvPr>
            <p:custDataLst>
              <p:tags r:id="rId6"/>
            </p:custDataLst>
          </p:nvPr>
        </p:nvSpPr>
        <p:spPr>
          <a:xfrm>
            <a:off x="5511165" y="4108450"/>
            <a:ext cx="1236345" cy="1058545"/>
          </a:xfrm>
          <a:prstGeom prst="ellipse">
            <a:avLst/>
          </a:prstGeom>
          <a:solidFill>
            <a:srgbClr val="FFC000"/>
          </a:solidFill>
          <a:ln w="381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p>
            <a:pPr algn="ctr">
              <a:buClrTx/>
              <a:buSzTx/>
              <a:buFontTx/>
            </a:pPr>
            <a:r>
              <a:rPr lang="en-US" altLang="zh-CN" sz="4400" b="1">
                <a:solidFill>
                  <a:schemeClr val="tx1"/>
                </a:solidFill>
              </a:rPr>
              <a:t>F</a:t>
            </a:r>
            <a:endParaRPr lang="en-US" altLang="zh-CN" sz="4400" b="1">
              <a:solidFill>
                <a:schemeClr val="tx1"/>
              </a:solidFill>
            </a:endParaRPr>
          </a:p>
        </p:txBody>
      </p:sp>
      <p:sp>
        <p:nvSpPr>
          <p:cNvPr id="9" name="椭圆 8"/>
          <p:cNvSpPr/>
          <p:nvPr>
            <p:custDataLst>
              <p:tags r:id="rId7"/>
            </p:custDataLst>
          </p:nvPr>
        </p:nvSpPr>
        <p:spPr>
          <a:xfrm>
            <a:off x="7058025" y="4108450"/>
            <a:ext cx="1236345" cy="1058545"/>
          </a:xfrm>
          <a:prstGeom prst="ellipse">
            <a:avLst/>
          </a:prstGeom>
          <a:solidFill>
            <a:srgbClr val="7030A0"/>
          </a:solidFill>
          <a:ln w="381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p>
            <a:pPr algn="ctr">
              <a:buClrTx/>
              <a:buSzTx/>
              <a:buFontTx/>
            </a:pPr>
            <a:r>
              <a:rPr lang="en-US" altLang="zh-CN" sz="4400" b="1">
                <a:solidFill>
                  <a:schemeClr val="tx1"/>
                </a:solidFill>
              </a:rPr>
              <a:t>G</a:t>
            </a:r>
            <a:endParaRPr lang="en-US" altLang="zh-CN" sz="4400" b="1">
              <a:solidFill>
                <a:schemeClr val="tx1"/>
              </a:solidFill>
            </a:endParaRPr>
          </a:p>
        </p:txBody>
      </p:sp>
      <p:sp>
        <p:nvSpPr>
          <p:cNvPr id="15" name="椭圆 14"/>
          <p:cNvSpPr/>
          <p:nvPr>
            <p:custDataLst>
              <p:tags r:id="rId8"/>
            </p:custDataLst>
          </p:nvPr>
        </p:nvSpPr>
        <p:spPr>
          <a:xfrm>
            <a:off x="6337935" y="5166995"/>
            <a:ext cx="1137285" cy="973455"/>
          </a:xfrm>
          <a:prstGeom prst="ellipse">
            <a:avLst/>
          </a:prstGeom>
          <a:solidFill>
            <a:srgbClr val="00B050"/>
          </a:solidFill>
          <a:ln w="381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p>
            <a:pPr algn="ctr">
              <a:buClrTx/>
              <a:buSzTx/>
              <a:buFontTx/>
            </a:pPr>
            <a:r>
              <a:rPr lang="en-US" altLang="zh-CN" sz="4400" b="1">
                <a:solidFill>
                  <a:schemeClr val="tx1"/>
                </a:solidFill>
              </a:rPr>
              <a:t>H</a:t>
            </a:r>
            <a:endParaRPr lang="en-US" altLang="zh-CN" sz="4400" b="1">
              <a:solidFill>
                <a:schemeClr val="tx1"/>
              </a:solidFill>
            </a:endParaRPr>
          </a:p>
        </p:txBody>
      </p:sp>
    </p:spTree>
    <p:custDataLst>
      <p:tags r:id="rId9"/>
    </p:custData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处理器</a:t>
                      </a: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调度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一、指令流</a:t>
                      </a: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与执行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应用程序与指令流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顺序与并发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执行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1.3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指令流的描述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en-US" altLang="zh-CN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线程与处理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器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2.1 CPU时间与线程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2.2</a:t>
                      </a: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线程的描述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2.3 纤程与协程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三、处理器调度算法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3.1 调度算法原理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多处理器与并发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59385"/>
            <a:ext cx="9121140" cy="64623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lnSpc>
                <a:spcPct val="90000"/>
              </a:lnSpc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广义</a:t>
            </a:r>
            <a:r>
              <a:rPr lang="zh-CN" altLang="en-US" sz="2000" b="1">
                <a:solidFill>
                  <a:srgbClr val="9C0B15"/>
                </a:solidFill>
              </a:rPr>
              <a:t>的调度算法</a:t>
            </a:r>
            <a:endParaRPr lang="zh-CN" altLang="en-US" sz="2000"/>
          </a:p>
          <a:p>
            <a:pPr algn="l">
              <a:lnSpc>
                <a:spcPct val="90000"/>
              </a:lnSpc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lnSpc>
                <a:spcPct val="90000"/>
              </a:lnSpc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长期调度</a:t>
            </a:r>
            <a:r>
              <a:rPr lang="en-US" altLang="zh-CN" sz="2000" b="1">
                <a:solidFill>
                  <a:srgbClr val="9C0B15"/>
                </a:solidFill>
              </a:rPr>
              <a:t>	</a:t>
            </a:r>
            <a:r>
              <a:rPr lang="zh-CN" altLang="en-US" sz="2000"/>
              <a:t>决定选中哪些可执行文件，并将它们</a:t>
            </a:r>
            <a:r>
              <a:rPr lang="zh-CN" altLang="en-US" sz="2000">
                <a:solidFill>
                  <a:srgbClr val="9C0B15"/>
                </a:solidFill>
              </a:rPr>
              <a:t>装入虚拟内存</a:t>
            </a:r>
            <a:r>
              <a:rPr lang="zh-CN" altLang="en-US" sz="2000"/>
              <a:t>。</a:t>
            </a:r>
            <a:endParaRPr lang="zh-CN" altLang="en-US" sz="2000"/>
          </a:p>
          <a:p>
            <a:pPr algn="l">
              <a:lnSpc>
                <a:spcPct val="90000"/>
              </a:lnSpc>
              <a:buClrTx/>
              <a:buSzTx/>
              <a:buFontTx/>
            </a:pPr>
            <a:endParaRPr lang="zh-CN" altLang="en-US" sz="2000"/>
          </a:p>
          <a:p>
            <a:pPr algn="l">
              <a:lnSpc>
                <a:spcPct val="90000"/>
              </a:lnSpc>
              <a:buClrTx/>
              <a:buSzTx/>
              <a:buFontTx/>
            </a:pPr>
            <a:r>
              <a:rPr lang="zh-CN" altLang="en-US" sz="2000">
                <a:sym typeface="+mn-ea"/>
              </a:rPr>
              <a:t>		</a:t>
            </a:r>
            <a:r>
              <a:rPr lang="zh-CN" altLang="en-US" sz="2000"/>
              <a:t>主要是围绕着</a:t>
            </a:r>
            <a:r>
              <a:rPr lang="zh-CN" altLang="en-US" sz="2000">
                <a:solidFill>
                  <a:srgbClr val="9C0B15"/>
                </a:solidFill>
              </a:rPr>
              <a:t>内核对象的创建和虚拟内存的映射</a:t>
            </a:r>
            <a:r>
              <a:rPr lang="zh-CN" altLang="en-US" sz="2000"/>
              <a:t>。</a:t>
            </a:r>
            <a:endParaRPr lang="zh-CN" altLang="en-US" sz="2000"/>
          </a:p>
          <a:p>
            <a:pPr algn="l">
              <a:lnSpc>
                <a:spcPct val="90000"/>
              </a:lnSpc>
              <a:buClrTx/>
              <a:buSzTx/>
              <a:buFontTx/>
            </a:pPr>
            <a:endParaRPr lang="zh-CN" altLang="en-US" sz="2000"/>
          </a:p>
          <a:p>
            <a:pPr algn="l">
              <a:lnSpc>
                <a:spcPct val="90000"/>
              </a:lnSpc>
              <a:buClrTx/>
              <a:buSzTx/>
              <a:buFontTx/>
            </a:pPr>
            <a:r>
              <a:rPr lang="zh-CN" altLang="en-US" sz="2000">
                <a:sym typeface="+mn-ea"/>
              </a:rPr>
              <a:t>		</a:t>
            </a:r>
            <a:r>
              <a:rPr lang="zh-CN" altLang="en-US" sz="2000"/>
              <a:t>调度的是抽象层次的任务集合，一般对应着一项有</a:t>
            </a:r>
            <a:r>
              <a:rPr lang="zh-CN" altLang="en-US" sz="2000">
                <a:solidFill>
                  <a:srgbClr val="9C0B15"/>
                </a:solidFill>
              </a:rPr>
              <a:t>实际意义的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>
                <a:solidFill>
                  <a:srgbClr val="9C0B15"/>
                </a:solidFill>
              </a:rPr>
              <a:t>工作</a:t>
            </a:r>
            <a:r>
              <a:rPr lang="zh-CN" altLang="en-US" sz="2000"/>
              <a:t>。</a:t>
            </a:r>
            <a:endParaRPr lang="zh-CN" altLang="en-US" sz="2000"/>
          </a:p>
          <a:p>
            <a:pPr algn="l">
              <a:lnSpc>
                <a:spcPct val="90000"/>
              </a:lnSpc>
              <a:buClrTx/>
              <a:buSzTx/>
              <a:buFontTx/>
            </a:pPr>
            <a:endParaRPr lang="zh-CN" altLang="en-US" sz="2000"/>
          </a:p>
          <a:p>
            <a:pPr algn="l">
              <a:lnSpc>
                <a:spcPct val="90000"/>
              </a:lnSpc>
              <a:buClrTx/>
              <a:buSzTx/>
              <a:buFontTx/>
            </a:pPr>
            <a:r>
              <a:rPr lang="zh-CN" altLang="en-US" sz="2000">
                <a:sym typeface="+mn-ea"/>
              </a:rPr>
              <a:t>		</a:t>
            </a:r>
            <a:r>
              <a:rPr lang="zh-CN" altLang="en-US" sz="2000"/>
              <a:t>长期调度一般是用户编写的</a:t>
            </a:r>
            <a:r>
              <a:rPr lang="zh-CN" altLang="en-US" sz="2000">
                <a:solidFill>
                  <a:srgbClr val="9C0B15"/>
                </a:solidFill>
              </a:rPr>
              <a:t>各类定时执行脚本（</a:t>
            </a:r>
            <a:r>
              <a:rPr lang="en-US" altLang="zh-CN" sz="2000">
                <a:solidFill>
                  <a:srgbClr val="9C0B15"/>
                </a:solidFill>
              </a:rPr>
              <a:t>Cron Job</a:t>
            </a:r>
            <a:r>
              <a:rPr lang="zh-CN" altLang="en-US" sz="2000">
                <a:solidFill>
                  <a:srgbClr val="9C0B15"/>
                </a:solidFill>
              </a:rPr>
              <a:t>）</a:t>
            </a:r>
            <a:r>
              <a:rPr lang="zh-CN" altLang="en-US" sz="2000"/>
              <a:t>或者</a:t>
            </a:r>
            <a:r>
              <a:rPr lang="zh-CN" altLang="en-US" sz="2000">
                <a:sym typeface="+mn-ea"/>
              </a:rPr>
              <a:t>		</a:t>
            </a:r>
            <a:r>
              <a:rPr lang="zh-CN" altLang="en-US" sz="2000">
                <a:solidFill>
                  <a:srgbClr val="9C0B15"/>
                </a:solidFill>
              </a:rPr>
              <a:t>用户模式实用程序（Sun Grid Engine）</a:t>
            </a:r>
            <a:r>
              <a:rPr lang="zh-CN" altLang="en-US" sz="2000"/>
              <a:t>完成的，因为要装入什么</a:t>
            </a:r>
            <a:r>
              <a:rPr lang="zh-CN" altLang="en-US" sz="2000">
                <a:sym typeface="+mn-ea"/>
              </a:rPr>
              <a:t>		</a:t>
            </a:r>
            <a:r>
              <a:rPr lang="zh-CN" altLang="en-US" sz="2000"/>
              <a:t>东西只有用户自己知道。</a:t>
            </a:r>
            <a:endParaRPr lang="zh-CN" altLang="en-US" sz="2000" b="1">
              <a:solidFill>
                <a:srgbClr val="9C0B15"/>
              </a:solidFill>
            </a:endParaRPr>
          </a:p>
          <a:p>
            <a:pPr algn="l">
              <a:lnSpc>
                <a:spcPct val="90000"/>
              </a:lnSpc>
              <a:buClrTx/>
              <a:buSzTx/>
              <a:buFontTx/>
            </a:pPr>
            <a:endParaRPr lang="zh-CN" altLang="en-US" sz="2000" b="1">
              <a:solidFill>
                <a:srgbClr val="9C0B15"/>
              </a:solidFill>
            </a:endParaRPr>
          </a:p>
          <a:p>
            <a:pPr algn="l">
              <a:lnSpc>
                <a:spcPct val="90000"/>
              </a:lnSpc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中期调度</a:t>
            </a:r>
            <a:r>
              <a:rPr lang="en-US" altLang="zh-CN" sz="2000" b="1">
                <a:solidFill>
                  <a:srgbClr val="9C0B15"/>
                </a:solidFill>
              </a:rPr>
              <a:t>	</a:t>
            </a:r>
            <a:r>
              <a:rPr lang="zh-CN" altLang="en-US" sz="2000"/>
              <a:t>决定哪些准备好的工作需要</a:t>
            </a:r>
            <a:r>
              <a:rPr lang="zh-CN" altLang="en-US" sz="2000">
                <a:solidFill>
                  <a:srgbClr val="9C0B15"/>
                </a:solidFill>
              </a:rPr>
              <a:t>实际装入物理内存</a:t>
            </a:r>
            <a:r>
              <a:rPr lang="zh-CN" altLang="en-US" sz="2000"/>
              <a:t>，哪些装在物理</a:t>
            </a:r>
            <a:r>
              <a:rPr lang="zh-CN" altLang="en-US" sz="2000">
                <a:sym typeface="+mn-ea"/>
              </a:rPr>
              <a:t>		</a:t>
            </a:r>
            <a:r>
              <a:rPr lang="zh-CN" altLang="en-US" sz="2000"/>
              <a:t>内存里的工作暂时不执行，因而</a:t>
            </a:r>
            <a:r>
              <a:rPr lang="zh-CN" altLang="en-US" sz="2000">
                <a:solidFill>
                  <a:srgbClr val="9C0B15"/>
                </a:solidFill>
              </a:rPr>
              <a:t>需要换出来</a:t>
            </a:r>
            <a:r>
              <a:rPr lang="zh-CN" altLang="en-US" sz="2000"/>
              <a:t>。</a:t>
            </a:r>
            <a:endParaRPr lang="zh-CN" altLang="en-US" sz="2000"/>
          </a:p>
          <a:p>
            <a:pPr algn="l">
              <a:lnSpc>
                <a:spcPct val="90000"/>
              </a:lnSpc>
              <a:buClrTx/>
              <a:buSzTx/>
              <a:buFontTx/>
            </a:pPr>
            <a:endParaRPr lang="zh-CN" altLang="en-US" sz="2000"/>
          </a:p>
          <a:p>
            <a:pPr algn="l">
              <a:lnSpc>
                <a:spcPct val="90000"/>
              </a:lnSpc>
              <a:buClrTx/>
              <a:buSzTx/>
              <a:buFontTx/>
            </a:pPr>
            <a:r>
              <a:rPr lang="zh-CN" altLang="en-US" sz="2000">
                <a:sym typeface="+mn-ea"/>
              </a:rPr>
              <a:t>		</a:t>
            </a:r>
            <a:r>
              <a:rPr lang="zh-CN" altLang="en-US" sz="2000"/>
              <a:t>主要是围绕者</a:t>
            </a:r>
            <a:r>
              <a:rPr lang="zh-CN" altLang="en-US" sz="2000">
                <a:solidFill>
                  <a:srgbClr val="9C0B15"/>
                </a:solidFill>
              </a:rPr>
              <a:t>页面文件的扇入和扇出</a:t>
            </a:r>
            <a:r>
              <a:rPr lang="zh-CN" altLang="en-US" sz="2000"/>
              <a:t>。</a:t>
            </a:r>
            <a:endParaRPr lang="zh-CN" altLang="en-US" sz="2000"/>
          </a:p>
          <a:p>
            <a:pPr algn="l">
              <a:lnSpc>
                <a:spcPct val="90000"/>
              </a:lnSpc>
              <a:buClrTx/>
              <a:buSzTx/>
              <a:buFontTx/>
            </a:pPr>
            <a:endParaRPr lang="zh-CN" altLang="en-US" sz="2000"/>
          </a:p>
          <a:p>
            <a:pPr algn="l">
              <a:lnSpc>
                <a:spcPct val="90000"/>
              </a:lnSpc>
              <a:buClrTx/>
              <a:buSzTx/>
              <a:buFontTx/>
            </a:pPr>
            <a:r>
              <a:rPr lang="zh-CN" altLang="en-US" sz="2000">
                <a:sym typeface="+mn-ea"/>
              </a:rPr>
              <a:t>		</a:t>
            </a:r>
            <a:r>
              <a:rPr lang="zh-CN" altLang="en-US" sz="2000"/>
              <a:t>调度的一般是</a:t>
            </a:r>
            <a:r>
              <a:rPr lang="zh-CN" altLang="en-US" sz="2000">
                <a:solidFill>
                  <a:srgbClr val="9C0B15"/>
                </a:solidFill>
              </a:rPr>
              <a:t>空间保护域</a:t>
            </a:r>
            <a:r>
              <a:rPr lang="zh-CN" altLang="en-US" sz="2000"/>
              <a:t>，也即</a:t>
            </a:r>
            <a:r>
              <a:rPr lang="zh-CN" altLang="en-US" sz="2000">
                <a:solidFill>
                  <a:srgbClr val="9C0B15"/>
                </a:solidFill>
              </a:rPr>
              <a:t>进程</a:t>
            </a:r>
            <a:r>
              <a:rPr lang="zh-CN" altLang="en-US" sz="2000"/>
              <a:t>。</a:t>
            </a:r>
            <a:endParaRPr lang="zh-CN" altLang="en-US" sz="2000"/>
          </a:p>
          <a:p>
            <a:pPr algn="l">
              <a:lnSpc>
                <a:spcPct val="90000"/>
              </a:lnSpc>
              <a:buClrTx/>
              <a:buSzTx/>
              <a:buFontTx/>
            </a:pPr>
            <a:endParaRPr lang="zh-CN" altLang="en-US" sz="2000" b="1">
              <a:solidFill>
                <a:srgbClr val="9C0B15"/>
              </a:solidFill>
            </a:endParaRPr>
          </a:p>
          <a:p>
            <a:pPr algn="l">
              <a:lnSpc>
                <a:spcPct val="90000"/>
              </a:lnSpc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（短期）调度</a:t>
            </a:r>
            <a:r>
              <a:rPr lang="en-US" altLang="zh-CN" sz="2000" b="1">
                <a:solidFill>
                  <a:srgbClr val="9C0B15"/>
                </a:solidFill>
              </a:rPr>
              <a:t>	</a:t>
            </a:r>
            <a:r>
              <a:rPr lang="zh-CN" altLang="en-US" sz="2000"/>
              <a:t>决定哪个装入物理内存的应用程序实例（进程）的线程可以得</a:t>
            </a:r>
            <a:r>
              <a:rPr lang="zh-CN" altLang="en-US" sz="2000">
                <a:sym typeface="+mn-ea"/>
              </a:rPr>
              <a:t>		</a:t>
            </a:r>
            <a:r>
              <a:rPr lang="zh-CN" altLang="en-US" sz="2000"/>
              <a:t>到CPU来执行。</a:t>
            </a:r>
            <a:r>
              <a:rPr lang="zh-CN" altLang="en-US" sz="2000">
                <a:solidFill>
                  <a:srgbClr val="9C0B15"/>
                </a:solidFill>
              </a:rPr>
              <a:t>通常指的调度就是短期调度</a:t>
            </a:r>
            <a:r>
              <a:rPr lang="zh-CN" altLang="en-US" sz="2000"/>
              <a:t>。关于中期调度和长</a:t>
            </a:r>
            <a:r>
              <a:rPr lang="zh-CN" altLang="en-US" sz="2000">
                <a:sym typeface="+mn-ea"/>
              </a:rPr>
              <a:t>		</a:t>
            </a:r>
            <a:r>
              <a:rPr lang="zh-CN" altLang="en-US" sz="2000"/>
              <a:t>期调度，我们在讲存储器管理时</a:t>
            </a:r>
            <a:r>
              <a:rPr lang="zh-CN" altLang="en-US" sz="2000"/>
              <a:t>再来涉及。</a:t>
            </a:r>
            <a:endParaRPr lang="zh-CN" altLang="en-US" sz="2000"/>
          </a:p>
        </p:txBody>
      </p:sp>
    </p:spTree>
    <p:custDataLst>
      <p:tags r:id="rId2"/>
    </p:custData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处理器</a:t>
                      </a: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调度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一、指令流</a:t>
                      </a: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与执行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应用程序与指令流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顺序与并发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执行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1.3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指令流的描述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en-US" altLang="zh-CN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线程与处理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器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2.1 CPU时间与线程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2.2</a:t>
                      </a: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线程的描述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2.3 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纤程与协程</a:t>
                      </a:r>
                      <a:endParaRPr lang="en-US" altLang="zh-CN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三、处理器调度算法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3.1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调度算法原理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3.2 多处理器与并发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59385"/>
            <a:ext cx="9121140" cy="65544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rgbClr val="9C0B15"/>
                </a:solidFill>
              </a:rPr>
              <a:t>多处理器</a:t>
            </a:r>
            <a:r>
              <a:rPr lang="zh-CN" altLang="en-US" sz="2000" b="1">
                <a:solidFill>
                  <a:srgbClr val="9C0B15"/>
                </a:solidFill>
              </a:rPr>
              <a:t>调度</a:t>
            </a:r>
            <a:endParaRPr lang="zh-CN" altLang="en-US" sz="2000" b="1">
              <a:solidFill>
                <a:srgbClr val="9C0B15"/>
              </a:solidFill>
            </a:endParaRPr>
          </a:p>
          <a:p>
            <a:endParaRPr lang="zh-CN" altLang="en-US" sz="2000"/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并行执行</a:t>
            </a:r>
            <a:r>
              <a:rPr lang="en-US" altLang="zh-CN" sz="2000" b="1">
                <a:solidFill>
                  <a:srgbClr val="9C0B15"/>
                </a:solidFill>
              </a:rPr>
              <a:t>	</a:t>
            </a:r>
            <a:r>
              <a:rPr lang="zh-CN" altLang="en-US" sz="2000"/>
              <a:t>多个指令流依附于</a:t>
            </a:r>
            <a:r>
              <a:rPr lang="en-US" altLang="zh-CN" sz="2000">
                <a:solidFill>
                  <a:srgbClr val="9C0B15"/>
                </a:solidFill>
              </a:rPr>
              <a:t>多个</a:t>
            </a:r>
            <a:r>
              <a:rPr lang="zh-CN" altLang="en-US" sz="2000">
                <a:solidFill>
                  <a:srgbClr val="9C0B15"/>
                </a:solidFill>
              </a:rPr>
              <a:t>位于不同物理处理器上的</a:t>
            </a:r>
            <a:r>
              <a:rPr lang="en-US" altLang="zh-CN" sz="2000">
                <a:solidFill>
                  <a:srgbClr val="9C0B15"/>
                </a:solidFill>
              </a:rPr>
              <a:t>线程</a:t>
            </a:r>
            <a:r>
              <a:rPr lang="zh-CN" altLang="en-US" sz="2000"/>
              <a:t>，做到了</a:t>
            </a:r>
            <a:r>
              <a:rPr lang="zh-CN" altLang="en-US" sz="2000" b="1">
                <a:solidFill>
                  <a:srgbClr val="9C0B15"/>
                </a:solidFill>
              </a:rPr>
              <a:t>Parallel</a:t>
            </a:r>
            <a:r>
              <a:rPr lang="en-US" altLang="zh-CN" sz="2000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/>
              <a:t>多个指令流的真正</a:t>
            </a:r>
            <a:r>
              <a:rPr lang="en-US" altLang="zh-CN" sz="2000">
                <a:solidFill>
                  <a:srgbClr val="9C0B15"/>
                </a:solidFill>
              </a:rPr>
              <a:t>同时执行</a:t>
            </a:r>
            <a:r>
              <a:rPr lang="zh-CN" altLang="en-US" sz="2000"/>
              <a:t>。并发是并行的一种特殊场合，它</a:t>
            </a:r>
            <a:r>
              <a:rPr lang="en-US" altLang="zh-CN" sz="2000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/>
              <a:t>只有在</a:t>
            </a:r>
            <a:r>
              <a:rPr lang="zh-CN" altLang="en-US" sz="2000">
                <a:solidFill>
                  <a:srgbClr val="9C0B15"/>
                </a:solidFill>
              </a:rPr>
              <a:t>多核处理器</a:t>
            </a:r>
            <a:r>
              <a:rPr lang="zh-CN" altLang="en-US" sz="2000"/>
              <a:t>上才有可能</a:t>
            </a:r>
            <a:r>
              <a:rPr lang="zh-CN" altLang="en-US" sz="2000"/>
              <a:t>实现。</a:t>
            </a: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并发与并行</a:t>
            </a:r>
            <a:r>
              <a:rPr lang="en-US" altLang="zh-CN" sz="2000"/>
              <a:t>	</a:t>
            </a:r>
            <a:r>
              <a:rPr lang="zh-CN" altLang="en-US" sz="2000"/>
              <a:t>并</a:t>
            </a:r>
            <a:r>
              <a:rPr lang="zh-CN" altLang="en-US" sz="2000">
                <a:sym typeface="+mn-ea"/>
              </a:rPr>
              <a:t>行是并发的一种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具体实现</a:t>
            </a:r>
            <a:r>
              <a:rPr lang="zh-CN" altLang="en-US" sz="2000">
                <a:sym typeface="+mn-ea"/>
              </a:rPr>
              <a:t>，在并</a:t>
            </a:r>
            <a:r>
              <a:rPr lang="zh-CN" altLang="en-US" sz="2000">
                <a:sym typeface="+mn-ea"/>
              </a:rPr>
              <a:t>行</a:t>
            </a:r>
            <a:r>
              <a:rPr lang="zh-CN" altLang="en-US" sz="2000">
                <a:sym typeface="+mn-ea"/>
              </a:rPr>
              <a:t>环境中，不仅并</a:t>
            </a:r>
            <a:r>
              <a:rPr lang="zh-CN" altLang="en-US" sz="2000">
                <a:sym typeface="+mn-ea"/>
              </a:rPr>
              <a:t>发</a:t>
            </a:r>
            <a:r>
              <a:rPr lang="zh-CN" altLang="en-US" sz="2000">
                <a:sym typeface="+mn-ea"/>
              </a:rPr>
              <a:t>程序的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各个指令流的指令执行的先后顺序无法预测，而且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这些指令流		实现了真正的同时、一齐执行</a:t>
            </a:r>
            <a:r>
              <a:rPr lang="zh-CN" altLang="en-US" sz="2000">
                <a:sym typeface="+mn-ea"/>
              </a:rPr>
              <a:t>。在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单核处理器的并发环境中，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无法实现并行</a:t>
            </a:r>
            <a:r>
              <a:rPr lang="zh-CN" altLang="en-US" sz="2000">
                <a:sym typeface="+mn-ea"/>
              </a:rPr>
              <a:t>，因为只有一个</a:t>
            </a:r>
            <a:r>
              <a:rPr lang="en-US" altLang="zh-CN" sz="2000">
                <a:sym typeface="+mn-ea"/>
              </a:rPr>
              <a:t>CPU</a:t>
            </a:r>
            <a:r>
              <a:rPr lang="zh-CN" altLang="en-US" sz="2000">
                <a:sym typeface="+mn-ea"/>
              </a:rPr>
              <a:t>，不可能同时执行多道程序，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仅仅是交替执行多道程序让它们看上去在同时运行</a:t>
            </a:r>
            <a:r>
              <a:rPr lang="zh-CN" altLang="en-US" sz="2000">
                <a:sym typeface="+mn-ea"/>
              </a:rPr>
              <a:t>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并发和并行</a:t>
            </a:r>
            <a:r>
              <a:rPr lang="zh-CN" altLang="en-US" sz="2000" b="1">
                <a:solidFill>
                  <a:srgbClr val="9C0B15"/>
                </a:solidFill>
                <a:sym typeface="+mn-ea"/>
              </a:rPr>
              <a:t>不是一对矛盾概念或者反对概念</a:t>
            </a:r>
            <a:r>
              <a:rPr lang="zh-CN" altLang="en-US" sz="2000">
                <a:sym typeface="+mn-ea"/>
              </a:rPr>
              <a:t>，而是</a:t>
            </a:r>
            <a:r>
              <a:rPr lang="zh-CN" altLang="en-US" sz="2000" b="1">
                <a:solidFill>
                  <a:srgbClr val="9C0B15"/>
                </a:solidFill>
                <a:sym typeface="+mn-ea"/>
              </a:rPr>
              <a:t>上级和下级</a:t>
            </a:r>
            <a:r>
              <a:rPr lang="zh-CN" altLang="en-US" sz="2000">
                <a:sym typeface="+mn-ea"/>
              </a:rPr>
              <a:t>、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 b="1">
                <a:solidFill>
                  <a:srgbClr val="9C0B15"/>
                </a:solidFill>
                <a:sym typeface="+mn-ea"/>
              </a:rPr>
              <a:t>抽象和具体</a:t>
            </a:r>
            <a:r>
              <a:rPr lang="zh-CN" altLang="en-US" sz="2000">
                <a:sym typeface="+mn-ea"/>
              </a:rPr>
              <a:t>、</a:t>
            </a:r>
            <a:r>
              <a:rPr lang="zh-CN" altLang="en-US" sz="2000" b="1">
                <a:solidFill>
                  <a:srgbClr val="9C0B15"/>
                </a:solidFill>
                <a:sym typeface="+mn-ea"/>
              </a:rPr>
              <a:t>包含和被包含</a:t>
            </a:r>
            <a:r>
              <a:rPr lang="zh-CN" altLang="en-US" sz="2000">
                <a:sym typeface="+mn-ea"/>
              </a:rPr>
              <a:t>的关系。如果有人考你并发和并行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有什么区别，那大概是想考查</a:t>
            </a:r>
            <a:r>
              <a:rPr lang="en-US" altLang="zh-CN" sz="2000">
                <a:sym typeface="+mn-ea"/>
              </a:rPr>
              <a:t>“</a:t>
            </a:r>
            <a:r>
              <a:rPr lang="zh-CN" altLang="en-US" sz="2000" b="1">
                <a:solidFill>
                  <a:srgbClr val="9C0B15"/>
                </a:solidFill>
                <a:sym typeface="+mn-ea"/>
              </a:rPr>
              <a:t>是否在多个CPU上同时执行</a:t>
            </a:r>
            <a:r>
              <a:rPr lang="en-US" altLang="zh-CN" sz="2000">
                <a:sym typeface="+mn-ea"/>
              </a:rPr>
              <a:t>”</a:t>
            </a:r>
            <a:r>
              <a:rPr lang="zh-CN" altLang="en-US" sz="2000">
                <a:sym typeface="+mn-ea"/>
              </a:rPr>
              <a:t>这个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考点。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  <a:sym typeface="+mn-ea"/>
              </a:rPr>
              <a:t>最终问题</a:t>
            </a:r>
            <a:r>
              <a:rPr lang="en-US" altLang="zh-CN" sz="2000">
                <a:sym typeface="+mn-ea"/>
              </a:rPr>
              <a:t>	</a:t>
            </a:r>
            <a:r>
              <a:rPr lang="zh-CN" altLang="en-US" sz="2000">
                <a:sym typeface="+mn-ea"/>
              </a:rPr>
              <a:t>多处理器调度可能遇到哪些</a:t>
            </a:r>
            <a:r>
              <a:rPr lang="zh-CN" altLang="en-US" sz="2000">
                <a:sym typeface="+mn-ea"/>
              </a:rPr>
              <a:t>问题？</a:t>
            </a:r>
            <a:endParaRPr lang="zh-CN" altLang="en-US" sz="2000">
              <a:sym typeface="+mn-ea"/>
            </a:endParaRPr>
          </a:p>
        </p:txBody>
      </p:sp>
    </p:spTree>
    <p:custDataLst>
      <p:tags r:id="rId2"/>
    </p:custDataLst>
  </p:cSld>
  <p:clrMapOvr>
    <a:masterClrMapping/>
  </p:clrMapOvr>
  <p:transition spd="med"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处理器</a:t>
                      </a: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调度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一、指令流</a:t>
                      </a: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与执行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应用程序与指令流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顺序与并发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执行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1.3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指令流的描述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en-US" altLang="zh-CN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线程与处理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器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2.1 CPU时间与线程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2.2</a:t>
                      </a: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线程的描述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2.3 纤程与协程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三、处理器调度算法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3.1 调度算法原理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多处理器与并发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" name="圆角矩形 1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Text Box 2"/>
          <p:cNvSpPr txBox="1"/>
          <p:nvPr>
            <p:custDataLst>
              <p:tags r:id="rId2"/>
            </p:custDataLst>
          </p:nvPr>
        </p:nvSpPr>
        <p:spPr>
          <a:xfrm>
            <a:off x="554990" y="140335"/>
            <a:ext cx="8625205" cy="4325620"/>
          </a:xfrm>
          <a:prstGeom prst="rect">
            <a:avLst/>
          </a:prstGeom>
          <a:noFill/>
          <a:ln w="12700">
            <a:noFill/>
          </a:ln>
        </p:spPr>
        <p:txBody>
          <a:bodyPr wrap="square" anchor="t" anchorCtr="0">
            <a:spAutoFit/>
          </a:bodyPr>
          <a:p>
            <a:pPr algn="ctr">
              <a:spcBef>
                <a:spcPct val="20000"/>
              </a:spcBef>
              <a:buClrTx/>
              <a:buSzTx/>
              <a:buFontTx/>
            </a:pPr>
            <a:r>
              <a:rPr lang="en-US" altLang="zh-CN" sz="2000" b="1">
                <a:solidFill>
                  <a:srgbClr val="9C0B15"/>
                </a:solidFill>
                <a:sym typeface="+mn-ea"/>
              </a:rPr>
              <a:t>7</a:t>
            </a:r>
            <a:r>
              <a:rPr lang="zh-CN" altLang="en-US" sz="2000" b="1">
                <a:solidFill>
                  <a:srgbClr val="9C0B15"/>
                </a:solidFill>
                <a:sym typeface="+mn-ea"/>
              </a:rPr>
              <a:t>号测验：第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4</a:t>
            </a:r>
            <a:r>
              <a:rPr lang="zh-CN" altLang="en-US" sz="2000" b="1">
                <a:solidFill>
                  <a:srgbClr val="9C0B15"/>
                </a:solidFill>
                <a:sym typeface="+mn-ea"/>
              </a:rPr>
              <a:t>周第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2</a:t>
            </a:r>
            <a:r>
              <a:rPr lang="zh-CN" altLang="en-US" sz="2000" b="1">
                <a:solidFill>
                  <a:srgbClr val="9C0B15"/>
                </a:solidFill>
                <a:sym typeface="+mn-ea"/>
              </a:rPr>
              <a:t>节</a:t>
            </a: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ctr">
              <a:spcBef>
                <a:spcPct val="20000"/>
              </a:spcBef>
              <a:buClrTx/>
              <a:buSzTx/>
              <a:buFontTx/>
            </a:pPr>
            <a:endParaRPr lang="zh-CN" altLang="en-US" sz="4400">
              <a:sym typeface="+mn-ea"/>
            </a:endParaRPr>
          </a:p>
          <a:p>
            <a:pPr algn="ctr">
              <a:spcBef>
                <a:spcPct val="20000"/>
              </a:spcBef>
              <a:buClrTx/>
              <a:buSzTx/>
              <a:buFontTx/>
            </a:pPr>
            <a:endParaRPr lang="zh-CN" altLang="en-US" sz="4400">
              <a:sym typeface="+mn-ea"/>
            </a:endParaRPr>
          </a:p>
          <a:p>
            <a:pPr algn="ctr">
              <a:spcBef>
                <a:spcPct val="20000"/>
              </a:spcBef>
              <a:buClrTx/>
              <a:buSzTx/>
              <a:buFontTx/>
            </a:pPr>
            <a:r>
              <a:rPr lang="zh-CN" sz="4400">
                <a:sym typeface="+mn-ea"/>
              </a:rPr>
              <a:t>请简述在</a:t>
            </a:r>
            <a:r>
              <a:rPr lang="zh-CN" sz="4400">
                <a:sym typeface="+mn-ea"/>
              </a:rPr>
              <a:t>共享动态链接库设计中需要使用位置无关代码的</a:t>
            </a:r>
            <a:r>
              <a:rPr lang="zh-CN" sz="4400">
                <a:sym typeface="+mn-ea"/>
              </a:rPr>
              <a:t>原因。</a:t>
            </a:r>
            <a:endParaRPr lang="zh-CN" sz="4400">
              <a:sym typeface="+mn-ea"/>
            </a:endParaRPr>
          </a:p>
          <a:p>
            <a:pPr algn="ctr">
              <a:spcBef>
                <a:spcPct val="20000"/>
              </a:spcBef>
              <a:buClrTx/>
              <a:buSzTx/>
              <a:buFontTx/>
            </a:pPr>
            <a:r>
              <a:rPr lang="zh-CN" altLang="en-US" sz="4400">
                <a:sym typeface="+mn-ea"/>
              </a:rPr>
              <a:t>（</a:t>
            </a:r>
            <a:r>
              <a:rPr lang="en-US" altLang="zh-CN" sz="4400">
                <a:sym typeface="+mn-ea"/>
              </a:rPr>
              <a:t>5</a:t>
            </a:r>
            <a:r>
              <a:rPr lang="zh-CN" altLang="en-US" sz="4400">
                <a:sym typeface="+mn-ea"/>
              </a:rPr>
              <a:t>分钟）</a:t>
            </a:r>
            <a:endParaRPr lang="zh-CN" altLang="en-US" sz="4400">
              <a:sym typeface="+mn-ea"/>
            </a:endParaRPr>
          </a:p>
        </p:txBody>
      </p:sp>
    </p:spTree>
    <p:custDataLst>
      <p:tags r:id="rId3"/>
    </p:custDataLst>
  </p:cSld>
  <p:clrMapOvr>
    <a:masterClrMapping/>
  </p:clrMapOvr>
  <p:transition spd="med"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处理器</a:t>
                      </a: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调度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一、指令流</a:t>
                      </a: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与执行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应用程序与指令流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顺序与并发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执行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1.3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指令流的描述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en-US" altLang="zh-CN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线程与处理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器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2.1 CPU时间与线程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2.2</a:t>
                      </a: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线程的描述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2.3 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纤程与协程</a:t>
                      </a:r>
                      <a:endParaRPr lang="en-US" altLang="zh-CN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三、处理器调度算法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3.1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调度算法原理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3.2 多处理器与并发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Text Box 2"/>
          <p:cNvSpPr txBox="1"/>
          <p:nvPr/>
        </p:nvSpPr>
        <p:spPr>
          <a:xfrm>
            <a:off x="428625" y="140335"/>
            <a:ext cx="8930640" cy="6616065"/>
          </a:xfrm>
          <a:prstGeom prst="rect">
            <a:avLst/>
          </a:prstGeom>
          <a:noFill/>
          <a:ln w="12700">
            <a:noFill/>
          </a:ln>
        </p:spPr>
        <p:txBody>
          <a:bodyPr wrap="square" anchor="t" anchorCtr="0">
            <a:spAutoFit/>
          </a:bodyPr>
          <a:p>
            <a:pPr algn="ctr">
              <a:spcBef>
                <a:spcPct val="20000"/>
              </a:spcBef>
              <a:buClrTx/>
              <a:buSzTx/>
              <a:buFontTx/>
            </a:pPr>
            <a:r>
              <a:rPr lang="en-US" altLang="zh-CN" sz="2000" b="1">
                <a:solidFill>
                  <a:srgbClr val="9C0B15"/>
                </a:solidFill>
                <a:sym typeface="+mn-ea"/>
              </a:rPr>
              <a:t>5</a:t>
            </a:r>
            <a:r>
              <a:rPr lang="zh-CN" altLang="en-US" sz="2000" b="1">
                <a:solidFill>
                  <a:srgbClr val="9C0B15"/>
                </a:solidFill>
                <a:sym typeface="+mn-ea"/>
              </a:rPr>
              <a:t>号作业：第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4</a:t>
            </a:r>
            <a:r>
              <a:rPr lang="zh-CN" altLang="en-US" sz="2000" b="1">
                <a:solidFill>
                  <a:srgbClr val="9C0B15"/>
                </a:solidFill>
                <a:sym typeface="+mn-ea"/>
              </a:rPr>
              <a:t>周</a:t>
            </a: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ctr">
              <a:spcBef>
                <a:spcPct val="20000"/>
              </a:spcBef>
              <a:buClrTx/>
              <a:buSzTx/>
              <a:buFontTx/>
            </a:pP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>
              <a:spcBef>
                <a:spcPct val="20000"/>
              </a:spcBef>
              <a:buClrTx/>
              <a:buSzTx/>
              <a:buFontTx/>
            </a:pPr>
            <a:r>
              <a:rPr lang="zh-CN" altLang="en-US" sz="2000" b="1">
                <a:sym typeface="+mn-ea"/>
              </a:rPr>
              <a:t>题目一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 </a:t>
            </a:r>
            <a:r>
              <a:rPr lang="zh-CN" sz="2000">
                <a:sym typeface="+mn-ea"/>
              </a:rPr>
              <a:t>阅</a:t>
            </a:r>
            <a:r>
              <a:rPr lang="zh-CN" sz="2000">
                <a:sym typeface="+mn-ea"/>
              </a:rPr>
              <a:t>读《操作系统概念》第</a:t>
            </a:r>
            <a:r>
              <a:rPr lang="en-US" altLang="zh-CN" sz="2000">
                <a:sym typeface="+mn-ea"/>
              </a:rPr>
              <a:t>3</a:t>
            </a:r>
            <a:r>
              <a:rPr lang="zh-CN" altLang="en-US" sz="2000">
                <a:sym typeface="+mn-ea"/>
              </a:rPr>
              <a:t>、</a:t>
            </a:r>
            <a:r>
              <a:rPr lang="en-US" altLang="zh-CN" sz="2000">
                <a:sym typeface="+mn-ea"/>
              </a:rPr>
              <a:t>4</a:t>
            </a:r>
            <a:r>
              <a:rPr lang="zh-CN" altLang="en-US" sz="2000">
                <a:sym typeface="+mn-ea"/>
              </a:rPr>
              <a:t>、</a:t>
            </a:r>
            <a:r>
              <a:rPr lang="en-US" altLang="zh-CN" sz="2000">
                <a:sym typeface="+mn-ea"/>
              </a:rPr>
              <a:t>5</a:t>
            </a:r>
            <a:r>
              <a:rPr lang="zh-CN" altLang="en-US" sz="2000">
                <a:sym typeface="+mn-ea"/>
              </a:rPr>
              <a:t>三章内容。</a:t>
            </a:r>
            <a:endParaRPr lang="zh-CN" altLang="en-US" sz="2000">
              <a:sym typeface="+mn-ea"/>
            </a:endParaRPr>
          </a:p>
          <a:p>
            <a:pPr algn="l">
              <a:spcBef>
                <a:spcPct val="20000"/>
              </a:spcBef>
              <a:buClrTx/>
              <a:buSzTx/>
              <a:buFontTx/>
            </a:pPr>
            <a:endParaRPr lang="en-US" altLang="zh-CN" sz="2000" b="1">
              <a:solidFill>
                <a:srgbClr val="9C0B15"/>
              </a:solidFill>
              <a:sym typeface="+mn-ea"/>
            </a:endParaRPr>
          </a:p>
          <a:p>
            <a:pPr algn="l">
              <a:spcBef>
                <a:spcPct val="20000"/>
              </a:spcBef>
              <a:buClrTx/>
              <a:buSzTx/>
              <a:buFontTx/>
            </a:pPr>
            <a:r>
              <a:rPr lang="zh-CN" altLang="en-US" sz="2000" b="1">
                <a:sym typeface="+mn-ea"/>
              </a:rPr>
              <a:t>题目二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 </a:t>
            </a:r>
            <a:r>
              <a:rPr lang="zh-CN" sz="2000">
                <a:sym typeface="+mn-ea"/>
              </a:rPr>
              <a:t>考虑如下线程，其运行时间和优先级如下表给出。它们均在0时刻按照E1~E5的顺序先后提交给操作系统。</a:t>
            </a:r>
            <a:endParaRPr lang="zh-CN" sz="2000">
              <a:sym typeface="+mn-ea"/>
            </a:endParaRPr>
          </a:p>
          <a:p>
            <a:pPr algn="l">
              <a:spcBef>
                <a:spcPct val="20000"/>
              </a:spcBef>
              <a:buClrTx/>
              <a:buSzTx/>
              <a:buFontTx/>
            </a:pPr>
            <a:endParaRPr lang="zh-CN" sz="2000">
              <a:sym typeface="+mn-ea"/>
            </a:endParaRPr>
          </a:p>
          <a:p>
            <a:pPr algn="l">
              <a:spcBef>
                <a:spcPct val="20000"/>
              </a:spcBef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spcBef>
                <a:spcPct val="20000"/>
              </a:spcBef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spcBef>
                <a:spcPct val="20000"/>
              </a:spcBef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spcBef>
                <a:spcPct val="20000"/>
              </a:spcBef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spcBef>
                <a:spcPct val="20000"/>
              </a:spcBef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spcBef>
                <a:spcPct val="20000"/>
              </a:spcBef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spcBef>
                <a:spcPct val="20000"/>
              </a:spcBef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spcBef>
                <a:spcPct val="20000"/>
              </a:spcBef>
              <a:buClrTx/>
              <a:buSzTx/>
              <a:buFontTx/>
            </a:pPr>
            <a:r>
              <a:rPr lang="zh-CN" altLang="en-US" sz="2000">
                <a:sym typeface="+mn-ea"/>
              </a:rPr>
              <a:t>（</a:t>
            </a:r>
            <a:r>
              <a:rPr lang="en-US" altLang="zh-CN" sz="2000">
                <a:sym typeface="+mn-ea"/>
              </a:rPr>
              <a:t>1</a:t>
            </a:r>
            <a:r>
              <a:rPr lang="zh-CN" altLang="en-US" sz="2000">
                <a:sym typeface="+mn-ea"/>
              </a:rPr>
              <a:t>）画出使用</a:t>
            </a:r>
            <a:r>
              <a:rPr lang="zh-CN" altLang="en-US" sz="2000">
                <a:sym typeface="+mn-ea"/>
              </a:rPr>
              <a:t>非抢占式</a:t>
            </a:r>
            <a:r>
              <a:rPr lang="en-US" altLang="zh-CN" sz="2000">
                <a:sym typeface="+mn-ea"/>
              </a:rPr>
              <a:t>FP</a:t>
            </a:r>
            <a:r>
              <a:rPr lang="zh-CN" altLang="en-US" sz="2000">
                <a:sym typeface="+mn-ea"/>
              </a:rPr>
              <a:t>、</a:t>
            </a:r>
            <a:r>
              <a:rPr lang="en-US" altLang="zh-CN" sz="2000">
                <a:sym typeface="+mn-ea"/>
              </a:rPr>
              <a:t>FCFS</a:t>
            </a:r>
            <a:r>
              <a:rPr lang="zh-CN" altLang="en-US" sz="2000">
                <a:sym typeface="+mn-ea"/>
              </a:rPr>
              <a:t>以及</a:t>
            </a:r>
            <a:r>
              <a:rPr lang="en-US" altLang="zh-CN" sz="2000">
                <a:sym typeface="+mn-ea"/>
              </a:rPr>
              <a:t>SJF</a:t>
            </a:r>
            <a:r>
              <a:rPr lang="zh-CN" altLang="en-US" sz="2000">
                <a:sym typeface="+mn-ea"/>
              </a:rPr>
              <a:t>时的执行</a:t>
            </a:r>
            <a:r>
              <a:rPr lang="zh-CN" altLang="en-US" sz="2000">
                <a:sym typeface="+mn-ea"/>
              </a:rPr>
              <a:t>图。</a:t>
            </a:r>
            <a:endParaRPr lang="zh-CN" altLang="en-US" sz="2000"/>
          </a:p>
          <a:p>
            <a:pPr algn="l">
              <a:spcBef>
                <a:spcPct val="20000"/>
              </a:spcBef>
              <a:buClrTx/>
              <a:buSzTx/>
              <a:buFontTx/>
            </a:pPr>
            <a:r>
              <a:rPr lang="zh-CN" altLang="en-US" sz="2000">
                <a:sym typeface="+mn-ea"/>
              </a:rPr>
              <a:t>（</a:t>
            </a:r>
            <a:r>
              <a:rPr lang="en-US" altLang="zh-CN" sz="2000">
                <a:sym typeface="+mn-ea"/>
              </a:rPr>
              <a:t>2</a:t>
            </a:r>
            <a:r>
              <a:rPr lang="zh-CN" altLang="en-US" sz="2000">
                <a:sym typeface="+mn-ea"/>
              </a:rPr>
              <a:t>）对于（</a:t>
            </a:r>
            <a:r>
              <a:rPr lang="en-US" altLang="zh-CN" sz="2000">
                <a:sym typeface="+mn-ea"/>
              </a:rPr>
              <a:t>1</a:t>
            </a:r>
            <a:r>
              <a:rPr lang="zh-CN" altLang="en-US" sz="2000">
                <a:sym typeface="+mn-ea"/>
              </a:rPr>
              <a:t>）中的各个执行图，各个线程的等待时间和周转时间各是多少？</a:t>
            </a:r>
            <a:endParaRPr lang="zh-CN" altLang="en-US" sz="2000"/>
          </a:p>
          <a:p>
            <a:pPr algn="l">
              <a:spcBef>
                <a:spcPct val="20000"/>
              </a:spcBef>
              <a:buClrTx/>
              <a:buSzTx/>
              <a:buFontTx/>
            </a:pPr>
            <a:r>
              <a:rPr lang="zh-CN" altLang="en-US" sz="2000">
                <a:sym typeface="+mn-ea"/>
              </a:rPr>
              <a:t>（</a:t>
            </a:r>
            <a:r>
              <a:rPr lang="en-US" altLang="zh-CN" sz="2000">
                <a:sym typeface="+mn-ea"/>
              </a:rPr>
              <a:t>3</a:t>
            </a:r>
            <a:r>
              <a:rPr lang="zh-CN" altLang="en-US" sz="2000">
                <a:sym typeface="+mn-ea"/>
              </a:rPr>
              <a:t>）哪种调度算法的平均等待时间最少，为什么？</a:t>
            </a:r>
            <a:endParaRPr lang="zh-CN" altLang="en-US" sz="2000"/>
          </a:p>
          <a:p>
            <a:pPr algn="l">
              <a:spcBef>
                <a:spcPct val="20000"/>
              </a:spcBef>
              <a:buClrTx/>
              <a:buSzTx/>
              <a:buFontTx/>
            </a:pPr>
            <a:r>
              <a:rPr lang="zh-CN" altLang="en-US" sz="2000">
                <a:sym typeface="+mn-ea"/>
              </a:rPr>
              <a:t>（4）如果采用时间片</a:t>
            </a:r>
            <a:r>
              <a:rPr lang="zh-CN" altLang="en-US" sz="2000">
                <a:sym typeface="+mn-ea"/>
              </a:rPr>
              <a:t>固定为1的FPRR算法，</a:t>
            </a:r>
            <a:r>
              <a:rPr lang="zh-CN" altLang="en-US" sz="2000">
                <a:sym typeface="+mn-ea"/>
              </a:rPr>
              <a:t>执行图是什么样子？</a:t>
            </a:r>
            <a:endParaRPr lang="zh-CN" altLang="en-US" sz="2000">
              <a:sym typeface="+mn-ea"/>
            </a:endParaRPr>
          </a:p>
        </p:txBody>
      </p:sp>
      <p:graphicFrame>
        <p:nvGraphicFramePr>
          <p:cNvPr id="5" name="表格 4"/>
          <p:cNvGraphicFramePr/>
          <p:nvPr>
            <p:custDataLst>
              <p:tags r:id="rId2"/>
            </p:custDataLst>
          </p:nvPr>
        </p:nvGraphicFramePr>
        <p:xfrm>
          <a:off x="2872740" y="2548890"/>
          <a:ext cx="4041140" cy="244729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936625"/>
                <a:gridCol w="1508125"/>
                <a:gridCol w="1596390"/>
              </a:tblGrid>
              <a:tr h="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线程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优先级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运行</a:t>
                      </a: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时间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021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E1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3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10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021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E2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1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1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021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E3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3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2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021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E4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4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1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021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E5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2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5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</p:spTree>
    <p:custDataLst>
      <p:tags r:id="rId3"/>
    </p:custData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处理器</a:t>
                      </a: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调度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一、指令流</a:t>
                      </a: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与执行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应用程序与指令流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顺序与并发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执行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1.3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指令流的描述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en-US" altLang="zh-CN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线程与处理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器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2.1 CPU时间与线程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2.2</a:t>
                      </a: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线程的描述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2.3 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纤程与协程</a:t>
                      </a:r>
                      <a:endParaRPr lang="en-US" altLang="zh-CN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三、处理器调度算法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3.1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调度算法原理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3.2 多处理器与并发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Text Box 2"/>
          <p:cNvSpPr txBox="1"/>
          <p:nvPr/>
        </p:nvSpPr>
        <p:spPr>
          <a:xfrm>
            <a:off x="428625" y="140335"/>
            <a:ext cx="8930640" cy="6185535"/>
          </a:xfrm>
          <a:prstGeom prst="rect">
            <a:avLst/>
          </a:prstGeom>
          <a:noFill/>
          <a:ln w="12700">
            <a:noFill/>
          </a:ln>
        </p:spPr>
        <p:txBody>
          <a:bodyPr wrap="square" anchor="t" anchorCtr="0">
            <a:spAutoFit/>
          </a:bodyPr>
          <a:p>
            <a:pPr algn="ctr">
              <a:spcBef>
                <a:spcPct val="20000"/>
              </a:spcBef>
              <a:buClrTx/>
              <a:buSzTx/>
              <a:buFontTx/>
            </a:pPr>
            <a:r>
              <a:rPr lang="en-US" altLang="zh-CN" sz="2000" b="1">
                <a:solidFill>
                  <a:srgbClr val="9C0B15"/>
                </a:solidFill>
                <a:sym typeface="+mn-ea"/>
              </a:rPr>
              <a:t>5</a:t>
            </a:r>
            <a:r>
              <a:rPr lang="zh-CN" altLang="en-US" sz="2000" b="1">
                <a:solidFill>
                  <a:srgbClr val="9C0B15"/>
                </a:solidFill>
                <a:sym typeface="+mn-ea"/>
              </a:rPr>
              <a:t>号作业：第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4</a:t>
            </a:r>
            <a:r>
              <a:rPr lang="zh-CN" altLang="en-US" sz="2000" b="1">
                <a:solidFill>
                  <a:srgbClr val="9C0B15"/>
                </a:solidFill>
                <a:sym typeface="+mn-ea"/>
              </a:rPr>
              <a:t>周</a:t>
            </a: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ctr">
              <a:spcBef>
                <a:spcPct val="20000"/>
              </a:spcBef>
              <a:buClrTx/>
              <a:buSzTx/>
              <a:buFontTx/>
            </a:pP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>
              <a:spcBef>
                <a:spcPct val="20000"/>
              </a:spcBef>
              <a:buClrTx/>
              <a:buSzTx/>
              <a:buFontTx/>
            </a:pPr>
            <a:r>
              <a:rPr lang="zh-CN" altLang="en-US" sz="2000" b="1">
                <a:sym typeface="+mn-ea"/>
              </a:rPr>
              <a:t>题目三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 </a:t>
            </a:r>
            <a:r>
              <a:rPr lang="zh-CN" sz="2000">
                <a:sym typeface="+mn-ea"/>
              </a:rPr>
              <a:t>相比于单处理器调度，多处理器调度还可能产生哪些问题？为什么？查阅资料，谈谈多处理器调度中可能遇到的困难以及解决方式</a:t>
            </a:r>
            <a:r>
              <a:rPr lang="zh-CN" altLang="en-US" sz="2000">
                <a:sym typeface="+mn-ea"/>
              </a:rPr>
              <a:t>。</a:t>
            </a:r>
            <a:endParaRPr lang="zh-CN" altLang="en-US" sz="2000">
              <a:sym typeface="+mn-ea"/>
            </a:endParaRPr>
          </a:p>
          <a:p>
            <a:pPr algn="l">
              <a:spcBef>
                <a:spcPct val="20000"/>
              </a:spcBef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spcBef>
                <a:spcPct val="20000"/>
              </a:spcBef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spcBef>
                <a:spcPct val="20000"/>
              </a:spcBef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spcBef>
                <a:spcPct val="20000"/>
              </a:spcBef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spcBef>
                <a:spcPct val="20000"/>
              </a:spcBef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spcBef>
                <a:spcPct val="20000"/>
              </a:spcBef>
              <a:buClrTx/>
              <a:buSzTx/>
              <a:buFontTx/>
            </a:pPr>
            <a:r>
              <a:rPr lang="zh-CN" altLang="en-US" sz="2000" b="1">
                <a:sym typeface="+mn-ea"/>
              </a:rPr>
              <a:t>题目四</a:t>
            </a:r>
            <a:r>
              <a:rPr lang="en-US" altLang="zh-CN" sz="2000">
                <a:sym typeface="+mn-ea"/>
              </a:rPr>
              <a:t> </a:t>
            </a:r>
            <a:r>
              <a:rPr lang="zh-CN" altLang="en-US" sz="2000">
                <a:sym typeface="+mn-ea"/>
              </a:rPr>
              <a:t>查阅指令流和线程之间以多对多关系实现的例子，并使用那个系统中的</a:t>
            </a:r>
            <a:r>
              <a:rPr lang="zh-CN" altLang="en-US" sz="2000">
                <a:sym typeface="+mn-ea"/>
              </a:rPr>
              <a:t>术语举例说明其中的</a:t>
            </a:r>
            <a:r>
              <a:rPr lang="zh-CN" altLang="en-US" sz="2000">
                <a:sym typeface="+mn-ea"/>
              </a:rPr>
              <a:t>对应关系。</a:t>
            </a:r>
            <a:endParaRPr lang="zh-CN" altLang="en-US" sz="2000">
              <a:sym typeface="+mn-ea"/>
            </a:endParaRPr>
          </a:p>
          <a:p>
            <a:pPr algn="l">
              <a:spcBef>
                <a:spcPct val="20000"/>
              </a:spcBef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spcBef>
                <a:spcPct val="20000"/>
              </a:spcBef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spcBef>
                <a:spcPct val="20000"/>
              </a:spcBef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spcBef>
                <a:spcPct val="20000"/>
              </a:spcBef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spcBef>
                <a:spcPct val="20000"/>
              </a:spcBef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spcBef>
                <a:spcPct val="20000"/>
              </a:spcBef>
              <a:buClrTx/>
              <a:buSzTx/>
              <a:buFontTx/>
            </a:pPr>
            <a:r>
              <a:rPr lang="zh-CN" altLang="en-US" sz="2000" b="1">
                <a:sym typeface="+mn-ea"/>
              </a:rPr>
              <a:t>题目五</a:t>
            </a:r>
            <a:r>
              <a:rPr lang="en-US" altLang="zh-CN" sz="2000">
                <a:sym typeface="+mn-ea"/>
              </a:rPr>
              <a:t> HRRN</a:t>
            </a:r>
            <a:r>
              <a:rPr lang="zh-CN" altLang="en-US" sz="2000">
                <a:sym typeface="+mn-ea"/>
              </a:rPr>
              <a:t>调度算法会导致饥饿吗？</a:t>
            </a:r>
            <a:r>
              <a:rPr lang="en-US" altLang="zh-CN" sz="2000">
                <a:sym typeface="+mn-ea"/>
              </a:rPr>
              <a:t>FPRR</a:t>
            </a:r>
            <a:r>
              <a:rPr lang="zh-CN" altLang="en-US" sz="2000">
                <a:sym typeface="+mn-ea"/>
              </a:rPr>
              <a:t>呢？为什么？</a:t>
            </a:r>
            <a:endParaRPr lang="en-US" altLang="zh-CN" sz="2000">
              <a:sym typeface="+mn-ea"/>
            </a:endParaRPr>
          </a:p>
        </p:txBody>
      </p:sp>
    </p:spTree>
    <p:custDataLst>
      <p:tags r:id="rId2"/>
    </p:custData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TIMING" val="|0.3|0.8|0.7|0.7|1.2|1.3"/>
</p:tagLst>
</file>

<file path=ppt/tags/tag5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TIMING" val="|0.6|0.8|1.2|0.9|0.6|1.1|0.7|0.6|0.8|0.4|1"/>
</p:tagLst>
</file>

<file path=ppt/tags/tag13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TIMING" val="|0.6|0.8|1.2|0.9|0.6|1.1|0.7|0.6|0.8|0.4|1"/>
</p:tagLst>
</file>

<file path=ppt/tags/tag21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KSO_WM_BEAUTIFY_FLAG" val=""/>
</p:tagLst>
</file>

<file path=ppt/tags/tag25.xml><?xml version="1.0" encoding="utf-8"?>
<p:tagLst xmlns:p="http://schemas.openxmlformats.org/presentationml/2006/main">
  <p:tag name="KSO_WM_BEAUTIFY_FLAG" val=""/>
</p:tagLst>
</file>

<file path=ppt/tags/tag26.xml><?xml version="1.0" encoding="utf-8"?>
<p:tagLst xmlns:p="http://schemas.openxmlformats.org/presentationml/2006/main">
  <p:tag name="TIMING" val="|0.6|0.8|1.2|0.9|0.6|1.1|0.7|0.6|0.8|0.4|1"/>
</p:tagLst>
</file>

<file path=ppt/tags/tag27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28.xml><?xml version="1.0" encoding="utf-8"?>
<p:tagLst xmlns:p="http://schemas.openxmlformats.org/presentationml/2006/main">
  <p:tag name="KSO_WM_BEAUTIFY_FLAG" val=""/>
</p:tagLst>
</file>

<file path=ppt/tags/tag29.xml><?xml version="1.0" encoding="utf-8"?>
<p:tagLst xmlns:p="http://schemas.openxmlformats.org/presentationml/2006/main">
  <p:tag name="KSO_WM_BEAUTIFY_FLAG" val=""/>
</p:tagLst>
</file>

<file path=ppt/tags/tag30.xml><?xml version="1.0" encoding="utf-8"?>
<p:tagLst xmlns:p="http://schemas.openxmlformats.org/presentationml/2006/main">
  <p:tag name="KSO_WM_BEAUTIFY_FLAG" val=""/>
</p:tagLst>
</file>

<file path=ppt/tags/tag31.xml><?xml version="1.0" encoding="utf-8"?>
<p:tagLst xmlns:p="http://schemas.openxmlformats.org/presentationml/2006/main">
  <p:tag name="KSO_WM_BEAUTIFY_FLAG" val=""/>
</p:tagLst>
</file>

<file path=ppt/tags/tag32.xml><?xml version="1.0" encoding="utf-8"?>
<p:tagLst xmlns:p="http://schemas.openxmlformats.org/presentationml/2006/main">
  <p:tag name="TIMING" val="|0.6|0.8|1.2|0.9|0.6|1.1|0.7|0.6|0.8|0.4|1"/>
</p:tagLst>
</file>

<file path=ppt/tags/tag33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34.xml><?xml version="1.0" encoding="utf-8"?>
<p:tagLst xmlns:p="http://schemas.openxmlformats.org/presentationml/2006/main">
  <p:tag name="TIMING" val="|0.6|0.8|1.2|0.9|0.6|1.1|0.7|0.6|0.8|0.4|1"/>
</p:tagLst>
</file>

<file path=ppt/tags/tag35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36.xml><?xml version="1.0" encoding="utf-8"?>
<p:tagLst xmlns:p="http://schemas.openxmlformats.org/presentationml/2006/main">
  <p:tag name="KSO_WM_BEAUTIFY_FLAG" val=""/>
</p:tagLst>
</file>

<file path=ppt/tags/tag37.xml><?xml version="1.0" encoding="utf-8"?>
<p:tagLst xmlns:p="http://schemas.openxmlformats.org/presentationml/2006/main">
  <p:tag name="KSO_WM_BEAUTIFY_FLAG" val=""/>
</p:tagLst>
</file>

<file path=ppt/tags/tag38.xml><?xml version="1.0" encoding="utf-8"?>
<p:tagLst xmlns:p="http://schemas.openxmlformats.org/presentationml/2006/main">
  <p:tag name="KSO_WM_BEAUTIFY_FLAG" val=""/>
</p:tagLst>
</file>

<file path=ppt/tags/tag39.xml><?xml version="1.0" encoding="utf-8"?>
<p:tagLst xmlns:p="http://schemas.openxmlformats.org/presentationml/2006/main">
  <p:tag name="KSO_WM_BEAUTIFY_FLAG" val=""/>
</p:tagLst>
</file>

<file path=ppt/tags/tag40.xml><?xml version="1.0" encoding="utf-8"?>
<p:tagLst xmlns:p="http://schemas.openxmlformats.org/presentationml/2006/main">
  <p:tag name="KSO_WM_BEAUTIFY_FLAG" val=""/>
</p:tagLst>
</file>

<file path=ppt/tags/tag41.xml><?xml version="1.0" encoding="utf-8"?>
<p:tagLst xmlns:p="http://schemas.openxmlformats.org/presentationml/2006/main">
  <p:tag name="KSO_WM_BEAUTIFY_FLAG" val=""/>
</p:tagLst>
</file>

<file path=ppt/tags/tag42.xml><?xml version="1.0" encoding="utf-8"?>
<p:tagLst xmlns:p="http://schemas.openxmlformats.org/presentationml/2006/main">
  <p:tag name="KSO_WM_BEAUTIFY_FLAG" val=""/>
</p:tagLst>
</file>

<file path=ppt/tags/tag43.xml><?xml version="1.0" encoding="utf-8"?>
<p:tagLst xmlns:p="http://schemas.openxmlformats.org/presentationml/2006/main">
  <p:tag name="KSO_WM_BEAUTIFY_FLAG" val=""/>
</p:tagLst>
</file>

<file path=ppt/tags/tag44.xml><?xml version="1.0" encoding="utf-8"?>
<p:tagLst xmlns:p="http://schemas.openxmlformats.org/presentationml/2006/main">
  <p:tag name="KSO_WM_BEAUTIFY_FLAG" val=""/>
</p:tagLst>
</file>

<file path=ppt/tags/tag45.xml><?xml version="1.0" encoding="utf-8"?>
<p:tagLst xmlns:p="http://schemas.openxmlformats.org/presentationml/2006/main">
  <p:tag name="KSO_WM_BEAUTIFY_FLAG" val=""/>
</p:tagLst>
</file>

<file path=ppt/tags/tag46.xml><?xml version="1.0" encoding="utf-8"?>
<p:tagLst xmlns:p="http://schemas.openxmlformats.org/presentationml/2006/main">
  <p:tag name="KSO_WM_BEAUTIFY_FLAG" val=""/>
</p:tagLst>
</file>

<file path=ppt/tags/tag47.xml><?xml version="1.0" encoding="utf-8"?>
<p:tagLst xmlns:p="http://schemas.openxmlformats.org/presentationml/2006/main">
  <p:tag name="TIMING" val="|0.6|0.8|1.2|0.9|0.6|1.1|0.7|0.6|0.8|0.4|1"/>
</p:tagLst>
</file>

<file path=ppt/tags/tag48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49.xml><?xml version="1.0" encoding="utf-8"?>
<p:tagLst xmlns:p="http://schemas.openxmlformats.org/presentationml/2006/main">
  <p:tag name="KSO_WM_BEAUTIFY_FLAG" val=""/>
</p:tagLst>
</file>

<file path=ppt/tags/tag50.xml><?xml version="1.0" encoding="utf-8"?>
<p:tagLst xmlns:p="http://schemas.openxmlformats.org/presentationml/2006/main">
  <p:tag name="KSO_WM_BEAUTIFY_FLAG" val=""/>
</p:tagLst>
</file>

<file path=ppt/tags/tag51.xml><?xml version="1.0" encoding="utf-8"?>
<p:tagLst xmlns:p="http://schemas.openxmlformats.org/presentationml/2006/main">
  <p:tag name="KSO_WM_BEAUTIFY_FLAG" val=""/>
</p:tagLst>
</file>

<file path=ppt/tags/tag52.xml><?xml version="1.0" encoding="utf-8"?>
<p:tagLst xmlns:p="http://schemas.openxmlformats.org/presentationml/2006/main">
  <p:tag name="KSO_WM_BEAUTIFY_FLAG" val=""/>
</p:tagLst>
</file>

<file path=ppt/tags/tag53.xml><?xml version="1.0" encoding="utf-8"?>
<p:tagLst xmlns:p="http://schemas.openxmlformats.org/presentationml/2006/main">
  <p:tag name="KSO_WM_BEAUTIFY_FLAG" val=""/>
</p:tagLst>
</file>

<file path=ppt/tags/tag54.xml><?xml version="1.0" encoding="utf-8"?>
<p:tagLst xmlns:p="http://schemas.openxmlformats.org/presentationml/2006/main">
  <p:tag name="KSO_WM_BEAUTIFY_FLAG" val=""/>
</p:tagLst>
</file>

<file path=ppt/tags/tag55.xml><?xml version="1.0" encoding="utf-8"?>
<p:tagLst xmlns:p="http://schemas.openxmlformats.org/presentationml/2006/main">
  <p:tag name="KSO_WM_BEAUTIFY_FLAG" val=""/>
</p:tagLst>
</file>

<file path=ppt/tags/tag56.xml><?xml version="1.0" encoding="utf-8"?>
<p:tagLst xmlns:p="http://schemas.openxmlformats.org/presentationml/2006/main">
  <p:tag name="KSO_WM_BEAUTIFY_FLAG" val=""/>
</p:tagLst>
</file>

<file path=ppt/tags/tag57.xml><?xml version="1.0" encoding="utf-8"?>
<p:tagLst xmlns:p="http://schemas.openxmlformats.org/presentationml/2006/main">
  <p:tag name="KSO_WM_BEAUTIFY_FLAG" val=""/>
</p:tagLst>
</file>

<file path=ppt/tags/tag58.xml><?xml version="1.0" encoding="utf-8"?>
<p:tagLst xmlns:p="http://schemas.openxmlformats.org/presentationml/2006/main">
  <p:tag name="KSO_WM_BEAUTIFY_FLAG" val=""/>
</p:tagLst>
</file>

<file path=ppt/tags/tag59.xml><?xml version="1.0" encoding="utf-8"?>
<p:tagLst xmlns:p="http://schemas.openxmlformats.org/presentationml/2006/main">
  <p:tag name="KSO_WM_BEAUTIFY_FLAG" val=""/>
</p:tagLst>
</file>

<file path=ppt/tags/tag60.xml><?xml version="1.0" encoding="utf-8"?>
<p:tagLst xmlns:p="http://schemas.openxmlformats.org/presentationml/2006/main">
  <p:tag name="TIMING" val="|0.6|0.8|1.2|0.9|0.6|1.1|0.7|0.6|0.8|0.4|1"/>
</p:tagLst>
</file>

<file path=ppt/tags/tag61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62.xml><?xml version="1.0" encoding="utf-8"?>
<p:tagLst xmlns:p="http://schemas.openxmlformats.org/presentationml/2006/main">
  <p:tag name="KSO_WM_BEAUTIFY_FLAG" val=""/>
</p:tagLst>
</file>

<file path=ppt/tags/tag63.xml><?xml version="1.0" encoding="utf-8"?>
<p:tagLst xmlns:p="http://schemas.openxmlformats.org/presentationml/2006/main">
  <p:tag name="KSO_WM_BEAUTIFY_FLAG" val=""/>
</p:tagLst>
</file>

<file path=ppt/tags/tag64.xml><?xml version="1.0" encoding="utf-8"?>
<p:tagLst xmlns:p="http://schemas.openxmlformats.org/presentationml/2006/main">
  <p:tag name="KSO_WM_BEAUTIFY_FLAG" val=""/>
</p:tagLst>
</file>

<file path=ppt/tags/tag65.xml><?xml version="1.0" encoding="utf-8"?>
<p:tagLst xmlns:p="http://schemas.openxmlformats.org/presentationml/2006/main">
  <p:tag name="KSO_WM_BEAUTIFY_FLAG" val=""/>
</p:tagLst>
</file>

<file path=ppt/tags/tag66.xml><?xml version="1.0" encoding="utf-8"?>
<p:tagLst xmlns:p="http://schemas.openxmlformats.org/presentationml/2006/main">
  <p:tag name="TIMING" val="|0.6|0.8|1.2|0.9|0.6|1.1|0.7|0.6|0.8|0.4|1"/>
</p:tagLst>
</file>

<file path=ppt/tags/tag67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68.xml><?xml version="1.0" encoding="utf-8"?>
<p:tagLst xmlns:p="http://schemas.openxmlformats.org/presentationml/2006/main">
  <p:tag name="TIMING" val="|0.6|0.8|1.2|0.9|0.6|1.1|0.7|0.6|0.8|0.4|1"/>
</p:tagLst>
</file>

<file path=ppt/tags/tag69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70.xml><?xml version="1.0" encoding="utf-8"?>
<p:tagLst xmlns:p="http://schemas.openxmlformats.org/presentationml/2006/main">
  <p:tag name="KSO_WM_BEAUTIFY_FLAG" val=""/>
</p:tagLst>
</file>

<file path=ppt/tags/tag71.xml><?xml version="1.0" encoding="utf-8"?>
<p:tagLst xmlns:p="http://schemas.openxmlformats.org/presentationml/2006/main">
  <p:tag name="KSO_WM_BEAUTIFY_FLAG" val=""/>
</p:tagLst>
</file>

<file path=ppt/tags/tag72.xml><?xml version="1.0" encoding="utf-8"?>
<p:tagLst xmlns:p="http://schemas.openxmlformats.org/presentationml/2006/main">
  <p:tag name="KSO_WM_BEAUTIFY_FLAG" val=""/>
</p:tagLst>
</file>

<file path=ppt/tags/tag73.xml><?xml version="1.0" encoding="utf-8"?>
<p:tagLst xmlns:p="http://schemas.openxmlformats.org/presentationml/2006/main">
  <p:tag name="KSO_WM_BEAUTIFY_FLAG" val=""/>
</p:tagLst>
</file>

<file path=ppt/tags/tag74.xml><?xml version="1.0" encoding="utf-8"?>
<p:tagLst xmlns:p="http://schemas.openxmlformats.org/presentationml/2006/main">
  <p:tag name="KSO_WM_BEAUTIFY_FLAG" val=""/>
</p:tagLst>
</file>

<file path=ppt/tags/tag75.xml><?xml version="1.0" encoding="utf-8"?>
<p:tagLst xmlns:p="http://schemas.openxmlformats.org/presentationml/2006/main">
  <p:tag name="KSO_WM_BEAUTIFY_FLAG" val=""/>
</p:tagLst>
</file>

<file path=ppt/tags/tag76.xml><?xml version="1.0" encoding="utf-8"?>
<p:tagLst xmlns:p="http://schemas.openxmlformats.org/presentationml/2006/main">
  <p:tag name="KSO_WM_BEAUTIFY_FLAG" val=""/>
</p:tagLst>
</file>

<file path=ppt/tags/tag77.xml><?xml version="1.0" encoding="utf-8"?>
<p:tagLst xmlns:p="http://schemas.openxmlformats.org/presentationml/2006/main">
  <p:tag name="KSO_WM_BEAUTIFY_FLAG" val=""/>
</p:tagLst>
</file>

<file path=ppt/tags/tag78.xml><?xml version="1.0" encoding="utf-8"?>
<p:tagLst xmlns:p="http://schemas.openxmlformats.org/presentationml/2006/main">
  <p:tag name="TIMING" val="|0.6|0.8|1.2|0.9|0.6|1.1|0.7|0.6|0.8|0.4|1"/>
</p:tagLst>
</file>

<file path=ppt/tags/tag79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80.xml><?xml version="1.0" encoding="utf-8"?>
<p:tagLst xmlns:p="http://schemas.openxmlformats.org/presentationml/2006/main">
  <p:tag name="KSO_WM_BEAUTIFY_FLAG" val=""/>
</p:tagLst>
</file>

<file path=ppt/tags/tag81.xml><?xml version="1.0" encoding="utf-8"?>
<p:tagLst xmlns:p="http://schemas.openxmlformats.org/presentationml/2006/main">
  <p:tag name="KSO_WM_BEAUTIFY_FLAG" val=""/>
</p:tagLst>
</file>

<file path=ppt/tags/tag82.xml><?xml version="1.0" encoding="utf-8"?>
<p:tagLst xmlns:p="http://schemas.openxmlformats.org/presentationml/2006/main">
  <p:tag name="KSO_WM_BEAUTIFY_FLAG" val=""/>
</p:tagLst>
</file>

<file path=ppt/tags/tag83.xml><?xml version="1.0" encoding="utf-8"?>
<p:tagLst xmlns:p="http://schemas.openxmlformats.org/presentationml/2006/main">
  <p:tag name="KSO_WM_BEAUTIFY_FLAG" val=""/>
</p:tagLst>
</file>

<file path=ppt/tags/tag84.xml><?xml version="1.0" encoding="utf-8"?>
<p:tagLst xmlns:p="http://schemas.openxmlformats.org/presentationml/2006/main">
  <p:tag name="KSO_WM_BEAUTIFY_FLAG" val=""/>
</p:tagLst>
</file>

<file path=ppt/tags/tag85.xml><?xml version="1.0" encoding="utf-8"?>
<p:tagLst xmlns:p="http://schemas.openxmlformats.org/presentationml/2006/main">
  <p:tag name="KSO_WM_BEAUTIFY_FLAG" val=""/>
</p:tagLst>
</file>

<file path=ppt/tags/tag86.xml><?xml version="1.0" encoding="utf-8"?>
<p:tagLst xmlns:p="http://schemas.openxmlformats.org/presentationml/2006/main">
  <p:tag name="KSO_WM_BEAUTIFY_FLAG" val=""/>
</p:tagLst>
</file>

<file path=ppt/tags/tag87.xml><?xml version="1.0" encoding="utf-8"?>
<p:tagLst xmlns:p="http://schemas.openxmlformats.org/presentationml/2006/main">
  <p:tag name="KSO_WM_BEAUTIFY_FLAG" val=""/>
</p:tagLst>
</file>

<file path=ppt/tags/tag88.xml><?xml version="1.0" encoding="utf-8"?>
<p:tagLst xmlns:p="http://schemas.openxmlformats.org/presentationml/2006/main">
  <p:tag name="KSO_WM_BEAUTIFY_FLAG" val=""/>
</p:tagLst>
</file>

<file path=ppt/tags/tag89.xml><?xml version="1.0" encoding="utf-8"?>
<p:tagLst xmlns:p="http://schemas.openxmlformats.org/presentationml/2006/main">
  <p:tag name="KSO_WM_BEAUTIFY_FLAG" val=""/>
</p:tagLst>
</file>

<file path=ppt/tags/tag90.xml><?xml version="1.0" encoding="utf-8"?>
<p:tagLst xmlns:p="http://schemas.openxmlformats.org/presentationml/2006/main">
  <p:tag name="KSO_WM_BEAUTIFY_FLAG" val=""/>
</p:tagLst>
</file>

<file path=ppt/tags/tag91.xml><?xml version="1.0" encoding="utf-8"?>
<p:tagLst xmlns:p="http://schemas.openxmlformats.org/presentationml/2006/main">
  <p:tag name="KSO_WM_BEAUTIFY_FLAG" val=""/>
</p:tagLst>
</file>

<file path=ppt/tags/tag92.xml><?xml version="1.0" encoding="utf-8"?>
<p:tagLst xmlns:p="http://schemas.openxmlformats.org/presentationml/2006/main">
  <p:tag name="TIMING" val="|0.6|0.8|1.2|0.9|0.6|1.1|0.7|0.6|0.8|0.4|1"/>
</p:tagLst>
</file>

<file path=ppt/tags/tag93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94.xml><?xml version="1.0" encoding="utf-8"?>
<p:tagLst xmlns:p="http://schemas.openxmlformats.org/presentationml/2006/main">
  <p:tag name="TIMING" val="|0.6|0.8|1.2|0.9|0.6|1.1|0.7|0.6|0.8|0.4|1"/>
</p:tagLst>
</file>

<file path=ppt/tags/tag95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96.xml><?xml version="1.0" encoding="utf-8"?>
<p:tagLst xmlns:p="http://schemas.openxmlformats.org/presentationml/2006/main">
  <p:tag name="TIMING" val="|0.6|0.8|1.2|0.9|0.6|1.1|0.7|0.6|0.8|0.4|1"/>
</p:tagLst>
</file>

<file path=ppt/tags/tag97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98.xml><?xml version="1.0" encoding="utf-8"?>
<p:tagLst xmlns:p="http://schemas.openxmlformats.org/presentationml/2006/main">
  <p:tag name="TIMING" val="|0.6|0.8|1.2|0.9|0.6|1.1|0.7|0.6|0.8|0.4|1"/>
</p:tagLst>
</file>

<file path=ppt/tags/tag99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100.xml><?xml version="1.0" encoding="utf-8"?>
<p:tagLst xmlns:p="http://schemas.openxmlformats.org/presentationml/2006/main">
  <p:tag name="KSO_WM_BEAUTIFY_FLAG" val=""/>
</p:tagLst>
</file>

<file path=ppt/tags/tag101.xml><?xml version="1.0" encoding="utf-8"?>
<p:tagLst xmlns:p="http://schemas.openxmlformats.org/presentationml/2006/main">
  <p:tag name="KSO_WM_BEAUTIFY_FLAG" val=""/>
</p:tagLst>
</file>

<file path=ppt/tags/tag102.xml><?xml version="1.0" encoding="utf-8"?>
<p:tagLst xmlns:p="http://schemas.openxmlformats.org/presentationml/2006/main">
  <p:tag name="KSO_WM_BEAUTIFY_FLAG" val=""/>
</p:tagLst>
</file>

<file path=ppt/tags/tag103.xml><?xml version="1.0" encoding="utf-8"?>
<p:tagLst xmlns:p="http://schemas.openxmlformats.org/presentationml/2006/main">
  <p:tag name="KSO_WM_BEAUTIFY_FLAG" val=""/>
</p:tagLst>
</file>

<file path=ppt/tags/tag104.xml><?xml version="1.0" encoding="utf-8"?>
<p:tagLst xmlns:p="http://schemas.openxmlformats.org/presentationml/2006/main">
  <p:tag name="KSO_WM_BEAUTIFY_FLAG" val=""/>
</p:tagLst>
</file>

<file path=ppt/tags/tag105.xml><?xml version="1.0" encoding="utf-8"?>
<p:tagLst xmlns:p="http://schemas.openxmlformats.org/presentationml/2006/main">
  <p:tag name="KSO_WM_BEAUTIFY_FLAG" val=""/>
</p:tagLst>
</file>

<file path=ppt/tags/tag106.xml><?xml version="1.0" encoding="utf-8"?>
<p:tagLst xmlns:p="http://schemas.openxmlformats.org/presentationml/2006/main">
  <p:tag name="KSO_WM_BEAUTIFY_FLAG" val=""/>
</p:tagLst>
</file>

<file path=ppt/tags/tag107.xml><?xml version="1.0" encoding="utf-8"?>
<p:tagLst xmlns:p="http://schemas.openxmlformats.org/presentationml/2006/main">
  <p:tag name="KSO_WM_BEAUTIFY_FLAG" val=""/>
</p:tagLst>
</file>

<file path=ppt/tags/tag108.xml><?xml version="1.0" encoding="utf-8"?>
<p:tagLst xmlns:p="http://schemas.openxmlformats.org/presentationml/2006/main">
  <p:tag name="KSO_WM_BEAUTIFY_FLAG" val=""/>
</p:tagLst>
</file>

<file path=ppt/tags/tag109.xml><?xml version="1.0" encoding="utf-8"?>
<p:tagLst xmlns:p="http://schemas.openxmlformats.org/presentationml/2006/main">
  <p:tag name="KSO_WM_BEAUTIFY_FLAG" val=""/>
</p:tagLst>
</file>

<file path=ppt/tags/tag110.xml><?xml version="1.0" encoding="utf-8"?>
<p:tagLst xmlns:p="http://schemas.openxmlformats.org/presentationml/2006/main">
  <p:tag name="TIMING" val="|0.6|0.8|1.2|0.9|0.6|1.1|0.7|0.6|0.8|0.4|1"/>
</p:tagLst>
</file>

<file path=ppt/tags/tag111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112.xml><?xml version="1.0" encoding="utf-8"?>
<p:tagLst xmlns:p="http://schemas.openxmlformats.org/presentationml/2006/main">
  <p:tag name="KSO_WM_BEAUTIFY_FLAG" val=""/>
</p:tagLst>
</file>

<file path=ppt/tags/tag113.xml><?xml version="1.0" encoding="utf-8"?>
<p:tagLst xmlns:p="http://schemas.openxmlformats.org/presentationml/2006/main">
  <p:tag name="KSO_WM_BEAUTIFY_FLAG" val=""/>
</p:tagLst>
</file>

<file path=ppt/tags/tag114.xml><?xml version="1.0" encoding="utf-8"?>
<p:tagLst xmlns:p="http://schemas.openxmlformats.org/presentationml/2006/main">
  <p:tag name="KSO_WM_BEAUTIFY_FLAG" val=""/>
</p:tagLst>
</file>

<file path=ppt/tags/tag115.xml><?xml version="1.0" encoding="utf-8"?>
<p:tagLst xmlns:p="http://schemas.openxmlformats.org/presentationml/2006/main">
  <p:tag name="KSO_WM_BEAUTIFY_FLAG" val=""/>
</p:tagLst>
</file>

<file path=ppt/tags/tag116.xml><?xml version="1.0" encoding="utf-8"?>
<p:tagLst xmlns:p="http://schemas.openxmlformats.org/presentationml/2006/main">
  <p:tag name="KSO_WM_BEAUTIFY_FLAG" val=""/>
</p:tagLst>
</file>

<file path=ppt/tags/tag117.xml><?xml version="1.0" encoding="utf-8"?>
<p:tagLst xmlns:p="http://schemas.openxmlformats.org/presentationml/2006/main">
  <p:tag name="KSO_WM_BEAUTIFY_FLAG" val=""/>
</p:tagLst>
</file>

<file path=ppt/tags/tag118.xml><?xml version="1.0" encoding="utf-8"?>
<p:tagLst xmlns:p="http://schemas.openxmlformats.org/presentationml/2006/main">
  <p:tag name="KSO_WM_BEAUTIFY_FLAG" val=""/>
</p:tagLst>
</file>

<file path=ppt/tags/tag119.xml><?xml version="1.0" encoding="utf-8"?>
<p:tagLst xmlns:p="http://schemas.openxmlformats.org/presentationml/2006/main">
  <p:tag name="KSO_WM_BEAUTIFY_FLAG" val=""/>
</p:tagLst>
</file>

<file path=ppt/tags/tag120.xml><?xml version="1.0" encoding="utf-8"?>
<p:tagLst xmlns:p="http://schemas.openxmlformats.org/presentationml/2006/main">
  <p:tag name="KSO_WM_BEAUTIFY_FLAG" val=""/>
</p:tagLst>
</file>

<file path=ppt/tags/tag121.xml><?xml version="1.0" encoding="utf-8"?>
<p:tagLst xmlns:p="http://schemas.openxmlformats.org/presentationml/2006/main">
  <p:tag name="KSO_WM_BEAUTIFY_FLAG" val=""/>
</p:tagLst>
</file>

<file path=ppt/tags/tag122.xml><?xml version="1.0" encoding="utf-8"?>
<p:tagLst xmlns:p="http://schemas.openxmlformats.org/presentationml/2006/main">
  <p:tag name="KSO_WM_BEAUTIFY_FLAG" val=""/>
</p:tagLst>
</file>

<file path=ppt/tags/tag123.xml><?xml version="1.0" encoding="utf-8"?>
<p:tagLst xmlns:p="http://schemas.openxmlformats.org/presentationml/2006/main">
  <p:tag name="KSO_WM_BEAUTIFY_FLAG" val=""/>
</p:tagLst>
</file>

<file path=ppt/tags/tag124.xml><?xml version="1.0" encoding="utf-8"?>
<p:tagLst xmlns:p="http://schemas.openxmlformats.org/presentationml/2006/main">
  <p:tag name="TIMING" val="|0.6|0.8|1.2|0.9|0.6|1.1|0.7|0.6|0.8|0.4|1"/>
</p:tagLst>
</file>

<file path=ppt/tags/tag125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126.xml><?xml version="1.0" encoding="utf-8"?>
<p:tagLst xmlns:p="http://schemas.openxmlformats.org/presentationml/2006/main">
  <p:tag name="KSO_WM_BEAUTIFY_FLAG" val=""/>
</p:tagLst>
</file>

<file path=ppt/tags/tag127.xml><?xml version="1.0" encoding="utf-8"?>
<p:tagLst xmlns:p="http://schemas.openxmlformats.org/presentationml/2006/main">
  <p:tag name="KSO_WM_BEAUTIFY_FLAG" val=""/>
</p:tagLst>
</file>

<file path=ppt/tags/tag128.xml><?xml version="1.0" encoding="utf-8"?>
<p:tagLst xmlns:p="http://schemas.openxmlformats.org/presentationml/2006/main">
  <p:tag name="KSO_WM_BEAUTIFY_FLAG" val=""/>
</p:tagLst>
</file>

<file path=ppt/tags/tag129.xml><?xml version="1.0" encoding="utf-8"?>
<p:tagLst xmlns:p="http://schemas.openxmlformats.org/presentationml/2006/main">
  <p:tag name="KSO_WM_BEAUTIFY_FLAG" val=""/>
</p:tagLst>
</file>

<file path=ppt/tags/tag130.xml><?xml version="1.0" encoding="utf-8"?>
<p:tagLst xmlns:p="http://schemas.openxmlformats.org/presentationml/2006/main">
  <p:tag name="KSO_WM_BEAUTIFY_FLAG" val=""/>
</p:tagLst>
</file>

<file path=ppt/tags/tag131.xml><?xml version="1.0" encoding="utf-8"?>
<p:tagLst xmlns:p="http://schemas.openxmlformats.org/presentationml/2006/main">
  <p:tag name="KSO_WM_BEAUTIFY_FLAG" val=""/>
</p:tagLst>
</file>

<file path=ppt/tags/tag132.xml><?xml version="1.0" encoding="utf-8"?>
<p:tagLst xmlns:p="http://schemas.openxmlformats.org/presentationml/2006/main">
  <p:tag name="KSO_WM_BEAUTIFY_FLAG" val=""/>
</p:tagLst>
</file>

<file path=ppt/tags/tag133.xml><?xml version="1.0" encoding="utf-8"?>
<p:tagLst xmlns:p="http://schemas.openxmlformats.org/presentationml/2006/main">
  <p:tag name="KSO_WM_BEAUTIFY_FLAG" val=""/>
</p:tagLst>
</file>

<file path=ppt/tags/tag134.xml><?xml version="1.0" encoding="utf-8"?>
<p:tagLst xmlns:p="http://schemas.openxmlformats.org/presentationml/2006/main">
  <p:tag name="KSO_WM_BEAUTIFY_FLAG" val=""/>
</p:tagLst>
</file>

<file path=ppt/tags/tag135.xml><?xml version="1.0" encoding="utf-8"?>
<p:tagLst xmlns:p="http://schemas.openxmlformats.org/presentationml/2006/main">
  <p:tag name="KSO_WM_BEAUTIFY_FLAG" val=""/>
</p:tagLst>
</file>

<file path=ppt/tags/tag136.xml><?xml version="1.0" encoding="utf-8"?>
<p:tagLst xmlns:p="http://schemas.openxmlformats.org/presentationml/2006/main">
  <p:tag name="KSO_WM_BEAUTIFY_FLAG" val=""/>
</p:tagLst>
</file>

<file path=ppt/tags/tag137.xml><?xml version="1.0" encoding="utf-8"?>
<p:tagLst xmlns:p="http://schemas.openxmlformats.org/presentationml/2006/main">
  <p:tag name="KSO_WM_BEAUTIFY_FLAG" val=""/>
</p:tagLst>
</file>

<file path=ppt/tags/tag138.xml><?xml version="1.0" encoding="utf-8"?>
<p:tagLst xmlns:p="http://schemas.openxmlformats.org/presentationml/2006/main">
  <p:tag name="TIMING" val="|0.6|0.8|1.2|0.9|0.6|1.1|0.7|0.6|0.8|0.4|1"/>
</p:tagLst>
</file>

<file path=ppt/tags/tag139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140.xml><?xml version="1.0" encoding="utf-8"?>
<p:tagLst xmlns:p="http://schemas.openxmlformats.org/presentationml/2006/main">
  <p:tag name="KSO_WM_BEAUTIFY_FLAG" val=""/>
</p:tagLst>
</file>

<file path=ppt/tags/tag141.xml><?xml version="1.0" encoding="utf-8"?>
<p:tagLst xmlns:p="http://schemas.openxmlformats.org/presentationml/2006/main">
  <p:tag name="KSO_WM_BEAUTIFY_FLAG" val=""/>
</p:tagLst>
</file>

<file path=ppt/tags/tag142.xml><?xml version="1.0" encoding="utf-8"?>
<p:tagLst xmlns:p="http://schemas.openxmlformats.org/presentationml/2006/main">
  <p:tag name="KSO_WM_BEAUTIFY_FLAG" val=""/>
</p:tagLst>
</file>

<file path=ppt/tags/tag143.xml><?xml version="1.0" encoding="utf-8"?>
<p:tagLst xmlns:p="http://schemas.openxmlformats.org/presentationml/2006/main">
  <p:tag name="KSO_WM_BEAUTIFY_FLAG" val=""/>
</p:tagLst>
</file>

<file path=ppt/tags/tag144.xml><?xml version="1.0" encoding="utf-8"?>
<p:tagLst xmlns:p="http://schemas.openxmlformats.org/presentationml/2006/main">
  <p:tag name="KSO_WM_BEAUTIFY_FLAG" val=""/>
</p:tagLst>
</file>

<file path=ppt/tags/tag145.xml><?xml version="1.0" encoding="utf-8"?>
<p:tagLst xmlns:p="http://schemas.openxmlformats.org/presentationml/2006/main">
  <p:tag name="KSO_WM_BEAUTIFY_FLAG" val=""/>
</p:tagLst>
</file>

<file path=ppt/tags/tag146.xml><?xml version="1.0" encoding="utf-8"?>
<p:tagLst xmlns:p="http://schemas.openxmlformats.org/presentationml/2006/main">
  <p:tag name="KSO_WM_BEAUTIFY_FLAG" val=""/>
</p:tagLst>
</file>

<file path=ppt/tags/tag147.xml><?xml version="1.0" encoding="utf-8"?>
<p:tagLst xmlns:p="http://schemas.openxmlformats.org/presentationml/2006/main">
  <p:tag name="KSO_WM_BEAUTIFY_FLAG" val=""/>
</p:tagLst>
</file>

<file path=ppt/tags/tag148.xml><?xml version="1.0" encoding="utf-8"?>
<p:tagLst xmlns:p="http://schemas.openxmlformats.org/presentationml/2006/main">
  <p:tag name="KSO_WM_BEAUTIFY_FLAG" val=""/>
</p:tagLst>
</file>

<file path=ppt/tags/tag149.xml><?xml version="1.0" encoding="utf-8"?>
<p:tagLst xmlns:p="http://schemas.openxmlformats.org/presentationml/2006/main">
  <p:tag name="KSO_WM_BEAUTIFY_FLAG" val=""/>
</p:tagLst>
</file>

<file path=ppt/tags/tag150.xml><?xml version="1.0" encoding="utf-8"?>
<p:tagLst xmlns:p="http://schemas.openxmlformats.org/presentationml/2006/main">
  <p:tag name="KSO_WM_BEAUTIFY_FLAG" val=""/>
</p:tagLst>
</file>

<file path=ppt/tags/tag151.xml><?xml version="1.0" encoding="utf-8"?>
<p:tagLst xmlns:p="http://schemas.openxmlformats.org/presentationml/2006/main">
  <p:tag name="TIMING" val="|0.6|0.8|1.2|0.9|0.6|1.1|0.7|0.6|0.8|0.4|1"/>
</p:tagLst>
</file>

<file path=ppt/tags/tag152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153.xml><?xml version="1.0" encoding="utf-8"?>
<p:tagLst xmlns:p="http://schemas.openxmlformats.org/presentationml/2006/main">
  <p:tag name="KSO_WM_BEAUTIFY_FLAG" val=""/>
</p:tagLst>
</file>

<file path=ppt/tags/tag154.xml><?xml version="1.0" encoding="utf-8"?>
<p:tagLst xmlns:p="http://schemas.openxmlformats.org/presentationml/2006/main">
  <p:tag name="KSO_WM_BEAUTIFY_FLAG" val=""/>
</p:tagLst>
</file>

<file path=ppt/tags/tag155.xml><?xml version="1.0" encoding="utf-8"?>
<p:tagLst xmlns:p="http://schemas.openxmlformats.org/presentationml/2006/main">
  <p:tag name="KSO_WM_BEAUTIFY_FLAG" val=""/>
</p:tagLst>
</file>

<file path=ppt/tags/tag156.xml><?xml version="1.0" encoding="utf-8"?>
<p:tagLst xmlns:p="http://schemas.openxmlformats.org/presentationml/2006/main">
  <p:tag name="KSO_WM_BEAUTIFY_FLAG" val=""/>
</p:tagLst>
</file>

<file path=ppt/tags/tag157.xml><?xml version="1.0" encoding="utf-8"?>
<p:tagLst xmlns:p="http://schemas.openxmlformats.org/presentationml/2006/main">
  <p:tag name="KSO_WM_BEAUTIFY_FLAG" val=""/>
</p:tagLst>
</file>

<file path=ppt/tags/tag158.xml><?xml version="1.0" encoding="utf-8"?>
<p:tagLst xmlns:p="http://schemas.openxmlformats.org/presentationml/2006/main">
  <p:tag name="KSO_WM_BEAUTIFY_FLAG" val=""/>
</p:tagLst>
</file>

<file path=ppt/tags/tag159.xml><?xml version="1.0" encoding="utf-8"?>
<p:tagLst xmlns:p="http://schemas.openxmlformats.org/presentationml/2006/main">
  <p:tag name="KSO_WM_BEAUTIFY_FLAG" val=""/>
</p:tagLst>
</file>

<file path=ppt/tags/tag160.xml><?xml version="1.0" encoding="utf-8"?>
<p:tagLst xmlns:p="http://schemas.openxmlformats.org/presentationml/2006/main">
  <p:tag name="KSO_WM_BEAUTIFY_FLAG" val=""/>
</p:tagLst>
</file>

<file path=ppt/tags/tag161.xml><?xml version="1.0" encoding="utf-8"?>
<p:tagLst xmlns:p="http://schemas.openxmlformats.org/presentationml/2006/main">
  <p:tag name="KSO_WM_BEAUTIFY_FLAG" val=""/>
</p:tagLst>
</file>

<file path=ppt/tags/tag162.xml><?xml version="1.0" encoding="utf-8"?>
<p:tagLst xmlns:p="http://schemas.openxmlformats.org/presentationml/2006/main">
  <p:tag name="KSO_WM_BEAUTIFY_FLAG" val=""/>
</p:tagLst>
</file>

<file path=ppt/tags/tag163.xml><?xml version="1.0" encoding="utf-8"?>
<p:tagLst xmlns:p="http://schemas.openxmlformats.org/presentationml/2006/main">
  <p:tag name="KSO_WM_BEAUTIFY_FLAG" val=""/>
</p:tagLst>
</file>

<file path=ppt/tags/tag164.xml><?xml version="1.0" encoding="utf-8"?>
<p:tagLst xmlns:p="http://schemas.openxmlformats.org/presentationml/2006/main">
  <p:tag name="KSO_WM_BEAUTIFY_FLAG" val=""/>
</p:tagLst>
</file>

<file path=ppt/tags/tag165.xml><?xml version="1.0" encoding="utf-8"?>
<p:tagLst xmlns:p="http://schemas.openxmlformats.org/presentationml/2006/main">
  <p:tag name="KSO_WM_BEAUTIFY_FLAG" val=""/>
</p:tagLst>
</file>

<file path=ppt/tags/tag166.xml><?xml version="1.0" encoding="utf-8"?>
<p:tagLst xmlns:p="http://schemas.openxmlformats.org/presentationml/2006/main">
  <p:tag name="KSO_WM_BEAUTIFY_FLAG" val=""/>
</p:tagLst>
</file>

<file path=ppt/tags/tag167.xml><?xml version="1.0" encoding="utf-8"?>
<p:tagLst xmlns:p="http://schemas.openxmlformats.org/presentationml/2006/main">
  <p:tag name="KSO_WM_BEAUTIFY_FLAG" val=""/>
</p:tagLst>
</file>

<file path=ppt/tags/tag168.xml><?xml version="1.0" encoding="utf-8"?>
<p:tagLst xmlns:p="http://schemas.openxmlformats.org/presentationml/2006/main">
  <p:tag name="KSO_WM_BEAUTIFY_FLAG" val=""/>
</p:tagLst>
</file>

<file path=ppt/tags/tag169.xml><?xml version="1.0" encoding="utf-8"?>
<p:tagLst xmlns:p="http://schemas.openxmlformats.org/presentationml/2006/main">
  <p:tag name="KSO_WM_BEAUTIFY_FLAG" val=""/>
</p:tagLst>
</file>

<file path=ppt/tags/tag170.xml><?xml version="1.0" encoding="utf-8"?>
<p:tagLst xmlns:p="http://schemas.openxmlformats.org/presentationml/2006/main">
  <p:tag name="KSO_WM_BEAUTIFY_FLAG" val=""/>
</p:tagLst>
</file>

<file path=ppt/tags/tag171.xml><?xml version="1.0" encoding="utf-8"?>
<p:tagLst xmlns:p="http://schemas.openxmlformats.org/presentationml/2006/main">
  <p:tag name="KSO_WM_BEAUTIFY_FLAG" val=""/>
</p:tagLst>
</file>

<file path=ppt/tags/tag172.xml><?xml version="1.0" encoding="utf-8"?>
<p:tagLst xmlns:p="http://schemas.openxmlformats.org/presentationml/2006/main">
  <p:tag name="KSO_WM_BEAUTIFY_FLAG" val=""/>
</p:tagLst>
</file>

<file path=ppt/tags/tag173.xml><?xml version="1.0" encoding="utf-8"?>
<p:tagLst xmlns:p="http://schemas.openxmlformats.org/presentationml/2006/main">
  <p:tag name="KSO_WM_BEAUTIFY_FLAG" val=""/>
</p:tagLst>
</file>

<file path=ppt/tags/tag174.xml><?xml version="1.0" encoding="utf-8"?>
<p:tagLst xmlns:p="http://schemas.openxmlformats.org/presentationml/2006/main">
  <p:tag name="KSO_WM_BEAUTIFY_FLAG" val=""/>
</p:tagLst>
</file>

<file path=ppt/tags/tag175.xml><?xml version="1.0" encoding="utf-8"?>
<p:tagLst xmlns:p="http://schemas.openxmlformats.org/presentationml/2006/main">
  <p:tag name="KSO_WM_BEAUTIFY_FLAG" val=""/>
</p:tagLst>
</file>

<file path=ppt/tags/tag176.xml><?xml version="1.0" encoding="utf-8"?>
<p:tagLst xmlns:p="http://schemas.openxmlformats.org/presentationml/2006/main">
  <p:tag name="TIMING" val="|0.6|0.8|1.2|0.9|0.6|1.1|0.7|0.6|0.8|0.4|1"/>
</p:tagLst>
</file>

<file path=ppt/tags/tag177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178.xml><?xml version="1.0" encoding="utf-8"?>
<p:tagLst xmlns:p="http://schemas.openxmlformats.org/presentationml/2006/main">
  <p:tag name="KSO_WM_BEAUTIFY_FLAG" val=""/>
</p:tagLst>
</file>

<file path=ppt/tags/tag179.xml><?xml version="1.0" encoding="utf-8"?>
<p:tagLst xmlns:p="http://schemas.openxmlformats.org/presentationml/2006/main">
  <p:tag name="KSO_WM_BEAUTIFY_FLAG" val=""/>
</p:tagLst>
</file>

<file path=ppt/tags/tag180.xml><?xml version="1.0" encoding="utf-8"?>
<p:tagLst xmlns:p="http://schemas.openxmlformats.org/presentationml/2006/main">
  <p:tag name="KSO_WM_BEAUTIFY_FLAG" val=""/>
</p:tagLst>
</file>

<file path=ppt/tags/tag181.xml><?xml version="1.0" encoding="utf-8"?>
<p:tagLst xmlns:p="http://schemas.openxmlformats.org/presentationml/2006/main">
  <p:tag name="KSO_WM_BEAUTIFY_FLAG" val=""/>
</p:tagLst>
</file>

<file path=ppt/tags/tag182.xml><?xml version="1.0" encoding="utf-8"?>
<p:tagLst xmlns:p="http://schemas.openxmlformats.org/presentationml/2006/main">
  <p:tag name="KSO_WM_BEAUTIFY_FLAG" val=""/>
</p:tagLst>
</file>

<file path=ppt/tags/tag183.xml><?xml version="1.0" encoding="utf-8"?>
<p:tagLst xmlns:p="http://schemas.openxmlformats.org/presentationml/2006/main">
  <p:tag name="KSO_WM_BEAUTIFY_FLAG" val=""/>
</p:tagLst>
</file>

<file path=ppt/tags/tag184.xml><?xml version="1.0" encoding="utf-8"?>
<p:tagLst xmlns:p="http://schemas.openxmlformats.org/presentationml/2006/main">
  <p:tag name="KSO_WM_BEAUTIFY_FLAG" val=""/>
</p:tagLst>
</file>

<file path=ppt/tags/tag185.xml><?xml version="1.0" encoding="utf-8"?>
<p:tagLst xmlns:p="http://schemas.openxmlformats.org/presentationml/2006/main">
  <p:tag name="KSO_WM_BEAUTIFY_FLAG" val=""/>
</p:tagLst>
</file>

<file path=ppt/tags/tag186.xml><?xml version="1.0" encoding="utf-8"?>
<p:tagLst xmlns:p="http://schemas.openxmlformats.org/presentationml/2006/main">
  <p:tag name="KSO_WM_BEAUTIFY_FLAG" val=""/>
</p:tagLst>
</file>

<file path=ppt/tags/tag187.xml><?xml version="1.0" encoding="utf-8"?>
<p:tagLst xmlns:p="http://schemas.openxmlformats.org/presentationml/2006/main">
  <p:tag name="KSO_WM_BEAUTIFY_FLAG" val=""/>
</p:tagLst>
</file>

<file path=ppt/tags/tag188.xml><?xml version="1.0" encoding="utf-8"?>
<p:tagLst xmlns:p="http://schemas.openxmlformats.org/presentationml/2006/main">
  <p:tag name="KSO_WM_BEAUTIFY_FLAG" val=""/>
</p:tagLst>
</file>

<file path=ppt/tags/tag189.xml><?xml version="1.0" encoding="utf-8"?>
<p:tagLst xmlns:p="http://schemas.openxmlformats.org/presentationml/2006/main">
  <p:tag name="KSO_WM_BEAUTIFY_FLAG" val=""/>
</p:tagLst>
</file>

<file path=ppt/tags/tag190.xml><?xml version="1.0" encoding="utf-8"?>
<p:tagLst xmlns:p="http://schemas.openxmlformats.org/presentationml/2006/main">
  <p:tag name="KSO_WM_BEAUTIFY_FLAG" val=""/>
</p:tagLst>
</file>

<file path=ppt/tags/tag191.xml><?xml version="1.0" encoding="utf-8"?>
<p:tagLst xmlns:p="http://schemas.openxmlformats.org/presentationml/2006/main">
  <p:tag name="KSO_WM_BEAUTIFY_FLAG" val=""/>
</p:tagLst>
</file>

<file path=ppt/tags/tag192.xml><?xml version="1.0" encoding="utf-8"?>
<p:tagLst xmlns:p="http://schemas.openxmlformats.org/presentationml/2006/main">
  <p:tag name="KSO_WM_BEAUTIFY_FLAG" val=""/>
</p:tagLst>
</file>

<file path=ppt/tags/tag193.xml><?xml version="1.0" encoding="utf-8"?>
<p:tagLst xmlns:p="http://schemas.openxmlformats.org/presentationml/2006/main">
  <p:tag name="KSO_WM_BEAUTIFY_FLAG" val=""/>
</p:tagLst>
</file>

<file path=ppt/tags/tag194.xml><?xml version="1.0" encoding="utf-8"?>
<p:tagLst xmlns:p="http://schemas.openxmlformats.org/presentationml/2006/main">
  <p:tag name="KSO_WM_BEAUTIFY_FLAG" val=""/>
</p:tagLst>
</file>

<file path=ppt/tags/tag195.xml><?xml version="1.0" encoding="utf-8"?>
<p:tagLst xmlns:p="http://schemas.openxmlformats.org/presentationml/2006/main">
  <p:tag name="KSO_WM_BEAUTIFY_FLAG" val=""/>
</p:tagLst>
</file>

<file path=ppt/tags/tag196.xml><?xml version="1.0" encoding="utf-8"?>
<p:tagLst xmlns:p="http://schemas.openxmlformats.org/presentationml/2006/main">
  <p:tag name="KSO_WM_BEAUTIFY_FLAG" val=""/>
</p:tagLst>
</file>

<file path=ppt/tags/tag197.xml><?xml version="1.0" encoding="utf-8"?>
<p:tagLst xmlns:p="http://schemas.openxmlformats.org/presentationml/2006/main">
  <p:tag name="KSO_WM_BEAUTIFY_FLAG" val=""/>
</p:tagLst>
</file>

<file path=ppt/tags/tag198.xml><?xml version="1.0" encoding="utf-8"?>
<p:tagLst xmlns:p="http://schemas.openxmlformats.org/presentationml/2006/main">
  <p:tag name="KSO_WM_BEAUTIFY_FLAG" val=""/>
</p:tagLst>
</file>

<file path=ppt/tags/tag199.xml><?xml version="1.0" encoding="utf-8"?>
<p:tagLst xmlns:p="http://schemas.openxmlformats.org/presentationml/2006/main">
  <p:tag name="KSO_WM_BEAUTIFY_FLAG" val=""/>
</p:tagLst>
</file>

<file path=ppt/tags/tag200.xml><?xml version="1.0" encoding="utf-8"?>
<p:tagLst xmlns:p="http://schemas.openxmlformats.org/presentationml/2006/main">
  <p:tag name="TIMING" val="|0.6|0.8|1.2|0.9|0.6|1.1|0.7|0.6|0.8|0.4|1"/>
</p:tagLst>
</file>

<file path=ppt/tags/tag201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202.xml><?xml version="1.0" encoding="utf-8"?>
<p:tagLst xmlns:p="http://schemas.openxmlformats.org/presentationml/2006/main">
  <p:tag name="KSO_WM_BEAUTIFY_FLAG" val=""/>
</p:tagLst>
</file>

<file path=ppt/tags/tag203.xml><?xml version="1.0" encoding="utf-8"?>
<p:tagLst xmlns:p="http://schemas.openxmlformats.org/presentationml/2006/main">
  <p:tag name="KSO_WM_BEAUTIFY_FLAG" val=""/>
</p:tagLst>
</file>

<file path=ppt/tags/tag204.xml><?xml version="1.0" encoding="utf-8"?>
<p:tagLst xmlns:p="http://schemas.openxmlformats.org/presentationml/2006/main">
  <p:tag name="KSO_WM_BEAUTIFY_FLAG" val=""/>
</p:tagLst>
</file>

<file path=ppt/tags/tag205.xml><?xml version="1.0" encoding="utf-8"?>
<p:tagLst xmlns:p="http://schemas.openxmlformats.org/presentationml/2006/main">
  <p:tag name="KSO_WM_BEAUTIFY_FLAG" val=""/>
</p:tagLst>
</file>

<file path=ppt/tags/tag206.xml><?xml version="1.0" encoding="utf-8"?>
<p:tagLst xmlns:p="http://schemas.openxmlformats.org/presentationml/2006/main">
  <p:tag name="KSO_WM_BEAUTIFY_FLAG" val=""/>
</p:tagLst>
</file>

<file path=ppt/tags/tag207.xml><?xml version="1.0" encoding="utf-8"?>
<p:tagLst xmlns:p="http://schemas.openxmlformats.org/presentationml/2006/main">
  <p:tag name="KSO_WM_BEAUTIFY_FLAG" val=""/>
</p:tagLst>
</file>

<file path=ppt/tags/tag208.xml><?xml version="1.0" encoding="utf-8"?>
<p:tagLst xmlns:p="http://schemas.openxmlformats.org/presentationml/2006/main">
  <p:tag name="KSO_WM_BEAUTIFY_FLAG" val=""/>
</p:tagLst>
</file>

<file path=ppt/tags/tag209.xml><?xml version="1.0" encoding="utf-8"?>
<p:tagLst xmlns:p="http://schemas.openxmlformats.org/presentationml/2006/main">
  <p:tag name="KSO_WM_BEAUTIFY_FLAG" val=""/>
</p:tagLst>
</file>

<file path=ppt/tags/tag210.xml><?xml version="1.0" encoding="utf-8"?>
<p:tagLst xmlns:p="http://schemas.openxmlformats.org/presentationml/2006/main">
  <p:tag name="KSO_WM_BEAUTIFY_FLAG" val=""/>
</p:tagLst>
</file>

<file path=ppt/tags/tag211.xml><?xml version="1.0" encoding="utf-8"?>
<p:tagLst xmlns:p="http://schemas.openxmlformats.org/presentationml/2006/main">
  <p:tag name="KSO_WM_BEAUTIFY_FLAG" val=""/>
</p:tagLst>
</file>

<file path=ppt/tags/tag212.xml><?xml version="1.0" encoding="utf-8"?>
<p:tagLst xmlns:p="http://schemas.openxmlformats.org/presentationml/2006/main">
  <p:tag name="KSO_WM_BEAUTIFY_FLAG" val=""/>
</p:tagLst>
</file>

<file path=ppt/tags/tag213.xml><?xml version="1.0" encoding="utf-8"?>
<p:tagLst xmlns:p="http://schemas.openxmlformats.org/presentationml/2006/main">
  <p:tag name="KSO_WM_BEAUTIFY_FLAG" val=""/>
</p:tagLst>
</file>

<file path=ppt/tags/tag214.xml><?xml version="1.0" encoding="utf-8"?>
<p:tagLst xmlns:p="http://schemas.openxmlformats.org/presentationml/2006/main">
  <p:tag name="KSO_WM_BEAUTIFY_FLAG" val=""/>
</p:tagLst>
</file>

<file path=ppt/tags/tag215.xml><?xml version="1.0" encoding="utf-8"?>
<p:tagLst xmlns:p="http://schemas.openxmlformats.org/presentationml/2006/main">
  <p:tag name="KSO_WM_BEAUTIFY_FLAG" val=""/>
</p:tagLst>
</file>

<file path=ppt/tags/tag216.xml><?xml version="1.0" encoding="utf-8"?>
<p:tagLst xmlns:p="http://schemas.openxmlformats.org/presentationml/2006/main">
  <p:tag name="KSO_WM_BEAUTIFY_FLAG" val=""/>
</p:tagLst>
</file>

<file path=ppt/tags/tag217.xml><?xml version="1.0" encoding="utf-8"?>
<p:tagLst xmlns:p="http://schemas.openxmlformats.org/presentationml/2006/main">
  <p:tag name="KSO_WM_BEAUTIFY_FLAG" val=""/>
</p:tagLst>
</file>

<file path=ppt/tags/tag218.xml><?xml version="1.0" encoding="utf-8"?>
<p:tagLst xmlns:p="http://schemas.openxmlformats.org/presentationml/2006/main">
  <p:tag name="KSO_WM_BEAUTIFY_FLAG" val=""/>
</p:tagLst>
</file>

<file path=ppt/tags/tag219.xml><?xml version="1.0" encoding="utf-8"?>
<p:tagLst xmlns:p="http://schemas.openxmlformats.org/presentationml/2006/main">
  <p:tag name="KSO_WM_BEAUTIFY_FLAG" val=""/>
</p:tagLst>
</file>

<file path=ppt/tags/tag220.xml><?xml version="1.0" encoding="utf-8"?>
<p:tagLst xmlns:p="http://schemas.openxmlformats.org/presentationml/2006/main">
  <p:tag name="KSO_WM_BEAUTIFY_FLAG" val=""/>
</p:tagLst>
</file>

<file path=ppt/tags/tag221.xml><?xml version="1.0" encoding="utf-8"?>
<p:tagLst xmlns:p="http://schemas.openxmlformats.org/presentationml/2006/main">
  <p:tag name="KSO_WM_BEAUTIFY_FLAG" val=""/>
</p:tagLst>
</file>

<file path=ppt/tags/tag222.xml><?xml version="1.0" encoding="utf-8"?>
<p:tagLst xmlns:p="http://schemas.openxmlformats.org/presentationml/2006/main">
  <p:tag name="KSO_WM_BEAUTIFY_FLAG" val=""/>
</p:tagLst>
</file>

<file path=ppt/tags/tag223.xml><?xml version="1.0" encoding="utf-8"?>
<p:tagLst xmlns:p="http://schemas.openxmlformats.org/presentationml/2006/main">
  <p:tag name="KSO_WM_BEAUTIFY_FLAG" val=""/>
</p:tagLst>
</file>

<file path=ppt/tags/tag224.xml><?xml version="1.0" encoding="utf-8"?>
<p:tagLst xmlns:p="http://schemas.openxmlformats.org/presentationml/2006/main">
  <p:tag name="KSO_WM_BEAUTIFY_FLAG" val=""/>
</p:tagLst>
</file>

<file path=ppt/tags/tag225.xml><?xml version="1.0" encoding="utf-8"?>
<p:tagLst xmlns:p="http://schemas.openxmlformats.org/presentationml/2006/main">
  <p:tag name="KSO_WM_BEAUTIFY_FLAG" val=""/>
</p:tagLst>
</file>

<file path=ppt/tags/tag226.xml><?xml version="1.0" encoding="utf-8"?>
<p:tagLst xmlns:p="http://schemas.openxmlformats.org/presentationml/2006/main">
  <p:tag name="KSO_WM_BEAUTIFY_FLAG" val=""/>
</p:tagLst>
</file>

<file path=ppt/tags/tag227.xml><?xml version="1.0" encoding="utf-8"?>
<p:tagLst xmlns:p="http://schemas.openxmlformats.org/presentationml/2006/main">
  <p:tag name="KSO_WM_BEAUTIFY_FLAG" val=""/>
</p:tagLst>
</file>

<file path=ppt/tags/tag228.xml><?xml version="1.0" encoding="utf-8"?>
<p:tagLst xmlns:p="http://schemas.openxmlformats.org/presentationml/2006/main">
  <p:tag name="TIMING" val="|0.6|0.8|1.2|0.9|0.6|1.1|0.7|0.6|0.8|0.4|1"/>
</p:tagLst>
</file>

<file path=ppt/tags/tag229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230.xml><?xml version="1.0" encoding="utf-8"?>
<p:tagLst xmlns:p="http://schemas.openxmlformats.org/presentationml/2006/main">
  <p:tag name="KSO_WM_BEAUTIFY_FLAG" val=""/>
</p:tagLst>
</file>

<file path=ppt/tags/tag231.xml><?xml version="1.0" encoding="utf-8"?>
<p:tagLst xmlns:p="http://schemas.openxmlformats.org/presentationml/2006/main">
  <p:tag name="KSO_WM_BEAUTIFY_FLAG" val=""/>
</p:tagLst>
</file>

<file path=ppt/tags/tag232.xml><?xml version="1.0" encoding="utf-8"?>
<p:tagLst xmlns:p="http://schemas.openxmlformats.org/presentationml/2006/main">
  <p:tag name="TIMING" val="|0.6|0.8|1.2|0.9|0.6|1.1|0.7|0.6|0.8|0.4|1"/>
</p:tagLst>
</file>

<file path=ppt/tags/tag233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234.xml><?xml version="1.0" encoding="utf-8"?>
<p:tagLst xmlns:p="http://schemas.openxmlformats.org/presentationml/2006/main">
  <p:tag name="TIMING" val="|0.6|0.8|1.2|0.9|0.6|1.1|0.7|0.6|0.8|0.4|1"/>
</p:tagLst>
</file>

<file path=ppt/tags/tag235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236.xml><?xml version="1.0" encoding="utf-8"?>
<p:tagLst xmlns:p="http://schemas.openxmlformats.org/presentationml/2006/main">
  <p:tag name="KSO_WM_UNIT_TABLE_BEAUTIFY" val="smartTable{a8b21506-2bba-49b1-9e39-8012d08ce0ce}"/>
  <p:tag name="TABLE_ENDDRAG_ORIGIN_RECT" val="349*152"/>
  <p:tag name="TABLE_ENDDRAG_RECT" val="-429*162*349*152"/>
  <p:tag name="KSO_WM_BEAUTIFY_FLAG" val=""/>
</p:tagLst>
</file>

<file path=ppt/tags/tag237.xml><?xml version="1.0" encoding="utf-8"?>
<p:tagLst xmlns:p="http://schemas.openxmlformats.org/presentationml/2006/main">
  <p:tag name="KSO_WM_BEAUTIFY_FLAG" val=""/>
</p:tagLst>
</file>

<file path=ppt/tags/tag238.xml><?xml version="1.0" encoding="utf-8"?>
<p:tagLst xmlns:p="http://schemas.openxmlformats.org/presentationml/2006/main">
  <p:tag name="KSO_WM_BEAUTIFY_FLAG" val=""/>
</p:tagLst>
</file>

<file path=ppt/tags/tag239.xml><?xml version="1.0" encoding="utf-8"?>
<p:tagLst xmlns:p="http://schemas.openxmlformats.org/presentationml/2006/main">
  <p:tag name="KSO_WM_BEAUTIFY_FLAG" val=""/>
</p:tagLst>
</file>

<file path=ppt/tags/tag240.xml><?xml version="1.0" encoding="utf-8"?>
<p:tagLst xmlns:p="http://schemas.openxmlformats.org/presentationml/2006/main">
  <p:tag name="KSO_WM_BEAUTIFY_FLAG" val=""/>
</p:tagLst>
</file>

<file path=ppt/tags/tag241.xml><?xml version="1.0" encoding="utf-8"?>
<p:tagLst xmlns:p="http://schemas.openxmlformats.org/presentationml/2006/main">
  <p:tag name="KSO_WM_BEAUTIFY_FLAG" val=""/>
</p:tagLst>
</file>

<file path=ppt/tags/tag242.xml><?xml version="1.0" encoding="utf-8"?>
<p:tagLst xmlns:p="http://schemas.openxmlformats.org/presentationml/2006/main">
  <p:tag name="KSO_WM_BEAUTIFY_FLAG" val=""/>
</p:tagLst>
</file>

<file path=ppt/tags/tag243.xml><?xml version="1.0" encoding="utf-8"?>
<p:tagLst xmlns:p="http://schemas.openxmlformats.org/presentationml/2006/main">
  <p:tag name="KSO_WM_BEAUTIFY_FLAG" val=""/>
</p:tagLst>
</file>

<file path=ppt/tags/tag244.xml><?xml version="1.0" encoding="utf-8"?>
<p:tagLst xmlns:p="http://schemas.openxmlformats.org/presentationml/2006/main">
  <p:tag name="KSO_WM_BEAUTIFY_FLAG" val=""/>
</p:tagLst>
</file>

<file path=ppt/tags/tag245.xml><?xml version="1.0" encoding="utf-8"?>
<p:tagLst xmlns:p="http://schemas.openxmlformats.org/presentationml/2006/main">
  <p:tag name="KSO_WM_BEAUTIFY_FLAG" val=""/>
</p:tagLst>
</file>

<file path=ppt/tags/tag246.xml><?xml version="1.0" encoding="utf-8"?>
<p:tagLst xmlns:p="http://schemas.openxmlformats.org/presentationml/2006/main">
  <p:tag name="KSO_WM_BEAUTIFY_FLAG" val=""/>
</p:tagLst>
</file>

<file path=ppt/tags/tag247.xml><?xml version="1.0" encoding="utf-8"?>
<p:tagLst xmlns:p="http://schemas.openxmlformats.org/presentationml/2006/main">
  <p:tag name="KSO_WM_BEAUTIFY_FLAG" val=""/>
</p:tagLst>
</file>

<file path=ppt/tags/tag248.xml><?xml version="1.0" encoding="utf-8"?>
<p:tagLst xmlns:p="http://schemas.openxmlformats.org/presentationml/2006/main">
  <p:tag name="TIMING" val="|0.6|0.8|1.2|0.9|0.6|1.1|0.7|0.6|0.8|0.4|1"/>
</p:tagLst>
</file>

<file path=ppt/tags/tag249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250.xml><?xml version="1.0" encoding="utf-8"?>
<p:tagLst xmlns:p="http://schemas.openxmlformats.org/presentationml/2006/main">
  <p:tag name="TIMING" val="|0.6|0.8|1.2|0.9|0.6|1.1|0.7|0.6|0.8|0.4|1"/>
</p:tagLst>
</file>

<file path=ppt/tags/tag251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252.xml><?xml version="1.0" encoding="utf-8"?>
<p:tagLst xmlns:p="http://schemas.openxmlformats.org/presentationml/2006/main">
  <p:tag name="KSO_WM_BEAUTIFY_FLAG" val=""/>
</p:tagLst>
</file>

<file path=ppt/tags/tag253.xml><?xml version="1.0" encoding="utf-8"?>
<p:tagLst xmlns:p="http://schemas.openxmlformats.org/presentationml/2006/main">
  <p:tag name="KSO_WM_BEAUTIFY_FLAG" val=""/>
</p:tagLst>
</file>

<file path=ppt/tags/tag254.xml><?xml version="1.0" encoding="utf-8"?>
<p:tagLst xmlns:p="http://schemas.openxmlformats.org/presentationml/2006/main">
  <p:tag name="TIMING" val="|0.6|0.8|1.2|0.9|0.6|1.1|0.7|0.6|0.8|0.4|1"/>
</p:tagLst>
</file>

<file path=ppt/tags/tag255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256.xml><?xml version="1.0" encoding="utf-8"?>
<p:tagLst xmlns:p="http://schemas.openxmlformats.org/presentationml/2006/main">
  <p:tag name="KSO_WM_BEAUTIFY_FLAG" val=""/>
</p:tagLst>
</file>

<file path=ppt/tags/tag257.xml><?xml version="1.0" encoding="utf-8"?>
<p:tagLst xmlns:p="http://schemas.openxmlformats.org/presentationml/2006/main">
  <p:tag name="TIMING" val="|0.6|0.8|1.2|0.9|0.6|1.1|0.7|0.6|0.8|0.4|1"/>
</p:tagLst>
</file>

<file path=ppt/tags/tag258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259.xml><?xml version="1.0" encoding="utf-8"?>
<p:tagLst xmlns:p="http://schemas.openxmlformats.org/presentationml/2006/main">
  <p:tag name="TIMING" val="|0.6|0.8|1.2|0.9|0.6|1.1|0.7|0.6|0.8|0.4|1"/>
</p:tagLst>
</file>

<file path=ppt/tags/tag260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261.xml><?xml version="1.0" encoding="utf-8"?>
<p:tagLst xmlns:p="http://schemas.openxmlformats.org/presentationml/2006/main">
  <p:tag name="TIMING" val="|0.6|0.8|1.2|0.9|0.6|1.1|0.7|0.6|0.8|0.4|1"/>
</p:tagLst>
</file>

<file path=ppt/tags/tag262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263.xml><?xml version="1.0" encoding="utf-8"?>
<p:tagLst xmlns:p="http://schemas.openxmlformats.org/presentationml/2006/main">
  <p:tag name="KSO_WM_UNIT_TABLE_BEAUTIFY" val="smartTable{a8b21506-2bba-49b1-9e39-8012d08ce0ce}"/>
  <p:tag name="TABLE_ENDDRAG_ORIGIN_RECT" val="393*203"/>
  <p:tag name="TABLE_ENDDRAG_RECT" val="269*229*393*203"/>
</p:tagLst>
</file>

<file path=ppt/tags/tag264.xml><?xml version="1.0" encoding="utf-8"?>
<p:tagLst xmlns:p="http://schemas.openxmlformats.org/presentationml/2006/main">
  <p:tag name="KSO_WM_BEAUTIFY_FLAG" val=""/>
</p:tagLst>
</file>

<file path=ppt/tags/tag265.xml><?xml version="1.0" encoding="utf-8"?>
<p:tagLst xmlns:p="http://schemas.openxmlformats.org/presentationml/2006/main">
  <p:tag name="KSO_WM_BEAUTIFY_FLAG" val=""/>
</p:tagLst>
</file>

<file path=ppt/tags/tag266.xml><?xml version="1.0" encoding="utf-8"?>
<p:tagLst xmlns:p="http://schemas.openxmlformats.org/presentationml/2006/main">
  <p:tag name="KSO_WM_BEAUTIFY_FLAG" val=""/>
</p:tagLst>
</file>

<file path=ppt/tags/tag267.xml><?xml version="1.0" encoding="utf-8"?>
<p:tagLst xmlns:p="http://schemas.openxmlformats.org/presentationml/2006/main">
  <p:tag name="KSO_WM_BEAUTIFY_FLAG" val=""/>
</p:tagLst>
</file>

<file path=ppt/tags/tag268.xml><?xml version="1.0" encoding="utf-8"?>
<p:tagLst xmlns:p="http://schemas.openxmlformats.org/presentationml/2006/main">
  <p:tag name="KSO_WM_BEAUTIFY_FLAG" val=""/>
</p:tagLst>
</file>

<file path=ppt/tags/tag269.xml><?xml version="1.0" encoding="utf-8"?>
<p:tagLst xmlns:p="http://schemas.openxmlformats.org/presentationml/2006/main">
  <p:tag name="KSO_WM_BEAUTIFY_FLAG" val=""/>
</p:tagLst>
</file>

<file path=ppt/tags/tag270.xml><?xml version="1.0" encoding="utf-8"?>
<p:tagLst xmlns:p="http://schemas.openxmlformats.org/presentationml/2006/main">
  <p:tag name="TIMING" val="|0.6|0.8|1.2|0.9|0.6|1.1|0.7|0.6|0.8|0.4|1"/>
</p:tagLst>
</file>

<file path=ppt/tags/tag271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272.xml><?xml version="1.0" encoding="utf-8"?>
<p:tagLst xmlns:p="http://schemas.openxmlformats.org/presentationml/2006/main">
  <p:tag name="KSO_WM_UNIT_TABLE_BEAUTIFY" val="smartTable{a8b21506-2bba-49b1-9e39-8012d08ce0ce}"/>
  <p:tag name="TABLE_ENDDRAG_ORIGIN_RECT" val="393*203"/>
  <p:tag name="TABLE_ENDDRAG_RECT" val="269*229*393*203"/>
</p:tagLst>
</file>

<file path=ppt/tags/tag273.xml><?xml version="1.0" encoding="utf-8"?>
<p:tagLst xmlns:p="http://schemas.openxmlformats.org/presentationml/2006/main">
  <p:tag name="KSO_WM_BEAUTIFY_FLAG" val=""/>
</p:tagLst>
</file>

<file path=ppt/tags/tag274.xml><?xml version="1.0" encoding="utf-8"?>
<p:tagLst xmlns:p="http://schemas.openxmlformats.org/presentationml/2006/main">
  <p:tag name="KSO_WM_BEAUTIFY_FLAG" val=""/>
</p:tagLst>
</file>

<file path=ppt/tags/tag275.xml><?xml version="1.0" encoding="utf-8"?>
<p:tagLst xmlns:p="http://schemas.openxmlformats.org/presentationml/2006/main">
  <p:tag name="KSO_WM_BEAUTIFY_FLAG" val=""/>
</p:tagLst>
</file>

<file path=ppt/tags/tag276.xml><?xml version="1.0" encoding="utf-8"?>
<p:tagLst xmlns:p="http://schemas.openxmlformats.org/presentationml/2006/main">
  <p:tag name="KSO_WM_BEAUTIFY_FLAG" val=""/>
</p:tagLst>
</file>

<file path=ppt/tags/tag277.xml><?xml version="1.0" encoding="utf-8"?>
<p:tagLst xmlns:p="http://schemas.openxmlformats.org/presentationml/2006/main">
  <p:tag name="KSO_WM_BEAUTIFY_FLAG" val=""/>
</p:tagLst>
</file>

<file path=ppt/tags/tag278.xml><?xml version="1.0" encoding="utf-8"?>
<p:tagLst xmlns:p="http://schemas.openxmlformats.org/presentationml/2006/main">
  <p:tag name="KSO_WM_BEAUTIFY_FLAG" val=""/>
</p:tagLst>
</file>

<file path=ppt/tags/tag279.xml><?xml version="1.0" encoding="utf-8"?>
<p:tagLst xmlns:p="http://schemas.openxmlformats.org/presentationml/2006/main">
  <p:tag name="TIMING" val="|0.6|0.8|1.2|0.9|0.6|1.1|0.7|0.6|0.8|0.4|1"/>
</p:tagLst>
</file>

<file path=ppt/tags/tag280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281.xml><?xml version="1.0" encoding="utf-8"?>
<p:tagLst xmlns:p="http://schemas.openxmlformats.org/presentationml/2006/main">
  <p:tag name="TIMING" val="|0.6|0.8|1.2|0.9|0.6|1.1|0.7|0.6|0.8|0.4|1"/>
</p:tagLst>
</file>

<file path=ppt/tags/tag282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283.xml><?xml version="1.0" encoding="utf-8"?>
<p:tagLst xmlns:p="http://schemas.openxmlformats.org/presentationml/2006/main">
  <p:tag name="KSO_WM_BEAUTIFY_FLAG" val=""/>
</p:tagLst>
</file>

<file path=ppt/tags/tag284.xml><?xml version="1.0" encoding="utf-8"?>
<p:tagLst xmlns:p="http://schemas.openxmlformats.org/presentationml/2006/main">
  <p:tag name="KSO_WM_BEAUTIFY_FLAG" val=""/>
</p:tagLst>
</file>

<file path=ppt/tags/tag285.xml><?xml version="1.0" encoding="utf-8"?>
<p:tagLst xmlns:p="http://schemas.openxmlformats.org/presentationml/2006/main">
  <p:tag name="KSO_WM_BEAUTIFY_FLAG" val=""/>
</p:tagLst>
</file>

<file path=ppt/tags/tag286.xml><?xml version="1.0" encoding="utf-8"?>
<p:tagLst xmlns:p="http://schemas.openxmlformats.org/presentationml/2006/main">
  <p:tag name="KSO_WM_BEAUTIFY_FLAG" val=""/>
</p:tagLst>
</file>

<file path=ppt/tags/tag287.xml><?xml version="1.0" encoding="utf-8"?>
<p:tagLst xmlns:p="http://schemas.openxmlformats.org/presentationml/2006/main">
  <p:tag name="KSO_WM_BEAUTIFY_FLAG" val=""/>
</p:tagLst>
</file>

<file path=ppt/tags/tag288.xml><?xml version="1.0" encoding="utf-8"?>
<p:tagLst xmlns:p="http://schemas.openxmlformats.org/presentationml/2006/main">
  <p:tag name="KSO_WM_BEAUTIFY_FLAG" val=""/>
</p:tagLst>
</file>

<file path=ppt/tags/tag289.xml><?xml version="1.0" encoding="utf-8"?>
<p:tagLst xmlns:p="http://schemas.openxmlformats.org/presentationml/2006/main">
  <p:tag name="KSO_WM_BEAUTIFY_FLAG" val=""/>
</p:tagLst>
</file>

<file path=ppt/tags/tag290.xml><?xml version="1.0" encoding="utf-8"?>
<p:tagLst xmlns:p="http://schemas.openxmlformats.org/presentationml/2006/main">
  <p:tag name="KSO_WM_BEAUTIFY_FLAG" val=""/>
</p:tagLst>
</file>

<file path=ppt/tags/tag291.xml><?xml version="1.0" encoding="utf-8"?>
<p:tagLst xmlns:p="http://schemas.openxmlformats.org/presentationml/2006/main">
  <p:tag name="KSO_WM_BEAUTIFY_FLAG" val=""/>
</p:tagLst>
</file>

<file path=ppt/tags/tag292.xml><?xml version="1.0" encoding="utf-8"?>
<p:tagLst xmlns:p="http://schemas.openxmlformats.org/presentationml/2006/main">
  <p:tag name="TIMING" val="|0.6|0.8|1.2|0.9|0.6|1.1|0.7|0.6|0.8|0.4|1"/>
</p:tagLst>
</file>

<file path=ppt/tags/tag293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294.xml><?xml version="1.0" encoding="utf-8"?>
<p:tagLst xmlns:p="http://schemas.openxmlformats.org/presentationml/2006/main">
  <p:tag name="KSO_WM_BEAUTIFY_FLAG" val=""/>
</p:tagLst>
</file>

<file path=ppt/tags/tag295.xml><?xml version="1.0" encoding="utf-8"?>
<p:tagLst xmlns:p="http://schemas.openxmlformats.org/presentationml/2006/main">
  <p:tag name="KSO_WM_BEAUTIFY_FLAG" val=""/>
</p:tagLst>
</file>

<file path=ppt/tags/tag296.xml><?xml version="1.0" encoding="utf-8"?>
<p:tagLst xmlns:p="http://schemas.openxmlformats.org/presentationml/2006/main">
  <p:tag name="KSO_WM_BEAUTIFY_FLAG" val=""/>
</p:tagLst>
</file>

<file path=ppt/tags/tag297.xml><?xml version="1.0" encoding="utf-8"?>
<p:tagLst xmlns:p="http://schemas.openxmlformats.org/presentationml/2006/main">
  <p:tag name="KSO_WM_BEAUTIFY_FLAG" val=""/>
</p:tagLst>
</file>

<file path=ppt/tags/tag298.xml><?xml version="1.0" encoding="utf-8"?>
<p:tagLst xmlns:p="http://schemas.openxmlformats.org/presentationml/2006/main">
  <p:tag name="KSO_WM_BEAUTIFY_FLAG" val=""/>
</p:tagLst>
</file>

<file path=ppt/tags/tag299.xml><?xml version="1.0" encoding="utf-8"?>
<p:tagLst xmlns:p="http://schemas.openxmlformats.org/presentationml/2006/main">
  <p:tag name="KSO_WM_BEAUTIFY_FLAG" val=""/>
</p:tagLst>
</file>

<file path=ppt/tags/tag300.xml><?xml version="1.0" encoding="utf-8"?>
<p:tagLst xmlns:p="http://schemas.openxmlformats.org/presentationml/2006/main">
  <p:tag name="KSO_WM_BEAUTIFY_FLAG" val=""/>
</p:tagLst>
</file>

<file path=ppt/tags/tag301.xml><?xml version="1.0" encoding="utf-8"?>
<p:tagLst xmlns:p="http://schemas.openxmlformats.org/presentationml/2006/main">
  <p:tag name="KSO_WM_BEAUTIFY_FLAG" val=""/>
</p:tagLst>
</file>

<file path=ppt/tags/tag302.xml><?xml version="1.0" encoding="utf-8"?>
<p:tagLst xmlns:p="http://schemas.openxmlformats.org/presentationml/2006/main">
  <p:tag name="KSO_WM_UNIT_TABLE_BEAUTIFY" val="smartTable{a8b21506-2bba-49b1-9e39-8012d08ce0ce}"/>
  <p:tag name="TABLE_ENDDRAG_ORIGIN_RECT" val="349*152"/>
  <p:tag name="TABLE_ENDDRAG_RECT" val="-429*162*349*152"/>
  <p:tag name="KSO_WM_BEAUTIFY_FLAG" val=""/>
</p:tagLst>
</file>

<file path=ppt/tags/tag303.xml><?xml version="1.0" encoding="utf-8"?>
<p:tagLst xmlns:p="http://schemas.openxmlformats.org/presentationml/2006/main">
  <p:tag name="TIMING" val="|0.6|0.8|1.2|0.9|0.6|1.1|0.7|0.6|0.8|0.4|1"/>
</p:tagLst>
</file>

<file path=ppt/tags/tag304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305.xml><?xml version="1.0" encoding="utf-8"?>
<p:tagLst xmlns:p="http://schemas.openxmlformats.org/presentationml/2006/main">
  <p:tag name="TIMING" val="|0.6|0.8|1.2|0.9|0.6|1.1|0.7|0.6|0.8|0.4|1"/>
</p:tagLst>
</file>

<file path=ppt/tags/tag306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307.xml><?xml version="1.0" encoding="utf-8"?>
<p:tagLst xmlns:p="http://schemas.openxmlformats.org/presentationml/2006/main">
  <p:tag name="KSO_WM_BEAUTIFY_FLAG" val=""/>
</p:tagLst>
</file>

<file path=ppt/tags/tag308.xml><?xml version="1.0" encoding="utf-8"?>
<p:tagLst xmlns:p="http://schemas.openxmlformats.org/presentationml/2006/main">
  <p:tag name="KSO_WM_BEAUTIFY_FLAG" val=""/>
</p:tagLst>
</file>

<file path=ppt/tags/tag309.xml><?xml version="1.0" encoding="utf-8"?>
<p:tagLst xmlns:p="http://schemas.openxmlformats.org/presentationml/2006/main">
  <p:tag name="KSO_WM_BEAUTIFY_FLAG" val=""/>
</p:tagLst>
</file>

<file path=ppt/tags/tag310.xml><?xml version="1.0" encoding="utf-8"?>
<p:tagLst xmlns:p="http://schemas.openxmlformats.org/presentationml/2006/main">
  <p:tag name="KSO_WM_BEAUTIFY_FLAG" val=""/>
</p:tagLst>
</file>

<file path=ppt/tags/tag311.xml><?xml version="1.0" encoding="utf-8"?>
<p:tagLst xmlns:p="http://schemas.openxmlformats.org/presentationml/2006/main">
  <p:tag name="KSO_WM_BEAUTIFY_FLAG" val=""/>
</p:tagLst>
</file>

<file path=ppt/tags/tag312.xml><?xml version="1.0" encoding="utf-8"?>
<p:tagLst xmlns:p="http://schemas.openxmlformats.org/presentationml/2006/main">
  <p:tag name="KSO_WM_BEAUTIFY_FLAG" val=""/>
</p:tagLst>
</file>

<file path=ppt/tags/tag313.xml><?xml version="1.0" encoding="utf-8"?>
<p:tagLst xmlns:p="http://schemas.openxmlformats.org/presentationml/2006/main">
  <p:tag name="KSO_WM_BEAUTIFY_FLAG" val=""/>
</p:tagLst>
</file>

<file path=ppt/tags/tag314.xml><?xml version="1.0" encoding="utf-8"?>
<p:tagLst xmlns:p="http://schemas.openxmlformats.org/presentationml/2006/main">
  <p:tag name="TIMING" val="|0.6|0.8|1.2|0.9|0.6|1.1|0.7|0.6|0.8|0.4|1"/>
</p:tagLst>
</file>

<file path=ppt/tags/tag315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316.xml><?xml version="1.0" encoding="utf-8"?>
<p:tagLst xmlns:p="http://schemas.openxmlformats.org/presentationml/2006/main">
  <p:tag name="TIMING" val="|0.6|0.8|1.2|0.9|0.6|1.1|0.7|0.6|0.8|0.4|1"/>
</p:tagLst>
</file>

<file path=ppt/tags/tag317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318.xml><?xml version="1.0" encoding="utf-8"?>
<p:tagLst xmlns:p="http://schemas.openxmlformats.org/presentationml/2006/main">
  <p:tag name="TIMING" val="|0.6|0.8|1.2|0.9|0.6|1.1|0.7|0.6|0.8|0.4|1"/>
</p:tagLst>
</file>

<file path=ppt/tags/tag319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320.xml><?xml version="1.0" encoding="utf-8"?>
<p:tagLst xmlns:p="http://schemas.openxmlformats.org/presentationml/2006/main">
  <p:tag name="KSO_WM_UNIT_PLACING_PICTURE_USER_VIEWPORT" val="{&quot;height&quot;:628,&quot;width&quot;:14064}"/>
</p:tagLst>
</file>

<file path=ppt/tags/tag321.xml><?xml version="1.0" encoding="utf-8"?>
<p:tagLst xmlns:p="http://schemas.openxmlformats.org/presentationml/2006/main">
  <p:tag name="TIMING" val="|0.6|0.8|1.2|0.9|0.6|1.1|0.7|0.6|0.8|0.4|1"/>
</p:tagLst>
</file>

<file path=ppt/tags/tag322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323.xml><?xml version="1.0" encoding="utf-8"?>
<p:tagLst xmlns:p="http://schemas.openxmlformats.org/presentationml/2006/main">
  <p:tag name="KSO_WM_UNIT_TABLE_BEAUTIFY" val="smartTable{a8b21506-2bba-49b1-9e39-8012d08ce0ce}"/>
  <p:tag name="TABLE_ENDDRAG_ORIGIN_RECT" val="393*203"/>
  <p:tag name="TABLE_ENDDRAG_RECT" val="269*229*393*203"/>
  <p:tag name="KSO_WM_BEAUTIFY_FLAG" val=""/>
</p:tagLst>
</file>

<file path=ppt/tags/tag324.xml><?xml version="1.0" encoding="utf-8"?>
<p:tagLst xmlns:p="http://schemas.openxmlformats.org/presentationml/2006/main">
  <p:tag name="TIMING" val="|0.6|0.8|1.2|0.9|0.6|1.1|0.7|0.6|0.8|0.4|1"/>
</p:tagLst>
</file>

<file path=ppt/tags/tag325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326.xml><?xml version="1.0" encoding="utf-8"?>
<p:tagLst xmlns:p="http://schemas.openxmlformats.org/presentationml/2006/main">
  <p:tag name="TIMING" val="|0.6|0.8|1.2|0.9|0.6|1.1|0.7|0.6|0.8|0.4|1"/>
</p:tagLst>
</file>

<file path=ppt/tags/tag327.xml><?xml version="1.0" encoding="utf-8"?>
<p:tagLst xmlns:p="http://schemas.openxmlformats.org/presentationml/2006/main">
  <p:tag name="COMMONDATA" val="eyJoZGlkIjoiYWEwMGE1NWI5YzQ1ZTYxZmY0OTNkMmVjYzk0YWI1NTEifQ=="/>
  <p:tag name="KSO_WPP_MARK_KEY" val="b648bd06-0c48-48d1-88e9-75114c59f56c"/>
  <p:tag name="commondata" val="eyJoZGlkIjoiZmVmYTI5OWNjNDE5MmJlMWRmZTkxYTBjMTczZWQ3MGQifQ==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D02F35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16401</Words>
  <Application>WPS 演示</Application>
  <PresentationFormat>宽屏</PresentationFormat>
  <Paragraphs>2078</Paragraphs>
  <Slides>42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42</vt:i4>
      </vt:variant>
    </vt:vector>
  </HeadingPairs>
  <TitlesOfParts>
    <vt:vector size="54" baseType="lpstr">
      <vt:lpstr>Arial</vt:lpstr>
      <vt:lpstr>宋体</vt:lpstr>
      <vt:lpstr>Wingdings</vt:lpstr>
      <vt:lpstr>Calibri</vt:lpstr>
      <vt:lpstr>等线</vt:lpstr>
      <vt:lpstr>华文楷体</vt:lpstr>
      <vt:lpstr>微软雅黑</vt:lpstr>
      <vt:lpstr>思源黑体 CN Regular</vt:lpstr>
      <vt:lpstr>黑体</vt:lpstr>
      <vt:lpstr>纤黑体</vt:lpstr>
      <vt:lpstr>Arial Unicode MS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Think</dc:creator>
  <cp:lastModifiedBy>乐</cp:lastModifiedBy>
  <cp:revision>1914</cp:revision>
  <dcterms:created xsi:type="dcterms:W3CDTF">2020-07-23T10:11:00Z</dcterms:created>
  <dcterms:modified xsi:type="dcterms:W3CDTF">2024-03-19T03:59:34Z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2052-12.1.0.16250</vt:lpwstr>
  </property>
  <property fmtid="{D5CDD505-2E9C-101B-9397-08002B2CF9AE}" pid="3" name="ICV">
    <vt:lpwstr>5A1EE12111F04212A09581045797DBEA</vt:lpwstr>
  </property>
</Properties>
</file>