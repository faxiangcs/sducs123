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4960" r:id="rId5"/>
    <p:sldId id="4943" r:id="rId6"/>
    <p:sldId id="4944" r:id="rId7"/>
    <p:sldId id="4945" r:id="rId8"/>
    <p:sldId id="4946" r:id="rId9"/>
    <p:sldId id="4947" r:id="rId10"/>
    <p:sldId id="4948" r:id="rId11"/>
    <p:sldId id="4950" r:id="rId12"/>
    <p:sldId id="4951" r:id="rId13"/>
    <p:sldId id="4961" r:id="rId14"/>
    <p:sldId id="4952" r:id="rId15"/>
    <p:sldId id="4953" r:id="rId16"/>
    <p:sldId id="4954" r:id="rId17"/>
    <p:sldId id="4957" r:id="rId18"/>
    <p:sldId id="4956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226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3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汇编语言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实验（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32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秋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总则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学习型实验</a:t>
            </a:r>
            <a:r>
              <a:rPr lang="zh-CN" altLang="en-US" sz="2000" b="1">
                <a:solidFill>
                  <a:srgbClr val="9C0B15"/>
                </a:solidFill>
              </a:rPr>
              <a:t>总则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实验目的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思考实验运行的具体原理和技术手段</a:t>
            </a:r>
            <a:r>
              <a:rPr lang="zh-CN" altLang="en-US" sz="2000">
                <a:sym typeface="+mn-ea"/>
              </a:rPr>
              <a:t>，为后续实践型实验自己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独立完成</a:t>
            </a:r>
            <a:r>
              <a:rPr lang="zh-CN" altLang="en-US" sz="2000">
                <a:sym typeface="+mn-ea"/>
              </a:rPr>
              <a:t>实验做准备。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要求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olidFill>
                  <a:schemeClr val="tx1"/>
                </a:solidFill>
              </a:rPr>
              <a:t>把实验材料里面给出的代码亲手</a:t>
            </a:r>
            <a:r>
              <a:rPr lang="zh-CN" altLang="en-US" sz="2000">
                <a:solidFill>
                  <a:srgbClr val="C00000"/>
                </a:solidFill>
              </a:rPr>
              <a:t>原样</a:t>
            </a:r>
            <a:r>
              <a:rPr lang="zh-CN" altLang="en-US" sz="2000">
                <a:solidFill>
                  <a:schemeClr val="tx1"/>
                </a:solidFill>
              </a:rPr>
              <a:t>抄到计算机上，并且成功</a:t>
            </a:r>
            <a:r>
              <a:rPr lang="en-US" altLang="zh-CN" sz="2000">
                <a:solidFill>
                  <a:schemeClr val="tx1"/>
                </a:solidFill>
              </a:rPr>
              <a:t>		</a:t>
            </a:r>
            <a:r>
              <a:rPr lang="zh-CN" altLang="en-US" sz="2000">
                <a:solidFill>
                  <a:schemeClr val="tx1"/>
                </a:solidFill>
              </a:rPr>
              <a:t>运行、得出结果。</a:t>
            </a:r>
            <a:r>
              <a:rPr lang="zh-CN" altLang="en-US" sz="2000">
                <a:solidFill>
                  <a:srgbClr val="C00000"/>
                </a:solidFill>
              </a:rPr>
              <a:t>抄写代码时需要同步抄写注释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</a:rPr>
              <a:t>		</a:t>
            </a:r>
            <a:r>
              <a:rPr lang="zh-CN" altLang="en-US" sz="2000">
                <a:solidFill>
                  <a:schemeClr val="tx1"/>
                </a:solidFill>
              </a:rPr>
              <a:t>可以携带自己的计算机完成上机实验，</a:t>
            </a:r>
            <a:r>
              <a:rPr lang="zh-CN" altLang="en-US" sz="2000">
                <a:solidFill>
                  <a:srgbClr val="C00000"/>
                </a:solidFill>
              </a:rPr>
              <a:t>没做完的实验可以回去</a:t>
            </a:r>
            <a:r>
              <a:rPr lang="en-US" altLang="zh-CN" sz="2000">
                <a:solidFill>
                  <a:srgbClr val="C00000"/>
                </a:solidFill>
              </a:rPr>
              <a:t>		</a:t>
            </a:r>
            <a:r>
              <a:rPr lang="zh-CN" altLang="en-US" sz="2000">
                <a:solidFill>
                  <a:srgbClr val="C00000"/>
                </a:solidFill>
              </a:rPr>
              <a:t>自行完成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报告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要求写明每个案例的实验步骤与现象，以及从现象中能够学到</a:t>
            </a:r>
            <a:r>
              <a:rPr lang="en-US" altLang="zh-CN" sz="2000"/>
              <a:t>		</a:t>
            </a:r>
            <a:r>
              <a:rPr lang="zh-CN" altLang="en-US" sz="2000"/>
              <a:t>什么。具体参见各个实验的</a:t>
            </a:r>
            <a:r>
              <a:rPr lang="en-US" altLang="zh-CN" sz="2000"/>
              <a:t>“</a:t>
            </a:r>
            <a:r>
              <a:rPr lang="zh-CN" altLang="en-US" sz="2000"/>
              <a:t>实验内容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	不要求在实验报告中附代码，但要求把</a:t>
            </a:r>
            <a:r>
              <a:rPr lang="zh-CN" altLang="en-US" sz="2000">
                <a:solidFill>
                  <a:srgbClr val="C00000"/>
                </a:solidFill>
              </a:rPr>
              <a:t>每个实验的*.ASM汇编源		文件，以及其对应的*.EXE文件</a:t>
            </a:r>
            <a:r>
              <a:rPr lang="zh-CN" altLang="en-US" sz="2000"/>
              <a:t>一起发给</a:t>
            </a:r>
            <a:r>
              <a:rPr lang="zh-CN" altLang="en-US" sz="2000"/>
              <a:t>助教。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/>
              <a:t>		</a:t>
            </a:r>
            <a:r>
              <a:rPr lang="zh-CN" altLang="en-US" sz="2000"/>
              <a:t>实验报告提交的截止日期是实验结束后的</a:t>
            </a:r>
            <a:r>
              <a:rPr lang="en-US" altLang="zh-CN" sz="2000">
                <a:solidFill>
                  <a:srgbClr val="C00000"/>
                </a:solidFill>
              </a:rPr>
              <a:t>7</a:t>
            </a:r>
            <a:r>
              <a:rPr lang="zh-CN" altLang="en-US" sz="2000">
                <a:solidFill>
                  <a:srgbClr val="C00000"/>
                </a:solidFill>
              </a:rPr>
              <a:t>天，也即一周</a:t>
            </a:r>
            <a:r>
              <a:rPr lang="zh-CN" altLang="en-US" sz="2000"/>
              <a:t>以内。</a:t>
            </a:r>
            <a:endParaRPr lang="zh-CN" altLang="en-US" sz="2000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91560" y="5919470"/>
          <a:ext cx="2603500" cy="65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551815" imgH="137795" progId="Package">
                  <p:embed/>
                </p:oleObj>
              </mc:Choice>
              <mc:Fallback>
                <p:oleObj name="" r:id="rId2" imgW="551815" imgH="137795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91560" y="5919470"/>
                        <a:ext cx="2603500" cy="650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实验一</a:t>
            </a:r>
            <a:r>
              <a:rPr lang="en-US" altLang="zh-CN"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r>
              <a:rPr lang="en-US" altLang="zh-CN" sz="2000" b="1">
                <a:solidFill>
                  <a:srgbClr val="9C0B15"/>
                </a:solidFill>
              </a:rPr>
              <a:t>使用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10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20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en-US" altLang="zh-CN" sz="2000"/>
              <a:t>实验</a:t>
            </a:r>
            <a:r>
              <a:rPr lang="zh-CN" altLang="en-US" sz="2000"/>
              <a:t>一</a:t>
            </a:r>
            <a:r>
              <a:rPr lang="en-US" altLang="zh-CN" sz="2000"/>
              <a:t>：例1.1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en-US" altLang="zh-CN" sz="2000"/>
              <a:t>学习使用和熟悉MASM</a:t>
            </a:r>
            <a:r>
              <a:rPr lang="zh-CN" altLang="en-US" sz="2000"/>
              <a:t>、</a:t>
            </a:r>
            <a:r>
              <a:rPr lang="en-US" altLang="zh-CN" sz="2000"/>
              <a:t>LINK</a:t>
            </a:r>
            <a:r>
              <a:rPr lang="zh-CN" altLang="en-US" sz="2000"/>
              <a:t>、</a:t>
            </a:r>
            <a:r>
              <a:rPr lang="en-US" altLang="zh-CN" sz="2000"/>
              <a:t>DEBUG</a:t>
            </a:r>
            <a:r>
              <a:rPr lang="zh-CN" altLang="en-US" sz="2000"/>
              <a:t>、</a:t>
            </a:r>
            <a:r>
              <a:rPr lang="en-US" altLang="zh-CN" sz="2000"/>
              <a:t>EDIT</a:t>
            </a:r>
            <a:r>
              <a:rPr lang="zh-CN" altLang="en-US" sz="2000"/>
              <a:t>、</a:t>
            </a:r>
            <a:r>
              <a:rPr lang="en-US" altLang="zh-CN" sz="2000"/>
              <a:t>TD等汇编工具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掌握一般汇编语言程序的编程框架。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学习汇编程序</a:t>
            </a:r>
            <a:r>
              <a:rPr lang="zh-CN" altLang="en-US" sz="2000">
                <a:sym typeface="+mn-ea"/>
              </a:rPr>
              <a:t>的基本</a:t>
            </a:r>
            <a:r>
              <a:rPr lang="en-US" altLang="zh-CN" sz="2000">
                <a:sym typeface="+mn-ea"/>
              </a:rPr>
              <a:t>编写习惯，包括但不限于寄存器使用规范、		变量/标号命名、注释、对齐、分段、缩进</a:t>
            </a:r>
            <a:r>
              <a:rPr lang="zh-CN" altLang="en-US" sz="2000">
                <a:sym typeface="+mn-ea"/>
              </a:rPr>
              <a:t>等</a:t>
            </a:r>
            <a:r>
              <a:rPr lang="en-US" altLang="zh-CN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实验内容</a:t>
            </a:r>
            <a:r>
              <a:rPr lang="en-US" altLang="zh-CN" sz="2000"/>
              <a:t>	</a:t>
            </a:r>
            <a:r>
              <a:rPr lang="zh-CN" altLang="en-US" sz="2000"/>
              <a:t>阅读、理解、输入运行并调试第</a:t>
            </a:r>
            <a:r>
              <a:rPr lang="en-US" altLang="zh-CN" sz="2000"/>
              <a:t>2</a:t>
            </a:r>
            <a:r>
              <a:rPr lang="zh-CN" altLang="en-US" sz="2000"/>
              <a:t>页例</a:t>
            </a:r>
            <a:r>
              <a:rPr lang="en-US" altLang="zh-CN" sz="2000"/>
              <a:t>1.1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使用</a:t>
            </a:r>
            <a:r>
              <a:rPr lang="en-US" altLang="zh-CN" sz="2000">
                <a:sym typeface="+mn-ea"/>
              </a:rPr>
              <a:t>DEBUG</a:t>
            </a:r>
            <a:r>
              <a:rPr lang="zh-CN" altLang="en-US" sz="2000">
                <a:sym typeface="+mn-ea"/>
              </a:rPr>
              <a:t>或</a:t>
            </a:r>
            <a:r>
              <a:rPr lang="en-US" altLang="zh-CN" sz="2000">
                <a:sym typeface="+mn-ea"/>
              </a:rPr>
              <a:t>TD</a:t>
            </a:r>
            <a:r>
              <a:rPr lang="zh-CN" altLang="en-US" sz="2000">
                <a:sym typeface="+mn-ea"/>
              </a:rPr>
              <a:t>进行单步调试，查看和更改寄存器，以及查看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和更改内存单元。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lvl="2" algn="l">
              <a:buClrTx/>
              <a:buSzTx/>
              <a:buFontTx/>
            </a:pPr>
            <a:r>
              <a:rPr lang="en-US" altLang="zh-CN" sz="2000"/>
              <a:t>	</a:t>
            </a:r>
            <a:r>
              <a:rPr lang="zh-CN" altLang="en-US" sz="2000"/>
              <a:t>对照中断</a:t>
            </a:r>
            <a:r>
              <a:rPr lang="en-US" altLang="zh-CN" sz="2000"/>
              <a:t>21</a:t>
            </a:r>
            <a:r>
              <a:rPr lang="zh-CN" altLang="en-US" sz="2000"/>
              <a:t>的表格，分析程序中使用到的系统调用，并在实验</a:t>
            </a:r>
            <a:r>
              <a:rPr lang="en-US" altLang="zh-CN" sz="2000"/>
              <a:t>	</a:t>
            </a:r>
            <a:r>
              <a:rPr lang="zh-CN" altLang="en-US" sz="2000"/>
              <a:t>报告中说明程序是怎么调用</a:t>
            </a:r>
            <a:r>
              <a:rPr lang="en-US" altLang="zh-CN" sz="2000"/>
              <a:t>DOS</a:t>
            </a:r>
            <a:r>
              <a:rPr lang="zh-CN" altLang="en-US" sz="2000"/>
              <a:t>系统调用的。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实验二</a:t>
            </a:r>
            <a:r>
              <a:rPr lang="en-US" altLang="zh-CN"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9C0B15"/>
                </a:solidFill>
              </a:rPr>
              <a:t>分支程序</a:t>
            </a:r>
            <a:r>
              <a:rPr lang="zh-CN" altLang="en-US" sz="2000" b="1">
                <a:solidFill>
                  <a:srgbClr val="9C0B15"/>
                </a:solidFill>
              </a:rPr>
              <a:t>设计学习（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10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27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en-US" altLang="zh-CN" sz="2000"/>
              <a:t>实验</a:t>
            </a:r>
            <a:r>
              <a:rPr lang="zh-CN" altLang="en-US" sz="2000"/>
              <a:t>二</a:t>
            </a:r>
            <a:r>
              <a:rPr lang="en-US" altLang="zh-CN" sz="2000"/>
              <a:t>：例2.4</a:t>
            </a:r>
            <a:r>
              <a:rPr lang="zh-CN" altLang="en-US" sz="2000"/>
              <a:t>，例</a:t>
            </a:r>
            <a:r>
              <a:rPr lang="en-US" altLang="zh-CN" sz="2000"/>
              <a:t>2.5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继续</a:t>
            </a:r>
            <a:r>
              <a:rPr lang="en-US" altLang="zh-CN" sz="2000"/>
              <a:t>熟悉MASM</a:t>
            </a:r>
            <a:r>
              <a:rPr lang="zh-CN" altLang="en-US" sz="2000"/>
              <a:t>、</a:t>
            </a:r>
            <a:r>
              <a:rPr lang="en-US" altLang="zh-CN" sz="2000"/>
              <a:t>LINK</a:t>
            </a:r>
            <a:r>
              <a:rPr lang="zh-CN" altLang="en-US" sz="2000"/>
              <a:t>、</a:t>
            </a:r>
            <a:r>
              <a:rPr lang="en-US" altLang="zh-CN" sz="2000"/>
              <a:t>DEBUG</a:t>
            </a:r>
            <a:r>
              <a:rPr lang="zh-CN" altLang="en-US" sz="2000"/>
              <a:t>、</a:t>
            </a:r>
            <a:r>
              <a:rPr lang="en-US" altLang="zh-CN" sz="2000"/>
              <a:t>EDIT</a:t>
            </a:r>
            <a:r>
              <a:rPr lang="zh-CN" altLang="en-US" sz="2000"/>
              <a:t>、</a:t>
            </a:r>
            <a:r>
              <a:rPr lang="en-US" altLang="zh-CN" sz="2000"/>
              <a:t>TD等汇编工具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掌握汇编语言分支程序的</a:t>
            </a:r>
            <a:r>
              <a:rPr lang="zh-CN" altLang="en-US" sz="2000">
                <a:sym typeface="+mn-ea"/>
              </a:rPr>
              <a:t>设计思路。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理解条件转移指令和无条件转移指令的机理（哪个是根据状态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寄存器，哪个是位移，哪个是段首址加有效地址）。了解段内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短转移、段内近转移、段间转移、直/间接等的含义及其跳转范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围。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实验内容</a:t>
            </a:r>
            <a:r>
              <a:rPr lang="en-US" altLang="zh-CN" sz="2000"/>
              <a:t>	</a:t>
            </a:r>
            <a:r>
              <a:rPr lang="zh-CN" altLang="en-US" sz="2000"/>
              <a:t>阅读、理解、输入运行并调试第24页例2.4与第27页例2.5。例</a:t>
            </a:r>
            <a:r>
              <a:rPr lang="en-US" altLang="zh-CN" sz="2000"/>
              <a:t>2.4		</a:t>
            </a:r>
            <a:r>
              <a:rPr lang="zh-CN" altLang="en-US" sz="2000"/>
              <a:t>有一处需要修正（实验书将</a:t>
            </a:r>
            <a:r>
              <a:rPr lang="en-US" altLang="zh-CN" sz="2000"/>
              <a:t>AH</a:t>
            </a:r>
            <a:r>
              <a:rPr lang="zh-CN" altLang="en-US" sz="2000"/>
              <a:t>误写为</a:t>
            </a:r>
            <a:r>
              <a:rPr lang="en-US" altLang="zh-CN" sz="2000"/>
              <a:t>2H</a:t>
            </a:r>
            <a:r>
              <a:rPr lang="zh-CN" altLang="en-US" sz="2000"/>
              <a:t>）；例</a:t>
            </a:r>
            <a:r>
              <a:rPr lang="en-US" altLang="zh-CN" sz="2000"/>
              <a:t>2.5	</a:t>
            </a:r>
            <a:r>
              <a:rPr lang="zh-CN" altLang="en-US" sz="2000"/>
              <a:t>中要求自行做</a:t>
            </a:r>
            <a:r>
              <a:rPr lang="en-US" altLang="zh-CN" sz="2000"/>
              <a:t>		</a:t>
            </a:r>
            <a:r>
              <a:rPr lang="zh-CN" altLang="en-US" sz="2000"/>
              <a:t>修改使其能从键盘接受一个单字节错误号</a:t>
            </a:r>
            <a:r>
              <a:rPr lang="zh-CN" altLang="en-US" sz="2000"/>
              <a:t>输入。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理解、掌握 ASCII 转二进制的逻辑，并</a:t>
            </a:r>
            <a:r>
              <a:rPr lang="zh-CN" altLang="en-US" sz="2000"/>
              <a:t>了解程序中使用到的DOS</a:t>
            </a:r>
            <a:r>
              <a:rPr lang="en-US" altLang="zh-CN" sz="2000"/>
              <a:t>		</a:t>
            </a:r>
            <a:r>
              <a:rPr lang="zh-CN" altLang="en-US" sz="2000"/>
              <a:t>系统调用。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实验三</a:t>
            </a:r>
            <a:r>
              <a:rPr lang="en-US" altLang="zh-CN"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9C0B15"/>
                </a:solidFill>
              </a:rPr>
              <a:t>循环程序</a:t>
            </a:r>
            <a:r>
              <a:rPr lang="zh-CN" altLang="en-US" sz="2000" b="1">
                <a:solidFill>
                  <a:srgbClr val="9C0B15"/>
                </a:solidFill>
              </a:rPr>
              <a:t>设计学习（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11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3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en-US" altLang="zh-CN" sz="2000"/>
              <a:t>实验</a:t>
            </a:r>
            <a:r>
              <a:rPr lang="zh-CN" altLang="en-US" sz="2000"/>
              <a:t>三</a:t>
            </a:r>
            <a:r>
              <a:rPr lang="en-US" altLang="zh-CN" sz="2000"/>
              <a:t>：例2.1</a:t>
            </a:r>
            <a:r>
              <a:rPr lang="zh-CN" altLang="en-US" sz="2000"/>
              <a:t>，例</a:t>
            </a:r>
            <a:r>
              <a:rPr lang="en-US" altLang="zh-CN" sz="2000"/>
              <a:t>2.3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继续</a:t>
            </a:r>
            <a:r>
              <a:rPr lang="en-US" altLang="zh-CN" sz="2000"/>
              <a:t>熟悉MASM</a:t>
            </a:r>
            <a:r>
              <a:rPr lang="zh-CN" altLang="en-US" sz="2000"/>
              <a:t>、</a:t>
            </a:r>
            <a:r>
              <a:rPr lang="en-US" altLang="zh-CN" sz="2000"/>
              <a:t>LINK</a:t>
            </a:r>
            <a:r>
              <a:rPr lang="zh-CN" altLang="en-US" sz="2000"/>
              <a:t>、</a:t>
            </a:r>
            <a:r>
              <a:rPr lang="en-US" altLang="zh-CN" sz="2000"/>
              <a:t>DEBUG</a:t>
            </a:r>
            <a:r>
              <a:rPr lang="zh-CN" altLang="en-US" sz="2000"/>
              <a:t>、</a:t>
            </a:r>
            <a:r>
              <a:rPr lang="en-US" altLang="zh-CN" sz="2000"/>
              <a:t>EDIT</a:t>
            </a:r>
            <a:r>
              <a:rPr lang="zh-CN" altLang="en-US" sz="2000"/>
              <a:t>、</a:t>
            </a:r>
            <a:r>
              <a:rPr lang="en-US" altLang="zh-CN" sz="2000"/>
              <a:t>TD等汇编工具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掌握汇编语言循环程序与分支</a:t>
            </a:r>
            <a:r>
              <a:rPr lang="zh-CN" altLang="en-US" sz="2000">
                <a:sym typeface="+mn-ea"/>
              </a:rPr>
              <a:t>程序的</a:t>
            </a:r>
            <a:r>
              <a:rPr lang="zh-CN" altLang="en-US" sz="2000">
                <a:sym typeface="+mn-ea"/>
              </a:rPr>
              <a:t>设计思路。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掌握示例程序中的寻址方式、常量的含义，及各个</a:t>
            </a:r>
            <a:r>
              <a:rPr lang="zh-CN" altLang="en-US" sz="2000">
                <a:sym typeface="+mn-ea"/>
              </a:rPr>
              <a:t>伪指令。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了解字符串在内存中的存储方式，存储形式 </a:t>
            </a:r>
            <a:r>
              <a:rPr lang="en-US" altLang="zh-CN" sz="2000">
                <a:sym typeface="+mn-ea"/>
              </a:rPr>
              <a:t>DW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DB</a:t>
            </a:r>
            <a:r>
              <a:rPr lang="zh-CN" altLang="en-US" sz="2000">
                <a:sym typeface="+mn-ea"/>
              </a:rPr>
              <a:t>的不同。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实验内容</a:t>
            </a:r>
            <a:r>
              <a:rPr lang="en-US" altLang="zh-CN" sz="2000"/>
              <a:t>	</a:t>
            </a:r>
            <a:r>
              <a:rPr lang="zh-CN" altLang="en-US" sz="2000"/>
              <a:t>阅读、理解、输入运行并调试第</a:t>
            </a:r>
            <a:r>
              <a:rPr lang="en-US" altLang="zh-CN" sz="2000"/>
              <a:t>13</a:t>
            </a:r>
            <a:r>
              <a:rPr lang="zh-CN" altLang="en-US" sz="2000"/>
              <a:t>页例2.</a:t>
            </a:r>
            <a:r>
              <a:rPr lang="en-US" altLang="zh-CN" sz="2000"/>
              <a:t>1</a:t>
            </a:r>
            <a:r>
              <a:rPr lang="zh-CN" altLang="en-US" sz="2000"/>
              <a:t>和第</a:t>
            </a:r>
            <a:r>
              <a:rPr lang="en-US" altLang="zh-CN" sz="2000"/>
              <a:t>21</a:t>
            </a:r>
            <a:r>
              <a:rPr lang="zh-CN" altLang="en-US" sz="2000"/>
              <a:t>页例</a:t>
            </a:r>
            <a:r>
              <a:rPr lang="en-US" altLang="zh-CN" sz="2000"/>
              <a:t>2.3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在例</a:t>
            </a:r>
            <a:r>
              <a:rPr lang="en-US" altLang="zh-CN" sz="2000">
                <a:sym typeface="+mn-ea"/>
              </a:rPr>
              <a:t>2.3</a:t>
            </a:r>
            <a:r>
              <a:rPr lang="zh-CN" altLang="en-US" sz="2000">
                <a:sym typeface="+mn-ea"/>
              </a:rPr>
              <a:t>中，使用</a:t>
            </a:r>
            <a:r>
              <a:rPr lang="en-US" altLang="zh-CN" sz="2000">
                <a:sym typeface="+mn-ea"/>
              </a:rPr>
              <a:t>DEBUG</a:t>
            </a:r>
            <a:r>
              <a:rPr lang="zh-CN" altLang="en-US" sz="2000">
                <a:sym typeface="+mn-ea"/>
              </a:rPr>
              <a:t>或</a:t>
            </a:r>
            <a:r>
              <a:rPr lang="en-US" altLang="zh-CN" sz="2000">
                <a:sym typeface="+mn-ea"/>
              </a:rPr>
              <a:t>TD</a:t>
            </a:r>
            <a:r>
              <a:rPr lang="zh-CN" altLang="en-US" sz="2000">
                <a:sym typeface="+mn-ea"/>
              </a:rPr>
              <a:t>查看代码运行中对放置结果的内存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单元的实时修改，以及代码执行后内存单元的</a:t>
            </a:r>
            <a:r>
              <a:rPr lang="zh-CN" altLang="en-US" sz="2000">
                <a:sym typeface="+mn-ea"/>
              </a:rPr>
              <a:t>变化。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marL="914400" lvl="4" algn="l">
              <a:buClrTx/>
              <a:buSzTx/>
              <a:buFontTx/>
            </a:pPr>
            <a:r>
              <a:rPr lang="zh-CN" altLang="en-US" sz="2000"/>
              <a:t>	了解使用到的DOS系统调用。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过程与宏程序设计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实验四</a:t>
            </a:r>
            <a:r>
              <a:rPr lang="en-US" altLang="zh-CN"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9C0B15"/>
                </a:solidFill>
              </a:rPr>
              <a:t>过程与</a:t>
            </a:r>
            <a:r>
              <a:rPr lang="zh-CN" altLang="en-US" sz="2000" b="1">
                <a:solidFill>
                  <a:srgbClr val="9C0B15"/>
                </a:solidFill>
              </a:rPr>
              <a:t>宏设计学习（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11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10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en-US" altLang="zh-CN" sz="2000"/>
              <a:t>实验</a:t>
            </a:r>
            <a:r>
              <a:rPr lang="zh-CN" altLang="en-US" sz="2000"/>
              <a:t>四</a:t>
            </a:r>
            <a:r>
              <a:rPr lang="en-US" altLang="zh-CN" sz="2000"/>
              <a:t>：例2.6</a:t>
            </a:r>
            <a:r>
              <a:rPr lang="zh-CN" altLang="en-US" sz="2000"/>
              <a:t>，例</a:t>
            </a:r>
            <a:r>
              <a:rPr lang="en-US" altLang="zh-CN" sz="2000"/>
              <a:t>2.</a:t>
            </a:r>
            <a:r>
              <a:rPr lang="en-US" sz="2000"/>
              <a:t>7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全面</a:t>
            </a:r>
            <a:r>
              <a:rPr lang="zh-CN" altLang="en-US" sz="2000">
                <a:sym typeface="+mn-ea"/>
              </a:rPr>
              <a:t>掌握汇编语言中的过程及其使用，进一步</a:t>
            </a:r>
            <a:r>
              <a:rPr lang="zh-CN" altLang="en-US" sz="2000">
                <a:sym typeface="+mn-ea"/>
              </a:rPr>
              <a:t>实践编程</a:t>
            </a:r>
            <a:r>
              <a:rPr lang="zh-CN" altLang="en-US" sz="2000">
                <a:sym typeface="+mn-ea"/>
              </a:rPr>
              <a:t>方法论。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掌握通过全局变量、栈和</a:t>
            </a:r>
            <a:r>
              <a:rPr lang="zh-CN" altLang="en-US" sz="2000">
                <a:sym typeface="+mn-ea"/>
              </a:rPr>
              <a:t>寄存器传递</a:t>
            </a:r>
            <a:r>
              <a:rPr lang="zh-CN" altLang="en-US" sz="2000">
                <a:sym typeface="+mn-ea"/>
              </a:rPr>
              <a:t>过程</a:t>
            </a:r>
            <a:r>
              <a:rPr lang="zh-CN" altLang="en-US" sz="2000">
                <a:sym typeface="+mn-ea"/>
              </a:rPr>
              <a:t>参数与返回值的</a:t>
            </a:r>
            <a:r>
              <a:rPr lang="zh-CN" altLang="en-US" sz="2000">
                <a:sym typeface="+mn-ea"/>
              </a:rPr>
              <a:t>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</a:t>
            </a:r>
            <a:r>
              <a:rPr lang="zh-CN" altLang="en-US" sz="2000">
                <a:sym typeface="+mn-ea"/>
              </a:rPr>
              <a:t>过程</a:t>
            </a:r>
            <a:r>
              <a:rPr lang="zh-CN" altLang="en-US" sz="2000">
                <a:sym typeface="+mn-ea"/>
              </a:rPr>
              <a:t>的模块化设计，</a:t>
            </a:r>
            <a:r>
              <a:rPr lang="zh-CN" altLang="en-US" sz="2000">
                <a:sym typeface="+mn-ea"/>
              </a:rPr>
              <a:t>及其嵌套与测试</a:t>
            </a:r>
            <a:r>
              <a:rPr lang="zh-CN" altLang="en-US" sz="2000">
                <a:sym typeface="+mn-ea"/>
              </a:rPr>
              <a:t>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掌握字节、字与双字数据的基本计算方法，以及部分</a:t>
            </a:r>
            <a:r>
              <a:rPr lang="zh-CN" altLang="en-US" sz="2000">
                <a:sym typeface="+mn-ea"/>
              </a:rPr>
              <a:t>系统调用。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实验内容</a:t>
            </a:r>
            <a:r>
              <a:rPr lang="en-US" altLang="zh-CN" sz="2000"/>
              <a:t>	</a:t>
            </a:r>
            <a:r>
              <a:rPr lang="zh-CN" altLang="en-US" sz="2000"/>
              <a:t>阅读、理解、输入运行并调试第</a:t>
            </a:r>
            <a:r>
              <a:rPr lang="en-US" altLang="zh-CN" sz="2000"/>
              <a:t>34</a:t>
            </a:r>
            <a:r>
              <a:rPr lang="zh-CN" altLang="en-US" sz="2000"/>
              <a:t>页例2.</a:t>
            </a:r>
            <a:r>
              <a:rPr lang="en-US" altLang="zh-CN" sz="2000"/>
              <a:t>6</a:t>
            </a:r>
            <a:r>
              <a:rPr lang="zh-CN" altLang="en-US" sz="2000"/>
              <a:t>和第</a:t>
            </a:r>
            <a:r>
              <a:rPr lang="en-US" altLang="zh-CN" sz="2000"/>
              <a:t>40</a:t>
            </a:r>
            <a:r>
              <a:rPr lang="zh-CN" altLang="en-US" sz="2000"/>
              <a:t>页例</a:t>
            </a:r>
            <a:r>
              <a:rPr lang="en-US" altLang="zh-CN" sz="2000"/>
              <a:t>2.7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使用</a:t>
            </a:r>
            <a:r>
              <a:rPr lang="en-US" altLang="zh-CN" sz="2000">
                <a:sym typeface="+mn-ea"/>
              </a:rPr>
              <a:t>DEBUG</a:t>
            </a:r>
            <a:r>
              <a:rPr lang="zh-CN" altLang="en-US" sz="2000">
                <a:sym typeface="+mn-ea"/>
              </a:rPr>
              <a:t>或</a:t>
            </a:r>
            <a:r>
              <a:rPr lang="en-US" altLang="zh-CN" sz="2000">
                <a:sym typeface="+mn-ea"/>
              </a:rPr>
              <a:t>TD</a:t>
            </a:r>
            <a:r>
              <a:rPr lang="zh-CN" altLang="en-US" sz="2000">
                <a:sym typeface="+mn-ea"/>
              </a:rPr>
              <a:t>分别调试各个子程序，对其分模块进行单元测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试，然后再将其组装成整个程序做</a:t>
            </a:r>
            <a:r>
              <a:rPr lang="zh-CN" altLang="en-US" sz="2000">
                <a:sym typeface="+mn-ea"/>
              </a:rPr>
              <a:t>整体测试。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marL="914400" lvl="4" algn="l">
              <a:buClrTx/>
              <a:buSzTx/>
              <a:buFontTx/>
            </a:pPr>
            <a:r>
              <a:rPr lang="zh-CN" altLang="en-US" sz="2000"/>
              <a:t>	了解使用到的DOS系统调用，掌握示例程序中设计的</a:t>
            </a:r>
            <a:r>
              <a:rPr lang="en-US" altLang="zh-CN" sz="2000"/>
              <a:t>2</a:t>
            </a:r>
            <a:r>
              <a:rPr lang="zh-CN" altLang="en-US" sz="2000"/>
              <a:t>进制转</a:t>
            </a:r>
            <a:r>
              <a:rPr lang="en-US" altLang="zh-CN" sz="2000"/>
              <a:t>10	</a:t>
            </a:r>
            <a:r>
              <a:rPr lang="zh-CN" altLang="en-US" sz="2000"/>
              <a:t>进制算法以及关于小数的乘除法</a:t>
            </a:r>
            <a:r>
              <a:rPr lang="zh-CN" altLang="en-US" sz="2000"/>
              <a:t>处理。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实验五</a:t>
            </a:r>
            <a:r>
              <a:rPr lang="en-US" altLang="zh-CN"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9C0B15"/>
                </a:solidFill>
              </a:rPr>
              <a:t>输入输出程序</a:t>
            </a:r>
            <a:r>
              <a:rPr lang="zh-CN" altLang="en-US" sz="2000" b="1">
                <a:solidFill>
                  <a:srgbClr val="9C0B15"/>
                </a:solidFill>
              </a:rPr>
              <a:t>设计学习（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11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17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en-US" altLang="zh-CN" sz="2000"/>
              <a:t>实验五：</a:t>
            </a:r>
            <a:r>
              <a:rPr lang="zh-CN" altLang="en-US" sz="2000"/>
              <a:t>例</a:t>
            </a:r>
            <a:r>
              <a:rPr lang="en-US" altLang="zh-CN" sz="2000"/>
              <a:t>3.1</a:t>
            </a:r>
            <a:r>
              <a:rPr lang="zh-CN" altLang="en-US" sz="2000"/>
              <a:t>、例</a:t>
            </a:r>
            <a:r>
              <a:rPr lang="en-US" altLang="zh-CN" sz="2000"/>
              <a:t>3.3</a:t>
            </a:r>
            <a:r>
              <a:rPr lang="zh-CN" altLang="en-US" sz="2000"/>
              <a:t>、</a:t>
            </a:r>
            <a:r>
              <a:rPr lang="en-US" altLang="zh-CN" sz="2000"/>
              <a:t>例3.9</a:t>
            </a:r>
            <a:endParaRPr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掌握输入输出</a:t>
            </a:r>
            <a:r>
              <a:rPr lang="zh-CN" altLang="en-US" sz="2000">
                <a:sym typeface="+mn-ea"/>
              </a:rPr>
              <a:t>程序的</a:t>
            </a:r>
            <a:r>
              <a:rPr lang="zh-CN" altLang="en-US" sz="2000">
                <a:sym typeface="+mn-ea"/>
              </a:rPr>
              <a:t>设计思路。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掌握</a:t>
            </a:r>
            <a:r>
              <a:rPr lang="en-US" altLang="zh-CN" sz="2000">
                <a:sym typeface="+mn-ea"/>
              </a:rPr>
              <a:t>IN</a:t>
            </a:r>
            <a:r>
              <a:rPr lang="zh-CN" altLang="en-US" sz="2000">
                <a:sym typeface="+mn-ea"/>
              </a:rPr>
              <a:t>指令和</a:t>
            </a:r>
            <a:r>
              <a:rPr lang="en-US" altLang="zh-CN" sz="2000">
                <a:sym typeface="+mn-ea"/>
              </a:rPr>
              <a:t>OUT</a:t>
            </a:r>
            <a:r>
              <a:rPr lang="zh-CN" altLang="en-US" sz="2000">
                <a:sym typeface="+mn-ea"/>
              </a:rPr>
              <a:t>指令的使用，以及中断向量的设置和</a:t>
            </a:r>
            <a:r>
              <a:rPr lang="zh-CN" altLang="en-US" sz="2000">
                <a:sym typeface="+mn-ea"/>
              </a:rPr>
              <a:t>恢复。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掌握输入缓冲区的</a:t>
            </a:r>
            <a:r>
              <a:rPr lang="zh-CN" altLang="en-US" sz="2000">
                <a:sym typeface="+mn-ea"/>
              </a:rPr>
              <a:t>基本设计与使用</a:t>
            </a:r>
            <a:r>
              <a:rPr lang="zh-CN" altLang="en-US" sz="2000">
                <a:sym typeface="+mn-ea"/>
              </a:rPr>
              <a:t>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熟悉常规命令行程序的</a:t>
            </a:r>
            <a:r>
              <a:rPr lang="zh-CN" altLang="en-US" sz="2000">
                <a:sym typeface="+mn-ea"/>
              </a:rPr>
              <a:t>人机交互逻辑</a:t>
            </a:r>
            <a:r>
              <a:rPr lang="zh-CN" altLang="en-US" sz="2000">
                <a:sym typeface="+mn-ea"/>
              </a:rPr>
              <a:t>编写。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实验内容</a:t>
            </a:r>
            <a:r>
              <a:rPr lang="en-US" altLang="zh-CN" sz="2000"/>
              <a:t>	</a:t>
            </a:r>
            <a:r>
              <a:rPr lang="zh-CN" altLang="en-US" sz="2000"/>
              <a:t>阅读、理解、输入运行并调试第</a:t>
            </a:r>
            <a:r>
              <a:rPr lang="en-US" altLang="zh-CN" sz="2000"/>
              <a:t>70</a:t>
            </a:r>
            <a:r>
              <a:rPr lang="zh-CN" altLang="en-US" sz="2000"/>
              <a:t>页例</a:t>
            </a:r>
            <a:r>
              <a:rPr lang="en-US" altLang="zh-CN" sz="2000"/>
              <a:t>3.1</a:t>
            </a:r>
            <a:r>
              <a:rPr lang="zh-CN" altLang="en-US" sz="2000"/>
              <a:t>、第</a:t>
            </a:r>
            <a:r>
              <a:rPr lang="en-US" altLang="zh-CN" sz="2000"/>
              <a:t>78</a:t>
            </a:r>
            <a:r>
              <a:rPr lang="zh-CN" altLang="en-US" sz="2000"/>
              <a:t>页例</a:t>
            </a:r>
            <a:r>
              <a:rPr lang="en-US" altLang="zh-CN" sz="2000"/>
              <a:t>3.3</a:t>
            </a:r>
            <a:r>
              <a:rPr lang="zh-CN" altLang="en-US" sz="2000"/>
              <a:t>和第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108</a:t>
            </a:r>
            <a:r>
              <a:rPr lang="zh-CN" altLang="en-US" sz="2000"/>
              <a:t>页例</a:t>
            </a:r>
            <a:r>
              <a:rPr lang="en-US" altLang="zh-CN" sz="2000"/>
              <a:t>3.9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通过设置中断向量的方法来自定义键盘输入的中断处理程序。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熟悉在底层硬件接口的基础上，不依赖</a:t>
            </a:r>
            <a:r>
              <a:rPr lang="en-US" altLang="zh-CN" sz="2000">
                <a:sym typeface="+mn-ea"/>
              </a:rPr>
              <a:t>DOS</a:t>
            </a:r>
            <a:r>
              <a:rPr lang="zh-CN" altLang="en-US" sz="2000">
                <a:sym typeface="+mn-ea"/>
              </a:rPr>
              <a:t>编写</a:t>
            </a:r>
            <a:r>
              <a:rPr lang="zh-CN" altLang="en-US" sz="2000">
                <a:sym typeface="+mn-ea"/>
              </a:rPr>
              <a:t>输入输出程序。</a:t>
            </a:r>
            <a:endParaRPr 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实验六</a:t>
            </a:r>
            <a:r>
              <a:rPr lang="en-US" altLang="zh-CN"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9C0B15"/>
                </a:solidFill>
              </a:rPr>
              <a:t>系统调用程序设计学习（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/>
              <a:t>11</a:t>
            </a:r>
            <a:r>
              <a:rPr lang="zh-CN" altLang="en-US" sz="2000"/>
              <a:t>月</a:t>
            </a:r>
            <a:r>
              <a:rPr lang="en-US" altLang="zh-CN" sz="2000"/>
              <a:t>24</a:t>
            </a:r>
            <a:r>
              <a:rPr lang="zh-CN" altLang="en-US" sz="2000"/>
              <a:t>日</a:t>
            </a:r>
            <a:r>
              <a:rPr lang="en-US" altLang="zh-CN" sz="2000"/>
              <a:t> 周五，7-8节</a:t>
            </a:r>
            <a:endParaRPr lang="en-US" altLang="zh-CN" sz="2000"/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en-US" altLang="zh-CN" sz="2000"/>
              <a:t>实验</a:t>
            </a:r>
            <a:r>
              <a:rPr lang="zh-CN" altLang="en-US" sz="2000"/>
              <a:t>六</a:t>
            </a:r>
            <a:r>
              <a:rPr lang="en-US" altLang="zh-CN" sz="2000"/>
              <a:t>：</a:t>
            </a:r>
            <a:r>
              <a:rPr lang="zh-CN" altLang="en-US" sz="2000"/>
              <a:t>例</a:t>
            </a:r>
            <a:r>
              <a:rPr lang="en-US" altLang="zh-CN" sz="2000"/>
              <a:t>3.8</a:t>
            </a:r>
            <a:r>
              <a:rPr lang="zh-CN" altLang="en-US" sz="2000"/>
              <a:t>，</a:t>
            </a:r>
            <a:r>
              <a:rPr lang="en-US" altLang="zh-CN" sz="2000"/>
              <a:t>例4.1</a:t>
            </a:r>
            <a:endParaRPr sz="2000"/>
          </a:p>
          <a:p>
            <a:pPr>
              <a:buClrTx/>
              <a:buSzTx/>
              <a:buFontTx/>
            </a:pPr>
            <a:endParaRPr lang="en-US" altLang="zh-CN" sz="2000"/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以键盘读取文件操作为例，</a:t>
            </a:r>
            <a:r>
              <a:rPr lang="zh-CN" altLang="en-US" sz="2000">
                <a:sym typeface="+mn-ea"/>
              </a:rPr>
              <a:t>掌握进行</a:t>
            </a:r>
            <a:r>
              <a:rPr lang="en-US" altLang="zh-CN" sz="2000">
                <a:sym typeface="+mn-ea"/>
              </a:rPr>
              <a:t>BIOS</a:t>
            </a:r>
            <a:r>
              <a:rPr lang="zh-CN" altLang="en-US" sz="2000">
                <a:sym typeface="+mn-ea"/>
              </a:rPr>
              <a:t>与DOS调用的思路。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r>
              <a:rPr lang="zh-CN" altLang="en-US" sz="2000">
                <a:sym typeface="+mn-ea"/>
              </a:rPr>
              <a:t>		掌握</a:t>
            </a:r>
            <a:r>
              <a:rPr lang="en-US" altLang="zh-CN" sz="2000">
                <a:sym typeface="+mn-ea"/>
              </a:rPr>
              <a:t>DOS</a:t>
            </a:r>
            <a:r>
              <a:rPr lang="zh-CN" altLang="en-US" sz="2000">
                <a:sym typeface="+mn-ea"/>
              </a:rPr>
              <a:t>下文件的读取、写入与显示，以及使用</a:t>
            </a:r>
            <a:r>
              <a:rPr lang="en-US" altLang="zh-CN" sz="2000">
                <a:sym typeface="+mn-ea"/>
              </a:rPr>
              <a:t>BIOS</a:t>
            </a:r>
            <a:r>
              <a:rPr lang="zh-CN" altLang="en-US" sz="2000">
                <a:sym typeface="+mn-ea"/>
              </a:rPr>
              <a:t>读取键盘的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方法。掌握输入缓冲区的基本设计与使用方法；熟悉常规命令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行程序的人机交互逻辑</a:t>
            </a:r>
            <a:r>
              <a:rPr lang="zh-CN" altLang="en-US" sz="2000">
                <a:sym typeface="+mn-ea"/>
              </a:rPr>
              <a:t>编写。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实验内容</a:t>
            </a:r>
            <a:r>
              <a:rPr lang="en-US" altLang="zh-CN" sz="2000"/>
              <a:t>	</a:t>
            </a:r>
            <a:r>
              <a:rPr lang="zh-CN" altLang="en-US" sz="2000"/>
              <a:t>阅读、理解、输入运行并调试第</a:t>
            </a:r>
            <a:r>
              <a:rPr lang="en-US" altLang="zh-CN" sz="2000"/>
              <a:t>100</a:t>
            </a:r>
            <a:r>
              <a:rPr lang="zh-CN" altLang="en-US" sz="2000"/>
              <a:t>页例</a:t>
            </a:r>
            <a:r>
              <a:rPr lang="en-US" altLang="zh-CN" sz="2000"/>
              <a:t>3</a:t>
            </a:r>
            <a:r>
              <a:rPr lang="zh-CN" altLang="en-US" sz="2000"/>
              <a:t>.</a:t>
            </a:r>
            <a:r>
              <a:rPr lang="en-US" altLang="zh-CN" sz="2000"/>
              <a:t>8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/>
              <a:t>118</a:t>
            </a:r>
            <a:r>
              <a:rPr lang="zh-CN" altLang="en-US" sz="2000"/>
              <a:t>页例</a:t>
            </a:r>
            <a:r>
              <a:rPr lang="en-US" altLang="zh-CN" sz="2000"/>
              <a:t>4.1</a:t>
            </a:r>
            <a:r>
              <a:rPr lang="zh-CN" altLang="en-US" sz="2000"/>
              <a:t>。</a:t>
            </a:r>
            <a:r>
              <a:rPr lang="zh-CN" sz="2000">
                <a:sym typeface="+mn-ea"/>
              </a:rPr>
              <a:t>课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本例</a:t>
            </a:r>
            <a:r>
              <a:rPr lang="en-US" altLang="zh-CN" sz="2000">
                <a:sym typeface="+mn-ea"/>
              </a:rPr>
              <a:t>4.1</a:t>
            </a:r>
            <a:r>
              <a:rPr lang="zh-CN" altLang="en-US" sz="2000">
                <a:sym typeface="+mn-ea"/>
              </a:rPr>
              <a:t>有一个</a:t>
            </a:r>
            <a:r>
              <a:rPr lang="en-US" altLang="zh-CN" sz="2000">
                <a:sym typeface="+mn-ea"/>
              </a:rPr>
              <a:t>BUG</a:t>
            </a:r>
            <a:r>
              <a:rPr lang="zh-CN" altLang="en-US" sz="2000">
                <a:sym typeface="+mn-ea"/>
              </a:rPr>
              <a:t>，见</a:t>
            </a:r>
            <a:r>
              <a:rPr lang="en-US" altLang="zh-CN" sz="2000">
                <a:sym typeface="+mn-ea"/>
              </a:rPr>
              <a:t>“BUG</a:t>
            </a:r>
            <a:r>
              <a:rPr lang="zh-CN" altLang="en-US" sz="2000">
                <a:sym typeface="+mn-ea"/>
              </a:rPr>
              <a:t>说明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；尝试自行查找并排除该</a:t>
            </a:r>
            <a:r>
              <a:rPr lang="en-US" altLang="zh-CN" sz="2000">
                <a:sym typeface="+mn-ea"/>
              </a:rPr>
              <a:t>BUG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>
              <a:buClrTx/>
              <a:buSzTx/>
              <a:buFontTx/>
            </a:pPr>
            <a:r>
              <a:rPr lang="zh-CN" altLang="en-US" sz="2000">
                <a:sym typeface="+mn-ea"/>
              </a:rPr>
              <a:t>		通过使用</a:t>
            </a:r>
            <a:r>
              <a:rPr lang="en-US" altLang="zh-CN" sz="2000">
                <a:sym typeface="+mn-ea"/>
              </a:rPr>
              <a:t>DOS</a:t>
            </a:r>
            <a:r>
              <a:rPr lang="zh-CN" altLang="en-US" sz="2000">
                <a:sym typeface="+mn-ea"/>
              </a:rPr>
              <a:t>文件读写命令和</a:t>
            </a:r>
            <a:r>
              <a:rPr lang="en-US" altLang="zh-CN" sz="2000">
                <a:sym typeface="+mn-ea"/>
              </a:rPr>
              <a:t>BIOS</a:t>
            </a:r>
            <a:r>
              <a:rPr lang="zh-CN" altLang="en-US" sz="2000">
                <a:sym typeface="+mn-ea"/>
              </a:rPr>
              <a:t>键盘读取命令，完成程序的功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能，最终</a:t>
            </a:r>
            <a:r>
              <a:rPr lang="zh-CN" sz="2000">
                <a:sym typeface="+mn-ea"/>
              </a:rPr>
              <a:t>实现文字处理程序的基础交互逻辑。</a:t>
            </a:r>
            <a:endParaRPr lang="zh-CN" sz="2000"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本实验要求分析每个过程和宏的实现原理，并在它们的开头编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写注释说明这一点。该注释应当指明参数、返回值及其传递方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法，以及过程内部代码实现功能</a:t>
            </a:r>
            <a:r>
              <a:rPr lang="zh-CN" altLang="en-US" sz="2000">
                <a:sym typeface="+mn-ea"/>
              </a:rPr>
              <a:t>的具体</a:t>
            </a:r>
            <a:r>
              <a:rPr lang="zh-CN" altLang="en-US" sz="2000">
                <a:sym typeface="+mn-ea"/>
              </a:rPr>
              <a:t>步骤。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411720" y="935990"/>
          <a:ext cx="1548130" cy="991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746760" imgH="478155" progId="Package">
                  <p:embed/>
                </p:oleObj>
              </mc:Choice>
              <mc:Fallback>
                <p:oleObj name="" r:id="rId2" imgW="746760" imgH="47815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11720" y="935990"/>
                        <a:ext cx="1548130" cy="991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实验七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综合程序设计学习（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en-US" altLang="zh-CN" sz="2000">
                <a:sym typeface="+mn-ea"/>
              </a:rPr>
              <a:t>实验</a:t>
            </a:r>
            <a:r>
              <a:rPr lang="zh-CN" altLang="en-US" sz="2000">
                <a:sym typeface="+mn-ea"/>
              </a:rPr>
              <a:t>七</a:t>
            </a:r>
            <a:r>
              <a:rPr lang="en-US" altLang="zh-CN" sz="2000">
                <a:sym typeface="+mn-ea"/>
              </a:rPr>
              <a:t>：</a:t>
            </a:r>
            <a:r>
              <a:rPr lang="zh-CN" altLang="en-US" sz="2000">
                <a:sym typeface="+mn-ea"/>
              </a:rPr>
              <a:t>例</a:t>
            </a:r>
            <a:r>
              <a:rPr lang="en-US" altLang="zh-CN" sz="2000">
                <a:sym typeface="+mn-ea"/>
              </a:rPr>
              <a:t>2.8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掌握综合性汇编语言程序设计的</a:t>
            </a:r>
            <a:r>
              <a:rPr lang="zh-CN" altLang="en-US" sz="2000">
                <a:sym typeface="+mn-ea"/>
              </a:rPr>
              <a:t>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掌握递归算法的设计与</a:t>
            </a:r>
            <a:r>
              <a:rPr lang="zh-CN" altLang="en-US" sz="2000">
                <a:sym typeface="+mn-ea"/>
              </a:rPr>
              <a:t>汇编表示。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全面回顾前述一切实验的</a:t>
            </a:r>
            <a:r>
              <a:rPr lang="zh-CN" altLang="en-US" sz="2000">
                <a:sym typeface="+mn-ea"/>
              </a:rPr>
              <a:t>内容。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阅读、理解、输入运行并调试第</a:t>
            </a:r>
            <a:r>
              <a:rPr lang="en-US" altLang="zh-CN" sz="2000">
                <a:sym typeface="+mn-ea"/>
              </a:rPr>
              <a:t>52</a:t>
            </a:r>
            <a:r>
              <a:rPr lang="zh-CN" altLang="en-US" sz="2000">
                <a:sym typeface="+mn-ea"/>
              </a:rPr>
              <a:t>页例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.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/>
              <a:t>		</a:t>
            </a:r>
            <a:r>
              <a:rPr lang="zh-CN" altLang="en-US" sz="2000"/>
              <a:t>搞懂各个子程序的代码逻辑、入参、出参、入参和出参使用的</a:t>
            </a:r>
            <a:r>
              <a:rPr lang="en-US" altLang="zh-CN" sz="2000"/>
              <a:t>		</a:t>
            </a:r>
            <a:r>
              <a:rPr lang="zh-CN" altLang="en-US" sz="2000"/>
              <a:t>方法，尤其是寄存器法和约定内存法。评价三种方法的</a:t>
            </a:r>
            <a:r>
              <a:rPr lang="zh-CN" altLang="en-US" sz="2000"/>
              <a:t>优劣。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修改</a:t>
            </a:r>
            <a:r>
              <a:rPr lang="en-US" altLang="zh-CN" sz="2000">
                <a:sym typeface="+mn-ea"/>
              </a:rPr>
              <a:t>52</a:t>
            </a:r>
            <a:r>
              <a:rPr lang="zh-CN" altLang="en-US" sz="2000">
                <a:sym typeface="+mn-ea"/>
              </a:rPr>
              <a:t>页例</a:t>
            </a:r>
            <a:r>
              <a:rPr lang="en-US" altLang="zh-CN" sz="2000">
                <a:sym typeface="+mn-ea"/>
              </a:rPr>
              <a:t>2.8</a:t>
            </a:r>
            <a:r>
              <a:rPr lang="zh-CN" altLang="en-US" sz="2000">
                <a:sym typeface="+mn-ea"/>
              </a:rPr>
              <a:t>，使其能从</a:t>
            </a:r>
            <a:r>
              <a:rPr lang="en-US" altLang="zh-CN" sz="2000">
                <a:sym typeface="+mn-ea"/>
              </a:rPr>
              <a:t>INPUT.TXT</a:t>
            </a:r>
            <a:r>
              <a:rPr lang="zh-CN" altLang="en-US" sz="2000">
                <a:sym typeface="+mn-ea"/>
              </a:rPr>
              <a:t>中读取输入数据（盘子数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起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始轴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中间轴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最终轴），并将所有输出结果重定向到</a:t>
            </a:r>
            <a:r>
              <a:rPr lang="en-US" altLang="zh-CN" sz="2000">
                <a:sym typeface="+mn-ea"/>
              </a:rPr>
              <a:t>OUTPUT.TXT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提示：使用子程序负责输入和输出，如果命令行上有输入文件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名和输出文件名参数，则输入输出都针对文件进行。</a:t>
            </a:r>
            <a:endParaRPr 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工具链使用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1.5 输入输出程序设计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系统调用程序设计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1.7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1.8 汇编性能优化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实验八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汇编性能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优化学习（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en-US" altLang="zh-CN" sz="2000">
                <a:sym typeface="+mn-ea"/>
              </a:rPr>
              <a:t>实验</a:t>
            </a:r>
            <a:r>
              <a:rPr lang="zh-CN" altLang="en-US" sz="2000">
                <a:sym typeface="+mn-ea"/>
              </a:rPr>
              <a:t>八</a:t>
            </a:r>
            <a:r>
              <a:rPr lang="en-US" altLang="zh-CN" sz="2000">
                <a:sym typeface="+mn-ea"/>
              </a:rPr>
              <a:t>：GCC</a:t>
            </a:r>
            <a:r>
              <a:rPr lang="zh-CN" altLang="en-US" sz="2000">
                <a:sym typeface="+mn-ea"/>
              </a:rPr>
              <a:t>内联汇编优化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掌握</a:t>
            </a:r>
            <a:r>
              <a:rPr lang="en-US" altLang="zh-CN" sz="2000">
                <a:sym typeface="+mn-ea"/>
              </a:rPr>
              <a:t>AT&amp;T</a:t>
            </a:r>
            <a:r>
              <a:rPr lang="zh-CN" altLang="en-US" sz="2000">
                <a:sym typeface="+mn-ea"/>
              </a:rPr>
              <a:t>语法下的</a:t>
            </a:r>
            <a:r>
              <a:rPr lang="en-US" altLang="zh-CN" sz="2000">
                <a:sym typeface="+mn-ea"/>
              </a:rPr>
              <a:t>AMD64</a:t>
            </a:r>
            <a:r>
              <a:rPr lang="zh-CN" altLang="en-US" sz="2000">
                <a:sym typeface="+mn-ea"/>
              </a:rPr>
              <a:t>汇编</a:t>
            </a:r>
            <a:r>
              <a:rPr lang="zh-CN" altLang="en-US" sz="2000">
                <a:sym typeface="+mn-ea"/>
              </a:rPr>
              <a:t>编写。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掌握</a:t>
            </a:r>
            <a:r>
              <a:rPr lang="en-US" altLang="zh-CN" sz="2000">
                <a:sym typeface="+mn-ea"/>
              </a:rPr>
              <a:t>SIMD</a:t>
            </a:r>
            <a:r>
              <a:rPr lang="zh-CN" altLang="en-US" sz="2000">
                <a:sym typeface="+mn-ea"/>
              </a:rPr>
              <a:t>指令的使用，并对程序进行向量化</a:t>
            </a:r>
            <a:r>
              <a:rPr lang="zh-CN" altLang="en-US" sz="2000">
                <a:sym typeface="+mn-ea"/>
              </a:rPr>
              <a:t>优化。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掌握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与</a:t>
            </a:r>
            <a:r>
              <a:rPr lang="zh-CN" altLang="en-US" sz="2000">
                <a:sym typeface="+mn-ea"/>
              </a:rPr>
              <a:t>内联汇编联合编程的方法。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使用阅读、理解、输入运行并调试</a:t>
            </a:r>
            <a:r>
              <a:rPr lang="en-US" sz="2000">
                <a:sym typeface="+mn-ea"/>
              </a:rPr>
              <a:t>vector.c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使用</a:t>
            </a:r>
            <a:r>
              <a:rPr lang="en-US" altLang="zh-CN" sz="2000">
                <a:sym typeface="+mn-ea"/>
              </a:rPr>
              <a:t>mingw-w64</a:t>
            </a:r>
            <a:r>
              <a:rPr lang="zh-CN" altLang="en-US" sz="2000">
                <a:sym typeface="+mn-ea"/>
              </a:rPr>
              <a:t>作为编译器。该编译器内联汇编的语法与非内联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汇编有何不同，又与</a:t>
            </a:r>
            <a:r>
              <a:rPr lang="en-US" altLang="zh-CN" sz="2000">
                <a:sym typeface="+mn-ea"/>
              </a:rPr>
              <a:t>MASM</a:t>
            </a:r>
            <a:r>
              <a:rPr lang="zh-CN" altLang="en-US" sz="2000">
                <a:sym typeface="+mn-ea"/>
              </a:rPr>
              <a:t>有何不同</a:t>
            </a:r>
            <a:r>
              <a:rPr lang="en-US" altLang="zh-CN" sz="2000">
                <a:sym typeface="+mn-ea"/>
              </a:rPr>
              <a:t>?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内联汇编的</a:t>
            </a:r>
            <a:r>
              <a:rPr lang="en-US" altLang="zh-CN" sz="2000">
                <a:sym typeface="+mn-ea"/>
              </a:rPr>
              <a:t>clobber list(</a:t>
            </a:r>
            <a:r>
              <a:rPr lang="zh-CN" altLang="en-US" sz="2000">
                <a:sym typeface="+mn-ea"/>
              </a:rPr>
              <a:t>破坏列表</a:t>
            </a:r>
            <a:r>
              <a:rPr lang="en-US" altLang="zh-CN" sz="2000">
                <a:sym typeface="+mn-ea"/>
              </a:rPr>
              <a:t>)</a:t>
            </a:r>
            <a:r>
              <a:rPr lang="zh-CN" altLang="en-US" sz="2000">
                <a:sym typeface="+mn-ea"/>
              </a:rPr>
              <a:t>有何用途？能否不</a:t>
            </a:r>
            <a:r>
              <a:rPr lang="zh-CN" altLang="en-US" sz="2000">
                <a:sym typeface="+mn-ea"/>
              </a:rPr>
              <a:t>写？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比较并评价</a:t>
            </a:r>
            <a:r>
              <a:rPr lang="en-US" altLang="zh-CN" sz="2000">
                <a:sym typeface="+mn-ea"/>
              </a:rPr>
              <a:t>SSE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AVX2</a:t>
            </a:r>
            <a:r>
              <a:rPr lang="zh-CN" altLang="en-US" sz="2000">
                <a:sym typeface="+mn-ea"/>
              </a:rPr>
              <a:t>（与</a:t>
            </a:r>
            <a:r>
              <a:rPr lang="en-US" altLang="zh-CN" sz="2000">
                <a:sym typeface="+mn-ea"/>
              </a:rPr>
              <a:t>AVX-512</a:t>
            </a:r>
            <a:r>
              <a:rPr lang="zh-CN" altLang="en-US" sz="2000">
                <a:sym typeface="+mn-ea"/>
              </a:rPr>
              <a:t>，有条件的同学可尝试）向量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化指令的性能。能得到什么结论？为什么？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31455" y="850900"/>
          <a:ext cx="1522095" cy="1205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2" imgW="603885" imgH="478155" progId="Package">
                  <p:embed/>
                </p:oleObj>
              </mc:Choice>
              <mc:Fallback>
                <p:oleObj name="" r:id="rId2" imgW="603885" imgH="478155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31455" y="850900"/>
                        <a:ext cx="1522095" cy="1205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总则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.2 分支程序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5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输入输出程序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实践型实验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总则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锻炼分析、设计与编写实际汇编语言程序的综合能力。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要求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要求个人自行独立完成实验题目的分析、思路设计与代码撰写。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不可以代写；如有雷同当次实验记0分。</a:t>
            </a:r>
            <a:endParaRPr lang="zh-CN" altLang="en-US" sz="2000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可以携带自己的计算机完成上机实验，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没做完的实验可以回去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自行完成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报告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同样</a:t>
            </a:r>
            <a:r>
              <a:rPr lang="zh-CN" altLang="en-US" sz="2000">
                <a:sym typeface="+mn-ea"/>
              </a:rPr>
              <a:t>要求写明每个案例的实验步骤与现象，以及从现象中能够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学到什么。具体参见各个实验的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要求在实验报告中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附代码的关键部分</a:t>
            </a:r>
            <a:r>
              <a:rPr lang="zh-CN" altLang="en-US" sz="2000">
                <a:sym typeface="+mn-ea"/>
              </a:rPr>
              <a:t>（但不要把整个</a:t>
            </a:r>
            <a:r>
              <a:rPr lang="en-US" altLang="zh-CN" sz="2000">
                <a:sym typeface="+mn-ea"/>
              </a:rPr>
              <a:t>ASM</a:t>
            </a:r>
            <a:r>
              <a:rPr lang="zh-CN" altLang="en-US" sz="2000">
                <a:sym typeface="+mn-ea"/>
              </a:rPr>
              <a:t>文件流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水账一样的都粘进来，请挑重点），还要求把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每个实验的*.ASM		汇编源文件，以及其对应的*.EXE文件</a:t>
            </a:r>
            <a:r>
              <a:rPr lang="zh-CN" altLang="en-US" sz="2000">
                <a:sym typeface="+mn-ea"/>
              </a:rPr>
              <a:t>一起发给助教。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部分实验可能需要使用</a:t>
            </a:r>
            <a:r>
              <a:rPr lang="en-US" altLang="zh-CN" sz="2000">
                <a:sym typeface="+mn-ea"/>
              </a:rPr>
              <a:t>SDUOJ</a:t>
            </a:r>
            <a:r>
              <a:rPr lang="zh-CN" altLang="en-US" sz="2000">
                <a:sym typeface="+mn-ea"/>
              </a:rPr>
              <a:t>完成，到时候听通知。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实验报告提交的截止日期是考试周结束前。结束后不再接</a:t>
            </a:r>
            <a:r>
              <a:rPr lang="zh-CN" altLang="en-US" sz="2000">
                <a:sym typeface="+mn-ea"/>
              </a:rPr>
              <a:t>受。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分支程序设计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5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输入输出程序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实验九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分支程序设计实践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zh-CN" altLang="en-US" sz="2000" b="1">
                <a:solidFill>
                  <a:srgbClr val="9C0B15"/>
                </a:solidFill>
              </a:rPr>
              <a:t>2学时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15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周二，5-6节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en-US" altLang="zh-CN" sz="2000">
                <a:sym typeface="+mn-ea"/>
              </a:rPr>
              <a:t>实验九：实验</a:t>
            </a:r>
            <a:r>
              <a:rPr lang="en-US" altLang="zh-CN" sz="2000">
                <a:sym typeface="+mn-ea"/>
              </a:rPr>
              <a:t>2.3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巩固分支程序设计中所涉及的知识点。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学会在自编程序中利用分支程序设计的理论与技巧。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学会在自编程序中使用系统调用。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完成第</a:t>
            </a:r>
            <a:r>
              <a:rPr lang="en-US" altLang="zh-CN" sz="2000">
                <a:sym typeface="+mn-ea"/>
              </a:rPr>
              <a:t>33</a:t>
            </a:r>
            <a:r>
              <a:rPr lang="zh-CN" altLang="en-US" sz="2000">
                <a:sym typeface="+mn-ea"/>
              </a:rPr>
              <a:t>页实验</a:t>
            </a:r>
            <a:r>
              <a:rPr lang="en-US" altLang="zh-CN" sz="2000">
                <a:sym typeface="+mn-ea"/>
              </a:rPr>
              <a:t>2.3</a:t>
            </a:r>
            <a:r>
              <a:rPr lang="zh-CN" altLang="en-US" sz="2000">
                <a:sym typeface="+mn-ea"/>
              </a:rPr>
              <a:t>要求</a:t>
            </a:r>
            <a:r>
              <a:rPr lang="zh-CN" altLang="en-US" sz="2000">
                <a:sym typeface="+mn-ea"/>
              </a:rPr>
              <a:t>的内容。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对实验进行一定的修改，要求根据给定的框架完成程序，输入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一行字符串（长度最多100），你需要统计其中小写字母、大写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字母、数字字符和其它字符的数量。要求用数组实现，存放到</a:t>
            </a:r>
            <a:r>
              <a:rPr lang="zh-CN" altLang="en-US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数据段中的</a:t>
            </a:r>
            <a:r>
              <a:rPr lang="en-US" altLang="zh-CN" sz="2000">
                <a:sym typeface="+mn-ea"/>
              </a:rPr>
              <a:t>COUNTER</a:t>
            </a:r>
            <a:r>
              <a:rPr lang="zh-CN" altLang="en-US" sz="2000">
                <a:sym typeface="+mn-ea"/>
              </a:rPr>
              <a:t>数组中。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该程序要求提交到</a:t>
            </a:r>
            <a:r>
              <a:rPr lang="en-US" altLang="zh-CN" sz="2000">
                <a:sym typeface="+mn-ea"/>
              </a:rPr>
              <a:t>OJ</a:t>
            </a:r>
            <a:r>
              <a:rPr lang="zh-CN" altLang="en-US" sz="2000">
                <a:sym typeface="+mn-ea"/>
              </a:rPr>
              <a:t>，具体</a:t>
            </a:r>
            <a:r>
              <a:rPr lang="zh-CN" altLang="en-US" sz="2000">
                <a:sym typeface="+mn-ea"/>
              </a:rPr>
              <a:t>提交地址另行</a:t>
            </a:r>
            <a:r>
              <a:rPr lang="zh-CN" altLang="en-US" sz="2000">
                <a:sym typeface="+mn-ea"/>
              </a:rPr>
              <a:t>通知。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循环程序设计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5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输入输出程序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十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循环程序设计实践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zh-CN" altLang="en-US" sz="2000" b="1">
                <a:solidFill>
                  <a:srgbClr val="9C0B15"/>
                </a:solidFill>
              </a:rPr>
              <a:t>2学时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22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zh-CN" altLang="en-US" sz="2000">
                <a:sym typeface="+mn-ea"/>
              </a:rPr>
              <a:t>实验十：实验2.1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巩固</a:t>
            </a:r>
            <a:r>
              <a:rPr lang="zh-CN" altLang="en-US" sz="2000">
                <a:sym typeface="+mn-ea"/>
              </a:rPr>
              <a:t>循环与分支</a:t>
            </a:r>
            <a:r>
              <a:rPr lang="en-US" altLang="zh-CN" sz="2000">
                <a:sym typeface="+mn-ea"/>
              </a:rPr>
              <a:t>程序设计中所涉及的知识点。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学会在自编程序中利用</a:t>
            </a:r>
            <a:r>
              <a:rPr lang="zh-CN" altLang="en-US" sz="2000">
                <a:sym typeface="+mn-ea"/>
              </a:rPr>
              <a:t>循环</a:t>
            </a:r>
            <a:r>
              <a:rPr lang="en-US" altLang="zh-CN" sz="2000">
                <a:sym typeface="+mn-ea"/>
              </a:rPr>
              <a:t>程序设计的理论与技巧。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学会在自编程序中使用系统调用。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完成第</a:t>
            </a:r>
            <a:r>
              <a:rPr lang="en-US" altLang="zh-CN" sz="2000">
                <a:sym typeface="+mn-ea"/>
              </a:rPr>
              <a:t>19</a:t>
            </a:r>
            <a:r>
              <a:rPr lang="zh-CN" altLang="en-US" sz="2000">
                <a:sym typeface="+mn-ea"/>
              </a:rPr>
              <a:t>页实验</a:t>
            </a:r>
            <a:r>
              <a:rPr lang="en-US" altLang="zh-CN" sz="2000">
                <a:sym typeface="+mn-ea"/>
              </a:rPr>
              <a:t>2.1</a:t>
            </a:r>
            <a:r>
              <a:rPr lang="zh-CN" altLang="en-US" sz="2000">
                <a:sym typeface="+mn-ea"/>
              </a:rPr>
              <a:t>要求的内容。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对实验2.1进行一定的修改，原实验书中要求输出</a:t>
            </a:r>
            <a:r>
              <a:rPr lang="en-US" altLang="zh-CN" sz="2000">
                <a:sym typeface="+mn-ea"/>
              </a:rPr>
              <a:t>10H</a:t>
            </a:r>
            <a:r>
              <a:rPr lang="zh-CN" altLang="en-US" sz="2000">
                <a:sym typeface="+mn-ea"/>
              </a:rPr>
              <a:t>到</a:t>
            </a:r>
            <a:r>
              <a:rPr lang="en-US" altLang="zh-CN" sz="2000">
                <a:sym typeface="+mn-ea"/>
              </a:rPr>
              <a:t>100H</a:t>
            </a:r>
            <a:r>
              <a:rPr lang="zh-CN" altLang="en-US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范围的字符，现在改为</a:t>
            </a:r>
            <a:r>
              <a:rPr lang="en-US" altLang="zh-CN" sz="2000">
                <a:sym typeface="+mn-ea"/>
              </a:rPr>
              <a:t>021H</a:t>
            </a:r>
            <a:r>
              <a:rPr lang="zh-CN" altLang="en-US" sz="2000">
                <a:sym typeface="+mn-ea"/>
              </a:rPr>
              <a:t> 到</a:t>
            </a:r>
            <a:r>
              <a:rPr lang="en-US" altLang="zh-CN" sz="2000">
                <a:sym typeface="+mn-ea"/>
              </a:rPr>
              <a:t>0FCH</a:t>
            </a:r>
            <a:r>
              <a:rPr lang="zh-CN" altLang="en-US" sz="2000">
                <a:sym typeface="+mn-ea"/>
              </a:rPr>
              <a:t> 范围，要求按</a:t>
            </a:r>
            <a:r>
              <a:rPr lang="en-US" altLang="zh-CN" sz="2000">
                <a:sym typeface="+mn-ea"/>
              </a:rPr>
              <a:t>11</a:t>
            </a:r>
            <a:r>
              <a:rPr lang="zh-CN" altLang="en-US" sz="2000">
                <a:sym typeface="+mn-ea"/>
              </a:rPr>
              <a:t>行×</a:t>
            </a:r>
            <a:r>
              <a:rPr lang="en-US" altLang="zh-CN" sz="2000">
                <a:sym typeface="+mn-ea"/>
              </a:rPr>
              <a:t>20</a:t>
            </a:r>
            <a:r>
              <a:rPr lang="zh-CN" altLang="en-US" sz="2000">
                <a:sym typeface="+mn-ea"/>
              </a:rPr>
              <a:t>列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的表格形式显示。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程序要求提交到</a:t>
            </a:r>
            <a:r>
              <a:rPr lang="en-US" altLang="zh-CN" sz="2000">
                <a:sym typeface="+mn-ea"/>
              </a:rPr>
              <a:t>OJ</a:t>
            </a:r>
            <a:r>
              <a:rPr lang="zh-CN" altLang="en-US" sz="2000">
                <a:sym typeface="+mn-ea"/>
              </a:rPr>
              <a:t>，具体提交地址另行通知。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子程序设计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5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输入输出程序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实验十一 过程与宏程序设计实践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zh-CN" altLang="en-US" sz="2000" b="1">
                <a:solidFill>
                  <a:srgbClr val="9C0B15"/>
                </a:solidFill>
              </a:rPr>
              <a:t>2学时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29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周二，5-6节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en-US" altLang="zh-CN" sz="2000">
                <a:sym typeface="+mn-ea"/>
              </a:rPr>
              <a:t>实验十一：实验2.4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巩固</a:t>
            </a:r>
            <a:r>
              <a:rPr lang="zh-CN" altLang="en-US" sz="2000">
                <a:sym typeface="+mn-ea"/>
              </a:rPr>
              <a:t>子</a:t>
            </a:r>
            <a:r>
              <a:rPr lang="en-US" altLang="zh-CN" sz="2000">
                <a:sym typeface="+mn-ea"/>
              </a:rPr>
              <a:t>程序设计中所涉及的知识点。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学会在自编程序中利用</a:t>
            </a:r>
            <a:r>
              <a:rPr lang="zh-CN" altLang="en-US" sz="2000">
                <a:sym typeface="+mn-ea"/>
              </a:rPr>
              <a:t>子</a:t>
            </a:r>
            <a:r>
              <a:rPr lang="en-US" altLang="zh-CN" sz="2000">
                <a:sym typeface="+mn-ea"/>
              </a:rPr>
              <a:t>程序设计的理论与技巧。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学会在自编程序中使用系统调用和简单的</a:t>
            </a:r>
            <a:r>
              <a:rPr lang="zh-CN" altLang="en-US" sz="2000">
                <a:sym typeface="+mn-ea"/>
              </a:rPr>
              <a:t>表格数据结构。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完成第67页实验2.4要求的内容。为了降低难度，我们约定，不		存在对于一个人名对应多个电话号码的情况，也不要求对电话		号码按人名排序。不过，在用户不要求查号后，需要输出排序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后的名字和</a:t>
            </a:r>
            <a:r>
              <a:rPr lang="zh-CN" altLang="en-US" sz="2000">
                <a:sym typeface="+mn-ea"/>
              </a:rPr>
              <a:t>电话号码。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程序要求提交到</a:t>
            </a:r>
            <a:r>
              <a:rPr lang="en-US" altLang="zh-CN" sz="2000">
                <a:sym typeface="+mn-ea"/>
              </a:rPr>
              <a:t>OJ</a:t>
            </a:r>
            <a:r>
              <a:rPr lang="zh-CN" altLang="en-US" sz="2000">
                <a:sym typeface="+mn-ea"/>
              </a:rPr>
              <a:t>，具体提交地址另行通知。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输入输出程序设计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汇编性能优化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实验十二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输入输出程序设计实践（</a:t>
            </a:r>
            <a:r>
              <a:rPr lang="en-US" altLang="zh-CN" sz="2000" b="1">
                <a:solidFill>
                  <a:srgbClr val="9C0B15"/>
                </a:solidFill>
              </a:rPr>
              <a:t>2</a:t>
            </a:r>
            <a:r>
              <a:rPr lang="zh-CN" altLang="en-US" sz="2000" b="1">
                <a:solidFill>
                  <a:srgbClr val="9C0B15"/>
                </a:solidFill>
              </a:rPr>
              <a:t>学时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en-US" altLang="zh-CN" sz="2000">
                <a:sym typeface="+mn-ea"/>
              </a:rPr>
              <a:t>实验十二：</a:t>
            </a:r>
            <a:r>
              <a:rPr lang="zh-CN" altLang="en-US" sz="2000">
                <a:sym typeface="+mn-ea"/>
              </a:rPr>
              <a:t>实验</a:t>
            </a:r>
            <a:r>
              <a:rPr lang="en-US" altLang="zh-CN" sz="2000">
                <a:sym typeface="+mn-ea"/>
              </a:rPr>
              <a:t>3</a:t>
            </a:r>
            <a:r>
              <a:rPr lang="en-US" altLang="zh-CN" sz="2000">
                <a:sym typeface="+mn-ea"/>
              </a:rPr>
              <a:t>.1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巩固</a:t>
            </a:r>
            <a:r>
              <a:rPr lang="zh-CN" altLang="en-US" sz="2000">
                <a:sym typeface="+mn-ea"/>
              </a:rPr>
              <a:t>输入输出</a:t>
            </a:r>
            <a:r>
              <a:rPr lang="en-US" altLang="zh-CN" sz="2000">
                <a:sym typeface="+mn-ea"/>
              </a:rPr>
              <a:t>程序设计中所涉及的知识点。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完成第</a:t>
            </a:r>
            <a:r>
              <a:rPr lang="en-US" altLang="zh-CN" sz="2000">
                <a:sym typeface="+mn-ea"/>
              </a:rPr>
              <a:t>74</a:t>
            </a:r>
            <a:r>
              <a:rPr lang="zh-CN" altLang="en-US" sz="2000">
                <a:sym typeface="+mn-ea"/>
              </a:rPr>
              <a:t>页实验</a:t>
            </a:r>
            <a:r>
              <a:rPr lang="en-US" altLang="zh-CN" sz="2000">
                <a:sym typeface="+mn-ea"/>
              </a:rPr>
              <a:t>3.1</a:t>
            </a:r>
            <a:r>
              <a:rPr lang="zh-CN" altLang="en-US" sz="2000">
                <a:sym typeface="+mn-ea"/>
              </a:rPr>
              <a:t>要求的内容。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实验</a:t>
            </a:r>
            <a:r>
              <a:rPr lang="en-US" altLang="zh-CN" sz="2000">
                <a:sym typeface="+mn-ea"/>
              </a:rPr>
              <a:t>3.1</a:t>
            </a:r>
            <a:r>
              <a:rPr lang="zh-CN" altLang="en-US" sz="2000">
                <a:sym typeface="+mn-ea"/>
              </a:rPr>
              <a:t>不要求提交到</a:t>
            </a:r>
            <a:r>
              <a:rPr lang="en-US" altLang="zh-CN" sz="2000">
                <a:sym typeface="+mn-ea"/>
              </a:rPr>
              <a:t>OJ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一、学习型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二、实践型实验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分支程序设计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循环程序设计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子程序设计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5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输入输出程序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设计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综合程序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设计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2.7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汇编性能优化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 2023.10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实验十三 汇编性能优化实践（选学）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实验时间	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9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周二，5-6节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16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周二，5-6节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19</a:t>
            </a:r>
            <a:r>
              <a:rPr lang="zh-CN" altLang="en-US" sz="2000">
                <a:sym typeface="+mn-ea"/>
              </a:rPr>
              <a:t>日</a:t>
            </a:r>
            <a:r>
              <a:rPr lang="en-US" altLang="zh-CN" sz="2000">
                <a:sym typeface="+mn-ea"/>
              </a:rPr>
              <a:t> 周五，7-8节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实验标题	</a:t>
            </a:r>
            <a:r>
              <a:rPr lang="zh-CN" altLang="en-US" sz="2000">
                <a:sym typeface="+mn-ea"/>
              </a:rPr>
              <a:t>实验十</a:t>
            </a:r>
            <a:r>
              <a:rPr lang="zh-CN" altLang="en-US" sz="2000">
                <a:sym typeface="+mn-ea"/>
              </a:rPr>
              <a:t>三</a:t>
            </a:r>
            <a:r>
              <a:rPr lang="zh-CN" altLang="en-US" sz="2000">
                <a:sym typeface="+mn-ea"/>
              </a:rPr>
              <a:t>：矩阵乘法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掌握汇编向量化优化方法。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实验内容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待定。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TIMING" val="|0.6|0.8|1.2|0.9|0.6|1.1|0.7|0.6|0.8|0.4|1"/>
</p:tagLst>
</file>

<file path=ppt/tags/tag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.xml><?xml version="1.0" encoding="utf-8"?>
<p:tagLst xmlns:p="http://schemas.openxmlformats.org/presentationml/2006/main">
  <p:tag name="TIMING" val="|0.6|0.8|1.2|0.9|0.6|1.1|0.7|0.6|0.8|0.4|1"/>
</p:tagLst>
</file>

<file path=ppt/tags/tag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.xml><?xml version="1.0" encoding="utf-8"?>
<p:tagLst xmlns:p="http://schemas.openxmlformats.org/presentationml/2006/main">
  <p:tag name="TIMING" val="|0.6|0.8|1.2|0.9|0.6|1.1|0.7|0.6|0.8|0.4|1"/>
</p:tagLst>
</file>

<file path=ppt/tags/tag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.xml><?xml version="1.0" encoding="utf-8"?>
<p:tagLst xmlns:p="http://schemas.openxmlformats.org/presentationml/2006/main">
  <p:tag name="TIMING" val="|0.6|0.8|1.2|0.9|0.6|1.1|0.7|0.6|0.8|0.4|1"/>
</p:tagLst>
</file>

<file path=ppt/tags/tag1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1.xml><?xml version="1.0" encoding="utf-8"?>
<p:tagLst xmlns:p="http://schemas.openxmlformats.org/presentationml/2006/main">
  <p:tag name="TIMING" val="|0.6|0.8|1.2|0.9|0.6|1.1|0.7|0.6|0.8|0.4|1"/>
</p:tagLst>
</file>

<file path=ppt/tags/tag1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.xml><?xml version="1.0" encoding="utf-8"?>
<p:tagLst xmlns:p="http://schemas.openxmlformats.org/presentationml/2006/main">
  <p:tag name="TIMING" val="|0.6|0.8|1.2|0.9|0.6|1.1|0.7|0.6|0.8|0.4|1"/>
</p:tagLst>
</file>

<file path=ppt/tags/tag1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.xml><?xml version="1.0" encoding="utf-8"?>
<p:tagLst xmlns:p="http://schemas.openxmlformats.org/presentationml/2006/main">
  <p:tag name="TIMING" val="|0.6|0.8|1.2|0.9|0.6|1.1|0.7|0.6|0.8|0.4|1"/>
</p:tagLst>
</file>

<file path=ppt/tags/tag1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.xml><?xml version="1.0" encoding="utf-8"?>
<p:tagLst xmlns:p="http://schemas.openxmlformats.org/presentationml/2006/main">
  <p:tag name="TIMING" val="|0.6|0.8|1.2|0.9|0.6|1.1|0.7|0.6|0.8|0.4|1"/>
</p:tagLst>
</file>

<file path=ppt/tags/tag1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9.xml><?xml version="1.0" encoding="utf-8"?>
<p:tagLst xmlns:p="http://schemas.openxmlformats.org/presentationml/2006/main">
  <p:tag name="TIMING" val="|0.6|0.8|1.2|0.9|0.6|1.1|0.7|0.6|0.8|0.4|1"/>
</p:tagLst>
</file>

<file path=ppt/tags/tag2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1.xml><?xml version="1.0" encoding="utf-8"?>
<p:tagLst xmlns:p="http://schemas.openxmlformats.org/presentationml/2006/main">
  <p:tag name="TIMING" val="|0.6|0.8|1.2|0.9|0.6|1.1|0.7|0.6|0.8|0.4|1"/>
</p:tagLst>
</file>

<file path=ppt/tags/tag2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.xml><?xml version="1.0" encoding="utf-8"?>
<p:tagLst xmlns:p="http://schemas.openxmlformats.org/presentationml/2006/main">
  <p:tag name="TIMING" val="|0.6|0.8|1.2|0.9|0.6|1.1|0.7|0.6|0.8|0.4|1"/>
</p:tagLst>
</file>

<file path=ppt/tags/tag2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.xml><?xml version="1.0" encoding="utf-8"?>
<p:tagLst xmlns:p="http://schemas.openxmlformats.org/presentationml/2006/main">
  <p:tag name="TIMING" val="|0.6|0.8|1.2|0.9|0.6|1.1|0.7|0.6|0.8|0.4|1"/>
</p:tagLst>
</file>

<file path=ppt/tags/tag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7.xml><?xml version="1.0" encoding="utf-8"?>
<p:tagLst xmlns:p="http://schemas.openxmlformats.org/presentationml/2006/main">
  <p:tag name="TIMING" val="|0.6|0.8|1.2|0.9|0.6|1.1|0.7|0.6|0.8|0.4|1"/>
</p:tagLst>
</file>

<file path=ppt/tags/tag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.xml><?xml version="1.0" encoding="utf-8"?>
<p:tagLst xmlns:p="http://schemas.openxmlformats.org/presentationml/2006/main">
  <p:tag name="TIMING" val="|0.6|0.8|1.2|0.9|0.6|1.1|0.7|0.6|0.8|0.4|1"/>
</p:tagLst>
</file>

<file path=ppt/tags/tag3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.xml><?xml version="1.0" encoding="utf-8"?>
<p:tagLst xmlns:p="http://schemas.openxmlformats.org/presentationml/2006/main">
  <p:tag name="TIMING" val="|0.6|0.8|1.2|0.9|0.6|1.1|0.7|0.6|0.8|0.4|1"/>
</p:tagLst>
</file>

<file path=ppt/tags/tag32.xml><?xml version="1.0" encoding="utf-8"?>
<p:tagLst xmlns:p="http://schemas.openxmlformats.org/presentationml/2006/main">
  <p:tag name="COMMONDATA" val="eyJoZGlkIjoiMGIzNTk4MTE4NzE5MzFiZDNkNTYxZmQ3NzQ5NWU5NTMifQ=="/>
  <p:tag name="KSO_WPP_MARK_KEY" val="1e35f616-8349-4726-8d53-de912374e879"/>
  <p:tag name="commondata" val="eyJoZGlkIjoiNGY1OTNlYzdlMWQ2NDQ3ODU2NzFhYmIzMTgyYzM0ZG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5733</Words>
  <Application>WPS 演示</Application>
  <PresentationFormat>宽屏</PresentationFormat>
  <Paragraphs>628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等线</vt:lpstr>
      <vt:lpstr>华文楷体</vt:lpstr>
      <vt:lpstr>微软雅黑</vt:lpstr>
      <vt:lpstr>思源黑体 CN Regular</vt:lpstr>
      <vt:lpstr>纤黑体</vt:lpstr>
      <vt:lpstr>黑体</vt:lpstr>
      <vt:lpstr>Arial Unicode MS</vt:lpstr>
      <vt:lpstr>Office 主题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1901</cp:revision>
  <dcterms:created xsi:type="dcterms:W3CDTF">2020-07-23T10:11:00Z</dcterms:created>
  <dcterms:modified xsi:type="dcterms:W3CDTF">2024-10-14T05:52:20Z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5A1EE12111F04212A09581045797DBEA</vt:lpwstr>
  </property>
</Properties>
</file>