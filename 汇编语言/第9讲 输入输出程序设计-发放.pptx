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256" r:id="rId3"/>
    <p:sldId id="4875" r:id="rId5"/>
    <p:sldId id="4885" r:id="rId6"/>
    <p:sldId id="4886" r:id="rId7"/>
    <p:sldId id="4887" r:id="rId8"/>
    <p:sldId id="4888" r:id="rId9"/>
    <p:sldId id="4889" r:id="rId10"/>
    <p:sldId id="4890" r:id="rId11"/>
    <p:sldId id="4897" r:id="rId12"/>
    <p:sldId id="4898" r:id="rId13"/>
    <p:sldId id="4891" r:id="rId14"/>
    <p:sldId id="4912" r:id="rId15"/>
    <p:sldId id="4907" r:id="rId16"/>
    <p:sldId id="4909" r:id="rId17"/>
    <p:sldId id="4910" r:id="rId18"/>
    <p:sldId id="4911" r:id="rId19"/>
    <p:sldId id="4929" r:id="rId20"/>
    <p:sldId id="4908" r:id="rId21"/>
    <p:sldId id="4906" r:id="rId22"/>
    <p:sldId id="4900" r:id="rId23"/>
    <p:sldId id="4901" r:id="rId24"/>
    <p:sldId id="4902" r:id="rId25"/>
    <p:sldId id="4931" r:id="rId26"/>
    <p:sldId id="4932" r:id="rId27"/>
    <p:sldId id="4933" r:id="rId28"/>
    <p:sldId id="4892" r:id="rId29"/>
    <p:sldId id="4903" r:id="rId30"/>
    <p:sldId id="4904" r:id="rId31"/>
    <p:sldId id="4905" r:id="rId32"/>
    <p:sldId id="4893" r:id="rId33"/>
    <p:sldId id="4934" r:id="rId34"/>
    <p:sldId id="4935" r:id="rId35"/>
    <p:sldId id="4894" r:id="rId36"/>
    <p:sldId id="4936" r:id="rId37"/>
    <p:sldId id="4937" r:id="rId38"/>
    <p:sldId id="4938" r:id="rId39"/>
    <p:sldId id="4856" r:id="rId40"/>
    <p:sldId id="4952" r:id="rId41"/>
  </p:sldIdLst>
  <p:sldSz cx="12192000" cy="6858000"/>
  <p:notesSz cx="6858000" cy="9144000"/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4" userDrawn="1">
          <p15:clr>
            <a:srgbClr val="A4A3A4"/>
          </p15:clr>
        </p15:guide>
        <p15:guide id="2" pos="39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妍洁" initials="王妍洁" lastIdx="3" clrIdx="0"/>
  <p:cmAuthor id="2" name="Administrat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0B15"/>
    <a:srgbClr val="D02F35"/>
    <a:srgbClr val="CD858A"/>
    <a:srgbClr val="8BA8DB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108" y="36"/>
      </p:cViewPr>
      <p:guideLst>
        <p:guide orient="horz" pos="2294"/>
        <p:guide pos="39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7" Type="http://schemas.openxmlformats.org/officeDocument/2006/relationships/tags" Target="tags/tag87.xml"/><Relationship Id="rId46" Type="http://schemas.openxmlformats.org/officeDocument/2006/relationships/commentAuthors" Target="commentAuthors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2" name="圆: 空心 11"/>
          <p:cNvSpPr/>
          <p:nvPr userDrawn="1"/>
        </p:nvSpPr>
        <p:spPr>
          <a:xfrm>
            <a:off x="11604170" y="6385918"/>
            <a:ext cx="1248229" cy="1248229"/>
          </a:xfrm>
          <a:prstGeom prst="donut">
            <a:avLst>
              <a:gd name="adj" fmla="val 21798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>
                <a:latin typeface="Calibri" panose="020F0502020204030204" charset="0"/>
                <a:ea typeface="等线" panose="02010600030101010101" charset="-122"/>
                <a:cs typeface="+mn-cs"/>
              </a:rPr>
            </a:fld>
            <a:endParaRPr lang="en-US" altLang="zh-CN" strike="noStrike" noProof="1">
              <a:ea typeface="等线" panose="02010600030101010101" charset="-122"/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9.xml"/><Relationship Id="rId2" Type="http://schemas.openxmlformats.org/officeDocument/2006/relationships/image" Target="../media/image6.png"/><Relationship Id="rId1" Type="http://schemas.openxmlformats.org/officeDocument/2006/relationships/tags" Target="../tags/tag1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.xml"/><Relationship Id="rId3" Type="http://schemas.openxmlformats.org/officeDocument/2006/relationships/image" Target="../media/image7.png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6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tags" Target="../tags/tag25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8.xml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tags" Target="../tags/tag2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35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tags" Target="../tags/tag34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6.xml"/><Relationship Id="rId3" Type="http://schemas.openxmlformats.org/officeDocument/2006/relationships/image" Target="../media/image6.png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50.xml"/><Relationship Id="rId2" Type="http://schemas.openxmlformats.org/officeDocument/2006/relationships/image" Target="../media/image12.png"/><Relationship Id="rId1" Type="http://schemas.openxmlformats.org/officeDocument/2006/relationships/tags" Target="../tags/tag49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2.xml"/><Relationship Id="rId2" Type="http://schemas.openxmlformats.org/officeDocument/2006/relationships/image" Target="../media/image6.png"/><Relationship Id="rId1" Type="http://schemas.openxmlformats.org/officeDocument/2006/relationships/tags" Target="../tags/tag61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13.png"/><Relationship Id="rId1" Type="http://schemas.openxmlformats.org/officeDocument/2006/relationships/tags" Target="../tags/tag63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7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8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tags" Target="../tags/tag83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9712960" y="-2204720"/>
            <a:ext cx="11268075" cy="11268075"/>
          </a:xfrm>
          <a:prstGeom prst="ellipse">
            <a:avLst/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: 空心 9"/>
          <p:cNvSpPr/>
          <p:nvPr/>
        </p:nvSpPr>
        <p:spPr>
          <a:xfrm>
            <a:off x="571500" y="6216650"/>
            <a:ext cx="1282700" cy="1282700"/>
          </a:xfrm>
          <a:prstGeom prst="donut">
            <a:avLst>
              <a:gd name="adj" fmla="val 17079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533368" y="-314812"/>
            <a:ext cx="584775" cy="58477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34036" y="2450322"/>
            <a:ext cx="8754538" cy="156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48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汇编语言</a:t>
            </a:r>
            <a:endParaRPr lang="zh-CN" altLang="en-US" sz="4800" b="1" spc="3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输入输出</a:t>
            </a: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程序设计（</a:t>
            </a:r>
            <a:r>
              <a:rPr lang="en-US" altLang="zh-CN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1</a:t>
            </a: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学时）</a:t>
            </a:r>
            <a:endParaRPr lang="zh-CN" altLang="en-US" sz="3200" b="1" spc="3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1966595" y="4857750"/>
            <a:ext cx="2438400" cy="405130"/>
          </a:xfrm>
          <a:prstGeom prst="roundRect">
            <a:avLst>
              <a:gd name="adj" fmla="val 50000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主讲人</a:t>
            </a:r>
            <a:r>
              <a:rPr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：</a:t>
            </a:r>
            <a:r>
              <a:rPr 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潘润宇</a:t>
            </a:r>
            <a:endParaRPr lang="zh-CN" sz="2000" b="1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4633595" y="4857750"/>
            <a:ext cx="3055620" cy="405130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时间：</a:t>
            </a:r>
            <a:r>
              <a:rPr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202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</a:t>
            </a:r>
            <a:r>
              <a:rPr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年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秋季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学期</a:t>
            </a:r>
            <a:endParaRPr lang="zh-CN" altLang="en-US" sz="2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276860" y="429895"/>
            <a:ext cx="3893820" cy="102870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5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1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2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5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6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7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6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8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8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sp>
        <p:nvSpPr>
          <p:cNvPr id="57" name="文本框 56"/>
          <p:cNvSpPr txBox="1"/>
          <p:nvPr/>
        </p:nvSpPr>
        <p:spPr>
          <a:xfrm>
            <a:off x="1367155" y="4196715"/>
            <a:ext cx="66681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>
                <a:solidFill>
                  <a:srgbClr val="9C0B15"/>
                </a:solidFill>
                <a:latin typeface="华文楷体" panose="02010600040101010101" charset="-122"/>
                <a:ea typeface="华文楷体" panose="02010600040101010101" charset="-122"/>
              </a:rPr>
              <a:t>千载文脉凝风骨，根植山大盛芳华</a:t>
            </a:r>
            <a:endParaRPr lang="zh-CN" altLang="en-US" b="1">
              <a:solidFill>
                <a:srgbClr val="9C0B15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5454" t="16281" r="18136" b="20815"/>
          <a:stretch>
            <a:fillRect/>
          </a:stretch>
        </p:blipFill>
        <p:spPr>
          <a:xfrm>
            <a:off x="7983855" y="0"/>
            <a:ext cx="1918335" cy="1744345"/>
          </a:xfrm>
          <a:prstGeom prst="ellipse">
            <a:avLst/>
          </a:prstGeom>
        </p:spPr>
      </p:pic>
    </p:spTree>
    <p:custDataLst>
      <p:tags r:id="rId2"/>
    </p:custData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基础知识回顾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汇编编程</a:t>
            </a:r>
            <a:r>
              <a:rPr lang="zh-CN" altLang="en-US" sz="2000" b="1">
                <a:solidFill>
                  <a:srgbClr val="9C0B15"/>
                </a:solidFill>
              </a:rPr>
              <a:t>流程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流程特点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>
                <a:sym typeface="+mn-ea"/>
              </a:rPr>
              <a:t>汇编程序与高级语言程序不同，其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抽象性低、细节繁琐、容易		出错</a:t>
            </a:r>
            <a:r>
              <a:rPr lang="zh-CN" altLang="en-US" sz="2000">
                <a:sym typeface="+mn-ea"/>
              </a:rPr>
              <a:t>，因此在编写程序时，必须先做好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全局规划</a:t>
            </a:r>
            <a:r>
              <a:rPr lang="zh-CN" altLang="en-US" sz="2000">
                <a:sym typeface="+mn-ea"/>
              </a:rPr>
              <a:t>，不能想到哪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写到哪。想到哪写到哪，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写到一半可能整个程序都要推倒重来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得不偿失。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需求分析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正确理解工程或题目的需求</a:t>
            </a:r>
            <a:r>
              <a:rPr lang="zh-CN" altLang="en-US" sz="2000">
                <a:sym typeface="+mn-ea"/>
              </a:rPr>
              <a:t>是一切的先决条件。对题意的理解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错误会导致整体编程思路跑偏，编程思路跑偏会导致写出来程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序白写，或者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过不了OJ测试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流程设计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汇编程序中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没有明显的流程控制结构</a:t>
            </a:r>
            <a:r>
              <a:rPr lang="zh-CN" altLang="en-US" sz="2000">
                <a:sym typeface="+mn-ea"/>
              </a:rPr>
              <a:t>，只有一些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控制转移指令</a:t>
            </a:r>
            <a:r>
              <a:rPr lang="zh-CN" altLang="en-US" sz="2000">
                <a:sym typeface="+mn-ea"/>
              </a:rPr>
              <a:t>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这意味着，要一眼看出一个汇编程序的执行流程是困难的，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要		直接编程写出执行流程也是困难的</a:t>
            </a:r>
            <a:r>
              <a:rPr lang="zh-CN" altLang="en-US" sz="2000">
                <a:sym typeface="+mn-ea"/>
              </a:rPr>
              <a:t>，直接写很可能写乱。因此，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可以考虑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先画出整个程序的流程图</a:t>
            </a:r>
            <a:r>
              <a:rPr lang="zh-CN" altLang="en-US" sz="2000">
                <a:sym typeface="+mn-ea"/>
              </a:rPr>
              <a:t>，或者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用C语言编写伪代码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然后再把流程图按图索骥转化成</a:t>
            </a:r>
            <a:r>
              <a:rPr lang="zh-CN" altLang="en-US" sz="2000">
                <a:sym typeface="+mn-ea"/>
              </a:rPr>
              <a:t>等价汇编</a:t>
            </a:r>
            <a:r>
              <a:rPr lang="zh-CN" altLang="en-US" sz="2000">
                <a:sym typeface="+mn-ea"/>
              </a:rPr>
              <a:t>代码。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模块测试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整个程序可能较长，出错不容易查找。此时可以将程序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分模块		编写、分模块测试</a:t>
            </a:r>
            <a:r>
              <a:rPr lang="zh-CN" altLang="en-US" sz="2000">
                <a:sym typeface="+mn-ea"/>
              </a:rPr>
              <a:t>，然后最后再组装成一个完整的程序进行测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试。尤其在没有调试器时，</a:t>
            </a:r>
            <a:r>
              <a:rPr lang="zh-CN" altLang="en-US" sz="2000">
                <a:sym typeface="+mn-ea"/>
              </a:rPr>
              <a:t>分模块测试是很有效的</a:t>
            </a:r>
            <a:r>
              <a:rPr lang="zh-CN" altLang="en-US" sz="2000">
                <a:sym typeface="+mn-ea"/>
              </a:rPr>
              <a:t>手段。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圆角矩形 81"/>
          <p:cNvSpPr/>
          <p:nvPr/>
        </p:nvSpPr>
        <p:spPr>
          <a:xfrm>
            <a:off x="4129405" y="2066925"/>
            <a:ext cx="5096510" cy="815975"/>
          </a:xfrm>
          <a:prstGeom prst="roundRect">
            <a:avLst/>
          </a:prstGeom>
          <a:solidFill>
            <a:srgbClr val="D02F35">
              <a:alpha val="25000"/>
            </a:srgbClr>
          </a:solidFill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5756275" y="3114040"/>
            <a:ext cx="3469640" cy="1645920"/>
          </a:xfrm>
          <a:prstGeom prst="roundRect">
            <a:avLst/>
          </a:prstGeom>
          <a:solidFill>
            <a:srgbClr val="D02F35">
              <a:alpha val="25000"/>
            </a:srgbClr>
          </a:solidFill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4129405" y="3114040"/>
            <a:ext cx="1527810" cy="1645920"/>
          </a:xfrm>
          <a:prstGeom prst="roundRect">
            <a:avLst/>
          </a:prstGeom>
          <a:solidFill>
            <a:srgbClr val="D02F35">
              <a:alpha val="25000"/>
            </a:srgbClr>
          </a:solidFill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7805" y="576580"/>
            <a:ext cx="282321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9C0B15"/>
                </a:solidFill>
              </a:rPr>
              <a:t>软件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>
                <a:solidFill>
                  <a:srgbClr val="9C0B15"/>
                </a:solidFill>
              </a:rPr>
              <a:t>运行、组织、管理、维护</a:t>
            </a:r>
            <a:r>
              <a:rPr lang="zh-CN" altLang="en-US" sz="2000"/>
              <a:t>机电设备和物理机制所使用的程序</a:t>
            </a:r>
            <a:r>
              <a:rPr lang="zh-CN" altLang="en-US" sz="2000">
                <a:sym typeface="+mn-ea"/>
              </a:rPr>
              <a:t>。主要包括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系统软件</a:t>
            </a:r>
            <a:r>
              <a:rPr lang="zh-CN" altLang="en-US" sz="2000">
                <a:sym typeface="+mn-ea"/>
              </a:rPr>
              <a:t>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用户软件</a:t>
            </a:r>
            <a:r>
              <a:rPr lang="zh-CN" altLang="en-US" sz="2000">
                <a:sym typeface="+mn-ea"/>
              </a:rPr>
              <a:t>。在工程实现中，一般分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主板固件</a:t>
            </a:r>
            <a:r>
              <a:rPr lang="zh-CN" altLang="en-US" sz="2000">
                <a:sym typeface="+mn-ea"/>
              </a:rPr>
              <a:t>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操作系统</a:t>
            </a:r>
            <a:r>
              <a:rPr lang="zh-CN" altLang="en-US" sz="2000">
                <a:sym typeface="+mn-ea"/>
              </a:rPr>
              <a:t>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中间件</a:t>
            </a:r>
            <a:r>
              <a:rPr lang="zh-CN" altLang="en-US" sz="2000">
                <a:sym typeface="+mn-ea"/>
              </a:rPr>
              <a:t>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应用程序</a:t>
            </a:r>
            <a:r>
              <a:rPr lang="zh-CN" altLang="en-US" sz="2000">
                <a:sym typeface="+mn-ea"/>
              </a:rPr>
              <a:t>四个</a:t>
            </a:r>
            <a:r>
              <a:rPr lang="zh-CN" altLang="en-US" sz="2000">
                <a:sym typeface="+mn-ea"/>
              </a:rPr>
              <a:t>主要部分。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硬件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机电设备、物理机制</a:t>
            </a:r>
            <a:r>
              <a:rPr lang="zh-CN" altLang="en-US" sz="2000">
                <a:sym typeface="+mn-ea"/>
              </a:rPr>
              <a:t>，包</a:t>
            </a:r>
            <a:r>
              <a:rPr lang="zh-CN" altLang="en-US" sz="2000">
                <a:sym typeface="+mn-ea"/>
              </a:rPr>
              <a:t>括电路板、机箱机柜、连接件等。主要包括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运算器</a:t>
            </a:r>
            <a:r>
              <a:rPr lang="zh-CN" altLang="en-US" sz="2000">
                <a:sym typeface="+mn-ea"/>
              </a:rPr>
              <a:t>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控制器</a:t>
            </a:r>
            <a:r>
              <a:rPr lang="zh-CN" altLang="en-US" sz="2000">
                <a:sym typeface="+mn-ea"/>
              </a:rPr>
              <a:t>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存储器</a:t>
            </a:r>
            <a:r>
              <a:rPr lang="zh-CN" altLang="en-US" sz="2000">
                <a:sym typeface="+mn-ea"/>
              </a:rPr>
              <a:t>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输入设备</a:t>
            </a:r>
            <a:r>
              <a:rPr lang="zh-CN" altLang="en-US" sz="2000">
                <a:sym typeface="+mn-ea"/>
              </a:rPr>
              <a:t>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输出设备</a:t>
            </a:r>
            <a:r>
              <a:rPr lang="zh-CN" altLang="en-US" sz="2000">
                <a:sym typeface="+mn-ea"/>
              </a:rPr>
              <a:t>。在工程实现中，一般分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微处理器</a:t>
            </a:r>
            <a:r>
              <a:rPr lang="zh-CN" altLang="en-US" sz="2000">
                <a:sym typeface="+mn-ea"/>
              </a:rPr>
              <a:t>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存储器</a:t>
            </a:r>
            <a:r>
              <a:rPr lang="zh-CN" altLang="en-US" sz="2000">
                <a:sym typeface="+mn-ea"/>
              </a:rPr>
              <a:t>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输入输出设备</a:t>
            </a:r>
            <a:r>
              <a:rPr lang="zh-CN" altLang="en-US" sz="2000">
                <a:sym typeface="+mn-ea"/>
              </a:rPr>
              <a:t>三个主要部分，之间用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系统总线</a:t>
            </a:r>
            <a:r>
              <a:rPr lang="zh-CN" altLang="en-US" sz="2000">
                <a:sym typeface="+mn-ea"/>
              </a:rPr>
              <a:t>连接。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基础知识回顾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7854950" y="5447030"/>
            <a:ext cx="1371600" cy="1165860"/>
          </a:xfrm>
          <a:prstGeom prst="roundRect">
            <a:avLst/>
          </a:prstGeom>
          <a:solidFill>
            <a:srgbClr val="D02F35">
              <a:alpha val="25000"/>
            </a:srgbClr>
          </a:solidFill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185285" y="4959350"/>
            <a:ext cx="1371600" cy="1584325"/>
          </a:xfrm>
          <a:prstGeom prst="roundRect">
            <a:avLst/>
          </a:prstGeom>
          <a:solidFill>
            <a:srgbClr val="D02F35">
              <a:alpha val="25000"/>
            </a:srgbClr>
          </a:solidFill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4340225" y="5342255"/>
            <a:ext cx="1043940" cy="48768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运算器</a:t>
            </a:r>
            <a:endParaRPr lang="en-US" altLang="zh-CN"/>
          </a:p>
        </p:txBody>
      </p:sp>
      <p:sp>
        <p:nvSpPr>
          <p:cNvPr id="4" name="圆角矩形 3"/>
          <p:cNvSpPr/>
          <p:nvPr/>
        </p:nvSpPr>
        <p:spPr>
          <a:xfrm>
            <a:off x="4340225" y="5987415"/>
            <a:ext cx="1043940" cy="48768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控制器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40225" y="4973955"/>
            <a:ext cx="1104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微处理器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7919720" y="4980305"/>
            <a:ext cx="1240790" cy="36195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存储器</a:t>
            </a:r>
            <a:endParaRPr lang="en-US" altLang="zh-CN"/>
          </a:p>
        </p:txBody>
      </p:sp>
      <p:sp>
        <p:nvSpPr>
          <p:cNvPr id="8" name="圆角矩形 7"/>
          <p:cNvSpPr/>
          <p:nvPr/>
        </p:nvSpPr>
        <p:spPr>
          <a:xfrm>
            <a:off x="7919720" y="5589270"/>
            <a:ext cx="1241425" cy="33782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输入设备</a:t>
            </a:r>
            <a:endParaRPr lang="zh-CN" altLang="en-US"/>
          </a:p>
        </p:txBody>
      </p:sp>
      <p:sp>
        <p:nvSpPr>
          <p:cNvPr id="9" name="左右箭头 8"/>
          <p:cNvSpPr/>
          <p:nvPr/>
        </p:nvSpPr>
        <p:spPr>
          <a:xfrm>
            <a:off x="5556885" y="5509895"/>
            <a:ext cx="2298065" cy="485775"/>
          </a:xfrm>
          <a:prstGeom prst="leftRightArrow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7919720" y="6125210"/>
            <a:ext cx="1240790" cy="35052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输出</a:t>
            </a:r>
            <a:r>
              <a:rPr lang="zh-CN" altLang="en-US"/>
              <a:t>设备</a:t>
            </a:r>
            <a:endParaRPr lang="en-US" altLang="zh-CN"/>
          </a:p>
        </p:txBody>
      </p:sp>
      <p:sp>
        <p:nvSpPr>
          <p:cNvPr id="17" name="直角上箭头 16"/>
          <p:cNvSpPr/>
          <p:nvPr/>
        </p:nvSpPr>
        <p:spPr>
          <a:xfrm rot="5400000">
            <a:off x="7064375" y="5753100"/>
            <a:ext cx="849630" cy="730885"/>
          </a:xfrm>
          <a:prstGeom prst="bentUpArrow">
            <a:avLst>
              <a:gd name="adj1" fmla="val 31320"/>
              <a:gd name="adj2" fmla="val 29648"/>
              <a:gd name="adj3" fmla="val 33318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直角上箭头 24"/>
          <p:cNvSpPr/>
          <p:nvPr/>
        </p:nvSpPr>
        <p:spPr>
          <a:xfrm rot="16200000" flipV="1">
            <a:off x="7064375" y="5039360"/>
            <a:ext cx="849630" cy="730885"/>
          </a:xfrm>
          <a:prstGeom prst="bentUpArrow">
            <a:avLst>
              <a:gd name="adj1" fmla="val 31320"/>
              <a:gd name="adj2" fmla="val 29648"/>
              <a:gd name="adj3" fmla="val 33318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5953125" y="5220970"/>
            <a:ext cx="1104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系统总线</a:t>
            </a:r>
            <a:endParaRPr lang="zh-CN" altLang="en-US"/>
          </a:p>
        </p:txBody>
      </p:sp>
      <p:cxnSp>
        <p:nvCxnSpPr>
          <p:cNvPr id="61" name="直接连接符 60"/>
          <p:cNvCxnSpPr/>
          <p:nvPr/>
        </p:nvCxnSpPr>
        <p:spPr>
          <a:xfrm>
            <a:off x="3989705" y="4854575"/>
            <a:ext cx="5309870" cy="24765"/>
          </a:xfrm>
          <a:prstGeom prst="line">
            <a:avLst/>
          </a:prstGeom>
          <a:ln w="28575" cmpd="sng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圆角矩形 63"/>
          <p:cNvSpPr/>
          <p:nvPr/>
        </p:nvSpPr>
        <p:spPr>
          <a:xfrm>
            <a:off x="4238625" y="3201670"/>
            <a:ext cx="397510" cy="107823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U</a:t>
            </a:r>
            <a:endParaRPr lang="en-US" altLang="zh-CN"/>
          </a:p>
          <a:p>
            <a:pPr algn="ctr"/>
            <a:r>
              <a:rPr lang="en-US" altLang="zh-CN"/>
              <a:t>E</a:t>
            </a:r>
            <a:endParaRPr lang="en-US" altLang="zh-CN"/>
          </a:p>
          <a:p>
            <a:pPr algn="ctr"/>
            <a:r>
              <a:rPr lang="en-US" altLang="zh-CN"/>
              <a:t>F</a:t>
            </a:r>
            <a:endParaRPr lang="en-US" altLang="zh-CN"/>
          </a:p>
          <a:p>
            <a:pPr algn="ctr"/>
            <a:r>
              <a:rPr lang="en-US" altLang="zh-CN"/>
              <a:t>I</a:t>
            </a:r>
            <a:endParaRPr lang="en-US" altLang="zh-CN"/>
          </a:p>
        </p:txBody>
      </p:sp>
      <p:sp>
        <p:nvSpPr>
          <p:cNvPr id="68" name="圆角矩形 67"/>
          <p:cNvSpPr/>
          <p:nvPr/>
        </p:nvSpPr>
        <p:spPr>
          <a:xfrm>
            <a:off x="4699000" y="3201670"/>
            <a:ext cx="397510" cy="107823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  <a:p>
            <a:pPr algn="ctr"/>
            <a:r>
              <a:rPr lang="en-US" altLang="zh-CN"/>
              <a:t>I</a:t>
            </a:r>
            <a:endParaRPr lang="en-US" altLang="zh-CN"/>
          </a:p>
          <a:p>
            <a:pPr algn="ctr"/>
            <a:r>
              <a:rPr lang="en-US" altLang="zh-CN"/>
              <a:t>O</a:t>
            </a:r>
            <a:endParaRPr lang="en-US" altLang="zh-CN"/>
          </a:p>
          <a:p>
            <a:pPr algn="ctr"/>
            <a:r>
              <a:rPr lang="en-US" altLang="zh-CN"/>
              <a:t>S</a:t>
            </a:r>
            <a:endParaRPr lang="en-US" altLang="zh-CN"/>
          </a:p>
        </p:txBody>
      </p:sp>
      <p:sp>
        <p:nvSpPr>
          <p:cNvPr id="69" name="圆角矩形 68"/>
          <p:cNvSpPr/>
          <p:nvPr/>
        </p:nvSpPr>
        <p:spPr>
          <a:xfrm>
            <a:off x="5159375" y="3201670"/>
            <a:ext cx="397510" cy="107823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</a:t>
            </a:r>
            <a:endParaRPr lang="en-US" altLang="zh-CN"/>
          </a:p>
          <a:p>
            <a:pPr algn="ctr"/>
            <a:r>
              <a:rPr lang="en-US" altLang="zh-CN"/>
              <a:t>C</a:t>
            </a:r>
            <a:endParaRPr lang="en-US" altLang="zh-CN"/>
          </a:p>
        </p:txBody>
      </p:sp>
      <p:sp>
        <p:nvSpPr>
          <p:cNvPr id="70" name="圆角矩形 69"/>
          <p:cNvSpPr/>
          <p:nvPr/>
        </p:nvSpPr>
        <p:spPr>
          <a:xfrm>
            <a:off x="5897245" y="3201670"/>
            <a:ext cx="397510" cy="107823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文件系统</a:t>
            </a:r>
            <a:endParaRPr lang="zh-CN" altLang="en-US"/>
          </a:p>
        </p:txBody>
      </p:sp>
      <p:sp>
        <p:nvSpPr>
          <p:cNvPr id="71" name="圆角矩形 70"/>
          <p:cNvSpPr/>
          <p:nvPr/>
        </p:nvSpPr>
        <p:spPr>
          <a:xfrm>
            <a:off x="6364605" y="3201670"/>
            <a:ext cx="397510" cy="107823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内存管理</a:t>
            </a:r>
            <a:endParaRPr lang="zh-CN" altLang="en-US"/>
          </a:p>
        </p:txBody>
      </p:sp>
      <p:sp>
        <p:nvSpPr>
          <p:cNvPr id="72" name="圆角矩形 71"/>
          <p:cNvSpPr/>
          <p:nvPr/>
        </p:nvSpPr>
        <p:spPr>
          <a:xfrm>
            <a:off x="6831965" y="3201670"/>
            <a:ext cx="397510" cy="107823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进程调度</a:t>
            </a:r>
            <a:endParaRPr lang="zh-CN" altLang="en-US"/>
          </a:p>
        </p:txBody>
      </p:sp>
      <p:sp>
        <p:nvSpPr>
          <p:cNvPr id="73" name="圆角矩形 72"/>
          <p:cNvSpPr/>
          <p:nvPr/>
        </p:nvSpPr>
        <p:spPr>
          <a:xfrm>
            <a:off x="7299325" y="3201670"/>
            <a:ext cx="397510" cy="107823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驱动程序</a:t>
            </a:r>
            <a:endParaRPr lang="zh-CN" altLang="en-US"/>
          </a:p>
        </p:txBody>
      </p:sp>
      <p:sp>
        <p:nvSpPr>
          <p:cNvPr id="74" name="圆角矩形 73"/>
          <p:cNvSpPr/>
          <p:nvPr/>
        </p:nvSpPr>
        <p:spPr>
          <a:xfrm>
            <a:off x="7766685" y="3201670"/>
            <a:ext cx="397510" cy="107823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网络通信</a:t>
            </a:r>
            <a:endParaRPr lang="zh-CN" altLang="en-US"/>
          </a:p>
        </p:txBody>
      </p:sp>
      <p:sp>
        <p:nvSpPr>
          <p:cNvPr id="75" name="圆角矩形 74"/>
          <p:cNvSpPr/>
          <p:nvPr/>
        </p:nvSpPr>
        <p:spPr>
          <a:xfrm>
            <a:off x="8234045" y="3201670"/>
            <a:ext cx="397510" cy="107823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图形界面</a:t>
            </a:r>
            <a:endParaRPr lang="zh-CN" altLang="en-US"/>
          </a:p>
        </p:txBody>
      </p:sp>
      <p:sp>
        <p:nvSpPr>
          <p:cNvPr id="76" name="圆角矩形 75"/>
          <p:cNvSpPr/>
          <p:nvPr/>
        </p:nvSpPr>
        <p:spPr>
          <a:xfrm>
            <a:off x="8701405" y="3201670"/>
            <a:ext cx="397510" cy="107823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实用组件</a:t>
            </a:r>
            <a:endParaRPr lang="zh-CN" altLang="en-US"/>
          </a:p>
        </p:txBody>
      </p:sp>
      <p:sp>
        <p:nvSpPr>
          <p:cNvPr id="79" name="文本框 78"/>
          <p:cNvSpPr txBox="1"/>
          <p:nvPr/>
        </p:nvSpPr>
        <p:spPr>
          <a:xfrm>
            <a:off x="4345305" y="4334510"/>
            <a:ext cx="1104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主板</a:t>
            </a:r>
            <a:r>
              <a:rPr lang="zh-CN" altLang="en-US"/>
              <a:t>固件</a:t>
            </a:r>
            <a:endParaRPr lang="zh-CN" altLang="en-US"/>
          </a:p>
        </p:txBody>
      </p:sp>
      <p:sp>
        <p:nvSpPr>
          <p:cNvPr id="80" name="文本框 79"/>
          <p:cNvSpPr txBox="1"/>
          <p:nvPr/>
        </p:nvSpPr>
        <p:spPr>
          <a:xfrm>
            <a:off x="6945630" y="4334510"/>
            <a:ext cx="1104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操作系统</a:t>
            </a:r>
            <a:endParaRPr lang="zh-CN" altLang="en-US"/>
          </a:p>
        </p:txBody>
      </p:sp>
      <p:sp>
        <p:nvSpPr>
          <p:cNvPr id="81" name="文本框 80"/>
          <p:cNvSpPr txBox="1"/>
          <p:nvPr/>
        </p:nvSpPr>
        <p:spPr>
          <a:xfrm>
            <a:off x="6242685" y="2514600"/>
            <a:ext cx="869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中间件</a:t>
            </a:r>
            <a:endParaRPr lang="zh-CN" altLang="en-US"/>
          </a:p>
        </p:txBody>
      </p:sp>
      <p:cxnSp>
        <p:nvCxnSpPr>
          <p:cNvPr id="83" name="直接连接符 82"/>
          <p:cNvCxnSpPr/>
          <p:nvPr/>
        </p:nvCxnSpPr>
        <p:spPr>
          <a:xfrm>
            <a:off x="4040505" y="3000375"/>
            <a:ext cx="5251450" cy="27305"/>
          </a:xfrm>
          <a:prstGeom prst="line">
            <a:avLst/>
          </a:prstGeom>
          <a:ln w="28575" cmpd="sng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圆角矩形 84"/>
          <p:cNvSpPr/>
          <p:nvPr/>
        </p:nvSpPr>
        <p:spPr>
          <a:xfrm>
            <a:off x="4273550" y="2152650"/>
            <a:ext cx="1042670" cy="36195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编译器</a:t>
            </a:r>
            <a:endParaRPr lang="en-US" altLang="zh-CN"/>
          </a:p>
        </p:txBody>
      </p:sp>
      <p:sp>
        <p:nvSpPr>
          <p:cNvPr id="86" name="圆角矩形 85"/>
          <p:cNvSpPr/>
          <p:nvPr/>
        </p:nvSpPr>
        <p:spPr>
          <a:xfrm>
            <a:off x="5549265" y="2152650"/>
            <a:ext cx="1096010" cy="36195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数据库</a:t>
            </a:r>
            <a:endParaRPr lang="zh-CN" altLang="en-US"/>
          </a:p>
        </p:txBody>
      </p:sp>
      <p:sp>
        <p:nvSpPr>
          <p:cNvPr id="87" name="圆角矩形 86"/>
          <p:cNvSpPr/>
          <p:nvPr/>
        </p:nvSpPr>
        <p:spPr>
          <a:xfrm>
            <a:off x="6878320" y="2152650"/>
            <a:ext cx="1106805" cy="36195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计算库</a:t>
            </a:r>
            <a:endParaRPr lang="zh-CN" altLang="en-US"/>
          </a:p>
        </p:txBody>
      </p:sp>
      <p:sp>
        <p:nvSpPr>
          <p:cNvPr id="88" name="圆角矩形 87"/>
          <p:cNvSpPr/>
          <p:nvPr/>
        </p:nvSpPr>
        <p:spPr>
          <a:xfrm>
            <a:off x="8218170" y="2152650"/>
            <a:ext cx="880745" cy="36195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......</a:t>
            </a:r>
            <a:endParaRPr lang="en-US" altLang="zh-CN"/>
          </a:p>
        </p:txBody>
      </p:sp>
      <p:cxnSp>
        <p:nvCxnSpPr>
          <p:cNvPr id="89" name="直接连接符 88"/>
          <p:cNvCxnSpPr/>
          <p:nvPr/>
        </p:nvCxnSpPr>
        <p:spPr>
          <a:xfrm>
            <a:off x="4079875" y="1961515"/>
            <a:ext cx="5251450" cy="27305"/>
          </a:xfrm>
          <a:prstGeom prst="line">
            <a:avLst/>
          </a:prstGeom>
          <a:ln w="28575" cmpd="sng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圆角矩形 89"/>
          <p:cNvSpPr/>
          <p:nvPr/>
        </p:nvSpPr>
        <p:spPr>
          <a:xfrm>
            <a:off x="4130040" y="1043305"/>
            <a:ext cx="5096510" cy="815975"/>
          </a:xfrm>
          <a:prstGeom prst="roundRect">
            <a:avLst/>
          </a:prstGeom>
          <a:solidFill>
            <a:srgbClr val="D02F35">
              <a:alpha val="25000"/>
            </a:srgbClr>
          </a:solidFill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6135370" y="1445260"/>
            <a:ext cx="1141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应用程序</a:t>
            </a:r>
            <a:endParaRPr lang="zh-CN" altLang="en-US"/>
          </a:p>
        </p:txBody>
      </p:sp>
      <p:sp>
        <p:nvSpPr>
          <p:cNvPr id="92" name="圆角矩形 91"/>
          <p:cNvSpPr/>
          <p:nvPr/>
        </p:nvSpPr>
        <p:spPr>
          <a:xfrm>
            <a:off x="4227195" y="1083310"/>
            <a:ext cx="1042670" cy="36195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编辑</a:t>
            </a:r>
            <a:r>
              <a:rPr lang="zh-CN" altLang="en-US"/>
              <a:t>器</a:t>
            </a:r>
            <a:endParaRPr lang="zh-CN" altLang="en-US"/>
          </a:p>
        </p:txBody>
      </p:sp>
      <p:sp>
        <p:nvSpPr>
          <p:cNvPr id="93" name="圆角矩形 92"/>
          <p:cNvSpPr/>
          <p:nvPr/>
        </p:nvSpPr>
        <p:spPr>
          <a:xfrm>
            <a:off x="5502910" y="1083310"/>
            <a:ext cx="1096010" cy="36195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浏览器</a:t>
            </a:r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>
            <a:off x="6831965" y="1083310"/>
            <a:ext cx="1106805" cy="36195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邮箱</a:t>
            </a:r>
            <a:endParaRPr lang="zh-CN" altLang="en-US"/>
          </a:p>
        </p:txBody>
      </p:sp>
      <p:sp>
        <p:nvSpPr>
          <p:cNvPr id="95" name="圆角矩形 94"/>
          <p:cNvSpPr/>
          <p:nvPr/>
        </p:nvSpPr>
        <p:spPr>
          <a:xfrm>
            <a:off x="8171815" y="1083310"/>
            <a:ext cx="880745" cy="36195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......</a:t>
            </a:r>
            <a:endParaRPr lang="en-US" altLang="zh-CN"/>
          </a:p>
        </p:txBody>
      </p:sp>
      <p:sp>
        <p:nvSpPr>
          <p:cNvPr id="96" name="文本框 95"/>
          <p:cNvSpPr txBox="1"/>
          <p:nvPr/>
        </p:nvSpPr>
        <p:spPr>
          <a:xfrm>
            <a:off x="2950845" y="180340"/>
            <a:ext cx="36880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计算机系统</a:t>
            </a:r>
            <a:r>
              <a:rPr lang="zh-CN" sz="2000" b="1">
                <a:solidFill>
                  <a:srgbClr val="9C0B15"/>
                </a:solidFill>
              </a:rPr>
              <a:t>：</a:t>
            </a:r>
            <a:r>
              <a:rPr lang="zh-CN" altLang="en-US" sz="2000" b="1">
                <a:solidFill>
                  <a:srgbClr val="9C0B15"/>
                </a:solidFill>
              </a:rPr>
              <a:t>硬件</a:t>
            </a:r>
            <a:r>
              <a:rPr lang="en-US" altLang="zh-CN" sz="2000" b="1">
                <a:solidFill>
                  <a:srgbClr val="9C0B15"/>
                </a:solidFill>
              </a:rPr>
              <a:t>+</a:t>
            </a:r>
            <a:r>
              <a:rPr lang="zh-CN" altLang="en-US" sz="2000" b="1">
                <a:solidFill>
                  <a:srgbClr val="9C0B15"/>
                </a:solidFill>
              </a:rPr>
              <a:t>软件</a:t>
            </a:r>
            <a:endParaRPr lang="zh-CN" altLang="en-US" sz="2000"/>
          </a:p>
        </p:txBody>
      </p:sp>
      <p:sp>
        <p:nvSpPr>
          <p:cNvPr id="97" name="圆角矩形 96"/>
          <p:cNvSpPr/>
          <p:nvPr/>
        </p:nvSpPr>
        <p:spPr>
          <a:xfrm>
            <a:off x="3642995" y="5219065"/>
            <a:ext cx="397510" cy="107823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微机</a:t>
            </a:r>
            <a:endParaRPr lang="zh-CN" altLang="en-US"/>
          </a:p>
        </p:txBody>
      </p:sp>
      <p:sp>
        <p:nvSpPr>
          <p:cNvPr id="98" name="圆角矩形 97"/>
          <p:cNvSpPr/>
          <p:nvPr/>
        </p:nvSpPr>
        <p:spPr>
          <a:xfrm>
            <a:off x="3642995" y="3397885"/>
            <a:ext cx="397510" cy="107823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系统软件</a:t>
            </a:r>
            <a:endParaRPr lang="zh-CN" altLang="en-US"/>
          </a:p>
        </p:txBody>
      </p:sp>
      <p:sp>
        <p:nvSpPr>
          <p:cNvPr id="99" name="圆角矩形 98"/>
          <p:cNvSpPr/>
          <p:nvPr/>
        </p:nvSpPr>
        <p:spPr>
          <a:xfrm>
            <a:off x="3642995" y="1435735"/>
            <a:ext cx="397510" cy="107823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用户软件</a:t>
            </a:r>
            <a:endParaRPr lang="zh-CN" altLang="en-US"/>
          </a:p>
        </p:txBody>
      </p:sp>
      <p:sp>
        <p:nvSpPr>
          <p:cNvPr id="101" name="圆角矩形 100"/>
          <p:cNvSpPr/>
          <p:nvPr/>
        </p:nvSpPr>
        <p:spPr>
          <a:xfrm>
            <a:off x="3114675" y="3397885"/>
            <a:ext cx="397510" cy="2898775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微机</a:t>
            </a:r>
            <a:endParaRPr lang="zh-CN" altLang="en-US"/>
          </a:p>
          <a:p>
            <a:pPr algn="ctr"/>
            <a:r>
              <a:rPr lang="zh-CN" altLang="en-US"/>
              <a:t>系统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246380" y="676910"/>
            <a:ext cx="933577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外部设备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输入输出设备也叫外部设备，可以实现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人机交互</a:t>
            </a:r>
            <a:r>
              <a:rPr lang="zh-CN" altLang="en-US" sz="2000">
                <a:sym typeface="+mn-ea"/>
              </a:rPr>
              <a:t>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机间通讯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/>
              <a:t>		</a:t>
            </a:r>
            <a:r>
              <a:rPr lang="zh-CN" altLang="en-US" sz="2000"/>
              <a:t>如</a:t>
            </a:r>
            <a:r>
              <a:rPr lang="zh-CN" altLang="en-US" sz="2000">
                <a:sym typeface="+mn-ea"/>
              </a:rPr>
              <a:t>键盘、鼠标、显示器、网卡等。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外设接口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外部设备和计算机通信的接口，其实现包括三个寄存器：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数据寄存器</a:t>
            </a:r>
            <a:r>
              <a:rPr lang="zh-CN" altLang="en-US" sz="2000">
                <a:sym typeface="+mn-ea"/>
              </a:rPr>
              <a:t>	存放外设和主机间传送的数据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状态寄存器</a:t>
            </a:r>
            <a:r>
              <a:rPr lang="zh-CN" altLang="en-US" sz="2000">
                <a:sym typeface="+mn-ea"/>
              </a:rPr>
              <a:t>	保存外设或接口的状态信息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命令寄存器</a:t>
            </a:r>
            <a:r>
              <a:rPr lang="zh-CN" altLang="en-US" sz="2000">
                <a:sym typeface="+mn-ea"/>
              </a:rPr>
              <a:t>	保存CPU发给外设或接口的控制命令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信息交换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外设和主机交互</a:t>
            </a:r>
            <a:r>
              <a:rPr lang="zh-CN" altLang="en-US" sz="2000">
                <a:sym typeface="+mn-ea"/>
              </a:rPr>
              <a:t>包括四种主要方式：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直接交换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外设总是准备好接受或发送数据，</a:t>
            </a:r>
            <a:r>
              <a:rPr lang="zh-CN" altLang="en-US" sz="2000">
                <a:sym typeface="+mn-ea"/>
              </a:rPr>
              <a:t>主机直接</a:t>
            </a:r>
            <a:r>
              <a:rPr lang="zh-CN" altLang="en-US" sz="2000">
                <a:sym typeface="+mn-ea"/>
              </a:rPr>
              <a:t>读写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查询（轮询）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在读写前查询外设是否准备好，主机再</a:t>
            </a:r>
            <a:r>
              <a:rPr lang="zh-CN" altLang="en-US" sz="2000">
                <a:sym typeface="+mn-ea"/>
              </a:rPr>
              <a:t>读写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中断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外设通过中断主动通知主机准备好，主机再</a:t>
            </a:r>
            <a:r>
              <a:rPr lang="zh-CN" altLang="en-US" sz="2000">
                <a:sym typeface="+mn-ea"/>
              </a:rPr>
              <a:t>读写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成组传送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由</a:t>
            </a:r>
            <a:r>
              <a:rPr lang="en-US" altLang="zh-CN" sz="2000">
                <a:sym typeface="+mn-ea"/>
              </a:rPr>
              <a:t>DMA</a:t>
            </a:r>
            <a:r>
              <a:rPr lang="zh-CN" altLang="en-US" sz="2000">
                <a:sym typeface="+mn-ea"/>
              </a:rPr>
              <a:t>控制器读写设备，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不干涉，性能</a:t>
            </a:r>
            <a:r>
              <a:rPr lang="zh-CN" altLang="en-US" sz="2000">
                <a:sym typeface="+mn-ea"/>
              </a:rPr>
              <a:t>最高。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四种方式使用都很普遍，其中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中断相对而言是主流方式</a:t>
            </a:r>
            <a:r>
              <a:rPr lang="zh-CN" altLang="en-US" sz="2000">
                <a:sym typeface="+mn-ea"/>
              </a:rPr>
              <a:t>。</a:t>
            </a:r>
            <a:r>
              <a:rPr lang="en-US" altLang="zh-CN" sz="2000">
                <a:sym typeface="+mn-ea"/>
              </a:rPr>
              <a:t>	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8086访问外设</a:t>
            </a:r>
            <a:r>
              <a:rPr lang="en-US" altLang="zh-CN" sz="2000">
                <a:sym typeface="+mn-ea"/>
              </a:rPr>
              <a:t>	8086</a:t>
            </a:r>
            <a:r>
              <a:rPr lang="zh-CN" altLang="en-US" sz="2000">
                <a:sym typeface="+mn-ea"/>
              </a:rPr>
              <a:t>包括专用的</a:t>
            </a:r>
            <a:r>
              <a:rPr lang="en-US" altLang="zh-CN" sz="2000">
                <a:sym typeface="+mn-ea"/>
              </a:rPr>
              <a:t>I/O</a:t>
            </a:r>
            <a:r>
              <a:rPr lang="zh-CN" altLang="en-US" sz="2000">
                <a:sym typeface="+mn-ea"/>
              </a:rPr>
              <a:t>地址，它和存储器地址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相互独立</a:t>
            </a:r>
            <a:r>
              <a:rPr lang="zh-CN" altLang="en-US" sz="2000">
                <a:sym typeface="+mn-ea"/>
              </a:rPr>
              <a:t>，可以由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IN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指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令和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OUT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指令</a:t>
            </a:r>
            <a:r>
              <a:rPr lang="zh-CN" altLang="en-US" sz="2000">
                <a:sym typeface="+mn-ea"/>
              </a:rPr>
              <a:t>访问。</a:t>
            </a:r>
            <a:r>
              <a:rPr lang="en-US" altLang="zh-CN" sz="2000">
                <a:sym typeface="+mn-ea"/>
              </a:rPr>
              <a:t>I/O</a:t>
            </a:r>
            <a:r>
              <a:rPr lang="zh-CN" altLang="en-US" sz="2000">
                <a:sym typeface="+mn-ea"/>
              </a:rPr>
              <a:t>地址也是</a:t>
            </a:r>
            <a:r>
              <a:rPr lang="en-US" altLang="zh-CN" sz="2000">
                <a:sym typeface="+mn-ea"/>
              </a:rPr>
              <a:t>16</a:t>
            </a:r>
            <a:r>
              <a:rPr lang="zh-CN" altLang="en-US" sz="2000">
                <a:sym typeface="+mn-ea"/>
              </a:rPr>
              <a:t>位，共可包括</a:t>
            </a:r>
            <a:r>
              <a:rPr lang="en-US" altLang="zh-CN" sz="2000">
                <a:sym typeface="+mn-ea"/>
              </a:rPr>
              <a:t>65536</a:t>
            </a:r>
            <a:r>
              <a:rPr lang="zh-CN" altLang="en-US" sz="2000">
                <a:sym typeface="+mn-ea"/>
              </a:rPr>
              <a:t>个</a:t>
            </a:r>
            <a:r>
              <a:rPr lang="zh-CN" altLang="en-US" sz="2000">
                <a:sym typeface="+mn-ea"/>
              </a:rPr>
              <a:t>端口。</a:t>
            </a:r>
            <a:endParaRPr lang="zh-CN" altLang="en-US" sz="2000">
              <a:sym typeface="+mn-ea"/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基础知识回顾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950845" y="180340"/>
            <a:ext cx="36880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输入</a:t>
            </a:r>
            <a:r>
              <a:rPr lang="zh-CN" altLang="en-US" sz="2000" b="1">
                <a:solidFill>
                  <a:srgbClr val="9C0B15"/>
                </a:solidFill>
              </a:rPr>
              <a:t>输出设备</a:t>
            </a:r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620" y="1363980"/>
            <a:ext cx="1614170" cy="7823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870" y="1363980"/>
            <a:ext cx="1120140" cy="7823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3410" y="1363980"/>
            <a:ext cx="868680" cy="7823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680" y="1363980"/>
            <a:ext cx="1365885" cy="78232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基础知识回顾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1386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IN</a:t>
            </a:r>
            <a:endParaRPr lang="zh-CN" altLang="en-US" sz="2000"/>
          </a:p>
        </p:txBody>
      </p:sp>
      <p:sp>
        <p:nvSpPr>
          <p:cNvPr id="6" name="文本框 5"/>
          <p:cNvSpPr txBox="1"/>
          <p:nvPr/>
        </p:nvSpPr>
        <p:spPr>
          <a:xfrm>
            <a:off x="7960995" y="166370"/>
            <a:ext cx="14935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2000" b="1">
                <a:solidFill>
                  <a:srgbClr val="9C0B15"/>
                </a:solidFill>
              </a:rPr>
              <a:t>IN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1821815" y="166370"/>
            <a:ext cx="57886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输入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 Input</a:t>
            </a:r>
            <a:endParaRPr lang="en-US" altLang="zh-CN" sz="2000" b="1">
              <a:solidFill>
                <a:srgbClr val="9C0B15"/>
              </a:solidFill>
              <a:sym typeface="+mn-ea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2"/>
            </p:custDataLst>
          </p:nvPr>
        </p:nvGraphicFramePr>
        <p:xfrm>
          <a:off x="259080" y="609600"/>
          <a:ext cx="9265285" cy="3962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92070"/>
                <a:gridCol w="1624330"/>
                <a:gridCol w="1583055"/>
                <a:gridCol w="3465830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操作类别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目的操作数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源操作数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例子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直接端口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输入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A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L/AX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imm8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IN AL, 08H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间接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端口输入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AL/AX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DX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IN AX, DX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表格 16"/>
          <p:cNvGraphicFramePr/>
          <p:nvPr>
            <p:custDataLst>
              <p:tags r:id="rId3"/>
            </p:custDataLst>
          </p:nvPr>
        </p:nvGraphicFramePr>
        <p:xfrm>
          <a:off x="260985" y="2023745"/>
          <a:ext cx="9265285" cy="457898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75960"/>
                <a:gridCol w="3489325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指令操作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影响标志位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2091055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目的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 ← 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源端口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;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 row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无</a:t>
                      </a:r>
                      <a:endParaRPr lang="en-US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209169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目的操作数只能是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AL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或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AX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寄存器，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如果使用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AL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表示访问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8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位端口，如果使用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AX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表明访问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16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位端口。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源操作数只能是一个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8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位立即数代表的端口地址或者放置于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DX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内的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16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位端口地址。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基础知识回顾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1386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OUT</a:t>
            </a:r>
            <a:endParaRPr lang="zh-CN" altLang="en-US" sz="2000"/>
          </a:p>
        </p:txBody>
      </p:sp>
      <p:sp>
        <p:nvSpPr>
          <p:cNvPr id="6" name="文本框 5"/>
          <p:cNvSpPr txBox="1"/>
          <p:nvPr/>
        </p:nvSpPr>
        <p:spPr>
          <a:xfrm>
            <a:off x="7960995" y="166370"/>
            <a:ext cx="14935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2000" b="1">
                <a:solidFill>
                  <a:srgbClr val="9C0B15"/>
                </a:solidFill>
              </a:rPr>
              <a:t>OUT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1821815" y="166370"/>
            <a:ext cx="57886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输出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 Output</a:t>
            </a:r>
            <a:endParaRPr lang="en-US" altLang="zh-CN" sz="2000" b="1">
              <a:solidFill>
                <a:srgbClr val="9C0B15"/>
              </a:solidFill>
              <a:sym typeface="+mn-ea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2"/>
            </p:custDataLst>
          </p:nvPr>
        </p:nvGraphicFramePr>
        <p:xfrm>
          <a:off x="259080" y="609600"/>
          <a:ext cx="9265285" cy="3962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92070"/>
                <a:gridCol w="1624330"/>
                <a:gridCol w="1583055"/>
                <a:gridCol w="3465830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操作类别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目的操作数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源操作数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例子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直接端口输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出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imm8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AL/AX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OUT 08H, AX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间接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端口输入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DX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AL/AX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OUT DX, AL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表格 16"/>
          <p:cNvGraphicFramePr/>
          <p:nvPr>
            <p:custDataLst>
              <p:tags r:id="rId3"/>
            </p:custDataLst>
          </p:nvPr>
        </p:nvGraphicFramePr>
        <p:xfrm>
          <a:off x="260985" y="2023745"/>
          <a:ext cx="9265285" cy="457898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75960"/>
                <a:gridCol w="3489325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指令操作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影响标志位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2091055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目的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端口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 ← 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源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;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 row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无</a:t>
                      </a:r>
                      <a:endParaRPr lang="en-US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209169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目的操作数只能是一个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8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位立即数代表的端口地址或者放置于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DX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内的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16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位端口地址。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源操作数只能是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AL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或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AX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寄存器，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如果使用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AL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表示访问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8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位端口，如果使用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AX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表明访问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16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位端口。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直接输入输出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直接输入</a:t>
            </a:r>
            <a:r>
              <a:rPr lang="zh-CN" altLang="en-US" sz="2000" b="1">
                <a:solidFill>
                  <a:srgbClr val="9C0B15"/>
                </a:solidFill>
              </a:rPr>
              <a:t>输出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ctr">
              <a:buClrTx/>
              <a:buSzTx/>
              <a:buFontTx/>
            </a:pPr>
            <a:r>
              <a:rPr lang="zh-CN" altLang="en-US" sz="2000">
                <a:sym typeface="+mn-ea"/>
              </a:rPr>
              <a:t>直接存取端口来访问设备的程序。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与外设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同步</a:t>
            </a:r>
            <a:r>
              <a:rPr lang="zh-CN" altLang="en-US" sz="2000">
                <a:sym typeface="+mn-ea"/>
              </a:rPr>
              <a:t>工作。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unsigned char read;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READ	DB	?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unsigned char write = 80H;		WRITE	DB	80H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Pointer to port address space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volatile unsigned char port* dev; 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MOV	DX, 1234H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						MOV	AL,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WRITE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dev 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= (void*)0x1234;				OUT	DX, AL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*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dev 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=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write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;					IN	AL, 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read 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= *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dev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;					MOV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READ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, AL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在以上程序中，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假设了所使用的C编译器具备一个额外关键字port，用该关键字声明的指针指向端口地址空间</a:t>
            </a:r>
            <a:r>
              <a:rPr lang="zh-CN" altLang="en-US" sz="2000">
                <a:sym typeface="+mn-ea"/>
              </a:rPr>
              <a:t>。当然，真实的</a:t>
            </a:r>
            <a:r>
              <a:rPr lang="en-US" altLang="zh-CN" sz="2000">
                <a:sym typeface="+mn-ea"/>
              </a:rPr>
              <a:t>x86 C</a:t>
            </a:r>
            <a:r>
              <a:rPr lang="zh-CN" altLang="en-US" sz="2000">
                <a:sym typeface="+mn-ea"/>
              </a:rPr>
              <a:t>编译器是没有这个关键字的，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只能用内联汇编访问端口</a:t>
            </a:r>
            <a:r>
              <a:rPr lang="zh-CN" altLang="en-US" sz="2000">
                <a:sym typeface="+mn-ea"/>
              </a:rPr>
              <a:t>。以下为</a:t>
            </a:r>
            <a:r>
              <a:rPr lang="en-US" altLang="zh-CN" sz="2000">
                <a:sym typeface="+mn-ea"/>
              </a:rPr>
              <a:t>GCC</a:t>
            </a:r>
            <a:r>
              <a:rPr lang="zh-CN" altLang="en-US" sz="2000">
                <a:sym typeface="+mn-ea"/>
              </a:rPr>
              <a:t>内联汇编。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unsigned short port = 0x1234;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_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_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asm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_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_ _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_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volatile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_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_("outb %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[write]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, %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[port]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"::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[write]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"a"(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write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),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[port]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"Nd"(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port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)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);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_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_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asm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_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_ _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_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volatile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_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_(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"inb %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[port]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, %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[read]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":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[read]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"=a"(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read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):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[port]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"Nd"(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port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)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);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2" name="左箭头标注 1"/>
          <p:cNvSpPr/>
          <p:nvPr/>
        </p:nvSpPr>
        <p:spPr>
          <a:xfrm>
            <a:off x="7945755" y="56515"/>
            <a:ext cx="1685925" cy="1824990"/>
          </a:xfrm>
          <a:prstGeom prst="leftArrowCallout">
            <a:avLst>
              <a:gd name="adj1" fmla="val 20338"/>
              <a:gd name="adj2" fmla="val 25000"/>
              <a:gd name="adj3" fmla="val 25000"/>
              <a:gd name="adj4" fmla="val 64977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所谓同步，就是对</a:t>
            </a:r>
            <a:r>
              <a:rPr lang="en-US" altLang="zh-CN"/>
              <a:t>CPU</a:t>
            </a:r>
            <a:r>
              <a:rPr lang="zh-CN" altLang="en-US"/>
              <a:t>而言是意料之中</a:t>
            </a:r>
            <a:r>
              <a:rPr lang="zh-CN" altLang="en-US"/>
              <a:t>的。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轮询输入输出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轮询输入</a:t>
            </a:r>
            <a:r>
              <a:rPr lang="zh-CN" altLang="en-US" sz="2000" b="1">
                <a:solidFill>
                  <a:srgbClr val="9C0B15"/>
                </a:solidFill>
              </a:rPr>
              <a:t>输出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ctr">
              <a:buClrTx/>
              <a:buSzTx/>
              <a:buFontTx/>
            </a:pPr>
            <a:r>
              <a:rPr lang="zh-CN" altLang="en-US" sz="2000">
                <a:sym typeface="+mn-ea"/>
              </a:rPr>
              <a:t>先检查设备是否准备好接受输入或输出，再进行端口操作的程序。</a:t>
            </a:r>
            <a:endParaRPr lang="zh-CN" altLang="en-US" sz="2000"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需要反复检查外设是否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准备好</a:t>
            </a:r>
            <a:r>
              <a:rPr lang="zh-CN" altLang="en-US" sz="2000">
                <a:sym typeface="+mn-ea"/>
              </a:rPr>
              <a:t>传输，待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同步</a:t>
            </a:r>
            <a:r>
              <a:rPr lang="zh-CN" altLang="en-US" sz="2000">
                <a:sym typeface="+mn-ea"/>
              </a:rPr>
              <a:t>后才能开始</a:t>
            </a:r>
            <a:r>
              <a:rPr lang="zh-CN" altLang="en-US" sz="2000">
                <a:sym typeface="+mn-ea"/>
              </a:rPr>
              <a:t>传输。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		; GPIOA @ 034FH for {EOC}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GPIOB @ 0350H 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for {START, ALE, C, B, A}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 GPIOC @ 0351H for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{MSB ... LSB}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All ports pseudo-bidirectional (1k IPU/10mA OD)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Ref = 2V, input = 1V, OE = VCC, external CLK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...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Signal masks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EOC	EQU	01H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START	EQU	10H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ALE	EQU	08H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Port number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STAT	EQU	034FH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CTRL	EQU	0350H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DATA	EQU	0351H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Result array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RES	DB	8 DUP(?)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</p:txBody>
      </p:sp>
      <p:sp>
        <p:nvSpPr>
          <p:cNvPr id="4" name="左箭头标注 3"/>
          <p:cNvSpPr/>
          <p:nvPr/>
        </p:nvSpPr>
        <p:spPr>
          <a:xfrm>
            <a:off x="6886575" y="3653155"/>
            <a:ext cx="1685925" cy="914400"/>
          </a:xfrm>
          <a:prstGeom prst="lef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ADC</a:t>
            </a:r>
            <a:r>
              <a:rPr lang="zh-CN" altLang="en-US"/>
              <a:t>引脚</a:t>
            </a:r>
            <a:endParaRPr lang="zh-CN" altLang="en-US"/>
          </a:p>
        </p:txBody>
      </p:sp>
      <p:sp>
        <p:nvSpPr>
          <p:cNvPr id="5" name="左箭头标注 4"/>
          <p:cNvSpPr/>
          <p:nvPr/>
        </p:nvSpPr>
        <p:spPr>
          <a:xfrm>
            <a:off x="6886575" y="4775200"/>
            <a:ext cx="1686560" cy="914400"/>
          </a:xfrm>
          <a:prstGeom prst="lef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ADC</a:t>
            </a:r>
            <a:r>
              <a:rPr lang="zh-CN" altLang="en-US"/>
              <a:t>所在的</a:t>
            </a:r>
            <a:r>
              <a:rPr lang="zh-CN" altLang="en-US"/>
              <a:t>端口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3631" t="17762" r="4192" b="2890"/>
          <a:stretch>
            <a:fillRect/>
          </a:stretch>
        </p:blipFill>
        <p:spPr>
          <a:xfrm>
            <a:off x="120650" y="1832610"/>
            <a:ext cx="3875405" cy="38792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轮询输入输出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轮询输入</a:t>
            </a:r>
            <a:r>
              <a:rPr lang="zh-CN" altLang="en-US" sz="2000" b="1">
                <a:solidFill>
                  <a:srgbClr val="9C0B15"/>
                </a:solidFill>
              </a:rPr>
              <a:t>输出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Input macro</a:t>
            </a:r>
            <a:endParaRPr lang="en-US" altLang="zh-CN" sz="2000"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IN8	MACRO	X</a:t>
            </a:r>
            <a:endParaRPr lang="en-US" altLang="zh-CN" sz="2000"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MOV	DX,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IN	AL, 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ENDM</a:t>
            </a:r>
            <a:endParaRPr lang="en-US" altLang="zh-CN" sz="2000"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Output macro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OUT8	MACRO	X, Y</a:t>
            </a:r>
            <a:endParaRPr lang="en-US" altLang="zh-CN" sz="2000"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DX,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X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AL,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 Y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OUT	DX, AL</a:t>
            </a:r>
            <a:endParaRPr lang="en-US" altLang="zh-CN" sz="2000"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	ENDM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...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Set input channel to 3rd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OUT8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CTRL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, 03H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OUT8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CTRL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, 03H +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ALE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OUT8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CTRL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, 03H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Start conversion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OUT8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CTRL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START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endParaRPr lang="zh-CN" altLang="en-US" sz="2000">
              <a:sym typeface="+mn-ea"/>
            </a:endParaRPr>
          </a:p>
        </p:txBody>
      </p:sp>
      <p:sp>
        <p:nvSpPr>
          <p:cNvPr id="5" name="左箭头标注 4"/>
          <p:cNvSpPr/>
          <p:nvPr/>
        </p:nvSpPr>
        <p:spPr>
          <a:xfrm flipH="1">
            <a:off x="1029335" y="1897380"/>
            <a:ext cx="2340610" cy="914400"/>
          </a:xfrm>
          <a:prstGeom prst="lef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输入输出写成宏</a:t>
            </a:r>
            <a:r>
              <a:rPr lang="zh-CN" altLang="en-US"/>
              <a:t>更方便</a:t>
            </a:r>
            <a:endParaRPr lang="zh-CN" altLang="en-US"/>
          </a:p>
        </p:txBody>
      </p:sp>
      <p:sp>
        <p:nvSpPr>
          <p:cNvPr id="6" name="左箭头标注 5"/>
          <p:cNvSpPr/>
          <p:nvPr/>
        </p:nvSpPr>
        <p:spPr>
          <a:xfrm flipH="1">
            <a:off x="1029335" y="4633595"/>
            <a:ext cx="2340610" cy="914400"/>
          </a:xfrm>
          <a:prstGeom prst="lef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选择</a:t>
            </a:r>
            <a:r>
              <a:rPr lang="en-US" altLang="zh-CN"/>
              <a:t>ADC</a:t>
            </a:r>
            <a:r>
              <a:rPr lang="zh-CN" altLang="en-US"/>
              <a:t>通道，并开始</a:t>
            </a:r>
            <a:r>
              <a:rPr lang="zh-CN" altLang="en-US"/>
              <a:t>转换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轮询输入输出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轮询输入输出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Do something before checking if needed</a:t>
            </a:r>
            <a:endParaRPr lang="zh-CN" altLang="en-US" sz="2000">
              <a:sym typeface="+mn-ea"/>
            </a:endParaRPr>
          </a:p>
          <a:p>
            <a:pPr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Wait loop for conversion to complete</a:t>
            </a:r>
            <a:endParaRPr lang="en-US" altLang="zh-CN" sz="2000"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WAIT: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NOP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NOP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NOP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NOP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NOP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NOP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NOP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NOP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IN8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STAT</a:t>
            </a:r>
            <a:endParaRPr lang="en-US" altLang="zh-CN" sz="2000"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TEST	AL,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EOC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JZ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WAIT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Place result in third location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IN8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DATA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MOV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RES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[3],	AL</a:t>
            </a:r>
            <a:endParaRPr lang="zh-CN" altLang="en-US" sz="2000">
              <a:sym typeface="+mn-ea"/>
            </a:endParaRPr>
          </a:p>
        </p:txBody>
      </p:sp>
      <p:sp>
        <p:nvSpPr>
          <p:cNvPr id="5" name="左箭头标注 4"/>
          <p:cNvSpPr/>
          <p:nvPr/>
        </p:nvSpPr>
        <p:spPr>
          <a:xfrm flipH="1">
            <a:off x="1144905" y="2687320"/>
            <a:ext cx="2524760" cy="2536825"/>
          </a:xfrm>
          <a:prstGeom prst="leftArrowCallout">
            <a:avLst>
              <a:gd name="adj1" fmla="val 12248"/>
              <a:gd name="adj2" fmla="val 10450"/>
              <a:gd name="adj3" fmla="val 15895"/>
              <a:gd name="adj4" fmla="val 72233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死循环等待转换结束。如果还未结束就一直反复</a:t>
            </a:r>
            <a:r>
              <a:rPr lang="zh-CN" altLang="en-US"/>
              <a:t>查询。很多时候我们不希望频繁读写</a:t>
            </a:r>
            <a:r>
              <a:rPr lang="en-US" altLang="zh-CN"/>
              <a:t>I/O</a:t>
            </a:r>
            <a:r>
              <a:rPr lang="zh-CN" altLang="en-US"/>
              <a:t>，这个</a:t>
            </a:r>
            <a:r>
              <a:rPr lang="zh-CN" altLang="en-US"/>
              <a:t>时候可以插入合适数量的</a:t>
            </a:r>
            <a:r>
              <a:rPr lang="en-US" altLang="zh-CN"/>
              <a:t>NOP</a:t>
            </a:r>
            <a:r>
              <a:rPr lang="zh-CN" altLang="en-US"/>
              <a:t>在这里。</a:t>
            </a:r>
            <a:endParaRPr lang="zh-CN" altLang="en-US"/>
          </a:p>
        </p:txBody>
      </p:sp>
      <p:sp>
        <p:nvSpPr>
          <p:cNvPr id="4" name="左箭头标注 3"/>
          <p:cNvSpPr/>
          <p:nvPr/>
        </p:nvSpPr>
        <p:spPr>
          <a:xfrm flipH="1">
            <a:off x="1144905" y="5596255"/>
            <a:ext cx="2524760" cy="972185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0699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将结果放在正确的位置（</a:t>
            </a:r>
            <a:r>
              <a:rPr lang="en-US" altLang="zh-CN"/>
              <a:t>3</a:t>
            </a:r>
            <a:r>
              <a:rPr lang="zh-CN" altLang="en-US"/>
              <a:t>号）</a:t>
            </a:r>
            <a:endParaRPr lang="en-US" altLang="zh-CN"/>
          </a:p>
        </p:txBody>
      </p:sp>
      <p:sp>
        <p:nvSpPr>
          <p:cNvPr id="7" name="左箭头标注 6"/>
          <p:cNvSpPr/>
          <p:nvPr/>
        </p:nvSpPr>
        <p:spPr>
          <a:xfrm flipH="1">
            <a:off x="1144905" y="744220"/>
            <a:ext cx="2340610" cy="91440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9028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转换需要时间，可以</a:t>
            </a:r>
            <a:r>
              <a:rPr lang="zh-CN" altLang="en-US"/>
              <a:t>先干点别的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668770" y="2049780"/>
            <a:ext cx="2699385" cy="24803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中断输入输出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中断输入</a:t>
            </a:r>
            <a:r>
              <a:rPr lang="zh-CN" altLang="en-US" sz="2000" b="1">
                <a:solidFill>
                  <a:srgbClr val="9C0B15"/>
                </a:solidFill>
              </a:rPr>
              <a:t>输出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ctr">
              <a:buClrTx/>
              <a:buSzTx/>
              <a:buFontTx/>
            </a:pPr>
            <a:r>
              <a:rPr lang="zh-CN" altLang="en-US" sz="2000">
                <a:sym typeface="+mn-ea"/>
              </a:rPr>
              <a:t>由设备生成中断</a:t>
            </a:r>
            <a:r>
              <a:rPr lang="zh-CN" altLang="en-US" sz="2000">
                <a:sym typeface="+mn-ea"/>
              </a:rPr>
              <a:t>表明自己已准备好输入输出，再操作端口的</a:t>
            </a:r>
            <a:r>
              <a:rPr lang="zh-CN" altLang="en-US" sz="2000">
                <a:sym typeface="+mn-ea"/>
              </a:rPr>
              <a:t>程序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特点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设备准备好接受操作时用中断通知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调用事先准备好的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一段程序来处理输入输出。在中断尚未到来时，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可以专注于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其它事情，直到被中断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（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意外地）打断</a:t>
            </a:r>
            <a:r>
              <a:rPr lang="zh-CN" altLang="en-US" sz="2000">
                <a:sym typeface="+mn-ea"/>
              </a:rPr>
              <a:t>；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和设备是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异步</a:t>
            </a:r>
            <a:r>
              <a:rPr lang="zh-CN" altLang="en-US" sz="2000">
                <a:sym typeface="+mn-ea"/>
              </a:rPr>
              <a:t>的。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en-US" altLang="zh-CN" sz="2000">
                <a:sym typeface="+mn-ea"/>
              </a:rPr>
              <a:t>“Don't </a:t>
            </a:r>
            <a:r>
              <a:rPr lang="en-US" altLang="zh-CN" sz="2000">
                <a:sym typeface="+mn-ea"/>
              </a:rPr>
              <a:t>call me; I’ll call you.”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中断服务程序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Interrupt Service Routine (ISR)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由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在响应中断时，自动调用的一段对应于中断号的特殊过程。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也叫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中断例行程序</a:t>
            </a:r>
            <a:r>
              <a:rPr lang="zh-CN" altLang="en-US" sz="2000">
                <a:sym typeface="+mn-ea"/>
              </a:rPr>
              <a:t>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中断向量（Interrupt Vector）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cxnSp>
        <p:nvCxnSpPr>
          <p:cNvPr id="64" name="直接箭头连接符 63"/>
          <p:cNvCxnSpPr>
            <a:endCxn id="72" idx="0"/>
          </p:cNvCxnSpPr>
          <p:nvPr/>
        </p:nvCxnSpPr>
        <p:spPr>
          <a:xfrm>
            <a:off x="4827905" y="4572635"/>
            <a:ext cx="635" cy="1534160"/>
          </a:xfrm>
          <a:prstGeom prst="straightConnector1">
            <a:avLst/>
          </a:prstGeom>
          <a:ln w="63500">
            <a:solidFill>
              <a:srgbClr val="9C0B15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图: 过程 8"/>
          <p:cNvSpPr/>
          <p:nvPr/>
        </p:nvSpPr>
        <p:spPr>
          <a:xfrm>
            <a:off x="7572375" y="5050155"/>
            <a:ext cx="1193800" cy="50355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流程</a:t>
            </a:r>
            <a:endParaRPr lang="zh-CN" altLang="en-US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8169275" y="5553710"/>
            <a:ext cx="0" cy="553085"/>
          </a:xfrm>
          <a:prstGeom prst="straightConnector1">
            <a:avLst/>
          </a:prstGeom>
          <a:ln w="63500">
            <a:solidFill>
              <a:srgbClr val="9C0B15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流程图: 终止 16"/>
          <p:cNvSpPr/>
          <p:nvPr/>
        </p:nvSpPr>
        <p:spPr>
          <a:xfrm>
            <a:off x="7572375" y="4069080"/>
            <a:ext cx="1193800" cy="503555"/>
          </a:xfrm>
          <a:prstGeom prst="flowChartTerminato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开始</a:t>
            </a:r>
            <a:endParaRPr lang="zh-CN" altLang="en-US"/>
          </a:p>
        </p:txBody>
      </p:sp>
      <p:cxnSp>
        <p:nvCxnSpPr>
          <p:cNvPr id="25" name="直接箭头连接符 24"/>
          <p:cNvCxnSpPr>
            <a:stCxn id="17" idx="2"/>
          </p:cNvCxnSpPr>
          <p:nvPr/>
        </p:nvCxnSpPr>
        <p:spPr>
          <a:xfrm>
            <a:off x="8169275" y="4572635"/>
            <a:ext cx="0" cy="499110"/>
          </a:xfrm>
          <a:prstGeom prst="straightConnector1">
            <a:avLst/>
          </a:prstGeom>
          <a:ln w="63500">
            <a:solidFill>
              <a:srgbClr val="9C0B15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流程图: 终止 25"/>
          <p:cNvSpPr/>
          <p:nvPr/>
        </p:nvSpPr>
        <p:spPr>
          <a:xfrm>
            <a:off x="7572375" y="6106795"/>
            <a:ext cx="1193800" cy="503555"/>
          </a:xfrm>
          <a:prstGeom prst="flowChartTerminato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返回</a:t>
            </a:r>
            <a:endParaRPr lang="zh-CN" altLang="en-US"/>
          </a:p>
        </p:txBody>
      </p:sp>
      <p:cxnSp>
        <p:nvCxnSpPr>
          <p:cNvPr id="67" name="直接箭头连接符 66"/>
          <p:cNvCxnSpPr>
            <a:endCxn id="17" idx="1"/>
          </p:cNvCxnSpPr>
          <p:nvPr/>
        </p:nvCxnSpPr>
        <p:spPr>
          <a:xfrm flipV="1">
            <a:off x="4799330" y="4321175"/>
            <a:ext cx="2773045" cy="92964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stCxn id="26" idx="1"/>
          </p:cNvCxnSpPr>
          <p:nvPr/>
        </p:nvCxnSpPr>
        <p:spPr>
          <a:xfrm flipH="1" flipV="1">
            <a:off x="4819015" y="5260340"/>
            <a:ext cx="2753360" cy="109855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流程图: 过程 70"/>
          <p:cNvSpPr/>
          <p:nvPr/>
        </p:nvSpPr>
        <p:spPr>
          <a:xfrm>
            <a:off x="4231005" y="4079875"/>
            <a:ext cx="1193800" cy="50355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流程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72" name="流程图: 过程 71"/>
          <p:cNvSpPr/>
          <p:nvPr/>
        </p:nvSpPr>
        <p:spPr>
          <a:xfrm>
            <a:off x="4231640" y="6106795"/>
            <a:ext cx="1193800" cy="50355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流程</a:t>
            </a:r>
            <a:r>
              <a:rPr lang="en-US" altLang="zh-CN"/>
              <a:t>N</a:t>
            </a:r>
            <a:endParaRPr lang="en-US" altLang="zh-CN"/>
          </a:p>
        </p:txBody>
      </p:sp>
      <p:sp>
        <p:nvSpPr>
          <p:cNvPr id="73" name="右箭头标注 72"/>
          <p:cNvSpPr/>
          <p:nvPr/>
        </p:nvSpPr>
        <p:spPr>
          <a:xfrm>
            <a:off x="1101090" y="4949190"/>
            <a:ext cx="2315845" cy="705485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6283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看起来很像过程</a:t>
            </a:r>
            <a:r>
              <a:rPr lang="en-US" altLang="zh-CN"/>
              <a:t>...</a:t>
            </a:r>
            <a:endParaRPr lang="en-US" altLang="zh-CN"/>
          </a:p>
        </p:txBody>
      </p:sp>
      <p:pic>
        <p:nvPicPr>
          <p:cNvPr id="77" name="图片 76" descr="templates\docerresourceshop\icons\\3b343132333733313bc9c1b5e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4231005" y="4744720"/>
            <a:ext cx="568325" cy="5060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中断输入输出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中断</a:t>
            </a:r>
            <a:r>
              <a:rPr lang="zh-CN" altLang="en-US" sz="2000" b="1">
                <a:solidFill>
                  <a:srgbClr val="9C0B15"/>
                </a:solidFill>
              </a:rPr>
              <a:t>响应流程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/>
            <a:r>
              <a:rPr lang="zh-CN" altLang="en-US" sz="2000">
                <a:sym typeface="+mn-ea"/>
              </a:rPr>
              <a:t>当中断来临时，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执行完当前正在执行的指令，就跳转去ISR</a:t>
            </a:r>
            <a:r>
              <a:rPr lang="zh-CN" altLang="en-US" sz="2000">
                <a:sym typeface="+mn-ea"/>
              </a:rPr>
              <a:t>，且</a:t>
            </a:r>
            <a:r>
              <a:rPr lang="en-US" altLang="zh-CN" sz="2000">
                <a:sym typeface="+mn-ea"/>
              </a:rPr>
              <a:t>IRET</a:t>
            </a:r>
            <a:r>
              <a:rPr lang="zh-CN" altLang="en-US" sz="2000">
                <a:sym typeface="+mn-ea"/>
              </a:rPr>
              <a:t>返回时返回到下一条指令处。当然，某些特殊情况不是这样，这要看处理器的设计。（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）如果指令本身是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REP字符串指令</a:t>
            </a:r>
            <a:r>
              <a:rPr lang="zh-CN" altLang="en-US" sz="2000">
                <a:sym typeface="+mn-ea"/>
              </a:rPr>
              <a:t>，则执行完一次拷贝就跳转去</a:t>
            </a:r>
            <a:r>
              <a:rPr lang="en-US" altLang="zh-CN" sz="2000">
                <a:sym typeface="+mn-ea"/>
              </a:rPr>
              <a:t>ISR</a:t>
            </a:r>
            <a:r>
              <a:rPr lang="zh-CN" altLang="en-US" sz="2000">
                <a:sym typeface="+mn-ea"/>
              </a:rPr>
              <a:t>，且</a:t>
            </a:r>
            <a:r>
              <a:rPr lang="en-US" altLang="zh-CN" sz="2000">
                <a:sym typeface="+mn-ea"/>
              </a:rPr>
              <a:t>IRET</a:t>
            </a:r>
            <a:r>
              <a:rPr lang="zh-CN" altLang="en-US" sz="2000">
                <a:sym typeface="+mn-ea"/>
              </a:rPr>
              <a:t>返回时仍回到指令本身以继续拷贝；（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）如果中断是一个异常，则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IRET返回到指令本身再次尝试执行</a:t>
            </a:r>
            <a:r>
              <a:rPr lang="zh-CN" altLang="en-US" sz="2000">
                <a:sym typeface="+mn-ea"/>
              </a:rPr>
              <a:t>；（</a:t>
            </a:r>
            <a:r>
              <a:rPr lang="en-US" altLang="zh-CN" sz="2000">
                <a:sym typeface="+mn-ea"/>
              </a:rPr>
              <a:t>3</a:t>
            </a:r>
            <a:r>
              <a:rPr lang="zh-CN" altLang="en-US" sz="2000">
                <a:sym typeface="+mn-ea"/>
              </a:rPr>
              <a:t>）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STI、IRET指令以及操作段寄存器的指令</a:t>
            </a:r>
            <a:r>
              <a:rPr lang="zh-CN" altLang="en-US" sz="2000">
                <a:sym typeface="+mn-ea"/>
              </a:rPr>
              <a:t>会导致执行完本指令之后再</a:t>
            </a:r>
            <a:r>
              <a:rPr lang="zh-CN" altLang="en-US" sz="2000">
                <a:sym typeface="+mn-ea"/>
              </a:rPr>
              <a:t>执行指令才响应</a:t>
            </a:r>
            <a:r>
              <a:rPr lang="zh-CN" altLang="en-US" sz="2000">
                <a:sym typeface="+mn-ea"/>
              </a:rPr>
              <a:t>中断。</a:t>
            </a:r>
            <a:endParaRPr lang="zh-CN" altLang="en-US" sz="2000">
              <a:sym typeface="+mn-ea"/>
            </a:endParaRPr>
          </a:p>
        </p:txBody>
      </p:sp>
      <p:sp>
        <p:nvSpPr>
          <p:cNvPr id="5" name="流程图: 过程 4"/>
          <p:cNvSpPr/>
          <p:nvPr/>
        </p:nvSpPr>
        <p:spPr>
          <a:xfrm>
            <a:off x="2701925" y="1300480"/>
            <a:ext cx="1826260" cy="503555"/>
          </a:xfrm>
          <a:prstGeom prst="flowChartProcess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压栈</a:t>
            </a:r>
            <a:r>
              <a:rPr lang="en-US" altLang="zh-CN"/>
              <a:t>FLAGS/CS/</a:t>
            </a:r>
            <a:r>
              <a:rPr lang="en-US" altLang="zh-CN"/>
              <a:t>IP</a:t>
            </a:r>
            <a:endParaRPr lang="en-US" altLang="zh-CN"/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2018665" y="1551305"/>
            <a:ext cx="677545" cy="1905"/>
          </a:xfrm>
          <a:prstGeom prst="straightConnector1">
            <a:avLst/>
          </a:prstGeom>
          <a:ln w="63500">
            <a:solidFill>
              <a:srgbClr val="9C0B1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图: 终止 6"/>
          <p:cNvSpPr/>
          <p:nvPr/>
        </p:nvSpPr>
        <p:spPr>
          <a:xfrm>
            <a:off x="191770" y="1300480"/>
            <a:ext cx="1826895" cy="503555"/>
          </a:xfrm>
          <a:prstGeom prst="flowChartTermina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中断</a:t>
            </a:r>
            <a:r>
              <a:rPr lang="zh-CN" altLang="en-US"/>
              <a:t>信号</a:t>
            </a:r>
            <a:endParaRPr lang="zh-CN" altLang="en-US"/>
          </a:p>
        </p:txBody>
      </p:sp>
      <p:cxnSp>
        <p:nvCxnSpPr>
          <p:cNvPr id="2" name="肘形连接符 1"/>
          <p:cNvCxnSpPr>
            <a:stCxn id="8" idx="2"/>
            <a:endCxn id="60" idx="3"/>
          </p:cNvCxnSpPr>
          <p:nvPr/>
        </p:nvCxnSpPr>
        <p:spPr>
          <a:xfrm rot="5400000">
            <a:off x="6937375" y="629285"/>
            <a:ext cx="521970" cy="2871470"/>
          </a:xfrm>
          <a:prstGeom prst="bentConnector2">
            <a:avLst/>
          </a:prstGeom>
          <a:ln w="63500">
            <a:solidFill>
              <a:srgbClr val="9C0B1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流程图: 终止 3"/>
          <p:cNvSpPr/>
          <p:nvPr/>
        </p:nvSpPr>
        <p:spPr>
          <a:xfrm>
            <a:off x="7720965" y="2857500"/>
            <a:ext cx="1826895" cy="503555"/>
          </a:xfrm>
          <a:prstGeom prst="flowChartTerminator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返回</a:t>
            </a:r>
            <a:endParaRPr lang="zh-CN" altLang="en-US"/>
          </a:p>
        </p:txBody>
      </p:sp>
      <p:sp>
        <p:nvSpPr>
          <p:cNvPr id="61" name="流程图: 过程 60"/>
          <p:cNvSpPr/>
          <p:nvPr/>
        </p:nvSpPr>
        <p:spPr>
          <a:xfrm>
            <a:off x="5211445" y="1300480"/>
            <a:ext cx="1826260" cy="503555"/>
          </a:xfrm>
          <a:prstGeom prst="flowChartProcess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清零</a:t>
            </a:r>
            <a:r>
              <a:rPr lang="en-US" altLang="zh-CN"/>
              <a:t>IF/</a:t>
            </a:r>
            <a:r>
              <a:rPr lang="en-US" altLang="zh-CN"/>
              <a:t>TF</a:t>
            </a:r>
            <a:endParaRPr lang="en-US" altLang="zh-CN"/>
          </a:p>
        </p:txBody>
      </p:sp>
      <p:sp>
        <p:nvSpPr>
          <p:cNvPr id="8" name="流程图: 过程 7"/>
          <p:cNvSpPr/>
          <p:nvPr/>
        </p:nvSpPr>
        <p:spPr>
          <a:xfrm>
            <a:off x="7720965" y="1300480"/>
            <a:ext cx="1826260" cy="50355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保</a:t>
            </a:r>
            <a:r>
              <a:rPr lang="zh-CN" altLang="en-US"/>
              <a:t>存寄存器</a:t>
            </a:r>
            <a:endParaRPr lang="zh-CN" altLang="en-US"/>
          </a:p>
        </p:txBody>
      </p:sp>
      <p:sp>
        <p:nvSpPr>
          <p:cNvPr id="69" name="流程图: 过程 68"/>
          <p:cNvSpPr/>
          <p:nvPr/>
        </p:nvSpPr>
        <p:spPr>
          <a:xfrm>
            <a:off x="191770" y="2857500"/>
            <a:ext cx="1827530" cy="50355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恢复寄存器</a:t>
            </a:r>
            <a:endParaRPr lang="zh-CN" altLang="en-US"/>
          </a:p>
        </p:txBody>
      </p:sp>
      <p:sp>
        <p:nvSpPr>
          <p:cNvPr id="28" name="流程图: 过程 27"/>
          <p:cNvSpPr/>
          <p:nvPr/>
        </p:nvSpPr>
        <p:spPr>
          <a:xfrm>
            <a:off x="3942715" y="2857500"/>
            <a:ext cx="1825625" cy="503555"/>
          </a:xfrm>
          <a:prstGeom prst="flowChartProcess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弹栈</a:t>
            </a:r>
            <a:r>
              <a:rPr lang="en-US" altLang="zh-CN">
                <a:sym typeface="+mn-ea"/>
              </a:rPr>
              <a:t>IP/</a:t>
            </a:r>
            <a:r>
              <a:rPr lang="en-US" altLang="zh-CN">
                <a:sym typeface="+mn-ea"/>
              </a:rPr>
              <a:t>CS/FLAGS</a:t>
            </a:r>
            <a:endParaRPr lang="en-US" altLang="zh-CN"/>
          </a:p>
        </p:txBody>
      </p:sp>
      <p:sp>
        <p:nvSpPr>
          <p:cNvPr id="60" name="流程图: 过程 59"/>
          <p:cNvSpPr/>
          <p:nvPr/>
        </p:nvSpPr>
        <p:spPr>
          <a:xfrm>
            <a:off x="3936365" y="2073910"/>
            <a:ext cx="1826260" cy="50355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中断服务</a:t>
            </a:r>
            <a:r>
              <a:rPr lang="zh-CN" altLang="en-US"/>
              <a:t>程序</a:t>
            </a:r>
            <a:endParaRPr lang="zh-CN" altLang="en-US"/>
          </a:p>
        </p:txBody>
      </p:sp>
      <p:cxnSp>
        <p:nvCxnSpPr>
          <p:cNvPr id="62" name="直接箭头连接符 61"/>
          <p:cNvCxnSpPr/>
          <p:nvPr/>
        </p:nvCxnSpPr>
        <p:spPr>
          <a:xfrm flipV="1">
            <a:off x="4516755" y="1549400"/>
            <a:ext cx="677545" cy="1905"/>
          </a:xfrm>
          <a:prstGeom prst="straightConnector1">
            <a:avLst/>
          </a:prstGeom>
          <a:ln w="63500">
            <a:solidFill>
              <a:srgbClr val="9C0B1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 flipV="1">
            <a:off x="7049135" y="1547495"/>
            <a:ext cx="677545" cy="1905"/>
          </a:xfrm>
          <a:prstGeom prst="straightConnector1">
            <a:avLst/>
          </a:prstGeom>
          <a:ln w="63500">
            <a:solidFill>
              <a:srgbClr val="9C0B1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肘形连接符 74"/>
          <p:cNvCxnSpPr>
            <a:stCxn id="60" idx="1"/>
            <a:endCxn id="69" idx="0"/>
          </p:cNvCxnSpPr>
          <p:nvPr/>
        </p:nvCxnSpPr>
        <p:spPr>
          <a:xfrm rot="10800000" flipV="1">
            <a:off x="1105535" y="2326005"/>
            <a:ext cx="2830830" cy="531495"/>
          </a:xfrm>
          <a:prstGeom prst="bentConnector2">
            <a:avLst/>
          </a:prstGeom>
          <a:ln w="63500">
            <a:solidFill>
              <a:srgbClr val="9C0B1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>
            <a:stCxn id="69" idx="3"/>
            <a:endCxn id="28" idx="1"/>
          </p:cNvCxnSpPr>
          <p:nvPr/>
        </p:nvCxnSpPr>
        <p:spPr>
          <a:xfrm>
            <a:off x="2019300" y="3109595"/>
            <a:ext cx="1923415" cy="0"/>
          </a:xfrm>
          <a:prstGeom prst="straightConnector1">
            <a:avLst/>
          </a:prstGeom>
          <a:ln w="63500">
            <a:solidFill>
              <a:srgbClr val="9C0B1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stCxn id="28" idx="3"/>
          </p:cNvCxnSpPr>
          <p:nvPr/>
        </p:nvCxnSpPr>
        <p:spPr>
          <a:xfrm>
            <a:off x="5768340" y="3109595"/>
            <a:ext cx="1958340" cy="2540"/>
          </a:xfrm>
          <a:prstGeom prst="straightConnector1">
            <a:avLst/>
          </a:prstGeom>
          <a:ln w="63500">
            <a:solidFill>
              <a:srgbClr val="9C0B1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图片 62" descr="templates\docerresourceshop\icons\\3b343132333733313bc9c1b5e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34060" y="674370"/>
            <a:ext cx="568325" cy="506095"/>
          </a:xfrm>
          <a:prstGeom prst="rect">
            <a:avLst/>
          </a:prstGeom>
        </p:spPr>
      </p:pic>
      <p:sp>
        <p:nvSpPr>
          <p:cNvPr id="65" name="椭圆 64"/>
          <p:cNvSpPr/>
          <p:nvPr/>
        </p:nvSpPr>
        <p:spPr>
          <a:xfrm>
            <a:off x="1781810" y="3632835"/>
            <a:ext cx="914400" cy="9144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设备</a:t>
            </a:r>
            <a:endParaRPr lang="zh-CN" altLang="en-US"/>
          </a:p>
        </p:txBody>
      </p:sp>
      <p:sp>
        <p:nvSpPr>
          <p:cNvPr id="66" name="椭圆 65"/>
          <p:cNvSpPr/>
          <p:nvPr/>
        </p:nvSpPr>
        <p:spPr>
          <a:xfrm>
            <a:off x="4392295" y="3632835"/>
            <a:ext cx="914400" cy="914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CPU</a:t>
            </a:r>
            <a:endParaRPr lang="en-US" altLang="zh-CN"/>
          </a:p>
        </p:txBody>
      </p:sp>
      <p:sp>
        <p:nvSpPr>
          <p:cNvPr id="68" name="椭圆 67"/>
          <p:cNvSpPr/>
          <p:nvPr/>
        </p:nvSpPr>
        <p:spPr>
          <a:xfrm>
            <a:off x="6806565" y="3632835"/>
            <a:ext cx="914400" cy="9144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IRET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中断输入输出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中断</a:t>
            </a:r>
            <a:r>
              <a:rPr lang="zh-CN" altLang="en-US" sz="2000" b="1">
                <a:solidFill>
                  <a:srgbClr val="9C0B15"/>
                </a:solidFill>
              </a:rPr>
              <a:t>控制器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有很多外设都能生成中断，但</a:t>
            </a:r>
            <a:r>
              <a:rPr lang="en-US" altLang="zh-CN" sz="2000">
                <a:sym typeface="+mn-ea"/>
              </a:rPr>
              <a:t>8086</a:t>
            </a:r>
            <a:r>
              <a:rPr lang="zh-CN" altLang="en-US" sz="2000">
                <a:sym typeface="+mn-ea"/>
              </a:rPr>
              <a:t>的中断线中能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做通用用途的		只有INT一根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NMI</a:t>
            </a:r>
            <a:r>
              <a:rPr lang="zh-CN" altLang="en-US" sz="2000">
                <a:sym typeface="+mn-ea"/>
              </a:rPr>
              <a:t>是不可屏蔽中断，它不受中断允许位</a:t>
            </a:r>
            <a:r>
              <a:rPr lang="en-US" altLang="zh-CN" sz="2000">
                <a:sym typeface="+mn-ea"/>
              </a:rPr>
              <a:t>IF</a:t>
            </a:r>
            <a:r>
              <a:rPr lang="zh-CN" altLang="en-US" sz="2000">
                <a:sym typeface="+mn-ea"/>
              </a:rPr>
              <a:t>管制，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在系统中往往另有紧急用途）</a:t>
            </a:r>
            <a:r>
              <a:rPr lang="zh-CN" altLang="en-US" sz="2000">
                <a:sym typeface="+mn-ea"/>
              </a:rPr>
              <a:t>。怎么将外设的中断线连接到</a:t>
            </a:r>
            <a:r>
              <a:rPr lang="en-US" altLang="zh-CN" sz="2000">
                <a:sym typeface="+mn-ea"/>
              </a:rPr>
              <a:t>CPU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呢？如果有两个及以上的外设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同时发出中断请求</a:t>
            </a:r>
            <a:r>
              <a:rPr lang="zh-CN" altLang="en-US" sz="2000">
                <a:sym typeface="+mn-ea"/>
              </a:rPr>
              <a:t>，先响应谁</a:t>
            </a:r>
            <a:r>
              <a:rPr lang="zh-CN" altLang="en-US" sz="2000">
                <a:sym typeface="+mn-ea"/>
              </a:rPr>
              <a:t>呢？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中断控制器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当有多个可能产生中断的外设时，需要中断控制器介入。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设备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的中断线全部连接到中断控制器，而中断控制器引出一根INT线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连接到CPU</a:t>
            </a:r>
            <a:r>
              <a:rPr lang="zh-CN" altLang="en-US" sz="2000">
                <a:sym typeface="+mn-ea"/>
              </a:rPr>
              <a:t>。中断到来时，中断控制器决定哪个中断需要被优先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响应，并在发出</a:t>
            </a:r>
            <a:r>
              <a:rPr lang="en-US" altLang="zh-CN" sz="2000">
                <a:sym typeface="+mn-ea"/>
              </a:rPr>
              <a:t>INT</a:t>
            </a:r>
            <a:r>
              <a:rPr lang="zh-CN" altLang="en-US" sz="2000">
                <a:sym typeface="+mn-ea"/>
              </a:rPr>
              <a:t>信号时将该中断的中断号送给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将对应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中断服务程序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激活</a:t>
            </a:r>
            <a:r>
              <a:rPr lang="zh-CN" altLang="en-US" sz="2000">
                <a:sym typeface="+mn-ea"/>
              </a:rPr>
              <a:t>。该编号又称为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中断向量号</a:t>
            </a:r>
            <a:r>
              <a:rPr lang="zh-CN" altLang="en-US" sz="2000">
                <a:sym typeface="+mn-ea"/>
              </a:rPr>
              <a:t>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中断类型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它与中断服务程序入口是一一</a:t>
            </a:r>
            <a:r>
              <a:rPr lang="zh-CN" altLang="en-US" sz="2000">
                <a:sym typeface="+mn-ea"/>
              </a:rPr>
              <a:t>对应的。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8259A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常与8086配套使用的一种中断控制器，具备8个中断输入源，且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可以选择电平触发或跳变沿触发。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电平触发时，对应的中断线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只要是高电平，就意味着中断源持续有效；跳变沿触发时，只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有对应的中断源在从低电平变为高电平时才有效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操作方法</a:t>
            </a:r>
            <a:r>
              <a:rPr lang="en-US" altLang="zh-CN" sz="2000">
                <a:sym typeface="+mn-ea"/>
              </a:rPr>
              <a:t>	8259A</a:t>
            </a:r>
            <a:r>
              <a:rPr lang="zh-CN" altLang="en-US" sz="2000">
                <a:sym typeface="+mn-ea"/>
              </a:rPr>
              <a:t>使用前需要初始化，将</a:t>
            </a:r>
            <a:r>
              <a:rPr lang="en-US" altLang="zh-CN" sz="2000">
                <a:sym typeface="+mn-ea"/>
              </a:rPr>
              <a:t>OCW</a:t>
            </a:r>
            <a:r>
              <a:rPr lang="zh-CN" altLang="en-US" sz="2000">
                <a:sym typeface="+mn-ea"/>
              </a:rPr>
              <a:t>中欲允许的中断对应的位清零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来允许它们。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在响应中断后，还要通知8259A以开放下次中断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中断输入输出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中断</a:t>
            </a:r>
            <a:r>
              <a:rPr lang="zh-CN" altLang="en-US" sz="2000" b="1">
                <a:solidFill>
                  <a:srgbClr val="9C0B15"/>
                </a:solidFill>
              </a:rPr>
              <a:t>向量表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	</a:t>
            </a:r>
            <a:r>
              <a:rPr lang="en-US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得到了中断向量号，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它到哪里去寻找</a:t>
            </a:r>
            <a:r>
              <a:rPr lang="zh-CN" altLang="en-US" sz="2000">
                <a:sym typeface="+mn-ea"/>
              </a:rPr>
              <a:t>对应的中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断</a:t>
            </a:r>
            <a:r>
              <a:rPr lang="zh-CN" altLang="en-US" sz="2000">
                <a:sym typeface="+mn-ea"/>
              </a:rPr>
              <a:t>向量呢？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中断向量表</a:t>
            </a:r>
            <a:r>
              <a:rPr lang="en-US" altLang="zh-CN" sz="2000">
                <a:sym typeface="+mn-ea"/>
              </a:rPr>
              <a:t>	CPU</a:t>
            </a:r>
            <a:r>
              <a:rPr lang="zh-CN" altLang="en-US" sz="2000">
                <a:sym typeface="+mn-ea"/>
              </a:rPr>
              <a:t>查询中断向量的入口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时使用的</a:t>
            </a:r>
            <a:r>
              <a:rPr lang="zh-CN" altLang="en-US" sz="2000">
                <a:sym typeface="+mn-ea"/>
              </a:rPr>
              <a:t>表格。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设立向量表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向量表可以由以下</a:t>
            </a:r>
            <a:r>
              <a:rPr lang="zh-CN" altLang="en-US" sz="2000">
                <a:sym typeface="+mn-ea"/>
              </a:rPr>
              <a:t>两种方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法</a:t>
            </a:r>
            <a:r>
              <a:rPr lang="zh-CN" altLang="en-US" sz="2000">
                <a:sym typeface="+mn-ea"/>
              </a:rPr>
              <a:t>访问：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1. 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由用户程序直接读写对</a:t>
            </a:r>
            <a:endParaRPr lang="zh-CN" altLang="en-US" sz="2000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应的中断向量</a:t>
            </a:r>
            <a:endParaRPr lang="zh-CN" altLang="en-US" sz="2000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对于向量号</a:t>
            </a:r>
            <a:r>
              <a:rPr lang="en-US" altLang="zh-CN" sz="2000">
                <a:sym typeface="+mn-ea"/>
              </a:rPr>
              <a:t>N</a:t>
            </a:r>
            <a:r>
              <a:rPr lang="zh-CN" altLang="en-US" sz="2000">
                <a:sym typeface="+mn-ea"/>
              </a:rPr>
              <a:t>，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en-US" altLang="zh-CN" sz="2000">
                <a:sym typeface="+mn-ea"/>
              </a:rPr>
              <a:t>IP</a:t>
            </a:r>
            <a:r>
              <a:rPr lang="zh-CN" altLang="en-US" sz="2000">
                <a:sym typeface="+mn-ea"/>
              </a:rPr>
              <a:t>存放在</a:t>
            </a:r>
            <a:r>
              <a:rPr lang="en-US" altLang="zh-CN" sz="2000">
                <a:sym typeface="+mn-ea"/>
              </a:rPr>
              <a:t>[0000:4N]</a:t>
            </a:r>
            <a:r>
              <a:rPr lang="zh-CN" altLang="en-US" sz="2000">
                <a:sym typeface="+mn-ea"/>
              </a:rPr>
              <a:t>，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en-US" altLang="zh-CN" sz="2000">
                <a:sym typeface="+mn-ea"/>
              </a:rPr>
              <a:t>CS</a:t>
            </a:r>
            <a:r>
              <a:rPr lang="zh-CN" altLang="en-US" sz="2000">
                <a:sym typeface="+mn-ea"/>
              </a:rPr>
              <a:t>则存放在</a:t>
            </a:r>
            <a:r>
              <a:rPr lang="en-US" altLang="zh-CN" sz="2000">
                <a:sym typeface="+mn-ea"/>
              </a:rPr>
              <a:t>[0000:4N+2]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2. 使用DOS系统调用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marL="0" lvl="2"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写入</a:t>
            </a:r>
            <a:r>
              <a:rPr lang="zh-CN" altLang="en-US" sz="2000">
                <a:sym typeface="+mn-ea"/>
              </a:rPr>
              <a:t>中断向量：AH=25H</a:t>
            </a:r>
            <a:r>
              <a:rPr lang="zh-CN" altLang="en-US" sz="2000"/>
              <a:t>，</a:t>
            </a:r>
            <a:r>
              <a:rPr lang="zh-CN" altLang="en-US" sz="2000">
                <a:sym typeface="+mn-ea"/>
              </a:rPr>
              <a:t>AL=中断</a:t>
            </a:r>
            <a:r>
              <a:rPr lang="zh-CN" altLang="en-US" sz="2000">
                <a:sym typeface="+mn-ea"/>
              </a:rPr>
              <a:t>向量号，DS:DX=中断向量</a:t>
            </a:r>
            <a:endParaRPr lang="zh-CN" altLang="en-US" sz="2000"/>
          </a:p>
          <a:p>
            <a:pPr marL="0" lvl="2"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INT  21H</a:t>
            </a:r>
            <a:endParaRPr lang="zh-CN" altLang="en-US" sz="2000"/>
          </a:p>
          <a:p>
            <a:pPr marL="0" lvl="2"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读取中断向量：AH=35H，AL=中断</a:t>
            </a:r>
            <a:r>
              <a:rPr lang="zh-CN" altLang="en-US" sz="2000">
                <a:sym typeface="+mn-ea"/>
              </a:rPr>
              <a:t>向量</a:t>
            </a:r>
            <a:r>
              <a:rPr lang="zh-CN" altLang="en-US" sz="2000">
                <a:sym typeface="+mn-ea"/>
              </a:rPr>
              <a:t>号</a:t>
            </a:r>
            <a:endParaRPr lang="zh-CN" altLang="en-US" sz="2000"/>
          </a:p>
          <a:p>
            <a:pPr marL="0" lvl="2"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INT  21H，返回时送ES:BX=中断向量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5173345" y="576580"/>
          <a:ext cx="4387215" cy="4754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79245"/>
                <a:gridCol w="1065530"/>
                <a:gridCol w="1742440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地址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向量号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意义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0000:0000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0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除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0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异常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0000:0004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单步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陷阱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0000:0008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NMI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中断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0000:000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INT3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中断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0000:0010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4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INTO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中断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0000:0014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5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保留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...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...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...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0000:007C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31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保留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0000:0080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32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可用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中断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...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...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...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0000:03F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255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可用中断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7" name="右箭头标注 16"/>
          <p:cNvSpPr/>
          <p:nvPr/>
        </p:nvSpPr>
        <p:spPr>
          <a:xfrm>
            <a:off x="333375" y="3672840"/>
            <a:ext cx="1800225" cy="2585085"/>
          </a:xfrm>
          <a:prstGeom prst="rightArrowCallout">
            <a:avLst>
              <a:gd name="adj1" fmla="val 16024"/>
              <a:gd name="adj2" fmla="val 22013"/>
              <a:gd name="adj3" fmla="val 14588"/>
              <a:gd name="adj4" fmla="val 75913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胡乱操作向量表可能让系统立即死机；如果选择自行写入中断向量，写</a:t>
            </a:r>
            <a:r>
              <a:rPr lang="zh-CN" altLang="en-US"/>
              <a:t>前请务必关中断，保证</a:t>
            </a:r>
            <a:r>
              <a:rPr lang="zh-CN" altLang="en-US"/>
              <a:t>原子性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中断输入输出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中断</a:t>
            </a:r>
            <a:r>
              <a:rPr lang="zh-CN" altLang="en-US" sz="2000" b="1">
                <a:solidFill>
                  <a:srgbClr val="9C0B15"/>
                </a:solidFill>
              </a:rPr>
              <a:t>嵌套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当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正在响应中断时，如果下一个更紧急、更重要的中断来了，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它也必须等待上一个中断退出才能</a:t>
            </a:r>
            <a:r>
              <a:rPr lang="zh-CN" altLang="en-US" sz="2000">
                <a:sym typeface="+mn-ea"/>
              </a:rPr>
              <a:t>执行。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中断嵌套</a:t>
            </a:r>
            <a:r>
              <a:rPr lang="en-US" altLang="zh-CN" sz="2000">
                <a:sym typeface="+mn-ea"/>
              </a:rPr>
              <a:t>	CPU</a:t>
            </a:r>
            <a:r>
              <a:rPr lang="zh-CN" altLang="en-US" sz="2000">
                <a:sym typeface="+mn-ea"/>
              </a:rPr>
              <a:t>一旦进入中断，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IF就被清零</a:t>
            </a:r>
            <a:r>
              <a:rPr lang="zh-CN" altLang="en-US" sz="2000">
                <a:sym typeface="+mn-ea"/>
              </a:rPr>
              <a:t>，这意味着它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无法再响应任何中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断</a:t>
            </a:r>
            <a:r>
              <a:rPr lang="zh-CN" altLang="en-US" sz="2000">
                <a:sym typeface="+mn-ea"/>
              </a:rPr>
              <a:t>。但在中断程序中可以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通过STI来手动置位IF</a:t>
            </a:r>
            <a:r>
              <a:rPr lang="zh-CN" altLang="en-US" sz="2000">
                <a:sym typeface="+mn-ea"/>
              </a:rPr>
              <a:t>，这样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就又可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响应优先级比当前中断高的中断</a:t>
            </a:r>
            <a:r>
              <a:rPr lang="zh-CN" altLang="en-US" sz="2000">
                <a:sym typeface="+mn-ea"/>
              </a:rPr>
              <a:t>了。在很多实时系统中，一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进入中断就直接执行</a:t>
            </a:r>
            <a:r>
              <a:rPr lang="en-US" altLang="zh-CN" sz="2000">
                <a:sym typeface="+mn-ea"/>
              </a:rPr>
              <a:t>STI</a:t>
            </a:r>
            <a:r>
              <a:rPr lang="zh-CN" altLang="en-US" sz="2000">
                <a:sym typeface="+mn-ea"/>
              </a:rPr>
              <a:t>来置位</a:t>
            </a:r>
            <a:r>
              <a:rPr lang="en-US" altLang="zh-CN" sz="2000">
                <a:sym typeface="+mn-ea"/>
              </a:rPr>
              <a:t>IF</a:t>
            </a:r>
            <a:r>
              <a:rPr lang="zh-CN" altLang="en-US" sz="2000">
                <a:sym typeface="+mn-ea"/>
              </a:rPr>
              <a:t>能保证高优先级中断得到最快响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应。但是，一个中断无法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嵌套自己（无法递归）</a:t>
            </a:r>
            <a:r>
              <a:rPr lang="zh-CN" altLang="en-US" sz="2000">
                <a:sym typeface="+mn-ea"/>
              </a:rPr>
              <a:t>，因为自己和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自己的优先级是</a:t>
            </a:r>
            <a:r>
              <a:rPr lang="zh-CN" altLang="en-US" sz="2000">
                <a:sym typeface="+mn-ea"/>
              </a:rPr>
              <a:t>一样高的。</a:t>
            </a:r>
            <a:endParaRPr lang="zh-CN" altLang="en-US" sz="2000">
              <a:sym typeface="+mn-ea"/>
            </a:endParaRPr>
          </a:p>
        </p:txBody>
      </p:sp>
      <p:cxnSp>
        <p:nvCxnSpPr>
          <p:cNvPr id="64" name="直接箭头连接符 63"/>
          <p:cNvCxnSpPr>
            <a:endCxn id="72" idx="0"/>
          </p:cNvCxnSpPr>
          <p:nvPr/>
        </p:nvCxnSpPr>
        <p:spPr>
          <a:xfrm>
            <a:off x="1565910" y="4587875"/>
            <a:ext cx="635" cy="1534160"/>
          </a:xfrm>
          <a:prstGeom prst="straightConnector1">
            <a:avLst/>
          </a:prstGeom>
          <a:ln w="63500">
            <a:solidFill>
              <a:srgbClr val="9C0B15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图: 过程 8"/>
          <p:cNvSpPr/>
          <p:nvPr/>
        </p:nvSpPr>
        <p:spPr>
          <a:xfrm>
            <a:off x="4310380" y="4916170"/>
            <a:ext cx="1193800" cy="50355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流程</a:t>
            </a:r>
            <a:endParaRPr lang="zh-CN" altLang="en-US"/>
          </a:p>
        </p:txBody>
      </p:sp>
      <p:cxnSp>
        <p:nvCxnSpPr>
          <p:cNvPr id="15" name="直接箭头连接符 14"/>
          <p:cNvCxnSpPr>
            <a:stCxn id="9" idx="2"/>
            <a:endCxn id="26" idx="0"/>
          </p:cNvCxnSpPr>
          <p:nvPr/>
        </p:nvCxnSpPr>
        <p:spPr>
          <a:xfrm>
            <a:off x="4907280" y="5419725"/>
            <a:ext cx="0" cy="702310"/>
          </a:xfrm>
          <a:prstGeom prst="straightConnector1">
            <a:avLst/>
          </a:prstGeom>
          <a:ln w="63500">
            <a:solidFill>
              <a:srgbClr val="9C0B15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流程图: 终止 16"/>
          <p:cNvSpPr/>
          <p:nvPr/>
        </p:nvSpPr>
        <p:spPr>
          <a:xfrm>
            <a:off x="4310380" y="4084320"/>
            <a:ext cx="1193800" cy="503555"/>
          </a:xfrm>
          <a:prstGeom prst="flowChartTerminato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开始</a:t>
            </a:r>
            <a:endParaRPr lang="zh-CN" altLang="en-US"/>
          </a:p>
        </p:txBody>
      </p:sp>
      <p:cxnSp>
        <p:nvCxnSpPr>
          <p:cNvPr id="25" name="直接箭头连接符 24"/>
          <p:cNvCxnSpPr>
            <a:stCxn id="17" idx="2"/>
            <a:endCxn id="9" idx="0"/>
          </p:cNvCxnSpPr>
          <p:nvPr/>
        </p:nvCxnSpPr>
        <p:spPr>
          <a:xfrm>
            <a:off x="4907280" y="4587875"/>
            <a:ext cx="0" cy="328295"/>
          </a:xfrm>
          <a:prstGeom prst="straightConnector1">
            <a:avLst/>
          </a:prstGeom>
          <a:ln w="63500">
            <a:solidFill>
              <a:srgbClr val="9C0B15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流程图: 终止 25"/>
          <p:cNvSpPr/>
          <p:nvPr/>
        </p:nvSpPr>
        <p:spPr>
          <a:xfrm>
            <a:off x="4310380" y="6122035"/>
            <a:ext cx="1193800" cy="503555"/>
          </a:xfrm>
          <a:prstGeom prst="flowChartTerminato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返回</a:t>
            </a:r>
            <a:endParaRPr lang="zh-CN" altLang="en-US"/>
          </a:p>
        </p:txBody>
      </p:sp>
      <p:cxnSp>
        <p:nvCxnSpPr>
          <p:cNvPr id="67" name="直接箭头连接符 66"/>
          <p:cNvCxnSpPr>
            <a:endCxn id="17" idx="1"/>
          </p:cNvCxnSpPr>
          <p:nvPr/>
        </p:nvCxnSpPr>
        <p:spPr>
          <a:xfrm flipV="1">
            <a:off x="1537335" y="4336415"/>
            <a:ext cx="2773045" cy="92964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stCxn id="26" idx="1"/>
          </p:cNvCxnSpPr>
          <p:nvPr/>
        </p:nvCxnSpPr>
        <p:spPr>
          <a:xfrm flipH="1" flipV="1">
            <a:off x="1557020" y="5275580"/>
            <a:ext cx="2753360" cy="109855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流程图: 过程 70"/>
          <p:cNvSpPr/>
          <p:nvPr/>
        </p:nvSpPr>
        <p:spPr>
          <a:xfrm>
            <a:off x="969010" y="4095115"/>
            <a:ext cx="1193800" cy="50355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流程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72" name="流程图: 过程 71"/>
          <p:cNvSpPr/>
          <p:nvPr/>
        </p:nvSpPr>
        <p:spPr>
          <a:xfrm>
            <a:off x="969645" y="6122035"/>
            <a:ext cx="1193800" cy="50355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流程</a:t>
            </a:r>
            <a:r>
              <a:rPr lang="en-US" altLang="zh-CN"/>
              <a:t>N</a:t>
            </a:r>
            <a:endParaRPr lang="en-US" altLang="zh-CN"/>
          </a:p>
        </p:txBody>
      </p:sp>
      <p:pic>
        <p:nvPicPr>
          <p:cNvPr id="77" name="图片 76" descr="templates\docerresourceshop\icons\\3b343132333733313bc9c1b5e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969010" y="4759960"/>
            <a:ext cx="568325" cy="506095"/>
          </a:xfrm>
          <a:prstGeom prst="rect">
            <a:avLst/>
          </a:prstGeom>
        </p:spPr>
      </p:pic>
      <p:sp>
        <p:nvSpPr>
          <p:cNvPr id="4" name="流程图: 过程 3"/>
          <p:cNvSpPr/>
          <p:nvPr/>
        </p:nvSpPr>
        <p:spPr>
          <a:xfrm>
            <a:off x="7644765" y="5065395"/>
            <a:ext cx="1193800" cy="503555"/>
          </a:xfrm>
          <a:prstGeom prst="flowChartProcess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流程</a:t>
            </a:r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>
            <a:off x="8241665" y="5568950"/>
            <a:ext cx="0" cy="553085"/>
          </a:xfrm>
          <a:prstGeom prst="straightConnector1">
            <a:avLst/>
          </a:prstGeom>
          <a:solidFill>
            <a:srgbClr val="FFC000"/>
          </a:solidFill>
          <a:ln w="63500">
            <a:solidFill>
              <a:srgbClr val="FFC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流程图: 终止 5"/>
          <p:cNvSpPr/>
          <p:nvPr/>
        </p:nvSpPr>
        <p:spPr>
          <a:xfrm>
            <a:off x="7644765" y="4084320"/>
            <a:ext cx="1193800" cy="503555"/>
          </a:xfrm>
          <a:prstGeom prst="flowChartTermina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开始</a:t>
            </a:r>
            <a:endParaRPr lang="zh-CN" altLang="en-US"/>
          </a:p>
        </p:txBody>
      </p:sp>
      <p:cxnSp>
        <p:nvCxnSpPr>
          <p:cNvPr id="7" name="直接箭头连接符 6"/>
          <p:cNvCxnSpPr>
            <a:stCxn id="6" idx="2"/>
          </p:cNvCxnSpPr>
          <p:nvPr/>
        </p:nvCxnSpPr>
        <p:spPr>
          <a:xfrm>
            <a:off x="8241665" y="4587875"/>
            <a:ext cx="0" cy="499110"/>
          </a:xfrm>
          <a:prstGeom prst="straightConnector1">
            <a:avLst/>
          </a:prstGeom>
          <a:solidFill>
            <a:srgbClr val="FFC000"/>
          </a:solidFill>
          <a:ln w="63500">
            <a:solidFill>
              <a:srgbClr val="FFC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流程图: 终止 7"/>
          <p:cNvSpPr/>
          <p:nvPr/>
        </p:nvSpPr>
        <p:spPr>
          <a:xfrm>
            <a:off x="7644765" y="6122035"/>
            <a:ext cx="1193800" cy="503555"/>
          </a:xfrm>
          <a:prstGeom prst="flowChartTermina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返回</a:t>
            </a:r>
            <a:endParaRPr lang="zh-CN" altLang="en-US"/>
          </a:p>
        </p:txBody>
      </p:sp>
      <p:cxnSp>
        <p:nvCxnSpPr>
          <p:cNvPr id="28" name="直接箭头连接符 27"/>
          <p:cNvCxnSpPr>
            <a:stCxn id="8" idx="1"/>
          </p:cNvCxnSpPr>
          <p:nvPr/>
        </p:nvCxnSpPr>
        <p:spPr>
          <a:xfrm flipH="1" flipV="1">
            <a:off x="4922520" y="5793740"/>
            <a:ext cx="2722245" cy="580390"/>
          </a:xfrm>
          <a:prstGeom prst="straightConnector1">
            <a:avLst/>
          </a:prstGeom>
          <a:solidFill>
            <a:srgbClr val="FFC000"/>
          </a:solidFill>
          <a:ln w="635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endCxn id="6" idx="1"/>
          </p:cNvCxnSpPr>
          <p:nvPr/>
        </p:nvCxnSpPr>
        <p:spPr>
          <a:xfrm flipV="1">
            <a:off x="4907280" y="4336415"/>
            <a:ext cx="2737485" cy="1445260"/>
          </a:xfrm>
          <a:prstGeom prst="straightConnector1">
            <a:avLst/>
          </a:prstGeom>
          <a:solidFill>
            <a:srgbClr val="FFC000"/>
          </a:solidFill>
          <a:ln w="635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图片 60" descr="templates\docerresourceshop\icons\\3b343132333733313bc9c1b5e7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4196080" y="5517515"/>
            <a:ext cx="568325" cy="50609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中断输入输出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8624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软件中断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软中断指令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当几乎所有处理器都提供软件触发中断的指令。在</a:t>
            </a:r>
            <a:r>
              <a:rPr lang="en-US" altLang="zh-CN" sz="2000">
                <a:sym typeface="+mn-ea"/>
              </a:rPr>
              <a:t>8086</a:t>
            </a:r>
            <a:r>
              <a:rPr lang="zh-CN" altLang="en-US" sz="2000">
                <a:sym typeface="+mn-ea"/>
              </a:rPr>
              <a:t>中，</a:t>
            </a:r>
            <a:r>
              <a:rPr lang="en-US" altLang="zh-CN" sz="2000">
                <a:sym typeface="+mn-ea"/>
              </a:rPr>
              <a:t>INT		</a:t>
            </a:r>
            <a:r>
              <a:rPr lang="zh-CN" altLang="en-US" sz="2000">
                <a:sym typeface="+mn-ea"/>
              </a:rPr>
              <a:t>指令可触发任何一个中断，而</a:t>
            </a:r>
            <a:r>
              <a:rPr lang="en-US" altLang="zh-CN" sz="2000">
                <a:sym typeface="+mn-ea"/>
              </a:rPr>
              <a:t>INTO</a:t>
            </a:r>
            <a:r>
              <a:rPr lang="zh-CN" altLang="en-US" sz="2000">
                <a:sym typeface="+mn-ea"/>
              </a:rPr>
              <a:t>则在</a:t>
            </a:r>
            <a:r>
              <a:rPr lang="en-US" altLang="zh-CN" sz="2000">
                <a:sym typeface="+mn-ea"/>
              </a:rPr>
              <a:t>OF</a:t>
            </a:r>
            <a:r>
              <a:rPr lang="zh-CN" altLang="en-US" sz="2000">
                <a:sym typeface="+mn-ea"/>
              </a:rPr>
              <a:t>置位时触发</a:t>
            </a:r>
            <a:r>
              <a:rPr lang="en-US" altLang="zh-CN" sz="2000">
                <a:sym typeface="+mn-ea"/>
              </a:rPr>
              <a:t>4</a:t>
            </a:r>
            <a:r>
              <a:rPr lang="zh-CN" altLang="en-US" sz="2000">
                <a:sym typeface="+mn-ea"/>
              </a:rPr>
              <a:t>号中断。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部分指令在特殊情况下也会引发中断，如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除0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异常捕获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当程序中的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指令执行发生错误</a:t>
            </a:r>
            <a:r>
              <a:rPr lang="zh-CN" altLang="en-US" sz="2000">
                <a:sym typeface="+mn-ea"/>
              </a:rPr>
              <a:t>，就会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抛出异常</a:t>
            </a:r>
            <a:r>
              <a:rPr lang="zh-CN" altLang="en-US" sz="2000">
                <a:sym typeface="+mn-ea"/>
              </a:rPr>
              <a:t>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异常会被同步		捕获</a:t>
            </a:r>
            <a:r>
              <a:rPr lang="zh-CN" altLang="en-US" sz="2000">
                <a:sym typeface="+mn-ea"/>
              </a:rPr>
              <a:t>（和通常的中断与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异步不同）：引起异常的指令并不会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被执行，压栈的</a:t>
            </a:r>
            <a:r>
              <a:rPr lang="en-US" altLang="zh-CN" sz="2000">
                <a:sym typeface="+mn-ea"/>
              </a:rPr>
              <a:t>IP</a:t>
            </a:r>
            <a:r>
              <a:rPr lang="zh-CN" altLang="en-US" sz="2000">
                <a:sym typeface="+mn-ea"/>
              </a:rPr>
              <a:t>等于该异常指令的地址，并且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要先跳转到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异常处理程序处执行完，再回来试图重新执行该指令（因为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产		生异常的条件可能已被解除</a:t>
            </a:r>
            <a:r>
              <a:rPr lang="zh-CN" altLang="en-US" sz="2000">
                <a:sym typeface="+mn-ea"/>
              </a:rPr>
              <a:t>）。</a:t>
            </a:r>
            <a:r>
              <a:rPr lang="en-US" altLang="zh-CN" sz="2000">
                <a:sym typeface="+mn-ea"/>
              </a:rPr>
              <a:t>8086</a:t>
            </a:r>
            <a:r>
              <a:rPr lang="zh-CN" altLang="en-US" sz="2000">
                <a:sym typeface="+mn-ea"/>
              </a:rPr>
              <a:t>只有一个异常，就是除</a:t>
            </a:r>
            <a:r>
              <a:rPr lang="en-US" altLang="zh-CN" sz="2000">
                <a:sym typeface="+mn-ea"/>
              </a:rPr>
              <a:t>0</a:t>
            </a:r>
            <a:r>
              <a:rPr lang="zh-CN" altLang="en-US" sz="2000">
                <a:sym typeface="+mn-ea"/>
              </a:rPr>
              <a:t>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常，它的中断号为</a:t>
            </a:r>
            <a:r>
              <a:rPr lang="en-US" altLang="zh-CN" sz="2000">
                <a:sym typeface="+mn-ea"/>
              </a:rPr>
              <a:t>0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陷阱设置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除了设置</a:t>
            </a:r>
            <a:r>
              <a:rPr lang="en-US" altLang="zh-CN" sz="2000">
                <a:sym typeface="+mn-ea"/>
              </a:rPr>
              <a:t>TF</a:t>
            </a:r>
            <a:r>
              <a:rPr lang="zh-CN" altLang="en-US" sz="2000">
                <a:sym typeface="+mn-ea"/>
              </a:rPr>
              <a:t>之外，程序单步调试的一个重要手段就是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将断点位置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换成INT 3</a:t>
            </a:r>
            <a:r>
              <a:rPr lang="zh-CN" altLang="en-US" sz="2000">
                <a:sym typeface="+mn-ea"/>
              </a:rPr>
              <a:t>（该指令有特殊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单字节编码CC</a:t>
            </a:r>
            <a:r>
              <a:rPr lang="zh-CN" altLang="en-US" sz="2000">
                <a:sym typeface="+mn-ea"/>
              </a:rPr>
              <a:t>，而非常规的</a:t>
            </a:r>
            <a:r>
              <a:rPr lang="en-US" altLang="zh-CN" sz="2000">
                <a:sym typeface="+mn-ea"/>
              </a:rPr>
              <a:t>CD 03</a:t>
            </a:r>
            <a:r>
              <a:rPr lang="zh-CN" altLang="en-US" sz="2000">
                <a:sym typeface="+mn-ea"/>
              </a:rPr>
              <a:t>）。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这样，运行到此处便会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触发3号中断，使调试器捕获该断点</a:t>
            </a:r>
            <a:r>
              <a:rPr lang="zh-CN" altLang="en-US" sz="2000">
                <a:sym typeface="+mn-ea"/>
              </a:rPr>
              <a:t>。此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类</a:t>
            </a:r>
            <a:r>
              <a:rPr lang="zh-CN" altLang="en-US" sz="2000">
                <a:sym typeface="+mn-ea"/>
              </a:rPr>
              <a:t>用法又叫做陷阱；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系统调用是陷阱的一种特殊情况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系统调用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</a:t>
            </a:r>
            <a:r>
              <a:rPr lang="en-US" altLang="zh-CN" sz="2000">
                <a:sym typeface="+mn-ea"/>
              </a:rPr>
              <a:t>DOS</a:t>
            </a:r>
            <a:r>
              <a:rPr lang="zh-CN" altLang="en-US" sz="2000">
                <a:sym typeface="+mn-ea"/>
              </a:rPr>
              <a:t>常用</a:t>
            </a:r>
            <a:r>
              <a:rPr lang="en-US" altLang="zh-CN" sz="2000">
                <a:sym typeface="+mn-ea"/>
              </a:rPr>
              <a:t>INT 21H</a:t>
            </a:r>
            <a:r>
              <a:rPr lang="zh-CN" altLang="en-US" sz="2000">
                <a:sym typeface="+mn-ea"/>
              </a:rPr>
              <a:t>，而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等现代操作系统使用</a:t>
            </a:r>
            <a:r>
              <a:rPr lang="en-US" altLang="zh-CN" sz="2000">
                <a:sym typeface="+mn-ea"/>
              </a:rPr>
              <a:t>INT 80H</a:t>
            </a:r>
            <a:r>
              <a:rPr lang="zh-CN" altLang="en-US" sz="2000">
                <a:sym typeface="+mn-ea"/>
              </a:rPr>
              <a:t>。最新的</a:t>
            </a:r>
            <a:r>
              <a:rPr lang="en-US" altLang="zh-CN" sz="2000">
                <a:sym typeface="+mn-ea"/>
              </a:rPr>
              <a:t>		AMD64</a:t>
            </a:r>
            <a:r>
              <a:rPr lang="zh-CN" altLang="en-US" sz="2000">
                <a:sym typeface="+mn-ea"/>
              </a:rPr>
              <a:t>架构甚至具备专用的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syscall/sysret（或sysenter/sysexit）</a:t>
            </a:r>
            <a:r>
              <a:rPr lang="zh-CN" altLang="en-US" sz="2000">
                <a:sym typeface="+mn-ea"/>
              </a:rPr>
              <a:t>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加速调用过程。进行系统调用时，还会从用户态切换到内核态。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</p:txBody>
      </p:sp>
      <p:sp>
        <p:nvSpPr>
          <p:cNvPr id="2" name="右箭头标注 1"/>
          <p:cNvSpPr/>
          <p:nvPr/>
        </p:nvSpPr>
        <p:spPr>
          <a:xfrm>
            <a:off x="412115" y="4521200"/>
            <a:ext cx="1825625" cy="114046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75756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为何要给</a:t>
            </a:r>
            <a:r>
              <a:rPr lang="en-US" altLang="zh-CN"/>
              <a:t>INT3</a:t>
            </a:r>
            <a:r>
              <a:rPr lang="zh-CN" altLang="en-US"/>
              <a:t>分配特殊的单字节编码</a:t>
            </a:r>
            <a:r>
              <a:rPr lang="en-US" altLang="zh-CN"/>
              <a:t>?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中断输入输出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中断的</a:t>
            </a:r>
            <a:r>
              <a:rPr lang="zh-CN" altLang="en-US" sz="2000" b="1">
                <a:solidFill>
                  <a:srgbClr val="9C0B15"/>
                </a:solidFill>
              </a:rPr>
              <a:t>分类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*</a:t>
            </a:r>
            <a:r>
              <a:rPr lang="zh-CN" altLang="en-US" sz="2000">
                <a:sym typeface="+mn-ea"/>
              </a:rPr>
              <a:t>由于外部中断、异常和陷阱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实际上有一些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差异</a:t>
            </a:r>
            <a:r>
              <a:rPr lang="zh-CN" altLang="en-US" sz="2000">
                <a:sym typeface="+mn-ea"/>
              </a:rPr>
              <a:t>，因此很多书上把它们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分开介绍</a:t>
            </a:r>
            <a:r>
              <a:rPr lang="zh-CN" altLang="en-US" sz="2000">
                <a:sym typeface="+mn-ea"/>
              </a:rPr>
              <a:t>了。如果有人</a:t>
            </a:r>
            <a:r>
              <a:rPr lang="zh-CN" altLang="en-US" sz="2000">
                <a:sym typeface="+mn-ea"/>
              </a:rPr>
              <a:t>和你争论中断、陷阱和异常是不同的东西，不要对此</a:t>
            </a:r>
            <a:r>
              <a:rPr lang="zh-CN" altLang="en-US" sz="2000">
                <a:sym typeface="+mn-ea"/>
              </a:rPr>
              <a:t>感到奇怪。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**</a:t>
            </a:r>
            <a:r>
              <a:rPr lang="zh-CN" altLang="en-US" sz="2000">
                <a:sym typeface="+mn-ea"/>
              </a:rPr>
              <a:t>在异常处理程序中，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可以再发生（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甚至是同样的）异常，此时某些CPU可以允许嵌套的异常处理，部分CPU则直接锁死自己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***</a:t>
            </a:r>
            <a:r>
              <a:rPr lang="zh-CN" altLang="en-US" sz="2000">
                <a:sym typeface="+mn-ea"/>
              </a:rPr>
              <a:t>陷阱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接近一个（可更改特权级的）过程调用</a:t>
            </a:r>
            <a:r>
              <a:rPr lang="zh-CN" altLang="en-US" sz="2000">
                <a:sym typeface="+mn-ea"/>
              </a:rPr>
              <a:t>，只是它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借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用了中断机制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264160" y="676910"/>
          <a:ext cx="9258300" cy="43586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63370"/>
                <a:gridCol w="2590165"/>
                <a:gridCol w="2499995"/>
                <a:gridCol w="2604770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类别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外部中断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异常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*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陷阱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*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触发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者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外部设备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指令执行出错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用户程序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有意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受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IF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位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影响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是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否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否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同步性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异步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同步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同步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发生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时机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几乎不可能预估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较难但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可以预估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容易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确定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压栈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IP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当前指令的下一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指令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当前指令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当前指令的下一指令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可否嵌套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可，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仅限更高优先级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可，可嵌套自己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**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通常不可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可否递归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不可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可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不可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时间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开销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大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中等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寄存器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保护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必须由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ISR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保护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必须由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ISR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保护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可以由触发者保护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***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栈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指针调整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必须由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ISR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调整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必须由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ISR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调整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必须由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ISR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调整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中断输入输出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中断服务程序与</a:t>
            </a:r>
            <a:r>
              <a:rPr lang="zh-CN" altLang="en-US" sz="2000" b="1">
                <a:solidFill>
                  <a:srgbClr val="9C0B15"/>
                </a:solidFill>
              </a:rPr>
              <a:t>过程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*部分现代实时CPU，如Cortex-M系列，在进入中断时会由硬件自动压栈几个通用寄存器，退出中断时硬件自动对它们弹栈；在ISR中可直接使用它们，无需保护。另外，如果</a:t>
            </a:r>
            <a:r>
              <a:rPr lang="zh-CN" altLang="en-US" sz="2000">
                <a:sym typeface="+mn-ea"/>
              </a:rPr>
              <a:t>触发的是用户程序触发的陷阱，那么也可以由调用者保护。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264160" y="791845"/>
          <a:ext cx="9258300" cy="4754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83130"/>
                <a:gridCol w="3776980"/>
                <a:gridCol w="3298190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类别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中断服务程序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过程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调用者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CPU（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外部）或软中断（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内部）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C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用户软件（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CALL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C00000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返回指令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IRET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C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RET/RETF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C00000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参数和返回值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不能有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C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可以有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C00000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压栈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顺序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FLAGS→CS→IP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C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CS→IP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；仅远过程压栈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CS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C00000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标志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寄存器操作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清零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IF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、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TF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C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无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C00000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弹栈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顺序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IP→CS→FLAGS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C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IP→CS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；仅远过程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弹栈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CS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C00000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可否嵌套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可，仅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限更高优先级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C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可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C00000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可否递归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不可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C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可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C00000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时间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开销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大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C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C00000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寄存器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保护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必须由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ISR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保护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*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C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可以由调用者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保护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C00000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栈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指针调整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必须由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ISR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调整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C0000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可以由调用者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调整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C00000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右箭头标注 3"/>
          <p:cNvSpPr/>
          <p:nvPr/>
        </p:nvSpPr>
        <p:spPr>
          <a:xfrm>
            <a:off x="1702435" y="3315335"/>
            <a:ext cx="1194435" cy="914400"/>
          </a:xfrm>
          <a:prstGeom prst="righ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为什么？</a:t>
            </a:r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2896870" y="1972310"/>
            <a:ext cx="3039745" cy="3574415"/>
          </a:xfrm>
          <a:prstGeom prst="ellipse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中断输入输出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中断输入</a:t>
            </a:r>
            <a:r>
              <a:rPr lang="zh-CN" altLang="en-US" sz="2000" b="1">
                <a:solidFill>
                  <a:srgbClr val="9C0B15"/>
                </a:solidFill>
              </a:rPr>
              <a:t>输出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ctr">
              <a:buClrTx/>
              <a:buSzTx/>
              <a:buFontTx/>
            </a:pPr>
            <a:r>
              <a:rPr lang="zh-CN" altLang="en-US" sz="2000">
                <a:sym typeface="+mn-ea"/>
              </a:rPr>
              <a:t>由设备生成中断</a:t>
            </a:r>
            <a:r>
              <a:rPr lang="zh-CN" altLang="en-US" sz="2000">
                <a:sym typeface="+mn-ea"/>
              </a:rPr>
              <a:t>表明自己已准备好输入输出，再操作端口的</a:t>
            </a:r>
            <a:r>
              <a:rPr lang="zh-CN" altLang="en-US" sz="2000">
                <a:sym typeface="+mn-ea"/>
              </a:rPr>
              <a:t>程序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		; GPIOA @ 034FH for {EOC}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GPIOB @ 0350H for {START, ALE, C, B, A}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				; GPIOC @ 0351H for {MSB ... LSB}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All ports pseudo-bidirectional (1k IPU/10mA OD)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				; Ref = 2V, input = 1V, OE = VCC, external CLK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Signal masks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EOC	EQU	01H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START	EQU	10H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ALE	EQU	08H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Port number (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INTC @ 0020H ~ 0021H)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STAT	EQU	034FH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CTRL	EQU	0350H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DATA	EQU	0351H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INTC	EQU	0021H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IEOI	EQU	0020H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Result array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RES	DB	8 DUP(?)</a:t>
            </a:r>
            <a:endParaRPr lang="zh-CN" altLang="en-US" sz="200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3631" t="17762" r="4192" b="2890"/>
          <a:stretch>
            <a:fillRect/>
          </a:stretch>
        </p:blipFill>
        <p:spPr>
          <a:xfrm>
            <a:off x="120650" y="1832610"/>
            <a:ext cx="3875405" cy="3879215"/>
          </a:xfrm>
          <a:prstGeom prst="rect">
            <a:avLst/>
          </a:prstGeom>
        </p:spPr>
      </p:pic>
      <p:sp>
        <p:nvSpPr>
          <p:cNvPr id="4" name="左箭头标注 3"/>
          <p:cNvSpPr/>
          <p:nvPr/>
        </p:nvSpPr>
        <p:spPr>
          <a:xfrm>
            <a:off x="6888480" y="3257550"/>
            <a:ext cx="1685925" cy="914400"/>
          </a:xfrm>
          <a:prstGeom prst="lef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ADC</a:t>
            </a:r>
            <a:r>
              <a:rPr lang="zh-CN" altLang="en-US"/>
              <a:t>引脚</a:t>
            </a:r>
            <a:endParaRPr lang="zh-CN" altLang="en-US"/>
          </a:p>
        </p:txBody>
      </p:sp>
      <p:sp>
        <p:nvSpPr>
          <p:cNvPr id="6" name="左箭头标注 5"/>
          <p:cNvSpPr/>
          <p:nvPr/>
        </p:nvSpPr>
        <p:spPr>
          <a:xfrm>
            <a:off x="6887845" y="5132070"/>
            <a:ext cx="1686560" cy="1145540"/>
          </a:xfrm>
          <a:prstGeom prst="leftArrowCallout">
            <a:avLst>
              <a:gd name="adj1" fmla="val 21618"/>
              <a:gd name="adj2" fmla="val 25000"/>
              <a:gd name="adj3" fmla="val 25000"/>
              <a:gd name="adj4" fmla="val 64977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中断</a:t>
            </a:r>
            <a:r>
              <a:rPr lang="zh-CN" altLang="en-US"/>
              <a:t>控制器所在的</a:t>
            </a:r>
            <a:r>
              <a:rPr lang="zh-CN" altLang="en-US"/>
              <a:t>端口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中断输入输出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中断输入</a:t>
            </a:r>
            <a:r>
              <a:rPr lang="zh-CN" altLang="en-US" sz="2000" b="1">
                <a:solidFill>
                  <a:srgbClr val="9C0B15"/>
                </a:solidFill>
              </a:rPr>
              <a:t>输出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Input macro</a:t>
            </a:r>
            <a:endParaRPr lang="en-US" altLang="zh-CN" sz="2000"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IN8	MACRO	X, Y</a:t>
            </a:r>
            <a:endParaRPr lang="en-US" altLang="zh-CN" sz="2000"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MOV	DX,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IN	AL, 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ENDM</a:t>
            </a:r>
            <a:endParaRPr lang="en-US" altLang="zh-CN" sz="2000"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Output macro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OUT8	MACRO	X, Y</a:t>
            </a:r>
            <a:endParaRPr lang="en-US" altLang="zh-CN" sz="2000"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DX,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X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AL,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 Y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OUT	DX, AL</a:t>
            </a:r>
            <a:endParaRPr lang="en-US" altLang="zh-CN" sz="2000"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	ENDM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>
                <a:sym typeface="+mn-ea"/>
              </a:rPr>
              <a:t>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Interrupt vector set up macro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3"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				INTV	MACRO	NUM, INTH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XOR	BX, BX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ES, BX</a:t>
            </a:r>
            <a:endParaRPr lang="en-US" altLang="zh-CN" sz="2000" b="1">
              <a:solidFill>
                <a:srgbClr val="00B0F0"/>
              </a:solidFill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BX,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NUM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*4</a:t>
            </a:r>
            <a:endParaRPr lang="en-US" altLang="zh-CN" sz="2000" b="1">
              <a:solidFill>
                <a:srgbClr val="00B0F0"/>
              </a:solidFill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ES:WORD PTR[BX], 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OFFSET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INTH</a:t>
            </a:r>
            <a:endParaRPr lang="en-US" altLang="zh-CN" sz="2000" b="1">
              <a:solidFill>
                <a:srgbClr val="00B0F0"/>
              </a:solidFill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ES: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WORD PTR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[BX+2], SEG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INTH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3"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ENDM</a:t>
            </a:r>
            <a:endParaRPr lang="zh-CN" altLang="en-US" sz="2000">
              <a:sym typeface="+mn-ea"/>
            </a:endParaRPr>
          </a:p>
        </p:txBody>
      </p:sp>
      <p:sp>
        <p:nvSpPr>
          <p:cNvPr id="6" name="左箭头标注 5"/>
          <p:cNvSpPr/>
          <p:nvPr/>
        </p:nvSpPr>
        <p:spPr>
          <a:xfrm flipH="1">
            <a:off x="1116330" y="5005705"/>
            <a:ext cx="2524760" cy="1039495"/>
          </a:xfrm>
          <a:prstGeom prst="lef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手动设置</a:t>
            </a:r>
            <a:endParaRPr lang="zh-CN" altLang="en-US"/>
          </a:p>
          <a:p>
            <a:pPr algn="ctr"/>
            <a:r>
              <a:rPr lang="zh-CN" altLang="en-US"/>
              <a:t>中断向量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中断输入输出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中断输入</a:t>
            </a:r>
            <a:r>
              <a:rPr lang="zh-CN" altLang="en-US" sz="2000" b="1">
                <a:solidFill>
                  <a:srgbClr val="9C0B15"/>
                </a:solidFill>
              </a:rPr>
              <a:t>输出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Set up interrupt vector @ 0BH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CLI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INTV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0BH, 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ADCVECT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STI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Allow vector @ 0BH on IR3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IN8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INTC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AND	AL, 0F7H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OUT8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INTC, 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AL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Set input channel to 3rd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OUT8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CTRL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, 03H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OUT8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CTRL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, 03H +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ALE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OUT8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CTRL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, 03H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Start conversion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OUT8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CTRL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START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Halt or do something else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...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endParaRPr lang="zh-CN" altLang="en-US" sz="2000">
              <a:sym typeface="+mn-ea"/>
            </a:endParaRPr>
          </a:p>
        </p:txBody>
      </p:sp>
      <p:sp>
        <p:nvSpPr>
          <p:cNvPr id="6" name="左箭头标注 5"/>
          <p:cNvSpPr/>
          <p:nvPr/>
        </p:nvSpPr>
        <p:spPr>
          <a:xfrm>
            <a:off x="7393940" y="2221230"/>
            <a:ext cx="2292985" cy="1995805"/>
          </a:xfrm>
          <a:prstGeom prst="leftArrowCallout">
            <a:avLst>
              <a:gd name="adj1" fmla="val 13331"/>
              <a:gd name="adj2" fmla="val 13760"/>
              <a:gd name="adj3" fmla="val 17276"/>
              <a:gd name="adj4" fmla="val 64977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设置中断控制器允许第</a:t>
            </a:r>
            <a:r>
              <a:rPr lang="en-US" altLang="zh-CN"/>
              <a:t>3</a:t>
            </a:r>
            <a:r>
              <a:rPr lang="zh-CN" altLang="en-US"/>
              <a:t>条中断线，它的中断号为</a:t>
            </a:r>
            <a:r>
              <a:rPr lang="en-US" altLang="zh-CN"/>
              <a:t>0BH</a:t>
            </a:r>
            <a:r>
              <a:rPr lang="zh-CN" altLang="en-US"/>
              <a:t>（</a:t>
            </a:r>
            <a:r>
              <a:rPr lang="en-US" altLang="zh-CN"/>
              <a:t>00H-07H</a:t>
            </a:r>
            <a:r>
              <a:rPr lang="zh-CN" altLang="en-US"/>
              <a:t>被</a:t>
            </a:r>
            <a:r>
              <a:rPr lang="en-US" altLang="zh-CN"/>
              <a:t>8086</a:t>
            </a:r>
            <a:r>
              <a:rPr lang="zh-CN" altLang="en-US"/>
              <a:t>内部使用）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95" y="1070610"/>
            <a:ext cx="3253105" cy="4678045"/>
          </a:xfrm>
          <a:prstGeom prst="rect">
            <a:avLst/>
          </a:prstGeom>
        </p:spPr>
      </p:pic>
      <p:sp>
        <p:nvSpPr>
          <p:cNvPr id="2" name="左箭头标注 1"/>
          <p:cNvSpPr/>
          <p:nvPr/>
        </p:nvSpPr>
        <p:spPr>
          <a:xfrm>
            <a:off x="7393940" y="1348105"/>
            <a:ext cx="2293620" cy="799465"/>
          </a:xfrm>
          <a:prstGeom prst="leftArrowCallout">
            <a:avLst>
              <a:gd name="adj1" fmla="val 27561"/>
              <a:gd name="adj2" fmla="val 29745"/>
              <a:gd name="adj3" fmla="val 40667"/>
              <a:gd name="adj4" fmla="val 64977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为何这里要</a:t>
            </a:r>
            <a:r>
              <a:rPr lang="en-US" altLang="zh-CN"/>
              <a:t>CLI</a:t>
            </a:r>
            <a:r>
              <a:rPr lang="zh-CN" altLang="en-US"/>
              <a:t>再</a:t>
            </a:r>
            <a:r>
              <a:rPr lang="en-US" altLang="zh-CN"/>
              <a:t>STI</a:t>
            </a:r>
            <a:r>
              <a:rPr lang="zh-CN" altLang="en-US"/>
              <a:t>？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中断输入输出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中断输入</a:t>
            </a:r>
            <a:r>
              <a:rPr lang="zh-CN" altLang="en-US" sz="2000" b="1">
                <a:solidFill>
                  <a:srgbClr val="9C0B15"/>
                </a:solidFill>
              </a:rPr>
              <a:t>输出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ADCVECT	PROC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Protect regs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	PUSH	AX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	PUSH	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Place result in third location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IN8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DATA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	MOV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RES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[3],	AL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EOI - restore 8259A status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OUT8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IEOI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, 20H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Restore regs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	POP	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	POP	AX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IRET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ADCVECT	ENDP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</p:txBody>
      </p:sp>
      <p:sp>
        <p:nvSpPr>
          <p:cNvPr id="6" name="左箭头标注 5"/>
          <p:cNvSpPr/>
          <p:nvPr/>
        </p:nvSpPr>
        <p:spPr>
          <a:xfrm flipH="1">
            <a:off x="1097915" y="2625090"/>
            <a:ext cx="4509770" cy="2428875"/>
          </a:xfrm>
          <a:prstGeom prst="leftArrowCallout">
            <a:avLst>
              <a:gd name="adj1" fmla="val 12984"/>
              <a:gd name="adj2" fmla="val 15321"/>
              <a:gd name="adj3" fmla="val 17276"/>
              <a:gd name="adj4" fmla="val 72557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在退出中断之前通知中断控制器可以接受新的中断了；否则中断控制器仅报告优先级比这个高的中断。</a:t>
            </a:r>
            <a:r>
              <a:rPr lang="en-US" altLang="zh-CN"/>
              <a:t>8259A</a:t>
            </a:r>
            <a:r>
              <a:rPr lang="zh-CN" altLang="en-US"/>
              <a:t>实际上拥有一个自动</a:t>
            </a:r>
            <a:r>
              <a:rPr lang="en-US" altLang="zh-CN"/>
              <a:t>EOI</a:t>
            </a:r>
            <a:r>
              <a:rPr lang="zh-CN" altLang="en-US"/>
              <a:t>功能，它会在执行</a:t>
            </a:r>
            <a:r>
              <a:rPr lang="en-US" altLang="zh-CN"/>
              <a:t>IRET</a:t>
            </a:r>
            <a:r>
              <a:rPr lang="zh-CN" altLang="en-US"/>
              <a:t>后自动执行</a:t>
            </a:r>
            <a:r>
              <a:rPr lang="en-US" altLang="zh-CN"/>
              <a:t>EOI</a:t>
            </a:r>
            <a:r>
              <a:rPr lang="zh-CN" altLang="en-US"/>
              <a:t>操作。但该功能可能未被开启，因此保险起见可以手动进行</a:t>
            </a:r>
            <a:r>
              <a:rPr lang="en-US" altLang="zh-CN"/>
              <a:t>EOI</a:t>
            </a:r>
            <a:r>
              <a:rPr lang="zh-CN" altLang="en-US"/>
              <a:t>操作。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中断输入输出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成组输入</a:t>
            </a:r>
            <a:r>
              <a:rPr lang="zh-CN" altLang="en-US" sz="2000" b="1">
                <a:solidFill>
                  <a:srgbClr val="9C0B15"/>
                </a:solidFill>
              </a:rPr>
              <a:t>输出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ctr">
              <a:buClrTx/>
              <a:buSzTx/>
              <a:buFontTx/>
            </a:pPr>
            <a:r>
              <a:rPr lang="zh-CN" altLang="en-US" sz="2000">
                <a:sym typeface="+mn-ea"/>
              </a:rPr>
              <a:t>由</a:t>
            </a:r>
            <a:r>
              <a:rPr lang="en-US" altLang="zh-CN" sz="2000">
                <a:sym typeface="+mn-ea"/>
              </a:rPr>
              <a:t>DMA</a:t>
            </a:r>
            <a:r>
              <a:rPr lang="zh-CN" altLang="en-US" sz="2000">
                <a:sym typeface="+mn-ea"/>
              </a:rPr>
              <a:t>控制器主导传输，本身不进行端口数据操作的程序。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特点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和中断与轮询不同，</a:t>
            </a:r>
            <a:r>
              <a:rPr lang="en-US" altLang="zh-CN" sz="2000">
                <a:sym typeface="+mn-ea"/>
              </a:rPr>
              <a:t>DMA</a:t>
            </a:r>
            <a:r>
              <a:rPr lang="zh-CN" altLang="en-US" sz="2000">
                <a:sym typeface="+mn-ea"/>
              </a:rPr>
              <a:t>传输方式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CPU完全不干预</a:t>
            </a:r>
            <a:r>
              <a:rPr lang="zh-CN" altLang="en-US" sz="2000">
                <a:sym typeface="+mn-ea"/>
              </a:rPr>
              <a:t>，由</a:t>
            </a:r>
            <a:r>
              <a:rPr lang="en-US" altLang="zh-CN" sz="2000">
                <a:sym typeface="+mn-ea"/>
              </a:rPr>
              <a:t>DMA</a:t>
            </a:r>
            <a:r>
              <a:rPr lang="zh-CN" altLang="en-US" sz="2000">
                <a:sym typeface="+mn-ea"/>
              </a:rPr>
              <a:t>控制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器占有总线进行批量高速传输。不产生任何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占用，性能高，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但是需要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特殊硬件支持</a:t>
            </a:r>
            <a:r>
              <a:rPr lang="zh-CN" altLang="en-US" sz="2000">
                <a:sym typeface="+mn-ea"/>
              </a:rPr>
              <a:t>，且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发起传输需要做一些准备工作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DMA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控制器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负责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处理DMA的专用硬件控制器</a:t>
            </a:r>
            <a:r>
              <a:rPr lang="zh-CN" altLang="en-US" sz="2000">
                <a:sym typeface="+mn-ea"/>
              </a:rPr>
              <a:t>，它会在用户指定的数据源和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数据目标之间进行用户指定数量的数据批量传送。</a:t>
            </a:r>
            <a:r>
              <a:rPr lang="en-US" altLang="zh-CN" sz="2000">
                <a:sym typeface="+mn-ea"/>
              </a:rPr>
              <a:t>DMA</a:t>
            </a:r>
            <a:r>
              <a:rPr lang="zh-CN" altLang="en-US" sz="2000">
                <a:sym typeface="+mn-ea"/>
              </a:rPr>
              <a:t>控制器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可以被看作是一个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只能做数据拷贝的简化版CPU核心</a:t>
            </a:r>
            <a:r>
              <a:rPr lang="zh-CN" altLang="en-US" sz="2000">
                <a:sym typeface="+mn-ea"/>
              </a:rPr>
              <a:t>，仅能遵从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某几种指定的传输方式（见后文），灵活性往往显得不够。因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此，在现代多核心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中，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我们有时会牺牲一些CPU核心专用来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做设备轮询和数据拷贝（也即软DMA引擎），以提升I/O性能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8237A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最常与</a:t>
            </a:r>
            <a:r>
              <a:rPr lang="en-US" altLang="zh-CN" sz="2000">
                <a:sym typeface="+mn-ea"/>
              </a:rPr>
              <a:t>8086</a:t>
            </a:r>
            <a:r>
              <a:rPr lang="zh-CN" altLang="en-US" sz="2000">
                <a:sym typeface="+mn-ea"/>
              </a:rPr>
              <a:t>配合使用的</a:t>
            </a:r>
            <a:r>
              <a:rPr lang="en-US" altLang="zh-CN" sz="2000">
                <a:sym typeface="+mn-ea"/>
              </a:rPr>
              <a:t>DMA</a:t>
            </a:r>
            <a:r>
              <a:rPr lang="zh-CN" altLang="en-US" sz="2000">
                <a:sym typeface="+mn-ea"/>
              </a:rPr>
              <a:t>控制器，为独立芯片封装。具备四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个</a:t>
            </a:r>
            <a:r>
              <a:rPr lang="en-US" altLang="zh-CN" sz="2000">
                <a:sym typeface="+mn-ea"/>
              </a:rPr>
              <a:t>DMA“</a:t>
            </a:r>
            <a:r>
              <a:rPr lang="zh-CN" altLang="en-US" sz="2000">
                <a:sym typeface="+mn-ea"/>
              </a:rPr>
              <a:t>通道</a:t>
            </a:r>
            <a:r>
              <a:rPr lang="en-US" altLang="zh-CN" sz="2000">
                <a:sym typeface="+mn-ea"/>
              </a:rPr>
              <a:t>”</a:t>
            </a:r>
            <a:r>
              <a:rPr lang="zh-CN" altLang="en-US" sz="2000">
                <a:sym typeface="+mn-ea"/>
              </a:rPr>
              <a:t>，也即可以独立配置的</a:t>
            </a:r>
            <a:r>
              <a:rPr lang="zh-CN" altLang="en-US" sz="2000">
                <a:sym typeface="+mn-ea"/>
              </a:rPr>
              <a:t>传输引擎。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使用（简化）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先初始化基本设置，然后配置某通道的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传输源和传输目的地址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以及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要传输的字节数</a:t>
            </a:r>
            <a:r>
              <a:rPr lang="zh-CN" altLang="en-US" sz="2000">
                <a:sym typeface="+mn-ea"/>
              </a:rPr>
              <a:t>，最后配置该通道的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传输模式</a:t>
            </a:r>
            <a:r>
              <a:rPr lang="zh-CN" altLang="en-US" sz="2000">
                <a:sym typeface="+mn-ea"/>
              </a:rPr>
              <a:t>并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启动传输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en-US" altLang="zh-CN" sz="2000">
                <a:sym typeface="+mn-ea"/>
              </a:rPr>
              <a:t>8237A</a:t>
            </a:r>
            <a:r>
              <a:rPr lang="zh-CN" altLang="en-US" sz="2000">
                <a:sym typeface="+mn-ea"/>
              </a:rPr>
              <a:t>的编程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不要求掌握，仅作了解</a:t>
            </a:r>
            <a:r>
              <a:rPr lang="zh-CN" altLang="en-US" sz="2000">
                <a:sym typeface="+mn-ea"/>
              </a:rPr>
              <a:t>。后面例程是简化</a:t>
            </a:r>
            <a:r>
              <a:rPr lang="zh-CN" altLang="en-US" sz="2000">
                <a:sym typeface="+mn-ea"/>
              </a:rPr>
              <a:t>的。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中断输入输出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8624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DMA</a:t>
            </a:r>
            <a:r>
              <a:rPr lang="zh-CN" altLang="en-US" sz="2000" b="1">
                <a:solidFill>
                  <a:srgbClr val="9C0B15"/>
                </a:solidFill>
              </a:rPr>
              <a:t>传输</a:t>
            </a:r>
            <a:r>
              <a:rPr lang="zh-CN" altLang="en-US" sz="2000" b="1">
                <a:solidFill>
                  <a:srgbClr val="9C0B15"/>
                </a:solidFill>
              </a:rPr>
              <a:t>选项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r>
              <a:rPr lang="zh-CN" altLang="en-US" sz="2000" b="1">
                <a:solidFill>
                  <a:srgbClr val="9C0B15"/>
                </a:solidFill>
                <a:sym typeface="+mn-ea"/>
              </a:rPr>
              <a:t>指针自增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在数据源或数据目标是内存时，每进行一个字节的拷贝，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源指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针或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/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和目标指针自增</a:t>
            </a:r>
            <a:r>
              <a:rPr lang="zh-CN" altLang="en-US" sz="2000">
                <a:sym typeface="+mn-ea"/>
              </a:rPr>
              <a:t>。这在填充、读取和拷贝缓冲区时非常有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用。几乎所有</a:t>
            </a:r>
            <a:r>
              <a:rPr lang="en-US" altLang="zh-CN" sz="2000">
                <a:sym typeface="+mn-ea"/>
              </a:rPr>
              <a:t>DMA</a:t>
            </a:r>
            <a:r>
              <a:rPr lang="zh-CN" altLang="en-US" sz="2000">
                <a:sym typeface="+mn-ea"/>
              </a:rPr>
              <a:t>控制器都具备此</a:t>
            </a:r>
            <a:r>
              <a:rPr lang="zh-CN" altLang="en-US" sz="2000">
                <a:sym typeface="+mn-ea"/>
              </a:rPr>
              <a:t>功能。</a:t>
            </a:r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r>
              <a:rPr lang="zh-CN" altLang="en-US" sz="2000" b="1">
                <a:solidFill>
                  <a:srgbClr val="9C0B15"/>
                </a:solidFill>
                <a:sym typeface="+mn-ea"/>
              </a:rPr>
              <a:t>自动触发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主要用于数据源或数据目标是设备的场合。</a:t>
            </a:r>
            <a:r>
              <a:rPr lang="en-US" altLang="zh-CN" sz="2000">
                <a:sym typeface="+mn-ea"/>
              </a:rPr>
              <a:t>DMA</a:t>
            </a:r>
            <a:r>
              <a:rPr lang="zh-CN" altLang="en-US" sz="2000">
                <a:sym typeface="+mn-ea"/>
              </a:rPr>
              <a:t>控制器会监视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该</a:t>
            </a:r>
            <a:r>
              <a:rPr lang="zh-CN" altLang="en-US" sz="2000">
                <a:sym typeface="+mn-ea"/>
              </a:rPr>
              <a:t>设备，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一旦其准备好I/O，则立刻启动DMA传送</a:t>
            </a:r>
            <a:r>
              <a:rPr lang="zh-CN" altLang="en-US" sz="2000">
                <a:sym typeface="+mn-ea"/>
              </a:rPr>
              <a:t>，若设备忙才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暂停传送；当传送完指定的字节数后，</a:t>
            </a:r>
            <a:r>
              <a:rPr lang="zh-CN" altLang="en-US" sz="2000">
                <a:sym typeface="+mn-ea"/>
              </a:rPr>
              <a:t>停止传送。</a:t>
            </a:r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反复触发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当上次DMA传输完成后，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自动以上次的初始条件（或有规律地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轮换的一组初始条件）启动下一次传送</a:t>
            </a:r>
            <a:r>
              <a:rPr lang="zh-CN" altLang="en-US" sz="2000">
                <a:sym typeface="+mn-ea"/>
              </a:rPr>
              <a:t>，无需CPU干预。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完成中断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DMA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传输完成后，给CPU发送一个中断</a:t>
            </a:r>
            <a:r>
              <a:rPr lang="zh-CN" altLang="en-US" sz="2000">
                <a:sym typeface="+mn-ea"/>
              </a:rPr>
              <a:t>，提醒CPU传输结束。</a:t>
            </a:r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264160" y="676910"/>
          <a:ext cx="9258300" cy="1981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69110"/>
                <a:gridCol w="1639570"/>
                <a:gridCol w="1960245"/>
                <a:gridCol w="1856533"/>
                <a:gridCol w="2032842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传输类别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设备到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内存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内存到设备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设备到设备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内存到内存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数据源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设备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内存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设备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内存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数据目的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内存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设备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设备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内存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指针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自增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可用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可用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不可用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可用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又称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读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写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透传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拷贝模式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中断输入输出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不同的</a:t>
            </a:r>
            <a:r>
              <a:rPr lang="en-US" altLang="zh-CN" sz="2000" b="1">
                <a:solidFill>
                  <a:srgbClr val="9C0B15"/>
                </a:solidFill>
              </a:rPr>
              <a:t>I/O</a:t>
            </a:r>
            <a:r>
              <a:rPr lang="zh-CN" altLang="en-US" sz="2000" b="1">
                <a:solidFill>
                  <a:srgbClr val="9C0B15"/>
                </a:solidFill>
              </a:rPr>
              <a:t>方法比较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趋势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总的而言，越靠右，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负责的事情越少，外围硬件（或者专门用来做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传输的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核心）负责的事情越多。这个思想又叫做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“卸载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”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（Offload）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也即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将原本负责应用程序的CPU上的I/O负担减轻，转移到那些专门负责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I/O的器件或者CPU上去</a:t>
            </a:r>
            <a:r>
              <a:rPr lang="zh-CN" altLang="en-US" sz="2000">
                <a:sym typeface="+mn-ea"/>
              </a:rPr>
              <a:t>，以提高应用程序</a:t>
            </a:r>
            <a:r>
              <a:rPr lang="zh-CN" altLang="en-US" sz="2000">
                <a:sym typeface="+mn-ea"/>
              </a:rPr>
              <a:t>性能。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264160" y="576580"/>
          <a:ext cx="9258300" cy="4754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66900"/>
                <a:gridCol w="1299210"/>
                <a:gridCol w="1299210"/>
                <a:gridCol w="1299210"/>
                <a:gridCol w="1299210"/>
                <a:gridCol w="2194560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I/O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方法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直接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I/O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轮询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I/O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中断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I/O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成组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I/O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软成组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I/O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是否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可以异步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否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否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是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是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是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CPU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负责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检测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-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BFBFBF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是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否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否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否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（除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DMA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核外）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CPU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负责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传输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是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是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是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否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否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（除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DMA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核外）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CPU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负担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-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高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中等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低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低（除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DMA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核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外）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需要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众核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CPU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否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否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否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否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是（需要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DMA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核）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软件复杂度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低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中等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FFC0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中等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FFC0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高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中等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FFC000">
                        <a:alpha val="50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硬件复杂度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低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低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中等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FFC0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高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低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硬件适用性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低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高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中等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FFC0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中等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FFC0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高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响应实时性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高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高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中等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FFC0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低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高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传输速率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高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高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低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高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高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缓存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污染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是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是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是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否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5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是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椭圆 6"/>
          <p:cNvSpPr/>
          <p:nvPr/>
        </p:nvSpPr>
        <p:spPr>
          <a:xfrm>
            <a:off x="7238365" y="393700"/>
            <a:ext cx="2362200" cy="5079365"/>
          </a:xfrm>
          <a:prstGeom prst="ellipse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成组输入输出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成组输入输出（不要求</a:t>
            </a:r>
            <a:r>
              <a:rPr lang="zh-CN" altLang="en-US" sz="2000" b="1">
                <a:solidFill>
                  <a:srgbClr val="9C0B15"/>
                </a:solidFill>
              </a:rPr>
              <a:t>掌握）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ctr">
              <a:buClrTx/>
              <a:buSzTx/>
              <a:buFontTx/>
            </a:pPr>
            <a:r>
              <a:rPr lang="zh-CN" altLang="en-US" sz="2000">
                <a:sym typeface="+mn-ea"/>
              </a:rPr>
              <a:t>由</a:t>
            </a:r>
            <a:r>
              <a:rPr lang="en-US" altLang="zh-CN" sz="2000">
                <a:sym typeface="+mn-ea"/>
              </a:rPr>
              <a:t>DMA</a:t>
            </a:r>
            <a:r>
              <a:rPr lang="zh-CN" altLang="en-US" sz="2000">
                <a:sym typeface="+mn-ea"/>
              </a:rPr>
              <a:t>控制器主导传输，本身不进行端口数据操作</a:t>
            </a:r>
            <a:r>
              <a:rPr lang="zh-CN" altLang="en-US" sz="2000">
                <a:sym typeface="+mn-ea"/>
              </a:rPr>
              <a:t>的程序。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		; GPIOA @ 034FH for {EOC}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GPIOB @ 0350H for {START, ALE, C, B, A}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				; GPIOC @ 0351H for {MSB ... LSB}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All ports pseudo-bidirectional (1k IPU/10mA OD)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				; Ref = 2V, input = 1V, OE = VCC, external CLK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Signal masks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EOC	EQU	01H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START	EQU	10H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ALE	EQU	08H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DM2M	EQU	00H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DRD	EQU	01H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DWR	EQU	02H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DD2D	EQU	03H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DAUTO	EQU	04H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	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DINC	EQU	08H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Port number (DMAC @ 00C0H ~ 00C6H)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STAT	EQU	034FH</a:t>
            </a:r>
            <a:endParaRPr lang="zh-CN" altLang="en-US" sz="200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3631" t="17762" r="4192" b="2890"/>
          <a:stretch>
            <a:fillRect/>
          </a:stretch>
        </p:blipFill>
        <p:spPr>
          <a:xfrm>
            <a:off x="120650" y="1832610"/>
            <a:ext cx="3875405" cy="38792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成组输入输出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成组输入输出（不要求</a:t>
            </a:r>
            <a:r>
              <a:rPr lang="zh-CN" altLang="en-US" sz="2000" b="1">
                <a:solidFill>
                  <a:srgbClr val="9C0B15"/>
                </a:solidFill>
              </a:rPr>
              <a:t>掌握）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	CTRL	EQU	0350H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	DATA	EQU	0351H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	DSRC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	EQU	00C0H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	DDST	EQU	00C2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	DCNT	EQU	00C4H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				DMOD	EQU	00C6H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Result array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RES	DB	8 DUP(?)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					; Input macro</a:t>
            </a:r>
            <a:endParaRPr lang="en-US" altLang="zh-CN" sz="2000"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IN8	MACRO	X</a:t>
            </a:r>
            <a:endParaRPr lang="en-US" altLang="zh-CN" sz="2000"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	MOV	DX,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	IN	AL, 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ENDM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IN16	MACRO	X</a:t>
            </a:r>
            <a:endParaRPr lang="en-US" altLang="zh-CN" sz="2000"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	MOV	DX,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	IN	AX, 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ENDM</a:t>
            </a:r>
            <a:endParaRPr lang="en-US" altLang="zh-CN" sz="2000"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Output macro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OUT8	MACRO	X, Y</a:t>
            </a:r>
            <a:endParaRPr lang="zh-CN" altLang="en-US" sz="200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3178" r="2970"/>
          <a:stretch>
            <a:fillRect/>
          </a:stretch>
        </p:blipFill>
        <p:spPr>
          <a:xfrm>
            <a:off x="100965" y="1505585"/>
            <a:ext cx="4799965" cy="4533265"/>
          </a:xfrm>
          <a:prstGeom prst="rect">
            <a:avLst/>
          </a:prstGeom>
        </p:spPr>
      </p:pic>
      <p:sp>
        <p:nvSpPr>
          <p:cNvPr id="6" name="左箭头标注 5"/>
          <p:cNvSpPr/>
          <p:nvPr/>
        </p:nvSpPr>
        <p:spPr>
          <a:xfrm>
            <a:off x="7652385" y="1133475"/>
            <a:ext cx="1802130" cy="1231900"/>
          </a:xfrm>
          <a:prstGeom prst="leftArrowCallout">
            <a:avLst>
              <a:gd name="adj1" fmla="val 21618"/>
              <a:gd name="adj2" fmla="val 25000"/>
              <a:gd name="adj3" fmla="val 25000"/>
              <a:gd name="adj4" fmla="val 64977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DMA</a:t>
            </a:r>
            <a:r>
              <a:rPr lang="zh-CN" altLang="en-US"/>
              <a:t>控制器（</a:t>
            </a:r>
            <a:r>
              <a:rPr lang="zh-CN" altLang="en-US"/>
              <a:t>简化后）所在的</a:t>
            </a:r>
            <a:r>
              <a:rPr lang="zh-CN" altLang="en-US"/>
              <a:t>端口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成组输入输出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成组输入输出（不要求</a:t>
            </a:r>
            <a:r>
              <a:rPr lang="zh-CN" altLang="en-US" sz="2000" b="1">
                <a:solidFill>
                  <a:srgbClr val="9C0B15"/>
                </a:solidFill>
              </a:rPr>
              <a:t>掌握）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DX,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AL,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Y</a:t>
            </a:r>
            <a:endParaRPr lang="en-US" altLang="zh-CN" sz="2000"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OUT	DX, AL</a:t>
            </a:r>
            <a:endParaRPr lang="en-US" altLang="zh-CN" sz="2000"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ENDM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OUT16	MACRO	X, Y</a:t>
            </a:r>
            <a:endParaRPr lang="en-US" altLang="zh-CN" sz="2000"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DX,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X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AX,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Y</a:t>
            </a:r>
            <a:endParaRPr lang="en-US" altLang="zh-CN" sz="2000"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OUT	DX, AX</a:t>
            </a:r>
            <a:endParaRPr lang="en-US" altLang="zh-CN" sz="2000"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ENDM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DMA READ mode, auto transfer, auto mem inc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OUT16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DMOD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DRD 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+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DAUTO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 +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DINC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src = DATA port of ADC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OUT16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DSRC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,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DATA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	; dst = lin-addr RES[3]; only 1st 64kiB DMA-able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MOV	AX, DS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MOV	CL, 4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SHL	AX, CL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LEA	CX,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RES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[3]</a:t>
            </a:r>
            <a:endParaRPr lang="zh-CN" altLang="en-US" sz="2000">
              <a:sym typeface="+mn-ea"/>
            </a:endParaRPr>
          </a:p>
        </p:txBody>
      </p:sp>
      <p:sp>
        <p:nvSpPr>
          <p:cNvPr id="6" name="左箭头标注 5"/>
          <p:cNvSpPr/>
          <p:nvPr/>
        </p:nvSpPr>
        <p:spPr>
          <a:xfrm flipH="1">
            <a:off x="967740" y="4688205"/>
            <a:ext cx="2313305" cy="1840230"/>
          </a:xfrm>
          <a:prstGeom prst="leftArrowCallout">
            <a:avLst>
              <a:gd name="adj1" fmla="val 15320"/>
              <a:gd name="adj2" fmla="val 20255"/>
              <a:gd name="adj3" fmla="val 19772"/>
              <a:gd name="adj4" fmla="val 64977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设置</a:t>
            </a:r>
            <a:r>
              <a:rPr lang="en-US" altLang="zh-CN"/>
              <a:t>DMA</a:t>
            </a:r>
            <a:r>
              <a:rPr lang="zh-CN" altLang="en-US"/>
              <a:t>控制器：设置为设备到内存，</a:t>
            </a:r>
            <a:r>
              <a:rPr lang="zh-CN" altLang="en-US"/>
              <a:t>数据就绪时自动</a:t>
            </a:r>
            <a:r>
              <a:rPr lang="en-US" altLang="zh-CN"/>
              <a:t>1</a:t>
            </a:r>
            <a:r>
              <a:rPr lang="zh-CN" altLang="en-US"/>
              <a:t>字节</a:t>
            </a:r>
            <a:r>
              <a:rPr lang="zh-CN" altLang="en-US"/>
              <a:t>拷贝</a:t>
            </a:r>
            <a:endParaRPr lang="zh-CN" altLang="en-US"/>
          </a:p>
        </p:txBody>
      </p:sp>
      <p:sp>
        <p:nvSpPr>
          <p:cNvPr id="2" name="左箭头标注 1"/>
          <p:cNvSpPr/>
          <p:nvPr/>
        </p:nvSpPr>
        <p:spPr>
          <a:xfrm flipH="1">
            <a:off x="967740" y="1849120"/>
            <a:ext cx="2313305" cy="1840230"/>
          </a:xfrm>
          <a:prstGeom prst="leftArrowCallout">
            <a:avLst>
              <a:gd name="adj1" fmla="val 15320"/>
              <a:gd name="adj2" fmla="val 20255"/>
              <a:gd name="adj3" fmla="val 19772"/>
              <a:gd name="adj4" fmla="val 64977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DMA</a:t>
            </a:r>
            <a:r>
              <a:rPr lang="zh-CN" altLang="en-US"/>
              <a:t>控制器的端口都是</a:t>
            </a:r>
            <a:r>
              <a:rPr lang="en-US" altLang="zh-CN"/>
              <a:t>16</a:t>
            </a:r>
            <a:r>
              <a:rPr lang="zh-CN" altLang="en-US"/>
              <a:t>位，因此需要一个访问</a:t>
            </a:r>
            <a:r>
              <a:rPr lang="en-US" altLang="zh-CN"/>
              <a:t>16</a:t>
            </a:r>
            <a:r>
              <a:rPr lang="zh-CN" altLang="en-US"/>
              <a:t>位端口的</a:t>
            </a:r>
            <a:r>
              <a:rPr lang="zh-CN" altLang="en-US"/>
              <a:t>宏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成组输入输出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成组输入输出（不要求</a:t>
            </a:r>
            <a:r>
              <a:rPr lang="zh-CN" altLang="en-US" sz="2000" b="1">
                <a:solidFill>
                  <a:srgbClr val="9C0B15"/>
                </a:solidFill>
              </a:rPr>
              <a:t>掌握）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ADD	A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X, CX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OUT16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DDST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,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 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AX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DMA number of bytes to transfer = 1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OUT16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DNUM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, 0001H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Set input channel to 3rd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OUT8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CTRL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, 03H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OUT8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CTRL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, 03H +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ALE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OUT8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CTRL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, 03H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Start conversion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OUT8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CTRL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START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Do something else; DMA auto triggers on EOC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...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</p:txBody>
      </p:sp>
      <p:sp>
        <p:nvSpPr>
          <p:cNvPr id="6" name="左箭头标注 5"/>
          <p:cNvSpPr/>
          <p:nvPr/>
        </p:nvSpPr>
        <p:spPr>
          <a:xfrm flipH="1">
            <a:off x="927735" y="3111500"/>
            <a:ext cx="2273935" cy="2379980"/>
          </a:xfrm>
          <a:prstGeom prst="leftArrowCallout">
            <a:avLst>
              <a:gd name="adj1" fmla="val 19690"/>
              <a:gd name="adj2" fmla="val 25000"/>
              <a:gd name="adj3" fmla="val 25000"/>
              <a:gd name="adj4" fmla="val 64977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ADC</a:t>
            </a:r>
            <a:r>
              <a:rPr lang="zh-CN" altLang="en-US"/>
              <a:t>转换完成后</a:t>
            </a:r>
            <a:r>
              <a:rPr lang="en-US" altLang="zh-CN"/>
              <a:t>DMA</a:t>
            </a:r>
            <a:r>
              <a:rPr lang="zh-CN" altLang="en-US"/>
              <a:t>自动传输，并将</a:t>
            </a:r>
            <a:r>
              <a:rPr lang="en-US" altLang="zh-CN"/>
              <a:t>DDST</a:t>
            </a:r>
            <a:r>
              <a:rPr lang="zh-CN" altLang="en-US"/>
              <a:t>指向下一个单元，准备读取通道</a:t>
            </a:r>
            <a:r>
              <a:rPr lang="en-US" altLang="zh-CN"/>
              <a:t>4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简单输入输出示例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简单输入输出</a:t>
            </a:r>
            <a:r>
              <a:rPr lang="zh-CN" altLang="en-US" sz="2000" b="1">
                <a:solidFill>
                  <a:srgbClr val="9C0B15"/>
                </a:solidFill>
              </a:rPr>
              <a:t>示例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题目要求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现有一个串行口，其数据寄存器的</a:t>
            </a:r>
            <a:r>
              <a:rPr lang="en-US" altLang="zh-CN" sz="2000">
                <a:sym typeface="+mn-ea"/>
              </a:rPr>
              <a:t>I/O</a:t>
            </a:r>
            <a:r>
              <a:rPr lang="zh-CN" altLang="en-US" sz="2000">
                <a:sym typeface="+mn-ea"/>
              </a:rPr>
              <a:t>地址为</a:t>
            </a:r>
            <a:r>
              <a:rPr lang="en-US" altLang="zh-CN" sz="2000">
                <a:sym typeface="+mn-ea"/>
              </a:rPr>
              <a:t>8760H</a:t>
            </a:r>
            <a:r>
              <a:rPr lang="zh-CN" altLang="en-US" sz="2000">
                <a:sym typeface="+mn-ea"/>
              </a:rPr>
              <a:t>，状态寄存器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的地址为</a:t>
            </a:r>
            <a:r>
              <a:rPr lang="en-US" altLang="zh-CN" sz="2000">
                <a:sym typeface="+mn-ea"/>
              </a:rPr>
              <a:t>8761H</a:t>
            </a:r>
            <a:r>
              <a:rPr lang="zh-CN" altLang="en-US" sz="2000">
                <a:sym typeface="+mn-ea"/>
              </a:rPr>
              <a:t>。要求编写一个过程，使其能够将缓冲区的数据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从串口发送出去。缓冲区放在变量</a:t>
            </a:r>
            <a:r>
              <a:rPr lang="en-US" altLang="zh-CN" sz="2000">
                <a:sym typeface="+mn-ea"/>
              </a:rPr>
              <a:t>BUF</a:t>
            </a:r>
            <a:r>
              <a:rPr lang="zh-CN" altLang="en-US" sz="2000">
                <a:sym typeface="+mn-ea"/>
              </a:rPr>
              <a:t>内，缓冲区的大小则由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ym typeface="+mn-ea"/>
              </a:rPr>
              <a:t>LEN</a:t>
            </a:r>
            <a:r>
              <a:rPr lang="zh-CN" altLang="en-US" sz="2000">
                <a:sym typeface="+mn-ea"/>
              </a:rPr>
              <a:t>变量决定。状态寄存器</a:t>
            </a:r>
            <a:r>
              <a:rPr lang="en-US" altLang="zh-CN" sz="2000">
                <a:sym typeface="+mn-ea"/>
              </a:rPr>
              <a:t>8761H</a:t>
            </a:r>
            <a:r>
              <a:rPr lang="zh-CN" altLang="en-US" sz="2000">
                <a:sym typeface="+mn-ea"/>
              </a:rPr>
              <a:t>的第</a:t>
            </a:r>
            <a:r>
              <a:rPr lang="en-US" altLang="zh-CN" sz="2000">
                <a:sym typeface="+mn-ea"/>
              </a:rPr>
              <a:t>0</a:t>
            </a:r>
            <a:r>
              <a:rPr lang="zh-CN" altLang="en-US" sz="2000">
                <a:sym typeface="+mn-ea"/>
              </a:rPr>
              <a:t>位为发送忙标志位，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若检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测到该位为1，则说明串口忙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思路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在过程中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循环检测串口是否忙，若串口忙则等待</a:t>
            </a:r>
            <a:r>
              <a:rPr lang="zh-CN" altLang="en-US" sz="2000">
                <a:sym typeface="+mn-ea"/>
              </a:rPr>
              <a:t>，直到串口空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闲时再填入下一个字符</a:t>
            </a:r>
            <a:r>
              <a:rPr lang="zh-CN" altLang="en-US" sz="2000">
                <a:sym typeface="+mn-ea"/>
              </a:rPr>
              <a:t>并启动</a:t>
            </a:r>
            <a:r>
              <a:rPr lang="zh-CN" altLang="en-US" sz="2000">
                <a:sym typeface="+mn-ea"/>
              </a:rPr>
              <a:t>发送。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#define SDAT *((volatile unsigned char port*)0x8760)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#define SBSY *((volatile unsigned char port*)0x8761)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unsigned char buf[1024];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unsigned short len;</a:t>
            </a: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for 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(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int i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 = 0;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i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 &lt;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len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;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i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++)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3"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{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3"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while 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((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SBSY 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&amp; 0x01) != 0);</a:t>
            </a:r>
            <a:endParaRPr lang="en-US" altLang="zh-CN" sz="2000" b="1">
              <a:solidFill>
                <a:srgbClr val="00B0F0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SDAT 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=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buf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[i];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}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简单输入输出示例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简单输入输出</a:t>
            </a:r>
            <a:r>
              <a:rPr lang="zh-CN" altLang="en-US" sz="2000" b="1">
                <a:solidFill>
                  <a:srgbClr val="9C0B15"/>
                </a:solidFill>
              </a:rPr>
              <a:t>示例</a:t>
            </a:r>
            <a:endParaRPr lang="zh-CN" altLang="en-US" sz="200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12665" y="609600"/>
            <a:ext cx="5012055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MOV		SS, AX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LEA		SP,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STACK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Print string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CALL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CPRNT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	; Exit program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MOV     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AH,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 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4CH</a:t>
            </a:r>
            <a:endParaRPr lang="zh-CN" altLang="en-US" sz="2000" b="1">
              <a:solidFill>
                <a:srgbClr val="00B0F0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INT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21H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Print string to COM port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Uses	: AX, BX, DX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CPRNT	PROC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PUSH		AX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PUSH		BX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PUSH		DX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XOR		BX, BX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RETRY: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MOV		DX,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SBSY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IN		AL, DX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TEST		AL, 01H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JNZ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RETRY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495" y="609600"/>
            <a:ext cx="5259705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</a:rPr>
              <a:t>; Print strings to COM port with procedure.</a:t>
            </a:r>
            <a:endParaRPr lang="en-US" altLang="zh-CN" sz="2000" b="1">
              <a:solidFill>
                <a:srgbClr val="FF0000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</a:rPr>
              <a:t>	TITLE		COMPRINT</a:t>
            </a:r>
            <a:endParaRPr lang="en-US" altLang="zh-CN" sz="2000" b="1">
              <a:solidFill>
                <a:srgbClr val="FF0000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SDAT	EQU		8760H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SBSY	EQU		8761H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DATA	SEGMENT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COM send buffer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BUF	DB		'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Hello world'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LEN	DW		11D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Used as stack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DW		1000 DUP(?)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STACK	LABEL		WORD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DATA	ENDS</a:t>
            </a:r>
            <a:endParaRPr lang="en-US" altLang="zh-CN" sz="2000" b="1">
              <a:solidFill>
                <a:srgbClr val="FFC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CODE	SEGMENT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50"/>
                </a:solidFill>
                <a:sym typeface="+mn-ea"/>
              </a:rPr>
              <a:t>	</a:t>
            </a:r>
            <a:r>
              <a:rPr lang="zh-CN" altLang="en-US" sz="2000" b="1">
                <a:solidFill>
                  <a:srgbClr val="00B050"/>
                </a:solidFill>
                <a:sym typeface="+mn-ea"/>
              </a:rPr>
              <a:t>ASSUME		CS:CODE, DS:DATA</a:t>
            </a:r>
            <a:endParaRPr lang="en-US" altLang="zh-CN" sz="2000" b="1">
              <a:solidFill>
                <a:srgbClr val="92D050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START:	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	AX, </a:t>
            </a:r>
            <a:r>
              <a:rPr lang="en-US" altLang="zh-CN" sz="2000" b="1">
                <a:solidFill>
                  <a:srgbClr val="FFC000"/>
                </a:solidFill>
                <a:sym typeface="+mn-ea"/>
              </a:rPr>
              <a:t>DATA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MOV		DS, AX</a:t>
            </a:r>
            <a:endParaRPr lang="en-US" altLang="zh-CN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简单输入输出示例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中断输入输出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简单输入输出</a:t>
            </a:r>
            <a:r>
              <a:rPr lang="zh-CN" altLang="en-US" sz="2000" b="1">
                <a:solidFill>
                  <a:srgbClr val="9C0B15"/>
                </a:solidFill>
              </a:rPr>
              <a:t>示例</a:t>
            </a:r>
            <a:endParaRPr lang="zh-CN" altLang="en-US" sz="200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12665" y="609600"/>
            <a:ext cx="50120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C0000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495" y="609600"/>
            <a:ext cx="525970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MOV		DX,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SDAT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MOV		AL,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BUF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[BX]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OUT		DX, AL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INC		BX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CMP		BX,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LEN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JNZ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RETRY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POP		DX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POP		BX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POP		AX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CPRNT	ENDP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CODE	ENDS</a:t>
            </a:r>
            <a:endParaRPr lang="en-US" altLang="zh-CN" sz="2000" b="1">
              <a:solidFill>
                <a:srgbClr val="FFC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END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START</a:t>
            </a:r>
            <a:endParaRPr lang="en-US" altLang="zh-CN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中断输入输出示例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中断输入输出</a:t>
            </a:r>
            <a:r>
              <a:rPr lang="zh-CN" altLang="en-US" sz="2000" b="1">
                <a:solidFill>
                  <a:srgbClr val="9C0B15"/>
                </a:solidFill>
              </a:rPr>
              <a:t>示例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题目要求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在上一题中，对串口使用了轮询方式等待其发送完成。然而，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串口是一个很慢的设备，若以</a:t>
            </a:r>
            <a:r>
              <a:rPr lang="en-US" altLang="zh-CN" sz="2000">
                <a:sym typeface="+mn-ea"/>
              </a:rPr>
              <a:t>9600bps</a:t>
            </a:r>
            <a:r>
              <a:rPr lang="zh-CN" altLang="en-US" sz="2000">
                <a:sym typeface="+mn-ea"/>
              </a:rPr>
              <a:t>波特率发送，则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每毫秒仅		能发送一个字节</a:t>
            </a:r>
            <a:r>
              <a:rPr lang="zh-CN" altLang="en-US" sz="2000">
                <a:sym typeface="+mn-ea"/>
              </a:rPr>
              <a:t>。然而，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的速度是以</a:t>
            </a:r>
            <a:r>
              <a:rPr lang="en-US" altLang="zh-CN" sz="2000">
                <a:sym typeface="+mn-ea"/>
              </a:rPr>
              <a:t>MHz</a:t>
            </a:r>
            <a:r>
              <a:rPr lang="zh-CN" altLang="en-US" sz="2000">
                <a:sym typeface="+mn-ea"/>
              </a:rPr>
              <a:t>计算的，这会浪费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大量的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资源。因此，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要求将上一题的程序改为中断方式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假设中断控制器的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配置端口为0021H，EOI端口为0020H</a:t>
            </a:r>
            <a:r>
              <a:rPr lang="zh-CN" altLang="en-US" sz="2000">
                <a:sym typeface="+mn-ea"/>
              </a:rPr>
              <a:t>；串口的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中断线是第</a:t>
            </a:r>
            <a:r>
              <a:rPr lang="en-US" altLang="zh-CN" sz="2000">
                <a:sym typeface="+mn-ea"/>
              </a:rPr>
              <a:t>7</a:t>
            </a:r>
            <a:r>
              <a:rPr lang="zh-CN" altLang="en-US" sz="2000">
                <a:sym typeface="+mn-ea"/>
              </a:rPr>
              <a:t>根，且</a:t>
            </a:r>
            <a:r>
              <a:rPr lang="en-US" altLang="zh-CN" sz="2000">
                <a:sym typeface="+mn-ea"/>
              </a:rPr>
              <a:t>8</a:t>
            </a:r>
            <a:r>
              <a:rPr lang="zh-CN" altLang="en-US" sz="2000">
                <a:sym typeface="+mn-ea"/>
              </a:rPr>
              <a:t>条中断线对应的中断号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从32号开始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思路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可以推知，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串口的中断号为39号</a:t>
            </a:r>
            <a:r>
              <a:rPr lang="zh-CN" altLang="en-US" sz="2000">
                <a:sym typeface="+mn-ea"/>
              </a:rPr>
              <a:t>，因此只要将中断向量安装到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这里。中断向量本身</a:t>
            </a:r>
            <a:r>
              <a:rPr lang="zh-CN" altLang="en-US" sz="2000">
                <a:sym typeface="+mn-ea"/>
              </a:rPr>
              <a:t>如下：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int scnt = 1;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SDAT 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=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buf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[0];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void com_handler(void) interrupt 39 {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if 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(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scnt 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&lt;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len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) {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SDAT 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=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buf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[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scnt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];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scnt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++;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}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}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简单输入输出示例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中断输入输出示例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中断</a:t>
            </a:r>
            <a:r>
              <a:rPr lang="zh-CN" altLang="en-US" sz="2000" b="1">
                <a:solidFill>
                  <a:srgbClr val="9C0B15"/>
                </a:solidFill>
              </a:rPr>
              <a:t>输入输出</a:t>
            </a:r>
            <a:r>
              <a:rPr lang="zh-CN" altLang="en-US" sz="2000" b="1">
                <a:solidFill>
                  <a:srgbClr val="9C0B15"/>
                </a:solidFill>
              </a:rPr>
              <a:t>示例</a:t>
            </a:r>
            <a:endParaRPr lang="zh-CN" altLang="en-US" sz="200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12665" y="609600"/>
            <a:ext cx="5012055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MOV		DS, AX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	DX, OFFSET 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CVECT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AH, 25H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AL, 39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INT		21H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STI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Set up segment registers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MOV		AX, </a:t>
            </a:r>
            <a:r>
              <a:rPr lang="en-US" altLang="zh-CN" sz="2000" b="1">
                <a:solidFill>
                  <a:srgbClr val="FFC000"/>
                </a:solidFill>
                <a:sym typeface="+mn-ea"/>
              </a:rPr>
              <a:t>DATA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	DS, AX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MOV		SS, AX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LEA		SP,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STACK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Allow vector 39 on IR7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IN		AL, 21H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AND		AL, 7FH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OUT		21H, AL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Print string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CALL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CPRNT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	; Exit program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MOV     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AH,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 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4CH</a:t>
            </a:r>
            <a:endParaRPr lang="zh-CN" altLang="en-US" sz="2000" b="1">
              <a:solidFill>
                <a:srgbClr val="00B0F0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INT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21H</a:t>
            </a:r>
            <a:endParaRPr lang="zh-CN" altLang="en-US" sz="2000" b="1">
              <a:solidFill>
                <a:srgbClr val="C0000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495" y="609600"/>
            <a:ext cx="5259705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</a:rPr>
              <a:t>; Print strings to COM port with procedure.</a:t>
            </a:r>
            <a:endParaRPr lang="en-US" altLang="zh-CN" sz="2000" b="1">
              <a:solidFill>
                <a:srgbClr val="FF0000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</a:rPr>
              <a:t>	TITLE		COMPRINT</a:t>
            </a:r>
            <a:endParaRPr lang="en-US" altLang="zh-CN" sz="2000" b="1">
              <a:solidFill>
                <a:srgbClr val="FF0000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SDAT	EQU		8760H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DATA	SEGMENT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COM send buffer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BUF	DB		'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Hello world'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LEN	DW		11D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SCNT	DW		0D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Used as stack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	DW		1000 DUP(?)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STACK	LABEL		WORD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DATA	ENDS</a:t>
            </a:r>
            <a:endParaRPr lang="en-US" altLang="zh-CN" sz="2000" b="1">
              <a:solidFill>
                <a:srgbClr val="FFC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CODE	SEGMENT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50"/>
                </a:solidFill>
                <a:sym typeface="+mn-ea"/>
              </a:rPr>
              <a:t>	</a:t>
            </a:r>
            <a:r>
              <a:rPr lang="zh-CN" altLang="en-US" sz="2000" b="1">
                <a:solidFill>
                  <a:srgbClr val="00B050"/>
                </a:solidFill>
                <a:sym typeface="+mn-ea"/>
              </a:rPr>
              <a:t>ASSUME		CS:CODE, DS:DATA</a:t>
            </a:r>
            <a:endParaRPr lang="en-US" altLang="zh-CN" sz="2000" b="1">
              <a:solidFill>
                <a:srgbClr val="92D050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START:	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Set up interrupt vector 39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MOV		AX, SEG 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CVECT</a:t>
            </a:r>
            <a:endParaRPr lang="en-US" altLang="zh-CN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简单输入输出示例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中断输入输出示例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中断</a:t>
            </a:r>
            <a:r>
              <a:rPr lang="zh-CN" altLang="en-US" sz="2000" b="1">
                <a:solidFill>
                  <a:srgbClr val="9C0B15"/>
                </a:solidFill>
              </a:rPr>
              <a:t>输入输出</a:t>
            </a:r>
            <a:r>
              <a:rPr lang="zh-CN" altLang="en-US" sz="2000" b="1">
                <a:solidFill>
                  <a:srgbClr val="9C0B15"/>
                </a:solidFill>
              </a:rPr>
              <a:t>示例</a:t>
            </a:r>
            <a:endParaRPr lang="zh-CN" altLang="en-US" sz="200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12665" y="609600"/>
            <a:ext cx="5012055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PUSH		DX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MOV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B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SCNT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CMP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B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LEN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JAE	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PASS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DX,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SDAT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	AL,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BUF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[BX]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OUT	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DX, AL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INC	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SCNT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PASS: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EOI before returning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	AL, 20H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OUT		20H, AL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POP		DX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P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OP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B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X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POP		AX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IRET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CVECT	ENDP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CODE	ENDS</a:t>
            </a:r>
            <a:endParaRPr lang="en-US" altLang="zh-CN" sz="2000" b="1">
              <a:solidFill>
                <a:srgbClr val="FFC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END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START</a:t>
            </a:r>
            <a:endParaRPr lang="zh-CN" altLang="en-US" sz="2000" b="1">
              <a:solidFill>
                <a:srgbClr val="C0000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495" y="609600"/>
            <a:ext cx="5259705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Print string to COM port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Uses	: AX, DX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CPRNT	PROC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PUSH		AX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PUSH		DX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Just send the first byte to COM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MOV		DX,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SDAT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MOV		AL,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BUF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[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0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]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OUT		DX, AL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SCNT, 1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POP		DX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POP		AX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CPRNT	ENDP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Interrupt vector for COM port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Uses	: AX, BX, DX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CVECT	PROC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PUSH		AX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sym typeface="+mn-ea"/>
              </a:rPr>
              <a:t>	PUSH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B</a:t>
            </a:r>
            <a:r>
              <a:rPr lang="zh-CN" altLang="en-US" sz="2000" b="1">
                <a:solidFill>
                  <a:srgbClr val="00B0F0"/>
                </a:solidFill>
                <a:sym typeface="+mn-ea"/>
              </a:rPr>
              <a:t>X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中断输入输出示例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中断输入输出</a:t>
            </a:r>
            <a:r>
              <a:rPr lang="zh-CN" altLang="en-US" sz="2000" b="1">
                <a:solidFill>
                  <a:srgbClr val="9C0B15"/>
                </a:solidFill>
              </a:rPr>
              <a:t>示例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在上一题中，</a:t>
            </a:r>
            <a:r>
              <a:rPr lang="en-US" altLang="zh-CN" sz="2000">
                <a:sym typeface="+mn-ea"/>
              </a:rPr>
              <a:t>ISR</a:t>
            </a:r>
            <a:r>
              <a:rPr lang="zh-CN" altLang="en-US" sz="2000">
                <a:sym typeface="+mn-ea"/>
              </a:rPr>
              <a:t>使用了全局变量</a:t>
            </a:r>
            <a:r>
              <a:rPr lang="en-US" altLang="zh-CN" sz="2000">
                <a:sym typeface="+mn-ea"/>
              </a:rPr>
              <a:t>SCNT</a:t>
            </a:r>
            <a:r>
              <a:rPr lang="zh-CN" altLang="en-US" sz="2000">
                <a:sym typeface="+mn-ea"/>
              </a:rPr>
              <a:t>来记录下一次要发送哪个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字符，并从全局变量数组中提取这些字符。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这和使用全局变量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给过程传递参数与返回值有什么区别</a:t>
            </a:r>
            <a:r>
              <a:rPr lang="zh-CN" altLang="en-US" sz="2000">
                <a:sym typeface="+mn-ea"/>
              </a:rPr>
              <a:t>？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3375" y="3192145"/>
            <a:ext cx="912114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回答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由于中断随时可能打断程序，程序要传递信息给中断，只能提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前将一些状态信息记录在全局变量中。这和使用全局变量传递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过程的参数</a:t>
            </a:r>
            <a:r>
              <a:rPr lang="zh-CN" altLang="en-US" sz="2000">
                <a:sym typeface="+mn-ea"/>
              </a:rPr>
              <a:t>与返回值</a:t>
            </a:r>
            <a:r>
              <a:rPr lang="zh-CN" altLang="en-US" sz="2000">
                <a:sym typeface="+mn-ea"/>
              </a:rPr>
              <a:t>在原理上是没有区别的。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但是，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原则上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ISR是没有参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数与返回值的</a:t>
            </a:r>
            <a:r>
              <a:rPr lang="zh-CN" altLang="en-US" sz="2000">
                <a:sym typeface="+mn-ea"/>
              </a:rPr>
              <a:t>，因此将这些全局变量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称为参数和返回值是不妥当的。在实务中，我们一般称这些沟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通主程序与</a:t>
            </a:r>
            <a:r>
              <a:rPr lang="en-US" altLang="zh-CN" sz="2000">
                <a:sym typeface="+mn-ea"/>
              </a:rPr>
              <a:t>ISR</a:t>
            </a:r>
            <a:r>
              <a:rPr lang="zh-CN" altLang="en-US" sz="2000">
                <a:sym typeface="+mn-ea"/>
              </a:rPr>
              <a:t>的变量称为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缓冲区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中断输入输出示例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Text Box 2"/>
          <p:cNvSpPr txBox="1"/>
          <p:nvPr/>
        </p:nvSpPr>
        <p:spPr>
          <a:xfrm>
            <a:off x="428625" y="140335"/>
            <a:ext cx="8930640" cy="3987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9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号作业：第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313~314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页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 8.1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8.3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8.4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8.6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8.10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，第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13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周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35585" y="1522730"/>
            <a:ext cx="9316085" cy="3837940"/>
            <a:chOff x="2358" y="2647"/>
            <a:chExt cx="11834" cy="4875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06" y="2647"/>
              <a:ext cx="8430" cy="885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06" y="3532"/>
              <a:ext cx="6930" cy="885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86" y="6668"/>
              <a:ext cx="11535" cy="855"/>
            </a:xfrm>
            <a:prstGeom prst="rect">
              <a:avLst/>
            </a:prstGeom>
          </p:spPr>
        </p:pic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58" y="4417"/>
              <a:ext cx="11835" cy="2175"/>
            </a:xfrm>
            <a:prstGeom prst="rect">
              <a:avLst/>
            </a:prstGeom>
          </p:spPr>
        </p:pic>
      </p:grpSp>
    </p:spTree>
    <p:custDataLst>
      <p:tags r:id="rId6"/>
    </p:custData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输入输出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设计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输入输出设计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基础知识回顾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直接输入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轮询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1.4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中断输入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1.5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成组输入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输出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简单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输入输出示例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中断输入输出示例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2023.11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Text Box 2"/>
          <p:cNvSpPr txBox="1"/>
          <p:nvPr/>
        </p:nvSpPr>
        <p:spPr>
          <a:xfrm>
            <a:off x="428625" y="140335"/>
            <a:ext cx="8930640" cy="624713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9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号作业：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附加题，第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13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周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题目一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 </a:t>
            </a:r>
            <a:r>
              <a:rPr lang="zh-CN" altLang="en-US" sz="2000">
                <a:sym typeface="+mn-ea"/>
              </a:rPr>
              <a:t>查询相关资料，解释为何现代高性能驱动程序栈（如</a:t>
            </a:r>
            <a:r>
              <a:rPr lang="en-US" altLang="zh-CN" sz="2000">
                <a:sym typeface="+mn-ea"/>
              </a:rPr>
              <a:t>DPDK</a:t>
            </a:r>
            <a:r>
              <a:rPr lang="zh-CN" altLang="en-US" sz="2000">
                <a:sym typeface="+mn-ea"/>
              </a:rPr>
              <a:t>等）更倾向于使用轮询方式，而不是中断方式或</a:t>
            </a:r>
            <a:r>
              <a:rPr lang="en-US" altLang="zh-CN" sz="2000">
                <a:sym typeface="+mn-ea"/>
              </a:rPr>
              <a:t>DMA</a:t>
            </a:r>
            <a:r>
              <a:rPr lang="zh-CN" altLang="en-US" sz="2000">
                <a:sym typeface="+mn-ea"/>
              </a:rPr>
              <a:t>方式</a:t>
            </a:r>
            <a:r>
              <a:rPr lang="en-US" altLang="zh-CN" sz="2000">
                <a:sym typeface="+mn-ea"/>
              </a:rPr>
              <a:t>？</a:t>
            </a:r>
            <a:endParaRPr lang="en-US" altLang="zh-CN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题目二 </a:t>
            </a:r>
            <a:r>
              <a:rPr lang="zh-CN" altLang="en-US" sz="2000">
                <a:sym typeface="+mn-ea"/>
              </a:rPr>
              <a:t>在程序出现错误时，在</a:t>
            </a:r>
            <a:r>
              <a:rPr lang="en-US" altLang="zh-CN" sz="2000">
                <a:sym typeface="+mn-ea"/>
              </a:rPr>
              <a:t>IDE</a:t>
            </a:r>
            <a:r>
              <a:rPr lang="zh-CN" altLang="en-US" sz="2000">
                <a:sym typeface="+mn-ea"/>
              </a:rPr>
              <a:t>的</a:t>
            </a:r>
            <a:r>
              <a:rPr lang="en-US" altLang="zh-CN" sz="2000">
                <a:sym typeface="+mn-ea"/>
              </a:rPr>
              <a:t>“</a:t>
            </a:r>
            <a:r>
              <a:rPr lang="zh-CN" altLang="en-US" sz="2000">
                <a:sym typeface="+mn-ea"/>
              </a:rPr>
              <a:t>查看</a:t>
            </a:r>
            <a:r>
              <a:rPr lang="en-US" altLang="zh-CN" sz="2000">
                <a:sym typeface="+mn-ea"/>
              </a:rPr>
              <a:t>”</a:t>
            </a:r>
            <a:r>
              <a:rPr lang="zh-CN" altLang="en-US" sz="2000">
                <a:sym typeface="+mn-ea"/>
              </a:rPr>
              <a:t>窗口中产生的</a:t>
            </a:r>
            <a:r>
              <a:rPr lang="en-US" altLang="zh-CN" sz="2000">
                <a:sym typeface="+mn-ea"/>
              </a:rPr>
              <a:t>“</a:t>
            </a:r>
            <a:r>
              <a:rPr lang="zh-CN" altLang="en-US" sz="2000">
                <a:sym typeface="+mn-ea"/>
              </a:rPr>
              <a:t>烫烫烫烫</a:t>
            </a:r>
            <a:r>
              <a:rPr lang="zh-CN" altLang="en-US" sz="2000">
                <a:sym typeface="+mn-ea"/>
              </a:rPr>
              <a:t>烫烫烫烫烫烫烫烫</a:t>
            </a:r>
            <a:r>
              <a:rPr lang="en-US" altLang="zh-CN" sz="2000">
                <a:sym typeface="+mn-ea"/>
              </a:rPr>
              <a:t>”</a:t>
            </a:r>
            <a:r>
              <a:rPr lang="zh-CN" altLang="en-US" sz="2000">
                <a:sym typeface="+mn-ea"/>
              </a:rPr>
              <a:t>实际上是什么？编译器或调试器为何要这样填充内存？</a:t>
            </a:r>
            <a:endParaRPr lang="zh-CN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题目三</a:t>
            </a:r>
            <a:r>
              <a:rPr lang="en-US" altLang="zh-CN" sz="2000">
                <a:sym typeface="+mn-ea"/>
              </a:rPr>
              <a:t> ARM</a:t>
            </a:r>
            <a:r>
              <a:rPr lang="zh-CN" altLang="en-US" sz="2000">
                <a:sym typeface="+mn-ea"/>
              </a:rPr>
              <a:t>处理器和</a:t>
            </a:r>
            <a:r>
              <a:rPr lang="en-US" altLang="zh-CN" sz="2000">
                <a:sym typeface="+mn-ea"/>
              </a:rPr>
              <a:t>RISC-V</a:t>
            </a:r>
            <a:r>
              <a:rPr lang="zh-CN" altLang="en-US" sz="2000">
                <a:sym typeface="+mn-ea"/>
              </a:rPr>
              <a:t>的</a:t>
            </a:r>
            <a:r>
              <a:rPr lang="en-US" altLang="zh-CN" sz="2000">
                <a:sym typeface="+mn-ea"/>
              </a:rPr>
              <a:t>I/O</a:t>
            </a:r>
            <a:r>
              <a:rPr lang="zh-CN" altLang="en-US" sz="2000">
                <a:sym typeface="+mn-ea"/>
              </a:rPr>
              <a:t>与内存是统一编址的，现代</a:t>
            </a:r>
            <a:r>
              <a:rPr lang="en-US" altLang="zh-CN" sz="2000">
                <a:sym typeface="+mn-ea"/>
              </a:rPr>
              <a:t>x86</a:t>
            </a:r>
            <a:r>
              <a:rPr lang="zh-CN" altLang="en-US" sz="2000">
                <a:sym typeface="+mn-ea"/>
              </a:rPr>
              <a:t>处理器也是。查询相关资料，</a:t>
            </a:r>
            <a:r>
              <a:rPr lang="zh-CN" altLang="en-US" sz="2000">
                <a:sym typeface="+mn-ea"/>
              </a:rPr>
              <a:t>说明这样做有什么好处。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题目四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接上题，（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）考虑缓存系统和缓冲系统的存在，读</a:t>
            </a:r>
            <a:r>
              <a:rPr lang="en-US" altLang="zh-CN" sz="2000">
                <a:sym typeface="+mn-ea"/>
              </a:rPr>
              <a:t>/</a:t>
            </a:r>
            <a:r>
              <a:rPr lang="zh-CN" altLang="en-US" sz="2000">
                <a:sym typeface="+mn-ea"/>
              </a:rPr>
              <a:t>写实际上映射了设备的</a:t>
            </a:r>
            <a:r>
              <a:rPr lang="en-US" altLang="zh-CN" sz="2000">
                <a:sym typeface="+mn-ea"/>
              </a:rPr>
              <a:t>“</a:t>
            </a:r>
            <a:r>
              <a:rPr lang="zh-CN" altLang="en-US" sz="2000">
                <a:sym typeface="+mn-ea"/>
              </a:rPr>
              <a:t>内存地址</a:t>
            </a:r>
            <a:r>
              <a:rPr lang="en-US" altLang="zh-CN" sz="2000">
                <a:sym typeface="+mn-ea"/>
              </a:rPr>
              <a:t>”</a:t>
            </a:r>
            <a:r>
              <a:rPr lang="zh-CN" altLang="en-US" sz="2000">
                <a:sym typeface="+mn-ea"/>
              </a:rPr>
              <a:t>要注意些什么问题？（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）</a:t>
            </a:r>
            <a:r>
              <a:rPr lang="en-US" altLang="zh-CN" sz="2000">
                <a:sym typeface="+mn-ea"/>
              </a:rPr>
              <a:t>ARM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RISC-V</a:t>
            </a:r>
            <a:r>
              <a:rPr lang="zh-CN" altLang="en-US" sz="2000">
                <a:sym typeface="+mn-ea"/>
              </a:rPr>
              <a:t>处理器各是使用什么方法处理这些问题？（</a:t>
            </a:r>
            <a:r>
              <a:rPr lang="en-US" altLang="zh-CN" sz="2000">
                <a:sym typeface="+mn-ea"/>
              </a:rPr>
              <a:t>3</a:t>
            </a:r>
            <a:r>
              <a:rPr lang="zh-CN" altLang="en-US" sz="2000">
                <a:sym typeface="+mn-ea"/>
              </a:rPr>
              <a:t>）这两种不同处理的</a:t>
            </a:r>
            <a:r>
              <a:rPr lang="zh-CN" altLang="en-US" sz="2000">
                <a:sym typeface="+mn-ea"/>
              </a:rPr>
              <a:t>优缺点是什么？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题目五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在现代操作系统中，对</a:t>
            </a:r>
            <a:r>
              <a:rPr lang="en-US" altLang="zh-CN" sz="2000">
                <a:sym typeface="+mn-ea"/>
              </a:rPr>
              <a:t>DMA</a:t>
            </a:r>
            <a:r>
              <a:rPr lang="zh-CN" altLang="en-US" sz="2000">
                <a:sym typeface="+mn-ea"/>
              </a:rPr>
              <a:t>的权限管理是十分严格的。（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）为什么要这样处理？（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）这种处理需要使用到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内部的某个硬件模块，它的名称</a:t>
            </a:r>
            <a:r>
              <a:rPr lang="zh-CN" altLang="en-US" sz="2000">
                <a:sym typeface="+mn-ea"/>
              </a:rPr>
              <a:t>是什么？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TIMING" val="|0.3|0.8|0.7|0.7|1.2|1.3"/>
</p:tagLst>
</file>

<file path=ppt/tags/tag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.xml><?xml version="1.0" encoding="utf-8"?>
<p:tagLst xmlns:p="http://schemas.openxmlformats.org/presentationml/2006/main">
  <p:tag name="TIMING" val="|0.6|0.8|1.2|0.9|0.6|1.1|0.7|0.6|0.8|0.4|1"/>
</p:tagLst>
</file>

<file path=ppt/tags/tag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5.xml><?xml version="1.0" encoding="utf-8"?>
<p:tagLst xmlns:p="http://schemas.openxmlformats.org/presentationml/2006/main">
  <p:tag name="TIMING" val="|0.6|0.8|1.2|0.9|0.6|1.1|0.7|0.6|0.8|0.4|1"/>
</p:tagLst>
</file>

<file path=ppt/tags/tag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7.xml><?xml version="1.0" encoding="utf-8"?>
<p:tagLst xmlns:p="http://schemas.openxmlformats.org/presentationml/2006/main">
  <p:tag name="TIMING" val="|0.6|0.8|1.2|0.9|0.6|1.1|0.7|0.6|0.8|0.4|1"/>
</p:tagLst>
</file>

<file path=ppt/tags/tag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9.xml><?xml version="1.0" encoding="utf-8"?>
<p:tagLst xmlns:p="http://schemas.openxmlformats.org/presentationml/2006/main">
  <p:tag name="KSO_WM_UNIT_TABLE_BEAUTIFY" val="smartTable{0d5ecfe4-3400-4740-87cf-b4af81cb0847}"/>
  <p:tag name="TABLE_ENDDRAG_ORIGIN_RECT" val="730*147"/>
  <p:tag name="TABLE_ENDDRAG_RECT" val="27*23*730*147"/>
</p:tagLst>
</file>

<file path=ppt/tags/tag10.xml><?xml version="1.0" encoding="utf-8"?>
<p:tagLst xmlns:p="http://schemas.openxmlformats.org/presentationml/2006/main">
  <p:tag name="KSO_WM_UNIT_TABLE_BEAUTIFY" val="smartTable{74deb9e2-016c-4eca-9ab0-9d0d28af95ef}"/>
  <p:tag name="TABLE_ENDDRAG_ORIGIN_RECT" val="729*362"/>
  <p:tag name="TABLE_ENDDRAG_RECT" val="20*159*729*363"/>
</p:tagLst>
</file>

<file path=ppt/tags/tag11.xml><?xml version="1.0" encoding="utf-8"?>
<p:tagLst xmlns:p="http://schemas.openxmlformats.org/presentationml/2006/main">
  <p:tag name="TIMING" val="|0.6|0.8|1.2|0.9|0.6|1.1|0.7|0.6|0.8|0.4|1"/>
</p:tagLst>
</file>

<file path=ppt/tags/tag1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3.xml><?xml version="1.0" encoding="utf-8"?>
<p:tagLst xmlns:p="http://schemas.openxmlformats.org/presentationml/2006/main">
  <p:tag name="KSO_WM_UNIT_TABLE_BEAUTIFY" val="smartTable{0d5ecfe4-3400-4740-87cf-b4af81cb0847}"/>
  <p:tag name="TABLE_ENDDRAG_ORIGIN_RECT" val="730*147"/>
  <p:tag name="TABLE_ENDDRAG_RECT" val="27*23*730*147"/>
</p:tagLst>
</file>

<file path=ppt/tags/tag14.xml><?xml version="1.0" encoding="utf-8"?>
<p:tagLst xmlns:p="http://schemas.openxmlformats.org/presentationml/2006/main">
  <p:tag name="KSO_WM_UNIT_TABLE_BEAUTIFY" val="smartTable{74deb9e2-016c-4eca-9ab0-9d0d28af95ef}"/>
  <p:tag name="TABLE_ENDDRAG_ORIGIN_RECT" val="729*362"/>
  <p:tag name="TABLE_ENDDRAG_RECT" val="20*159*729*363"/>
</p:tagLst>
</file>

<file path=ppt/tags/tag15.xml><?xml version="1.0" encoding="utf-8"?>
<p:tagLst xmlns:p="http://schemas.openxmlformats.org/presentationml/2006/main">
  <p:tag name="TIMING" val="|0.6|0.8|1.2|0.9|0.6|1.1|0.7|0.6|0.8|0.4|1"/>
</p:tagLst>
</file>

<file path=ppt/tags/tag1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7.xml><?xml version="1.0" encoding="utf-8"?>
<p:tagLst xmlns:p="http://schemas.openxmlformats.org/presentationml/2006/main">
  <p:tag name="TIMING" val="|0.6|0.8|1.2|0.9|0.6|1.1|0.7|0.6|0.8|0.4|1"/>
</p:tagLst>
</file>

<file path=ppt/tags/tag1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9.xml><?xml version="1.0" encoding="utf-8"?>
<p:tagLst xmlns:p="http://schemas.openxmlformats.org/presentationml/2006/main">
  <p:tag name="TIMING" val="|0.6|0.8|1.2|0.9|0.6|1.1|0.7|0.6|0.8|0.4|1"/>
</p:tagLst>
</file>

<file path=ppt/tags/tag2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1.xml><?xml version="1.0" encoding="utf-8"?>
<p:tagLst xmlns:p="http://schemas.openxmlformats.org/presentationml/2006/main">
  <p:tag name="TIMING" val="|0.6|0.8|1.2|0.9|0.6|1.1|0.7|0.6|0.8|0.4|1"/>
</p:tagLst>
</file>

<file path=ppt/tags/tag2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TIMING" val="|0.6|0.8|1.2|0.9|0.6|1.1|0.7|0.6|0.8|0.4|1"/>
</p:tagLst>
</file>

<file path=ppt/tags/tag2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6.xml><?xml version="1.0" encoding="utf-8"?>
<p:tagLst xmlns:p="http://schemas.openxmlformats.org/presentationml/2006/main">
  <p:tag name="TIMING" val="|0.6|0.8|1.2|0.9|0.6|1.1|0.7|0.6|0.8|0.4|1"/>
</p:tagLst>
</file>

<file path=ppt/tags/tag2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8.xml><?xml version="1.0" encoding="utf-8"?>
<p:tagLst xmlns:p="http://schemas.openxmlformats.org/presentationml/2006/main">
  <p:tag name="TIMING" val="|0.6|0.8|1.2|0.9|0.6|1.1|0.7|0.6|0.8|0.4|1"/>
</p:tagLst>
</file>

<file path=ppt/tags/tag2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0.xml><?xml version="1.0" encoding="utf-8"?>
<p:tagLst xmlns:p="http://schemas.openxmlformats.org/presentationml/2006/main">
  <p:tag name="TIMING" val="|0.6|0.8|1.2|0.9|0.6|1.1|0.7|0.6|0.8|0.4|1"/>
</p:tagLst>
</file>

<file path=ppt/tags/tag3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2.xml><?xml version="1.0" encoding="utf-8"?>
<p:tagLst xmlns:p="http://schemas.openxmlformats.org/presentationml/2006/main">
  <p:tag name="KSO_WM_UNIT_TABLE_BEAUTIFY" val="smartTable{0d5ecfe4-3400-4740-87cf-b4af81cb0847}"/>
  <p:tag name="TABLE_ENDDRAG_ORIGIN_RECT" val="730*147"/>
  <p:tag name="TABLE_ENDDRAG_RECT" val="27*23*730*147"/>
</p:tagLst>
</file>

<file path=ppt/tags/tag33.xml><?xml version="1.0" encoding="utf-8"?>
<p:tagLst xmlns:p="http://schemas.openxmlformats.org/presentationml/2006/main">
  <p:tag name="TIMING" val="|0.6|0.8|1.2|0.9|0.6|1.1|0.7|0.6|0.8|0.4|1"/>
</p:tagLst>
</file>

<file path=ppt/tags/tag3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5.xml><?xml version="1.0" encoding="utf-8"?>
<p:tagLst xmlns:p="http://schemas.openxmlformats.org/presentationml/2006/main">
  <p:tag name="TIMING" val="|0.6|0.8|1.2|0.9|0.6|1.1|0.7|0.6|0.8|0.4|1"/>
</p:tagLst>
</file>

<file path=ppt/tags/tag3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7.xml><?xml version="1.0" encoding="utf-8"?>
<p:tagLst xmlns:p="http://schemas.openxmlformats.org/presentationml/2006/main">
  <p:tag name="TIMING" val="|0.6|0.8|1.2|0.9|0.6|1.1|0.7|0.6|0.8|0.4|1"/>
</p:tagLst>
</file>

<file path=ppt/tags/tag3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9.xml><?xml version="1.0" encoding="utf-8"?>
<p:tagLst xmlns:p="http://schemas.openxmlformats.org/presentationml/2006/main">
  <p:tag name="KSO_WM_UNIT_TABLE_BEAUTIFY" val="smartTable{0d5ecfe4-3400-4740-87cf-b4af81cb0847}"/>
  <p:tag name="TABLE_ENDDRAG_ORIGIN_RECT" val="730*147"/>
  <p:tag name="TABLE_ENDDRAG_RECT" val="27*23*730*147"/>
</p:tagLst>
</file>

<file path=ppt/tags/tag40.xml><?xml version="1.0" encoding="utf-8"?>
<p:tagLst xmlns:p="http://schemas.openxmlformats.org/presentationml/2006/main">
  <p:tag name="TIMING" val="|0.6|0.8|1.2|0.9|0.6|1.1|0.7|0.6|0.8|0.4|1"/>
</p:tagLst>
</file>

<file path=ppt/tags/tag4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42.xml><?xml version="1.0" encoding="utf-8"?>
<p:tagLst xmlns:p="http://schemas.openxmlformats.org/presentationml/2006/main">
  <p:tag name="KSO_WM_UNIT_TABLE_BEAUTIFY" val="smartTable{0d5ecfe4-3400-4740-87cf-b4af81cb0847}"/>
  <p:tag name="TABLE_ENDDRAG_ORIGIN_RECT" val="730*147"/>
  <p:tag name="TABLE_ENDDRAG_RECT" val="27*23*730*147"/>
</p:tagLst>
</file>

<file path=ppt/tags/tag43.xml><?xml version="1.0" encoding="utf-8"?>
<p:tagLst xmlns:p="http://schemas.openxmlformats.org/presentationml/2006/main">
  <p:tag name="TIMING" val="|0.6|0.8|1.2|0.9|0.6|1.1|0.7|0.6|0.8|0.4|1"/>
</p:tagLst>
</file>

<file path=ppt/tags/tag4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45.xml><?xml version="1.0" encoding="utf-8"?>
<p:tagLst xmlns:p="http://schemas.openxmlformats.org/presentationml/2006/main">
  <p:tag name="KSO_WM_UNIT_PLACING_PICTURE_USER_VIEWPORT" val="{&quot;height&quot;:6109,&quot;width&quot;:6103}"/>
</p:tagLst>
</file>

<file path=ppt/tags/tag46.xml><?xml version="1.0" encoding="utf-8"?>
<p:tagLst xmlns:p="http://schemas.openxmlformats.org/presentationml/2006/main">
  <p:tag name="TIMING" val="|0.6|0.8|1.2|0.9|0.6|1.1|0.7|0.6|0.8|0.4|1"/>
</p:tagLst>
</file>

<file path=ppt/tags/tag4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48.xml><?xml version="1.0" encoding="utf-8"?>
<p:tagLst xmlns:p="http://schemas.openxmlformats.org/presentationml/2006/main">
  <p:tag name="TIMING" val="|0.6|0.8|1.2|0.9|0.6|1.1|0.7|0.6|0.8|0.4|1"/>
</p:tagLst>
</file>

<file path=ppt/tags/tag4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50.xml><?xml version="1.0" encoding="utf-8"?>
<p:tagLst xmlns:p="http://schemas.openxmlformats.org/presentationml/2006/main">
  <p:tag name="TIMING" val="|0.6|0.8|1.2|0.9|0.6|1.1|0.7|0.6|0.8|0.4|1"/>
</p:tagLst>
</file>

<file path=ppt/tags/tag5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52.xml><?xml version="1.0" encoding="utf-8"?>
<p:tagLst xmlns:p="http://schemas.openxmlformats.org/presentationml/2006/main">
  <p:tag name="TIMING" val="|0.6|0.8|1.2|0.9|0.6|1.1|0.7|0.6|0.8|0.4|1"/>
</p:tagLst>
</file>

<file path=ppt/tags/tag5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54.xml><?xml version="1.0" encoding="utf-8"?>
<p:tagLst xmlns:p="http://schemas.openxmlformats.org/presentationml/2006/main">
  <p:tag name="TIMING" val="|0.6|0.8|1.2|0.9|0.6|1.1|0.7|0.6|0.8|0.4|1"/>
</p:tagLst>
</file>

<file path=ppt/tags/tag5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56.xml><?xml version="1.0" encoding="utf-8"?>
<p:tagLst xmlns:p="http://schemas.openxmlformats.org/presentationml/2006/main">
  <p:tag name="KSO_WM_UNIT_TABLE_BEAUTIFY" val="smartTable{0d5ecfe4-3400-4740-87cf-b4af81cb0847}"/>
  <p:tag name="TABLE_ENDDRAG_ORIGIN_RECT" val="730*147"/>
  <p:tag name="TABLE_ENDDRAG_RECT" val="27*23*730*147"/>
</p:tagLst>
</file>

<file path=ppt/tags/tag57.xml><?xml version="1.0" encoding="utf-8"?>
<p:tagLst xmlns:p="http://schemas.openxmlformats.org/presentationml/2006/main">
  <p:tag name="TIMING" val="|0.6|0.8|1.2|0.9|0.6|1.1|0.7|0.6|0.8|0.4|1"/>
</p:tagLst>
</file>

<file path=ppt/tags/tag5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59.xml><?xml version="1.0" encoding="utf-8"?>
<p:tagLst xmlns:p="http://schemas.openxmlformats.org/presentationml/2006/main">
  <p:tag name="KSO_WM_UNIT_TABLE_BEAUTIFY" val="smartTable{0d5ecfe4-3400-4740-87cf-b4af81cb0847}"/>
  <p:tag name="TABLE_ENDDRAG_ORIGIN_RECT" val="730*147"/>
  <p:tag name="TABLE_ENDDRAG_RECT" val="27*23*730*147"/>
</p:tagLst>
</file>

<file path=ppt/tags/tag60.xml><?xml version="1.0" encoding="utf-8"?>
<p:tagLst xmlns:p="http://schemas.openxmlformats.org/presentationml/2006/main">
  <p:tag name="TIMING" val="|0.6|0.8|1.2|0.9|0.6|1.1|0.7|0.6|0.8|0.4|1"/>
</p:tagLst>
</file>

<file path=ppt/tags/tag6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2.xml><?xml version="1.0" encoding="utf-8"?>
<p:tagLst xmlns:p="http://schemas.openxmlformats.org/presentationml/2006/main">
  <p:tag name="TIMING" val="|0.6|0.8|1.2|0.9|0.6|1.1|0.7|0.6|0.8|0.4|1"/>
</p:tagLst>
</file>

<file path=ppt/tags/tag6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4.xml><?xml version="1.0" encoding="utf-8"?>
<p:tagLst xmlns:p="http://schemas.openxmlformats.org/presentationml/2006/main">
  <p:tag name="TIMING" val="|0.6|0.8|1.2|0.9|0.6|1.1|0.7|0.6|0.8|0.4|1"/>
</p:tagLst>
</file>

<file path=ppt/tags/tag6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6.xml><?xml version="1.0" encoding="utf-8"?>
<p:tagLst xmlns:p="http://schemas.openxmlformats.org/presentationml/2006/main">
  <p:tag name="TIMING" val="|0.6|0.8|1.2|0.9|0.6|1.1|0.7|0.6|0.8|0.4|1"/>
</p:tagLst>
</file>

<file path=ppt/tags/tag6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8.xml><?xml version="1.0" encoding="utf-8"?>
<p:tagLst xmlns:p="http://schemas.openxmlformats.org/presentationml/2006/main">
  <p:tag name="TIMING" val="|0.6|0.8|1.2|0.9|0.6|1.1|0.7|0.6|0.8|0.4|1"/>
</p:tagLst>
</file>

<file path=ppt/tags/tag6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70.xml><?xml version="1.0" encoding="utf-8"?>
<p:tagLst xmlns:p="http://schemas.openxmlformats.org/presentationml/2006/main">
  <p:tag name="TIMING" val="|0.6|0.8|1.2|0.9|0.6|1.1|0.7|0.6|0.8|0.4|1"/>
</p:tagLst>
</file>

<file path=ppt/tags/tag7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72.xml><?xml version="1.0" encoding="utf-8"?>
<p:tagLst xmlns:p="http://schemas.openxmlformats.org/presentationml/2006/main">
  <p:tag name="TIMING" val="|0.6|0.8|1.2|0.9|0.6|1.1|0.7|0.6|0.8|0.4|1"/>
</p:tagLst>
</file>

<file path=ppt/tags/tag7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74.xml><?xml version="1.0" encoding="utf-8"?>
<p:tagLst xmlns:p="http://schemas.openxmlformats.org/presentationml/2006/main">
  <p:tag name="TIMING" val="|0.6|0.8|1.2|0.9|0.6|1.1|0.7|0.6|0.8|0.4|1"/>
</p:tagLst>
</file>

<file path=ppt/tags/tag7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76.xml><?xml version="1.0" encoding="utf-8"?>
<p:tagLst xmlns:p="http://schemas.openxmlformats.org/presentationml/2006/main">
  <p:tag name="TIMING" val="|0.6|0.8|1.2|0.9|0.6|1.1|0.7|0.6|0.8|0.4|1"/>
</p:tagLst>
</file>

<file path=ppt/tags/tag7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78.xml><?xml version="1.0" encoding="utf-8"?>
<p:tagLst xmlns:p="http://schemas.openxmlformats.org/presentationml/2006/main">
  <p:tag name="TIMING" val="|0.6|0.8|1.2|0.9|0.6|1.1|0.7|0.6|0.8|0.4|1"/>
</p:tagLst>
</file>

<file path=ppt/tags/tag7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80.xml><?xml version="1.0" encoding="utf-8"?>
<p:tagLst xmlns:p="http://schemas.openxmlformats.org/presentationml/2006/main">
  <p:tag name="TIMING" val="|0.6|0.8|1.2|0.9|0.6|1.1|0.7|0.6|0.8|0.4|1"/>
</p:tagLst>
</file>

<file path=ppt/tags/tag8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82.xml><?xml version="1.0" encoding="utf-8"?>
<p:tagLst xmlns:p="http://schemas.openxmlformats.org/presentationml/2006/main">
  <p:tag name="TIMING" val="|0.6|0.8|1.2|0.9|0.6|1.1|0.7|0.6|0.8|0.4|1"/>
</p:tagLst>
</file>

<file path=ppt/tags/tag8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84.xml><?xml version="1.0" encoding="utf-8"?>
<p:tagLst xmlns:p="http://schemas.openxmlformats.org/presentationml/2006/main">
  <p:tag name="TIMING" val="|0.6|0.8|1.2|0.9|0.6|1.1|0.7|0.6|0.8|0.4|1"/>
</p:tagLst>
</file>

<file path=ppt/tags/tag8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86.xml><?xml version="1.0" encoding="utf-8"?>
<p:tagLst xmlns:p="http://schemas.openxmlformats.org/presentationml/2006/main">
  <p:tag name="TIMING" val="|0.6|0.8|1.2|0.9|0.6|1.1|0.7|0.6|0.8|0.4|1"/>
</p:tagLst>
</file>

<file path=ppt/tags/tag87.xml><?xml version="1.0" encoding="utf-8"?>
<p:tagLst xmlns:p="http://schemas.openxmlformats.org/presentationml/2006/main">
  <p:tag name="COMMONDATA" val="eyJoZGlkIjoiMGIzNTk4MTE4NzE5MzFiZDNkNTYxZmQ3NzQ5NWU5NTMifQ=="/>
  <p:tag name="KSO_WPP_MARK_KEY" val="e9593af3-0aa6-4e67-a5ec-fa9130b4feac"/>
  <p:tag name="commondata" val="eyJoZGlkIjoiYWEwMGE1NWI5YzQ1ZTYxZmY0OTNkMmVjYzk0YWI1NT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02F35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17931</Words>
  <Application>WPS 演示</Application>
  <PresentationFormat>宽屏</PresentationFormat>
  <Paragraphs>2168</Paragraphs>
  <Slides>38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0" baseType="lpstr">
      <vt:lpstr>Arial</vt:lpstr>
      <vt:lpstr>宋体</vt:lpstr>
      <vt:lpstr>Wingdings</vt:lpstr>
      <vt:lpstr>Calibri</vt:lpstr>
      <vt:lpstr>等线</vt:lpstr>
      <vt:lpstr>华文楷体</vt:lpstr>
      <vt:lpstr>微软雅黑</vt:lpstr>
      <vt:lpstr>思源黑体 CN Regular</vt:lpstr>
      <vt:lpstr>纤黑体</vt:lpstr>
      <vt:lpstr>黑体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Think</dc:creator>
  <cp:lastModifiedBy>风暴鸟</cp:lastModifiedBy>
  <cp:revision>2982</cp:revision>
  <dcterms:created xsi:type="dcterms:W3CDTF">2020-07-23T10:11:00Z</dcterms:created>
  <dcterms:modified xsi:type="dcterms:W3CDTF">2024-11-26T05:22:52Z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2052-12.1.0.18912</vt:lpwstr>
  </property>
  <property fmtid="{D5CDD505-2E9C-101B-9397-08002B2CF9AE}" pid="3" name="ICV">
    <vt:lpwstr>5A1EE12111F04212A09581045797DBEA</vt:lpwstr>
  </property>
</Properties>
</file>