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5"/>
  </p:handoutMasterIdLst>
  <p:sldIdLst>
    <p:sldId id="256" r:id="rId3"/>
    <p:sldId id="4869" r:id="rId5"/>
    <p:sldId id="4870" r:id="rId6"/>
    <p:sldId id="4871" r:id="rId7"/>
    <p:sldId id="4875" r:id="rId8"/>
    <p:sldId id="4876" r:id="rId9"/>
    <p:sldId id="4877" r:id="rId10"/>
    <p:sldId id="4927" r:id="rId11"/>
    <p:sldId id="4928" r:id="rId12"/>
    <p:sldId id="4880" r:id="rId13"/>
    <p:sldId id="4883" r:id="rId14"/>
    <p:sldId id="4884" r:id="rId15"/>
    <p:sldId id="4878" r:id="rId16"/>
    <p:sldId id="4885" r:id="rId17"/>
    <p:sldId id="4879" r:id="rId18"/>
    <p:sldId id="4888" r:id="rId19"/>
    <p:sldId id="4881" r:id="rId20"/>
    <p:sldId id="4886" r:id="rId21"/>
    <p:sldId id="4887" r:id="rId22"/>
    <p:sldId id="4890" r:id="rId23"/>
    <p:sldId id="4891" r:id="rId24"/>
    <p:sldId id="4892" r:id="rId25"/>
    <p:sldId id="4893" r:id="rId26"/>
    <p:sldId id="4895" r:id="rId27"/>
    <p:sldId id="4896" r:id="rId28"/>
    <p:sldId id="4897" r:id="rId29"/>
    <p:sldId id="4898" r:id="rId30"/>
    <p:sldId id="4900" r:id="rId31"/>
    <p:sldId id="4901" r:id="rId32"/>
    <p:sldId id="4902" r:id="rId33"/>
    <p:sldId id="4903" r:id="rId34"/>
    <p:sldId id="4906" r:id="rId35"/>
    <p:sldId id="4908" r:id="rId36"/>
    <p:sldId id="4909" r:id="rId37"/>
    <p:sldId id="4907" r:id="rId38"/>
    <p:sldId id="4911" r:id="rId39"/>
    <p:sldId id="4913" r:id="rId40"/>
    <p:sldId id="4914" r:id="rId41"/>
    <p:sldId id="4915" r:id="rId42"/>
    <p:sldId id="4919" r:id="rId43"/>
    <p:sldId id="4929" r:id="rId44"/>
    <p:sldId id="4916" r:id="rId45"/>
    <p:sldId id="4912" r:id="rId46"/>
    <p:sldId id="4918" r:id="rId47"/>
    <p:sldId id="4930" r:id="rId48"/>
    <p:sldId id="4932" r:id="rId49"/>
    <p:sldId id="4933" r:id="rId50"/>
    <p:sldId id="4935" r:id="rId51"/>
    <p:sldId id="4931" r:id="rId52"/>
    <p:sldId id="4936" r:id="rId53"/>
    <p:sldId id="4939" r:id="rId54"/>
    <p:sldId id="4940" r:id="rId55"/>
    <p:sldId id="4937" r:id="rId56"/>
    <p:sldId id="4938" r:id="rId57"/>
    <p:sldId id="4941" r:id="rId58"/>
    <p:sldId id="4944" r:id="rId59"/>
    <p:sldId id="4894" r:id="rId60"/>
    <p:sldId id="4917" r:id="rId61"/>
    <p:sldId id="4943" r:id="rId62"/>
    <p:sldId id="4910" r:id="rId63"/>
    <p:sldId id="4942" r:id="rId64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148"/>
        <p:guide pos="37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gs" Target="tags/tag411.xml"/><Relationship Id="rId7" Type="http://schemas.openxmlformats.org/officeDocument/2006/relationships/slide" Target="slides/slide4.xml"/><Relationship Id="rId69" Type="http://schemas.openxmlformats.org/officeDocument/2006/relationships/commentAuthors" Target="commentAuthors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image" Target="../media/image2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2.xml"/><Relationship Id="rId6" Type="http://schemas.openxmlformats.org/officeDocument/2006/relationships/image" Target="../media/image6.png"/><Relationship Id="rId5" Type="http://schemas.openxmlformats.org/officeDocument/2006/relationships/tags" Target="../tags/tag81.xml"/><Relationship Id="rId4" Type="http://schemas.openxmlformats.org/officeDocument/2006/relationships/image" Target="../media/image5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7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4" Type="http://schemas.openxmlformats.org/officeDocument/2006/relationships/notesSlide" Target="../notesSlides/notesSlide26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6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0.xml"/><Relationship Id="rId2" Type="http://schemas.openxmlformats.org/officeDocument/2006/relationships/image" Target="../media/image8.jpeg"/><Relationship Id="rId1" Type="http://schemas.openxmlformats.org/officeDocument/2006/relationships/tags" Target="../tags/tag13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1" Type="http://schemas.openxmlformats.org/officeDocument/2006/relationships/notesSlide" Target="../notesSlides/notesSlide29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9" Type="http://schemas.openxmlformats.org/officeDocument/2006/relationships/tags" Target="../tags/tag169.xml"/><Relationship Id="rId28" Type="http://schemas.openxmlformats.org/officeDocument/2006/relationships/tags" Target="../tags/tag168.xml"/><Relationship Id="rId27" Type="http://schemas.openxmlformats.org/officeDocument/2006/relationships/tags" Target="../tags/tag167.xml"/><Relationship Id="rId26" Type="http://schemas.openxmlformats.org/officeDocument/2006/relationships/tags" Target="../tags/tag166.xml"/><Relationship Id="rId25" Type="http://schemas.openxmlformats.org/officeDocument/2006/relationships/tags" Target="../tags/tag165.xml"/><Relationship Id="rId24" Type="http://schemas.openxmlformats.org/officeDocument/2006/relationships/tags" Target="../tags/tag164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tags" Target="../tags/tag14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7" Type="http://schemas.openxmlformats.org/officeDocument/2006/relationships/notesSlide" Target="../notesSlides/notesSlide30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72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7" Type="http://schemas.openxmlformats.org/officeDocument/2006/relationships/notesSlide" Target="../notesSlides/notesSlide31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39.xml"/><Relationship Id="rId34" Type="http://schemas.openxmlformats.org/officeDocument/2006/relationships/tags" Target="../tags/tag238.xml"/><Relationship Id="rId33" Type="http://schemas.openxmlformats.org/officeDocument/2006/relationships/tags" Target="../tags/tag237.xml"/><Relationship Id="rId32" Type="http://schemas.openxmlformats.org/officeDocument/2006/relationships/tags" Target="../tags/tag236.xml"/><Relationship Id="rId31" Type="http://schemas.openxmlformats.org/officeDocument/2006/relationships/tags" Target="../tags/tag235.xml"/><Relationship Id="rId30" Type="http://schemas.openxmlformats.org/officeDocument/2006/relationships/tags" Target="../tags/tag234.xml"/><Relationship Id="rId3" Type="http://schemas.openxmlformats.org/officeDocument/2006/relationships/tags" Target="../tags/tag207.xml"/><Relationship Id="rId29" Type="http://schemas.openxmlformats.org/officeDocument/2006/relationships/tags" Target="../tags/tag233.xml"/><Relationship Id="rId28" Type="http://schemas.openxmlformats.org/officeDocument/2006/relationships/tags" Target="../tags/tag232.xml"/><Relationship Id="rId27" Type="http://schemas.openxmlformats.org/officeDocument/2006/relationships/tags" Target="../tags/tag231.xml"/><Relationship Id="rId26" Type="http://schemas.openxmlformats.org/officeDocument/2006/relationships/tags" Target="../tags/tag230.xml"/><Relationship Id="rId25" Type="http://schemas.openxmlformats.org/officeDocument/2006/relationships/tags" Target="../tags/tag229.xml"/><Relationship Id="rId24" Type="http://schemas.openxmlformats.org/officeDocument/2006/relationships/tags" Target="../tags/tag228.xml"/><Relationship Id="rId23" Type="http://schemas.openxmlformats.org/officeDocument/2006/relationships/tags" Target="../tags/tag227.xml"/><Relationship Id="rId22" Type="http://schemas.openxmlformats.org/officeDocument/2006/relationships/tags" Target="../tags/tag226.xml"/><Relationship Id="rId21" Type="http://schemas.openxmlformats.org/officeDocument/2006/relationships/tags" Target="../tags/tag225.xml"/><Relationship Id="rId20" Type="http://schemas.openxmlformats.org/officeDocument/2006/relationships/tags" Target="../tags/tag224.xml"/><Relationship Id="rId2" Type="http://schemas.openxmlformats.org/officeDocument/2006/relationships/tags" Target="../tags/tag206.xml"/><Relationship Id="rId19" Type="http://schemas.openxmlformats.org/officeDocument/2006/relationships/tags" Target="../tags/tag223.xml"/><Relationship Id="rId18" Type="http://schemas.openxmlformats.org/officeDocument/2006/relationships/tags" Target="../tags/tag222.xml"/><Relationship Id="rId17" Type="http://schemas.openxmlformats.org/officeDocument/2006/relationships/tags" Target="../tags/tag221.xml"/><Relationship Id="rId16" Type="http://schemas.openxmlformats.org/officeDocument/2006/relationships/tags" Target="../tags/tag220.xml"/><Relationship Id="rId15" Type="http://schemas.openxmlformats.org/officeDocument/2006/relationships/tags" Target="../tags/tag219.xml"/><Relationship Id="rId14" Type="http://schemas.openxmlformats.org/officeDocument/2006/relationships/tags" Target="../tags/tag218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0" Type="http://schemas.openxmlformats.org/officeDocument/2006/relationships/notesSlide" Target="../notesSlides/notesSlide34.xml"/><Relationship Id="rId1" Type="http://schemas.openxmlformats.org/officeDocument/2006/relationships/tags" Target="../tags/tag244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8.xml"/><Relationship Id="rId3" Type="http://schemas.openxmlformats.org/officeDocument/2006/relationships/image" Target="../media/image9.png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3.xml"/><Relationship Id="rId3" Type="http://schemas.openxmlformats.org/officeDocument/2006/relationships/image" Target="../media/image10.png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4" Type="http://schemas.openxmlformats.org/officeDocument/2006/relationships/notesSlide" Target="../notesSlides/notesSlide4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tags" Target="../tags/tag266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1" Type="http://schemas.openxmlformats.org/officeDocument/2006/relationships/notesSlide" Target="../notesSlides/notesSlide4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79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8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image" Target="../media/image10.png"/><Relationship Id="rId2" Type="http://schemas.openxmlformats.org/officeDocument/2006/relationships/tags" Target="../tags/tag298.xml"/><Relationship Id="rId1" Type="http://schemas.openxmlformats.org/officeDocument/2006/relationships/tags" Target="../tags/tag29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1" Type="http://schemas.openxmlformats.org/officeDocument/2006/relationships/notesSlide" Target="../notesSlides/notesSlide4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11.xml"/><Relationship Id="rId19" Type="http://schemas.openxmlformats.org/officeDocument/2006/relationships/tags" Target="../tags/tag328.xml"/><Relationship Id="rId18" Type="http://schemas.openxmlformats.org/officeDocument/2006/relationships/tags" Target="../tags/tag327.xml"/><Relationship Id="rId17" Type="http://schemas.openxmlformats.org/officeDocument/2006/relationships/tags" Target="../tags/tag326.xml"/><Relationship Id="rId16" Type="http://schemas.openxmlformats.org/officeDocument/2006/relationships/tags" Target="../tags/tag325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0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0" Type="http://schemas.openxmlformats.org/officeDocument/2006/relationships/notesSlide" Target="../notesSlides/notesSlide48.xml"/><Relationship Id="rId2" Type="http://schemas.openxmlformats.org/officeDocument/2006/relationships/tags" Target="../tags/tag33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tags" Target="../tags/tag329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0.xml"/><Relationship Id="rId2" Type="http://schemas.openxmlformats.org/officeDocument/2006/relationships/image" Target="../media/image11.png"/><Relationship Id="rId1" Type="http://schemas.openxmlformats.org/officeDocument/2006/relationships/tags" Target="../tags/tag349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8" Type="http://schemas.openxmlformats.org/officeDocument/2006/relationships/notesSlide" Target="../notesSlides/notesSlide5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66.xml"/><Relationship Id="rId15" Type="http://schemas.openxmlformats.org/officeDocument/2006/relationships/tags" Target="../tags/tag365.xml"/><Relationship Id="rId14" Type="http://schemas.openxmlformats.org/officeDocument/2006/relationships/tags" Target="../tags/tag364.xml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tags" Target="../tags/tag35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4" Type="http://schemas.openxmlformats.org/officeDocument/2006/relationships/notesSlide" Target="../notesSlides/notesSlide5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388.xml"/><Relationship Id="rId21" Type="http://schemas.openxmlformats.org/officeDocument/2006/relationships/tags" Target="../tags/tag387.xml"/><Relationship Id="rId20" Type="http://schemas.openxmlformats.org/officeDocument/2006/relationships/tags" Target="../tags/tag386.xml"/><Relationship Id="rId2" Type="http://schemas.openxmlformats.org/officeDocument/2006/relationships/tags" Target="../tags/tag368.xml"/><Relationship Id="rId19" Type="http://schemas.openxmlformats.org/officeDocument/2006/relationships/tags" Target="../tags/tag385.xml"/><Relationship Id="rId18" Type="http://schemas.openxmlformats.org/officeDocument/2006/relationships/tags" Target="../tags/tag384.xml"/><Relationship Id="rId17" Type="http://schemas.openxmlformats.org/officeDocument/2006/relationships/tags" Target="../tags/tag383.xml"/><Relationship Id="rId16" Type="http://schemas.openxmlformats.org/officeDocument/2006/relationships/tags" Target="../tags/tag382.xml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tags" Target="../tags/tag379.xml"/><Relationship Id="rId12" Type="http://schemas.openxmlformats.org/officeDocument/2006/relationships/tags" Target="../tags/tag378.xml"/><Relationship Id="rId11" Type="http://schemas.openxmlformats.org/officeDocument/2006/relationships/tags" Target="../tags/tag377.xml"/><Relationship Id="rId10" Type="http://schemas.openxmlformats.org/officeDocument/2006/relationships/tags" Target="../tags/tag376.xml"/><Relationship Id="rId1" Type="http://schemas.openxmlformats.org/officeDocument/2006/relationships/tags" Target="../tags/tag36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image" Target="../media/image12.jpe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4.xml"/><Relationship Id="rId1" Type="http://schemas.openxmlformats.org/officeDocument/2006/relationships/tags" Target="../tags/tag393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0.xml"/><Relationship Id="rId1" Type="http://schemas.openxmlformats.org/officeDocument/2006/relationships/tags" Target="../tags/tag4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主存储器分配机制与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实现（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进程总览：按来源划分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</a:t>
            </a:r>
            <a:r>
              <a:rPr lang="zh-CN" altLang="en-US" sz="2000">
                <a:sym typeface="+mn-ea"/>
              </a:rPr>
              <a:t>进程的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来源</a:t>
            </a:r>
            <a:r>
              <a:rPr lang="zh-CN" altLang="en-US" sz="2000">
                <a:sym typeface="+mn-ea"/>
              </a:rPr>
              <a:t>，大致可以将它们分为如下三类。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守护进程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sz="2000">
                <a:sym typeface="+mn-ea"/>
              </a:rPr>
              <a:t>提供一定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背景服务</a:t>
            </a:r>
            <a:r>
              <a:rPr lang="zh-CN" sz="2000">
                <a:sym typeface="+mn-ea"/>
              </a:rPr>
              <a:t>功能的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特殊后台进程</a:t>
            </a:r>
            <a:r>
              <a:rPr lang="zh-CN" sz="2000">
                <a:sym typeface="+mn-ea"/>
              </a:rPr>
              <a:t>。它们一般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无前台界面</a:t>
            </a:r>
            <a:r>
              <a:rPr lang="zh-CN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系统守护进程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操作系统开发商提供的系统服务进程</a:t>
            </a:r>
            <a:r>
              <a:rPr lang="zh-CN" altLang="en-US" sz="2000"/>
              <a:t>。</a:t>
            </a:r>
            <a:r>
              <a:rPr lang="en-US" altLang="zh-CN" sz="2000">
                <a:solidFill>
                  <a:srgbClr val="9C0B15"/>
                </a:solidFill>
              </a:rPr>
              <a:t>不方便放在内核中，但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又非常靠近内核的功能</a:t>
            </a:r>
            <a:r>
              <a:rPr lang="zh-CN" altLang="en-US" sz="2000"/>
              <a:t>都会放在这些进程里。这些进程一旦发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生故障，就等同于内核发生故障；</a:t>
            </a:r>
            <a:r>
              <a:rPr lang="en-US" altLang="zh-CN" sz="2000">
                <a:solidFill>
                  <a:srgbClr val="9C0B15"/>
                </a:solidFill>
              </a:rPr>
              <a:t>甚至可以将它们看作是不在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内核模式运行的内核组件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服务守护进程</a:t>
            </a:r>
            <a:r>
              <a:rPr lang="en-US" altLang="zh-CN" sz="2000"/>
              <a:t>	</a:t>
            </a:r>
            <a:r>
              <a:rPr lang="en-US" altLang="zh-CN" sz="2000">
                <a:solidFill>
                  <a:srgbClr val="9C0B15"/>
                </a:solidFill>
              </a:rPr>
              <a:t>应用程序或驱动程序开发商</a:t>
            </a:r>
            <a:r>
              <a:rPr lang="zh-CN" altLang="en-US" sz="2000"/>
              <a:t>提供的功能服务进程。它们一般被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用来运行应用程序或驱动程序中那些</a:t>
            </a:r>
            <a:r>
              <a:rPr lang="en-US" altLang="zh-CN" sz="2000">
                <a:solidFill>
                  <a:srgbClr val="9C0B15"/>
                </a:solidFill>
              </a:rPr>
              <a:t>需要常驻后台的功能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应用程序进程</a:t>
            </a:r>
            <a:r>
              <a:rPr lang="en-US" altLang="zh-CN" sz="2000"/>
              <a:t>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应用程序开发商</a:t>
            </a:r>
            <a:r>
              <a:rPr lang="zh-CN" altLang="en-US" sz="2000">
                <a:sym typeface="+mn-ea"/>
              </a:rPr>
              <a:t>提供的</a:t>
            </a:r>
            <a:r>
              <a:rPr lang="zh-CN" altLang="en-US" sz="2000"/>
              <a:t>一般的应用程序的进程，它们提供应用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程序的主要</a:t>
            </a:r>
            <a:r>
              <a:rPr lang="zh-CN" altLang="en-US" sz="2000"/>
              <a:t>前台功能。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应用程序</a:t>
            </a:r>
            <a:r>
              <a:rPr lang="zh-CN" altLang="en-US" b="1"/>
              <a:t>进程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</a:t>
            </a:r>
            <a:r>
              <a:rPr lang="zh-CN" altLang="en-US" b="1"/>
              <a:t>守护进程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服务守护</a:t>
            </a:r>
            <a:r>
              <a:rPr lang="zh-CN" altLang="en-US" b="1"/>
              <a:t>进程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进程总览：按特权划分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</a:t>
            </a:r>
            <a:r>
              <a:rPr lang="zh-CN" altLang="en-US" sz="2000">
                <a:sym typeface="+mn-ea"/>
              </a:rPr>
              <a:t>进程的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</a:t>
            </a:r>
            <a:r>
              <a:rPr lang="zh-CN" altLang="en-US" sz="2000">
                <a:sym typeface="+mn-ea"/>
              </a:rPr>
              <a:t>，大致可以将它们分为如下两类。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特权进程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拥有一定特权的进程</a:t>
            </a:r>
            <a:r>
              <a:rPr lang="zh-CN" altLang="en-US" sz="2000"/>
              <a:t>。它们虽然运行在用户模式，但却可以</a:t>
            </a:r>
            <a:r>
              <a:rPr lang="en-US" altLang="zh-CN" sz="2000">
                <a:solidFill>
                  <a:srgbClr val="9C0B15"/>
                </a:solidFill>
              </a:rPr>
              <a:t>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用系统中的特权API，并拥有访问某些敏感资源的特权</a:t>
            </a:r>
            <a:r>
              <a:rPr lang="zh-CN" altLang="en-US" sz="2000"/>
              <a:t>。有时，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它们一方面接收从操作系统来的资源，另一方面还</a:t>
            </a:r>
            <a:r>
              <a:rPr lang="en-US" altLang="zh-CN" sz="2000">
                <a:solidFill>
                  <a:srgbClr val="9C0B15"/>
                </a:solidFill>
              </a:rPr>
              <a:t>作为其它进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程的上级，负责管理其它进程的资源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不同特权进程的特权大小亦有区别。在</a:t>
            </a:r>
            <a:r>
              <a:rPr lang="en-US" altLang="zh-CN" sz="2000"/>
              <a:t>Linux</a:t>
            </a:r>
            <a:r>
              <a:rPr lang="zh-CN" altLang="en-US" sz="2000"/>
              <a:t>中，以</a:t>
            </a:r>
            <a:r>
              <a:rPr lang="en-US" altLang="zh-CN" sz="2000">
                <a:solidFill>
                  <a:srgbClr val="9C0B15"/>
                </a:solidFill>
              </a:rPr>
              <a:t>root账户</a:t>
            </a:r>
            <a:r>
              <a:rPr lang="zh-CN" altLang="en-US" sz="2000"/>
              <a:t>启动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的进程即</a:t>
            </a:r>
            <a:r>
              <a:rPr lang="zh-CN" altLang="en-US" sz="2000"/>
              <a:t>具备最高特权。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用户进程</a:t>
            </a:r>
            <a:r>
              <a:rPr lang="en-US" altLang="zh-CN" sz="2000"/>
              <a:t>	</a:t>
            </a:r>
            <a:r>
              <a:rPr lang="zh-CN" altLang="en-US" sz="2000"/>
              <a:t>普通的用户程序的进程。它们</a:t>
            </a:r>
            <a:r>
              <a:rPr lang="en-US" altLang="zh-CN" sz="2000">
                <a:solidFill>
                  <a:srgbClr val="9C0B15"/>
                </a:solidFill>
              </a:rPr>
              <a:t>没有特权</a:t>
            </a:r>
            <a:r>
              <a:rPr lang="zh-CN" altLang="en-US" sz="2000"/>
              <a:t>，默认只能</a:t>
            </a:r>
            <a:r>
              <a:rPr lang="en-US" altLang="zh-CN" sz="2000">
                <a:solidFill>
                  <a:srgbClr val="9C0B15"/>
                </a:solidFill>
              </a:rPr>
              <a:t>访问自己被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分配到的资源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“特权进程”不要和“内核线程”搞混了。前者中所含的线程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</a:t>
            </a:r>
            <a:r>
              <a:rPr lang="en-US" altLang="zh-CN" sz="2000">
                <a:solidFill>
                  <a:srgbClr val="9C0B15"/>
                </a:solidFill>
              </a:rPr>
              <a:t>运行在用户模式下</a:t>
            </a:r>
            <a:r>
              <a:rPr lang="zh-CN" altLang="en-US" sz="2000"/>
              <a:t>的，只不过它们拥有调用敏感资源的特权，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而且</a:t>
            </a:r>
            <a:r>
              <a:rPr lang="en-US" altLang="zh-CN" sz="2000">
                <a:solidFill>
                  <a:srgbClr val="9C0B15"/>
                </a:solidFill>
              </a:rPr>
              <a:t>不同特权进程的特权大小可以不同</a:t>
            </a:r>
            <a:r>
              <a:rPr lang="zh-CN" altLang="en-US" sz="2000"/>
              <a:t>；后者则是直接运行在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内核模式下，</a:t>
            </a:r>
            <a:r>
              <a:rPr lang="en-US" altLang="zh-CN" sz="2000">
                <a:solidFill>
                  <a:srgbClr val="9C0B15"/>
                </a:solidFill>
              </a:rPr>
              <a:t>不属于任何一个进程，而且总是具备最大特权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1805305"/>
            <a:ext cx="3823335" cy="3683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普通进程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特权进程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进程总览：总结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2740" y="676910"/>
          <a:ext cx="9228455" cy="22980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57400"/>
                <a:gridCol w="1731645"/>
                <a:gridCol w="1397635"/>
                <a:gridCol w="2125344"/>
                <a:gridCol w="1916431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进程的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来源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特权模式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特权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提供方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（内核）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不属于任何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极高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输入输出线程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系统服务线程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空闲线程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系统守护进程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输入输出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操作系统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守护进程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后台服务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（用户线程）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应用程序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前台程序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（用户线程）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3843" b="41872"/>
          <a:stretch>
            <a:fillRect/>
          </a:stretch>
        </p:blipFill>
        <p:spPr>
          <a:xfrm>
            <a:off x="333375" y="4924425"/>
            <a:ext cx="9230995" cy="17265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进程控制块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进程控制块</a:t>
            </a:r>
            <a:r>
              <a:rPr lang="en-US" altLang="zh-CN" sz="2000"/>
              <a:t>	</a:t>
            </a:r>
            <a:r>
              <a:rPr lang="zh-CN" altLang="en-US" sz="2000"/>
              <a:t>操作系统用以描述和管理进程的内核对象，一般至少包含进程</a:t>
            </a:r>
            <a:r>
              <a:rPr lang="en-US" altLang="zh-CN" sz="2000" b="1">
                <a:solidFill>
                  <a:srgbClr val="9C0B15"/>
                </a:solidFill>
              </a:rPr>
              <a:t>Process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地址空间描述符表及一些其他权限表</a:t>
            </a:r>
            <a:r>
              <a:rPr lang="zh-CN" altLang="en-US" sz="2000"/>
              <a:t>，有时还会包含一些</a:t>
            </a:r>
            <a:r>
              <a:rPr lang="en-US" altLang="zh-CN" sz="2000" b="1">
                <a:solidFill>
                  <a:srgbClr val="9C0B15"/>
                </a:solidFill>
              </a:rPr>
              <a:t>Control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身</a:t>
            </a:r>
            <a:r>
              <a:rPr lang="zh-CN" altLang="en-US" sz="2000">
                <a:solidFill>
                  <a:srgbClr val="9C0B15"/>
                </a:solidFill>
              </a:rPr>
              <a:t>份信息</a:t>
            </a:r>
            <a:r>
              <a:rPr lang="zh-CN" altLang="en-US" sz="2000"/>
              <a:t>（如进程名、进程号）、</a:t>
            </a:r>
            <a:r>
              <a:rPr lang="zh-CN" altLang="en-US" sz="2000">
                <a:solidFill>
                  <a:srgbClr val="9C0B15"/>
                </a:solidFill>
              </a:rPr>
              <a:t>统计信息</a:t>
            </a:r>
            <a:r>
              <a:rPr lang="zh-CN" altLang="en-US" sz="2000"/>
              <a:t>（如当前正在运行</a:t>
            </a:r>
            <a:r>
              <a:rPr lang="zh-CN" altLang="en-US" sz="2000" b="1">
                <a:solidFill>
                  <a:srgbClr val="9C0B15"/>
                </a:solidFill>
              </a:rPr>
              <a:t>Block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的线程数、总计内存大小）、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线程信息</a:t>
            </a:r>
            <a:r>
              <a:rPr lang="zh-CN" altLang="en-US" sz="2000">
                <a:sym typeface="+mn-ea"/>
              </a:rPr>
              <a:t>（当前的线程列表，内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P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CB）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含指向各个</a:t>
            </a:r>
            <a:r>
              <a:rPr lang="en-US" altLang="zh-CN" sz="2000">
                <a:sym typeface="+mn-ea"/>
              </a:rPr>
              <a:t>TCB</a:t>
            </a:r>
            <a:r>
              <a:rPr lang="zh-CN" altLang="en-US" sz="2000">
                <a:sym typeface="+mn-ea"/>
              </a:rPr>
              <a:t>的指针）</a:t>
            </a:r>
            <a:r>
              <a:rPr lang="zh-CN" altLang="en-US" sz="2000"/>
              <a:t>等。</a:t>
            </a:r>
            <a:r>
              <a:rPr lang="zh-CN" altLang="en-US" sz="2000">
                <a:sym typeface="+mn-ea"/>
              </a:rPr>
              <a:t>它在一般是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语言的一个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结构体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进</a:t>
            </a:r>
            <a:r>
              <a:rPr lang="zh-CN" altLang="en-US" sz="2000"/>
              <a:t>程控制块总是位于内核空间，只有操作系统可以更改，应用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程序无法更改。与</a:t>
            </a:r>
            <a:r>
              <a:rPr lang="en-US" altLang="zh-CN" sz="2000"/>
              <a:t>TCB</a:t>
            </a:r>
            <a:r>
              <a:rPr lang="zh-CN" altLang="en-US" sz="2000"/>
              <a:t>不同，</a:t>
            </a:r>
            <a:r>
              <a:rPr lang="zh-CN" altLang="en-US" sz="2000">
                <a:solidFill>
                  <a:srgbClr val="9C0B15"/>
                </a:solidFill>
              </a:rPr>
              <a:t>没有内核模式的CPU不需要也无法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（用硬件手段）实现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44165" y="332867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进程名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012055" y="3328670"/>
            <a:ext cx="2167890" cy="42354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wechat.exe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2055" y="3752215"/>
            <a:ext cx="2167890" cy="42354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134</a:t>
            </a: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012055" y="5360670"/>
            <a:ext cx="2167890" cy="90932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</a:t>
            </a: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844165" y="375221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进程号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2844165" y="417576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线程数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12055" y="4175760"/>
            <a:ext cx="216789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2844165" y="5361305"/>
            <a:ext cx="2167890" cy="90932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地址空间描述符表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2844165" y="627062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总内存用量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1"/>
            </p:custDataLst>
          </p:nvPr>
        </p:nvSpPr>
        <p:spPr>
          <a:xfrm>
            <a:off x="5012055" y="6270625"/>
            <a:ext cx="2167890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5653MB</a:t>
            </a:r>
            <a:endParaRPr lang="en-US" altLang="zh-CN"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2"/>
            </p:custDataLst>
          </p:nvPr>
        </p:nvSpPr>
        <p:spPr>
          <a:xfrm>
            <a:off x="5012055" y="4599305"/>
            <a:ext cx="2167890" cy="76136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2844165" y="4599940"/>
            <a:ext cx="2167890" cy="76136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内部线程列表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一个实际的进</a:t>
            </a:r>
            <a:r>
              <a:rPr lang="zh-CN" altLang="en-US" sz="2000" b="1">
                <a:solidFill>
                  <a:srgbClr val="9C0B15"/>
                </a:solidFill>
              </a:rPr>
              <a:t>程控制块（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https://elixir.bootlin.com/linux/v6.3-rc3/source/include/linux/sched.h#L737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task_struct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	*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	*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active_mm;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pid_t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pid;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pid_t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tgid;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1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上节课才讲过，task_stru</a:t>
            </a:r>
            <a:r>
              <a:rPr lang="en-US" altLang="zh-CN" sz="2000"/>
              <a:t>ct</a:t>
            </a:r>
            <a:r>
              <a:rPr lang="zh-CN" altLang="en-US" sz="2000"/>
              <a:t>不是线程的</a:t>
            </a:r>
            <a:r>
              <a:rPr lang="zh-CN" altLang="en-US" sz="2000"/>
              <a:t>控制块吗？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问题2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en-US" altLang="zh-CN" sz="2000"/>
              <a:t>地址空间描述符表在什么地方？接下来应该查看哪个数据结构？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问题3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为什么task_struct里面没有进程所属的线程列表？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4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en-US" altLang="zh-CN" sz="2000"/>
              <a:t>为什么有两个成员都是</a:t>
            </a:r>
            <a:r>
              <a:rPr lang="en-US" altLang="zh-CN" sz="2000">
                <a:sym typeface="+mn-ea"/>
              </a:rPr>
              <a:t>mm_struct类型</a:t>
            </a:r>
            <a:r>
              <a:rPr lang="en-US" altLang="zh-CN" sz="2000"/>
              <a:t>？</a:t>
            </a:r>
            <a:r>
              <a:rPr lang="zh-CN" altLang="en-US" sz="2000"/>
              <a:t>一个不够吗？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https://elixir.bootlin.com/linux/v6.3-rc3/source/include/linux/mm_types.h#L554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mm_struct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92D050"/>
                </a:solidFill>
                <a:cs typeface="+mn-lt"/>
                <a:sym typeface="+mn-ea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maple_tree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mm_mt;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   /*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N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on-oveerlapping ranges */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task_size;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pgd_t*</a:t>
            </a:r>
            <a:r>
              <a:rPr lang="en-US" sz="2000" b="1">
                <a:solidFill>
                  <a:srgbClr val="92D05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pgd;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total_vm;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data_vm;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exec_vm;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stack_vm;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start_code, end_code, start_data, end_data;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start_brk, brk, start_stack;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>
                <a:sym typeface="+mn-ea"/>
              </a:rPr>
              <a:t>各项统计和记录信息大概是什么意思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虚拟内存段的描述保存在什么地方？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/>
              <a:t>页表保存在什么</a:t>
            </a:r>
            <a:r>
              <a:rPr lang="zh-CN" altLang="en-US" sz="2000"/>
              <a:t>地方？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发展的</a:t>
            </a:r>
            <a:r>
              <a:rPr lang="zh-CN" sz="2000" b="1">
                <a:solidFill>
                  <a:srgbClr val="9C0B15"/>
                </a:solidFill>
              </a:rPr>
              <a:t>历史原因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2000"/>
              <a:t>Linux</a:t>
            </a:r>
            <a:r>
              <a:rPr lang="zh-CN" altLang="en-US" sz="2000"/>
              <a:t>的</a:t>
            </a:r>
            <a:r>
              <a:rPr lang="en-US" altLang="zh-CN" sz="2000"/>
              <a:t>PCB</a:t>
            </a:r>
            <a:r>
              <a:rPr lang="zh-CN" altLang="en-US" sz="2000"/>
              <a:t>和</a:t>
            </a:r>
            <a:r>
              <a:rPr lang="en-US" altLang="zh-CN" sz="2000"/>
              <a:t>TCB</a:t>
            </a:r>
            <a:r>
              <a:rPr lang="zh-CN" altLang="en-US" sz="2000"/>
              <a:t>组织成这样是有</a:t>
            </a:r>
            <a:r>
              <a:rPr lang="zh-CN" altLang="en-US" sz="2000">
                <a:solidFill>
                  <a:srgbClr val="9C0B15"/>
                </a:solidFill>
              </a:rPr>
              <a:t>历史原因</a:t>
            </a:r>
            <a:r>
              <a:rPr lang="zh-CN" altLang="en-US" sz="2000"/>
              <a:t>的。</a:t>
            </a:r>
            <a:r>
              <a:rPr lang="zh-CN" altLang="en-US" sz="2000">
                <a:solidFill>
                  <a:srgbClr val="9C0B15"/>
                </a:solidFill>
              </a:rPr>
              <a:t>在Linux初期，仅支持单线程进程，因此其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和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是同一个task_struct</a:t>
            </a:r>
            <a:r>
              <a:rPr lang="zh-CN" altLang="en-US" sz="2000"/>
              <a:t>，既含有上下文信息，又含有地址空间信息。后来要支持多线程进程时，只能在这个基础上加以修改，只好把地址空间独立成mm_struct，然后让多个共享一个地址空间的task_struct指向同一个</a:t>
            </a:r>
            <a:r>
              <a:rPr lang="zh-CN" altLang="en-US" sz="2000">
                <a:sym typeface="+mn-ea"/>
              </a:rPr>
              <a:t>mm_struct</a:t>
            </a:r>
            <a:r>
              <a:rPr lang="zh-CN" altLang="en-US" sz="2000"/>
              <a:t>；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mm_struct相当于PCB，task_struct相当于TCB；</a:t>
            </a:r>
            <a:r>
              <a:rPr lang="en-US" altLang="zh-CN" sz="2000" b="1">
                <a:solidFill>
                  <a:srgbClr val="9C0B15"/>
                </a:solidFill>
              </a:rPr>
              <a:t>task_struct中的原PID相当于学术意义上的线程号，新加入的TGID（Thread Group ID）才相当于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学术意义上的</a:t>
            </a:r>
            <a:r>
              <a:rPr lang="en-US" altLang="zh-CN" sz="2000" b="1">
                <a:solidFill>
                  <a:srgbClr val="9C0B15"/>
                </a:solidFill>
              </a:rPr>
              <a:t>进程号。每个进程有一个主线程，其PID=进程的TGID，它退出则进程终止，且不支持任何线程迁移。只能根据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task_struct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反查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mm_struct，无法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查。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相当多数操作系统也是这样设计的：</a:t>
            </a:r>
            <a:r>
              <a:rPr lang="zh-CN" altLang="en-US" sz="2000">
                <a:solidFill>
                  <a:srgbClr val="9C0B15"/>
                </a:solidFill>
              </a:rPr>
              <a:t>切换线程时需要判断下一个线程和当前线程是否在同一个进程内，允许根据TCB反查PCB比在PCB中存储所属TCB的指针更加方便。当然，也可以两边都存储指针，这样可以根据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查找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，也可以根据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反查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。</a:t>
            </a:r>
            <a:endParaRPr lang="zh-CN" altLang="en-US" sz="2000">
              <a:solidFill>
                <a:srgbClr val="9C0B15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894205" y="765175"/>
            <a:ext cx="6000115" cy="1593215"/>
            <a:chOff x="473" y="2686"/>
            <a:chExt cx="7442" cy="2881"/>
          </a:xfrm>
        </p:grpSpPr>
        <p:sp>
          <p:nvSpPr>
            <p:cNvPr id="6" name="矩形 5"/>
            <p:cNvSpPr/>
            <p:nvPr>
              <p:custDataLst>
                <p:tags r:id="rId2"/>
              </p:custDataLst>
            </p:nvPr>
          </p:nvSpPr>
          <p:spPr>
            <a:xfrm>
              <a:off x="473" y="2686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2" name="矩形 1"/>
            <p:cNvSpPr/>
            <p:nvPr>
              <p:custDataLst>
                <p:tags r:id="rId3"/>
              </p:custDataLst>
            </p:nvPr>
          </p:nvSpPr>
          <p:spPr>
            <a:xfrm>
              <a:off x="473" y="3767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473" y="4897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4875" y="3189"/>
              <a:ext cx="3040" cy="670"/>
            </a:xfrm>
            <a:prstGeom prst="rect">
              <a:avLst/>
            </a:prstGeom>
            <a:solidFill>
              <a:srgbClr val="00B0F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mm_struct</a:t>
              </a:r>
              <a:endParaRPr lang="en-US" altLang="zh-CN" sz="2400" b="1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4875" y="4897"/>
              <a:ext cx="3040" cy="670"/>
            </a:xfrm>
            <a:prstGeom prst="rect">
              <a:avLst/>
            </a:prstGeom>
            <a:solidFill>
              <a:srgbClr val="00B0F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mm_struct</a:t>
              </a:r>
              <a:endParaRPr lang="en-US" altLang="zh-CN" sz="2400" b="1"/>
            </a:p>
          </p:txBody>
        </p:sp>
        <p:cxnSp>
          <p:nvCxnSpPr>
            <p:cNvPr id="17" name="直接箭头连接符 16"/>
            <p:cNvCxnSpPr>
              <a:stCxn id="6" idx="3"/>
            </p:cNvCxnSpPr>
            <p:nvPr>
              <p:custDataLst>
                <p:tags r:id="rId7"/>
              </p:custDataLst>
            </p:nvPr>
          </p:nvCxnSpPr>
          <p:spPr>
            <a:xfrm>
              <a:off x="3513" y="3021"/>
              <a:ext cx="1326" cy="355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>
              <a:stCxn id="2" idx="3"/>
            </p:cNvCxnSpPr>
            <p:nvPr>
              <p:custDataLst>
                <p:tags r:id="rId8"/>
              </p:custDataLst>
            </p:nvPr>
          </p:nvCxnSpPr>
          <p:spPr>
            <a:xfrm flipV="1">
              <a:off x="3513" y="3721"/>
              <a:ext cx="1337" cy="381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stCxn id="4" idx="3"/>
              <a:endCxn id="7" idx="1"/>
            </p:cNvCxnSpPr>
            <p:nvPr>
              <p:custDataLst>
                <p:tags r:id="rId9"/>
              </p:custDataLst>
            </p:nvPr>
          </p:nvCxnSpPr>
          <p:spPr>
            <a:xfrm>
              <a:off x="3513" y="5232"/>
              <a:ext cx="136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0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在</a:t>
            </a:r>
            <a:r>
              <a:rPr lang="en-US" altLang="zh-CN" sz="2000" b="1">
                <a:solidFill>
                  <a:srgbClr val="9C0B15"/>
                </a:solidFill>
              </a:rPr>
              <a:t>32</a:t>
            </a:r>
            <a:r>
              <a:rPr lang="zh-CN" altLang="en-US" sz="2000" b="1">
                <a:solidFill>
                  <a:srgbClr val="9C0B15"/>
                </a:solidFill>
              </a:rPr>
              <a:t>位</a:t>
            </a:r>
            <a:r>
              <a:rPr lang="en-US" altLang="zh-CN" sz="2000" b="1">
                <a:solidFill>
                  <a:srgbClr val="9C0B15"/>
                </a:solidFill>
              </a:rPr>
              <a:t>x86</a:t>
            </a:r>
            <a:r>
              <a:rPr lang="zh-CN" altLang="en-US" sz="2000" b="1">
                <a:solidFill>
                  <a:srgbClr val="9C0B15"/>
                </a:solidFill>
              </a:rPr>
              <a:t>下进程的默认分段</a:t>
            </a:r>
            <a:endParaRPr lang="en-US" altLang="zh-CN" sz="2000" b="1">
              <a:solidFill>
                <a:srgbClr val="9C0B15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4282440" y="5831205"/>
            <a:ext cx="1930400" cy="70929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4282440" y="5405755"/>
            <a:ext cx="1930400" cy="42545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4282440" y="4487545"/>
            <a:ext cx="1930400" cy="35877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282440" y="4137660"/>
            <a:ext cx="1930400" cy="34988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4282440" y="2490470"/>
            <a:ext cx="1930400" cy="875030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282440" y="1651000"/>
            <a:ext cx="1930400" cy="62738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8"/>
            </p:custDataLst>
          </p:nvPr>
        </p:nvSpPr>
        <p:spPr>
          <a:xfrm>
            <a:off x="4282440" y="833120"/>
            <a:ext cx="1930400" cy="62738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</a:t>
            </a:r>
            <a:r>
              <a:rPr lang="zh-CN" altLang="en-US"/>
              <a:t>本身</a:t>
            </a:r>
            <a:endParaRPr lang="zh-CN" altLang="en-US"/>
          </a:p>
        </p:txBody>
      </p:sp>
      <p:sp>
        <p:nvSpPr>
          <p:cNvPr id="61" name="右箭头标注 60"/>
          <p:cNvSpPr/>
          <p:nvPr/>
        </p:nvSpPr>
        <p:spPr>
          <a:xfrm>
            <a:off x="1894840" y="63322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start_code</a:t>
            </a:r>
            <a:endParaRPr lang="en-US" altLang="zh-CN"/>
          </a:p>
        </p:txBody>
      </p:sp>
      <p:sp>
        <p:nvSpPr>
          <p:cNvPr id="64" name="右箭头标注 63"/>
          <p:cNvSpPr/>
          <p:nvPr>
            <p:custDataLst>
              <p:tags r:id="rId9"/>
            </p:custDataLst>
          </p:nvPr>
        </p:nvSpPr>
        <p:spPr>
          <a:xfrm>
            <a:off x="1894840" y="518668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end_code</a:t>
            </a:r>
            <a:endParaRPr lang="en-US" altLang="zh-CN"/>
          </a:p>
        </p:txBody>
      </p:sp>
      <p:sp>
        <p:nvSpPr>
          <p:cNvPr id="67" name="右箭头标注 66"/>
          <p:cNvSpPr/>
          <p:nvPr>
            <p:custDataLst>
              <p:tags r:id="rId10"/>
            </p:custDataLst>
          </p:nvPr>
        </p:nvSpPr>
        <p:spPr>
          <a:xfrm>
            <a:off x="1894840" y="4655185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start_data</a:t>
            </a:r>
            <a:endParaRPr lang="en-US" altLang="zh-CN"/>
          </a:p>
        </p:txBody>
      </p:sp>
      <p:sp>
        <p:nvSpPr>
          <p:cNvPr id="68" name="右箭头标注 67"/>
          <p:cNvSpPr/>
          <p:nvPr>
            <p:custDataLst>
              <p:tags r:id="rId11"/>
            </p:custDataLst>
          </p:nvPr>
        </p:nvSpPr>
        <p:spPr>
          <a:xfrm>
            <a:off x="1894840" y="391541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end_data</a:t>
            </a:r>
            <a:endParaRPr lang="en-US" altLang="zh-CN"/>
          </a:p>
        </p:txBody>
      </p:sp>
      <p:sp>
        <p:nvSpPr>
          <p:cNvPr id="69" name="右箭头标注 68"/>
          <p:cNvSpPr/>
          <p:nvPr>
            <p:custDataLst>
              <p:tags r:id="rId12"/>
            </p:custDataLst>
          </p:nvPr>
        </p:nvSpPr>
        <p:spPr>
          <a:xfrm>
            <a:off x="1894840" y="316357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start_brk</a:t>
            </a:r>
            <a:endParaRPr lang="en-US" altLang="zh-CN"/>
          </a:p>
        </p:txBody>
      </p:sp>
      <p:sp>
        <p:nvSpPr>
          <p:cNvPr id="70" name="右箭头标注 69"/>
          <p:cNvSpPr/>
          <p:nvPr>
            <p:custDataLst>
              <p:tags r:id="rId13"/>
            </p:custDataLst>
          </p:nvPr>
        </p:nvSpPr>
        <p:spPr>
          <a:xfrm>
            <a:off x="1894840" y="253238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end_brk</a:t>
            </a:r>
            <a:endParaRPr lang="en-US" altLang="zh-CN"/>
          </a:p>
        </p:txBody>
      </p:sp>
      <p:sp>
        <p:nvSpPr>
          <p:cNvPr id="71" name="右箭头标注 70"/>
          <p:cNvSpPr/>
          <p:nvPr>
            <p:custDataLst>
              <p:tags r:id="rId14"/>
            </p:custDataLst>
          </p:nvPr>
        </p:nvSpPr>
        <p:spPr>
          <a:xfrm>
            <a:off x="1894840" y="207899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start_stack</a:t>
            </a:r>
            <a:endParaRPr lang="en-US" altLang="zh-CN"/>
          </a:p>
        </p:txBody>
      </p:sp>
      <p:sp>
        <p:nvSpPr>
          <p:cNvPr id="72" name="右箭头标注 71"/>
          <p:cNvSpPr/>
          <p:nvPr>
            <p:custDataLst>
              <p:tags r:id="rId15"/>
            </p:custDataLst>
          </p:nvPr>
        </p:nvSpPr>
        <p:spPr>
          <a:xfrm>
            <a:off x="1894840" y="12395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0xC0000000</a:t>
            </a:r>
            <a:endParaRPr lang="en-US" altLang="zh-CN"/>
          </a:p>
        </p:txBody>
      </p:sp>
      <p:sp>
        <p:nvSpPr>
          <p:cNvPr id="73" name="左箭头标注 72"/>
          <p:cNvSpPr/>
          <p:nvPr/>
        </p:nvSpPr>
        <p:spPr>
          <a:xfrm>
            <a:off x="6347460" y="609600"/>
            <a:ext cx="2760345" cy="110045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556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内核被映射到每个进程的虚拟地址空间的固定高地址，且仅内核模式可以访问。</a:t>
            </a:r>
            <a:endParaRPr lang="zh-CN" altLang="en-US"/>
          </a:p>
        </p:txBody>
      </p:sp>
      <p:cxnSp>
        <p:nvCxnSpPr>
          <p:cNvPr id="77" name="直接箭头连接符 76"/>
          <p:cNvCxnSpPr>
            <a:stCxn id="70" idx="3"/>
          </p:cNvCxnSpPr>
          <p:nvPr>
            <p:custDataLst>
              <p:tags r:id="rId16"/>
            </p:custDataLst>
          </p:nvPr>
        </p:nvCxnSpPr>
        <p:spPr>
          <a:xfrm flipV="1">
            <a:off x="3765550" y="2733675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17"/>
            </p:custDataLst>
          </p:nvPr>
        </p:nvCxnSpPr>
        <p:spPr>
          <a:xfrm flipV="1">
            <a:off x="685800" y="1572260"/>
            <a:ext cx="5532120" cy="1016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85800" y="728980"/>
            <a:ext cx="641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内核</a:t>
            </a:r>
            <a:endParaRPr lang="zh-CN" altLang="en-US" b="1"/>
          </a:p>
          <a:p>
            <a:r>
              <a:rPr lang="zh-CN" altLang="en-US" b="1"/>
              <a:t>空间</a:t>
            </a:r>
            <a:endParaRPr lang="zh-CN" altLang="en-US" b="1"/>
          </a:p>
          <a:p>
            <a:r>
              <a:rPr lang="en-US" altLang="zh-CN" b="1"/>
              <a:t>1GiB</a:t>
            </a:r>
            <a:endParaRPr lang="en-US" altLang="zh-CN" b="1"/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85800" y="3660140"/>
            <a:ext cx="641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</a:t>
            </a:r>
            <a:endParaRPr lang="zh-CN" altLang="en-US" b="1"/>
          </a:p>
          <a:p>
            <a:r>
              <a:rPr lang="zh-CN" altLang="en-US" b="1"/>
              <a:t>空间</a:t>
            </a:r>
            <a:endParaRPr lang="zh-CN" altLang="en-US" b="1"/>
          </a:p>
          <a:p>
            <a:r>
              <a:rPr lang="en-US" altLang="zh-CN" b="1"/>
              <a:t>3GiB</a:t>
            </a:r>
            <a:endParaRPr lang="en-US" altLang="zh-CN" b="1"/>
          </a:p>
        </p:txBody>
      </p:sp>
    </p:spTree>
    <p:custDataLst>
      <p:tags r:id="rId19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虚拟内存段的</a:t>
            </a:r>
            <a:r>
              <a:rPr lang="zh-CN" altLang="en-US" sz="2000" b="1">
                <a:solidFill>
                  <a:srgbClr val="9C0B15"/>
                </a:solidFill>
              </a:rPr>
              <a:t>描述信息（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https://elixir.bootlin.com/linux/v6.3-rc3/source/include/linux/mm_types.h#L480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vm_area_struct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vm_start;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vm_end;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mm_struct*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pgprot_t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vm_page_prot;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vm_pgoff;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file*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vm_file;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}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这些信息描述了虚拟内存段的哪些属性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切换进程地址</a:t>
            </a:r>
            <a:r>
              <a:rPr lang="zh-CN" altLang="en-US" sz="2000" b="1">
                <a:solidFill>
                  <a:srgbClr val="9C0B15"/>
                </a:solidFill>
              </a:rPr>
              <a:t>空间（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https://elixir.bootlin.com/linux/v6.3-rc3/source/arch/x86/mm/tlb.c#L277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void switch_mm(struct mm_struct *prev,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sz="2000" b="1">
                <a:solidFill>
                  <a:srgbClr val="9C0B15"/>
                </a:solidFill>
              </a:rPr>
              <a:t>struct mm_struct *next,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sz="2000" b="1">
                <a:solidFill>
                  <a:srgbClr val="9C0B15"/>
                </a:solidFill>
              </a:rPr>
              <a:t>struct task_struct *tsk)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</a:rPr>
              <a:t>	unsigned long flags;</a:t>
            </a:r>
            <a:endParaRPr lang="zh-CN" altLang="en-US" sz="2000" b="1">
              <a:solidFill>
                <a:srgbClr val="92D050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local_irq_save(</a:t>
            </a:r>
            <a:r>
              <a:rPr lang="zh-CN" altLang="en-US" sz="2000" b="1">
                <a:solidFill>
                  <a:srgbClr val="92D050"/>
                </a:solidFill>
              </a:rPr>
              <a:t>flags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switch_mm_irqs_off(</a:t>
            </a:r>
            <a:r>
              <a:rPr lang="zh-CN" altLang="en-US" sz="2000" b="1">
                <a:solidFill>
                  <a:srgbClr val="92D050"/>
                </a:solidFill>
              </a:rPr>
              <a:t>prev, next, tsk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local_irq_restore(</a:t>
            </a:r>
            <a:r>
              <a:rPr lang="zh-CN" altLang="en-US" sz="2000" b="1">
                <a:solidFill>
                  <a:srgbClr val="92D050"/>
                </a:solidFill>
              </a:rPr>
              <a:t>flags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看上去是调用了一个</a:t>
            </a:r>
            <a:r>
              <a:rPr lang="zh-CN" altLang="en-US" sz="2000">
                <a:sym typeface="+mn-ea"/>
              </a:rPr>
              <a:t>switch_mm_irqs_off函数，在这里面完成的切换。跟	进去看看。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切换进程地址</a:t>
            </a:r>
            <a:r>
              <a:rPr lang="zh-CN" altLang="en-US" sz="2000" b="1">
                <a:solidFill>
                  <a:srgbClr val="9C0B15"/>
                </a:solidFill>
              </a:rPr>
              <a:t>空间（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https://elixir.bootlin.com/linux/v6.3-rc3/source/arch/x86/mm/tlb.c#L277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void switch_mm_irqs_off(struct mm_struct *prev, struct mm_struct *next,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		struct task_struct *tsk)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</a:t>
            </a:r>
            <a:r>
              <a:rPr lang="zh-CN" altLang="en-US" sz="2000" b="1">
                <a:solidFill>
                  <a:srgbClr val="92D050"/>
                </a:solidFill>
              </a:rPr>
              <a:t>struct mm_struct *real_prev</a:t>
            </a:r>
            <a:r>
              <a:rPr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=</a:t>
            </a:r>
            <a:r>
              <a:rPr sz="2000" b="1">
                <a:solidFill>
                  <a:srgbClr val="9C0B15"/>
                </a:solidFill>
              </a:rPr>
              <a:t> this_cpu_read(</a:t>
            </a:r>
            <a:r>
              <a:rPr lang="zh-CN" altLang="en-US" sz="2000" b="1">
                <a:solidFill>
                  <a:srgbClr val="92D050"/>
                </a:solidFill>
              </a:rPr>
              <a:t>cpu_tlbstate.loaded_mm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if </a:t>
            </a:r>
            <a:r>
              <a:rPr lang="en-US" altLang="zh-CN" sz="2000" b="1">
                <a:solidFill>
                  <a:srgbClr val="00B0F0"/>
                </a:solidFill>
              </a:rPr>
              <a:t>(</a:t>
            </a:r>
            <a:r>
              <a:rPr lang="zh-CN" altLang="en-US" sz="2000" b="1">
                <a:solidFill>
                  <a:srgbClr val="92D050"/>
                </a:solidFill>
              </a:rPr>
              <a:t>real_prev</a:t>
            </a:r>
            <a:r>
              <a:rPr lang="en-US" altLang="zh-CN" sz="2000" b="1">
                <a:solidFill>
                  <a:srgbClr val="00B0F0"/>
                </a:solidFill>
              </a:rPr>
              <a:t> == </a:t>
            </a:r>
            <a:r>
              <a:rPr lang="zh-CN" altLang="en-US" sz="2000" b="1">
                <a:solidFill>
                  <a:srgbClr val="92D050"/>
                </a:solidFill>
              </a:rPr>
              <a:t>next</a:t>
            </a:r>
            <a:r>
              <a:rPr lang="en-US" altLang="zh-CN" sz="2000" b="1">
                <a:solidFill>
                  <a:srgbClr val="00B0F0"/>
                </a:solidFill>
              </a:rPr>
              <a:t>)</a:t>
            </a:r>
            <a:endParaRPr lang="en-US" altLang="zh-CN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7030A0"/>
                </a:solidFill>
              </a:rPr>
              <a:t>return;</a:t>
            </a:r>
            <a:endParaRPr lang="en-US" altLang="zh-CN" sz="2000" b="1">
              <a:solidFill>
                <a:srgbClr val="7030A0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load_new_mm_cr3(</a:t>
            </a:r>
            <a:r>
              <a:rPr lang="zh-CN" altLang="en-US" sz="2000" b="1">
                <a:solidFill>
                  <a:srgbClr val="92D050"/>
                </a:solidFill>
              </a:rPr>
              <a:t>next</a:t>
            </a:r>
            <a:r>
              <a:rPr lang="en-US" altLang="zh-CN" sz="2000" b="1">
                <a:solidFill>
                  <a:srgbClr val="00B0F0"/>
                </a:solidFill>
              </a:rPr>
              <a:t>-&gt;</a:t>
            </a:r>
            <a:r>
              <a:rPr lang="zh-CN" altLang="en-US" sz="2000" b="1">
                <a:solidFill>
                  <a:srgbClr val="92D050"/>
                </a:solidFill>
              </a:rPr>
              <a:t>pgd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static inline void native_write_cr3(unsigned long val)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/>
              <a:t>	</a:t>
            </a:r>
            <a:r>
              <a:rPr lang="en-US" altLang="zh-CN" sz="2000" b="1">
                <a:solidFill>
                  <a:srgbClr val="00B0F0"/>
                </a:solidFill>
              </a:rPr>
              <a:t>asm volatile("mov %0,%%cr3": : "r" (</a:t>
            </a:r>
            <a:r>
              <a:rPr lang="zh-CN" altLang="en-US" sz="2000" b="1">
                <a:solidFill>
                  <a:srgbClr val="92D050"/>
                </a:solidFill>
              </a:rPr>
              <a:t>val</a:t>
            </a:r>
            <a:r>
              <a:rPr lang="en-US" altLang="zh-CN" sz="2000" b="1">
                <a:solidFill>
                  <a:srgbClr val="00B0F0"/>
                </a:solidFill>
              </a:rPr>
              <a:t>) : "memory");</a:t>
            </a:r>
            <a:endParaRPr lang="en-US" altLang="zh-CN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发现最后把pgd（页目录）的地址写进CR3去了。CR3是什么？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x86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环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寻址方法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x86-32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IA32</a:t>
            </a:r>
            <a:r>
              <a:rPr lang="zh-CN" altLang="en-US" sz="2000" b="1">
                <a:solidFill>
                  <a:srgbClr val="9C0B15"/>
                </a:solidFill>
              </a:rPr>
              <a:t>）保护模式与段页式</a:t>
            </a:r>
            <a:r>
              <a:rPr lang="zh-CN" altLang="en-US" sz="2000" b="1">
                <a:solidFill>
                  <a:srgbClr val="9C0B15"/>
                </a:solidFill>
              </a:rPr>
              <a:t>管理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519555" y="5280025"/>
            <a:ext cx="7026275" cy="1433195"/>
            <a:chOff x="2393" y="6875"/>
            <a:chExt cx="11065" cy="2257"/>
          </a:xfrm>
        </p:grpSpPr>
        <p:sp>
          <p:nvSpPr>
            <p:cNvPr id="25" name="圆角矩形 24"/>
            <p:cNvSpPr/>
            <p:nvPr/>
          </p:nvSpPr>
          <p:spPr>
            <a:xfrm>
              <a:off x="2393" y="8364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有效地址</a:t>
              </a:r>
              <a:endParaRPr lang="zh-CN" altLang="en-US"/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2413" y="6875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段选择子</a:t>
              </a:r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5425" y="6876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</a:t>
              </a:r>
              <a:r>
                <a:rPr lang="zh-CN" altLang="en-US"/>
                <a:t>描述符</a:t>
              </a:r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433" y="8364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段基</a:t>
              </a:r>
              <a:r>
                <a:rPr lang="zh-CN" altLang="en-US"/>
                <a:t>址</a:t>
              </a:r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838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线性地址</a:t>
              </a:r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1316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页表</a:t>
              </a:r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313" y="6876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26" name="直接箭头连接符 25"/>
            <p:cNvCxnSpPr>
              <a:stCxn id="5" idx="2"/>
              <a:endCxn id="6" idx="0"/>
            </p:cNvCxnSpPr>
            <p:nvPr/>
          </p:nvCxnSpPr>
          <p:spPr>
            <a:xfrm>
              <a:off x="6497" y="7644"/>
              <a:ext cx="8" cy="72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4556" y="7256"/>
              <a:ext cx="877" cy="3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加号 76"/>
            <p:cNvSpPr/>
            <p:nvPr/>
          </p:nvSpPr>
          <p:spPr>
            <a:xfrm>
              <a:off x="4641" y="8388"/>
              <a:ext cx="720" cy="720"/>
            </a:xfrm>
            <a:prstGeom prst="mathPlus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8" name="直接箭头连接符 27"/>
            <p:cNvCxnSpPr>
              <a:stCxn id="6" idx="3"/>
              <a:endCxn id="7" idx="1"/>
            </p:cNvCxnSpPr>
            <p:nvPr/>
          </p:nvCxnSpPr>
          <p:spPr>
            <a:xfrm>
              <a:off x="7576" y="8748"/>
              <a:ext cx="808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8" idx="0"/>
            </p:cNvCxnSpPr>
            <p:nvPr/>
          </p:nvCxnSpPr>
          <p:spPr>
            <a:xfrm flipH="1" flipV="1">
              <a:off x="12381" y="7643"/>
              <a:ext cx="6" cy="721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7" idx="3"/>
              <a:endCxn id="8" idx="1"/>
            </p:cNvCxnSpPr>
            <p:nvPr/>
          </p:nvCxnSpPr>
          <p:spPr>
            <a:xfrm>
              <a:off x="10526" y="8748"/>
              <a:ext cx="79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1519555" y="3326130"/>
            <a:ext cx="7024370" cy="1666240"/>
            <a:chOff x="3084" y="3700"/>
            <a:chExt cx="11062" cy="2624"/>
          </a:xfrm>
        </p:grpSpPr>
        <p:sp>
          <p:nvSpPr>
            <p:cNvPr id="82" name="圆角矩形 81"/>
            <p:cNvSpPr/>
            <p:nvPr/>
          </p:nvSpPr>
          <p:spPr>
            <a:xfrm>
              <a:off x="3084" y="5928"/>
              <a:ext cx="3185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线性地址</a:t>
              </a:r>
              <a:r>
                <a:rPr lang="en-US" altLang="zh-CN"/>
                <a:t>[31:22]</a:t>
              </a:r>
              <a:endParaRPr lang="en-US" altLang="zh-CN"/>
            </a:p>
          </p:txBody>
        </p:sp>
        <p:sp>
          <p:nvSpPr>
            <p:cNvPr id="120" name="圆角矩形 119"/>
            <p:cNvSpPr/>
            <p:nvPr/>
          </p:nvSpPr>
          <p:spPr>
            <a:xfrm>
              <a:off x="3084" y="3700"/>
              <a:ext cx="1154" cy="396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CR3</a:t>
              </a:r>
              <a:endParaRPr lang="en-US" altLang="zh-CN"/>
            </a:p>
          </p:txBody>
        </p:sp>
        <p:cxnSp>
          <p:nvCxnSpPr>
            <p:cNvPr id="63" name="直接箭头连接符 62"/>
            <p:cNvCxnSpPr/>
            <p:nvPr/>
          </p:nvCxnSpPr>
          <p:spPr>
            <a:xfrm>
              <a:off x="4238" y="3897"/>
              <a:ext cx="1009" cy="4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圆角矩形 63"/>
            <p:cNvSpPr/>
            <p:nvPr/>
          </p:nvSpPr>
          <p:spPr>
            <a:xfrm>
              <a:off x="5115" y="3901"/>
              <a:ext cx="1154" cy="173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7983" y="3901"/>
              <a:ext cx="1154" cy="1734"/>
            </a:xfrm>
            <a:prstGeom prst="roundRect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表项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6269" y="5928"/>
              <a:ext cx="2869" cy="396"/>
            </a:xfrm>
            <a:prstGeom prst="roundRect">
              <a:avLst/>
            </a:prstGeom>
            <a:solidFill>
              <a:srgbClr val="00B0F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[21:12]</a:t>
              </a:r>
              <a:endParaRPr lang="en-US" altLang="zh-CN"/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9138" y="5928"/>
              <a:ext cx="2869" cy="396"/>
            </a:xfrm>
            <a:prstGeom prst="round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[11:0]</a:t>
              </a:r>
              <a:endParaRPr lang="en-US" altLang="zh-CN"/>
            </a:p>
          </p:txBody>
        </p:sp>
        <p:cxnSp>
          <p:nvCxnSpPr>
            <p:cNvPr id="70" name="肘形连接符 69"/>
            <p:cNvCxnSpPr>
              <a:stCxn id="82" idx="0"/>
              <a:endCxn id="71" idx="1"/>
            </p:cNvCxnSpPr>
            <p:nvPr/>
          </p:nvCxnSpPr>
          <p:spPr>
            <a:xfrm rot="16200000">
              <a:off x="4387" y="5200"/>
              <a:ext cx="1018" cy="438"/>
            </a:xfrm>
            <a:prstGeom prst="bentConnector2">
              <a:avLst/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圆角矩形 70"/>
            <p:cNvSpPr/>
            <p:nvPr/>
          </p:nvSpPr>
          <p:spPr>
            <a:xfrm>
              <a:off x="5115" y="4712"/>
              <a:ext cx="1153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72" name="肘形连接符 71"/>
            <p:cNvCxnSpPr>
              <a:stCxn id="71" idx="3"/>
            </p:cNvCxnSpPr>
            <p:nvPr/>
          </p:nvCxnSpPr>
          <p:spPr>
            <a:xfrm flipV="1">
              <a:off x="6268" y="3911"/>
              <a:ext cx="1839" cy="999"/>
            </a:xfrm>
            <a:prstGeom prst="bentConnector3">
              <a:avLst>
                <a:gd name="adj1" fmla="val 27188"/>
              </a:avLst>
            </a:prstGeom>
            <a:ln w="63500">
              <a:solidFill>
                <a:srgbClr val="00B05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endCxn id="74" idx="1"/>
            </p:cNvCxnSpPr>
            <p:nvPr/>
          </p:nvCxnSpPr>
          <p:spPr>
            <a:xfrm rot="16200000">
              <a:off x="7100" y="5045"/>
              <a:ext cx="1328" cy="438"/>
            </a:xfrm>
            <a:prstGeom prst="bentConnector2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圆角矩形 73"/>
            <p:cNvSpPr/>
            <p:nvPr/>
          </p:nvSpPr>
          <p:spPr>
            <a:xfrm>
              <a:off x="7983" y="4402"/>
              <a:ext cx="1153" cy="39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5" name="加号 74"/>
            <p:cNvSpPr/>
            <p:nvPr/>
          </p:nvSpPr>
          <p:spPr>
            <a:xfrm>
              <a:off x="10212" y="4240"/>
              <a:ext cx="720" cy="720"/>
            </a:xfrm>
            <a:prstGeom prst="mathPlus">
              <a:avLst/>
            </a:prstGeom>
            <a:solidFill>
              <a:srgbClr val="D02F35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2004" y="4216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78" name="直接箭头连接符 77"/>
            <p:cNvCxnSpPr>
              <a:stCxn id="74" idx="3"/>
            </p:cNvCxnSpPr>
            <p:nvPr/>
          </p:nvCxnSpPr>
          <p:spPr>
            <a:xfrm>
              <a:off x="9136" y="4600"/>
              <a:ext cx="1031" cy="1"/>
            </a:xfrm>
            <a:prstGeom prst="straightConnector1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flipV="1">
              <a:off x="10569" y="4981"/>
              <a:ext cx="8" cy="948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10976" y="4601"/>
              <a:ext cx="1031" cy="1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图片 61" descr="Priv_ring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235" y="676910"/>
            <a:ext cx="3670935" cy="26492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段页式管理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将段式内存管理与页式内存管理结合起来使用。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物理地址先经过段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式内存管理转换成线性地址（或中间地址），然后再通过页式内存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管理转换为最终的物理地址</a:t>
            </a:r>
            <a:r>
              <a:rPr lang="zh-CN" altLang="en-US" sz="2000">
                <a:sym typeface="+mn-ea"/>
              </a:rPr>
              <a:t>，所谓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先分段，后分页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向下兼容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段页式管理是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历史遗留</a:t>
            </a:r>
            <a:r>
              <a:rPr lang="zh-CN" altLang="en-US" sz="2000">
                <a:sym typeface="+mn-ea"/>
              </a:rPr>
              <a:t>。早期的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与</a:t>
            </a:r>
            <a:r>
              <a:rPr lang="en-US" altLang="zh-CN" sz="2000">
                <a:sym typeface="+mn-ea"/>
              </a:rPr>
              <a:t>80286</a:t>
            </a:r>
            <a:r>
              <a:rPr lang="zh-CN" altLang="en-US" sz="2000">
                <a:sym typeface="+mn-ea"/>
              </a:rPr>
              <a:t>使用纯粹的段式管理，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但这样会引起大量的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外部碎片</a:t>
            </a:r>
            <a:r>
              <a:rPr lang="zh-CN" altLang="en-US" sz="2000">
                <a:sym typeface="+mn-ea"/>
              </a:rPr>
              <a:t>。因此，在</a:t>
            </a:r>
            <a:r>
              <a:rPr lang="en-US" altLang="zh-CN" sz="2000">
                <a:sym typeface="+mn-ea"/>
              </a:rPr>
              <a:t>80386</a:t>
            </a:r>
            <a:r>
              <a:rPr lang="zh-CN" altLang="en-US" sz="2000">
                <a:sym typeface="+mn-ea"/>
              </a:rPr>
              <a:t>上引入了页式管理。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然而，段式管理是不可能删除的（很多人还在使用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），因此只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好在段式转换后的地址上再套上页式管理。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这就是所谓的向下兼容（</a:t>
            </a:r>
            <a:r>
              <a:rPr lang="en-US" altLang="zh-CN" sz="2000">
                <a:sym typeface="+mn-ea"/>
              </a:rPr>
              <a:t>Backwards Compatibility</a:t>
            </a:r>
            <a:r>
              <a:rPr lang="zh-CN" altLang="en-US" sz="2000">
                <a:sym typeface="+mn-ea"/>
              </a:rPr>
              <a:t>）：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为了旧硬件开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发的操作系统在新硬件上仍然可以使用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优越性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很多书上说段页式管理具备优越性，因为它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一方面能避免段式管理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的外部碎片，另一方面又能避免页式管理的内部碎片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。然而，页式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内存管理的页已经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非常小了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），因此内部碎片可以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忽略不计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x86</a:t>
            </a:r>
            <a:r>
              <a:rPr lang="zh-CN" altLang="en-US" sz="2000">
                <a:sym typeface="+mn-ea"/>
              </a:rPr>
              <a:t>（和其它架构上的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各种变形</a:t>
            </a:r>
            <a:r>
              <a:rPr lang="zh-CN" altLang="en-US" sz="2000">
                <a:sym typeface="+mn-ea"/>
              </a:rPr>
              <a:t>的）的段页式管理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纯粹是历史包袱，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没有任何实用价值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在现代操作系统上，针对</a:t>
            </a:r>
            <a:r>
              <a:rPr lang="en-US" altLang="zh-CN" sz="2000">
                <a:sym typeface="+mn-ea"/>
              </a:rPr>
              <a:t>x86</a:t>
            </a:r>
            <a:r>
              <a:rPr lang="zh-CN" altLang="en-US" sz="2000">
                <a:sym typeface="+mn-ea"/>
              </a:rPr>
              <a:t>的实现一般都将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段基址设置为0，段长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度设置为无限大</a:t>
            </a:r>
            <a:r>
              <a:rPr lang="zh-CN" altLang="en-US" sz="2000">
                <a:sym typeface="+mn-ea"/>
              </a:rPr>
              <a:t>，相当于绕开了段式内存管理</a:t>
            </a:r>
            <a:r>
              <a:rPr lang="zh-CN" altLang="en-US" sz="2000">
                <a:sym typeface="+mn-ea"/>
              </a:rPr>
              <a:t>机制。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x86-64</a:t>
            </a:r>
            <a:r>
              <a:rPr lang="zh-CN" altLang="en-US" sz="2000">
                <a:sym typeface="+mn-ea"/>
              </a:rPr>
              <a:t>中，段机制被进一步弱化：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硬件固定段基址为0，段长度为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无限大，且软件不可修改</a:t>
            </a:r>
            <a:r>
              <a:rPr lang="zh-CN" altLang="en-US" sz="2000">
                <a:sym typeface="+mn-ea"/>
              </a:rPr>
              <a:t>，等同于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从架构上放弃了段式管理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段页式</a:t>
            </a:r>
            <a:r>
              <a:rPr lang="zh-CN" altLang="en-US" sz="2000" b="1">
                <a:solidFill>
                  <a:srgbClr val="9C0B15"/>
                </a:solidFill>
              </a:rPr>
              <a:t>管理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长模式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设置为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位工作模式。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必须先进入保护模式，然后再切换到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长模式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支持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</a:t>
            </a:r>
            <a:r>
              <a:rPr lang="zh-CN" altLang="en-US" sz="2000">
                <a:sym typeface="+mn-ea"/>
              </a:rPr>
              <a:t>数据处理，增加通用寄存器</a:t>
            </a:r>
            <a:r>
              <a:rPr lang="zh-CN" altLang="en-US" sz="2000">
                <a:sym typeface="+mn-ea"/>
              </a:rPr>
              <a:t>数量，寻址更多内</a:t>
            </a:r>
            <a:r>
              <a:rPr lang="zh-CN" altLang="en-US" sz="2000">
                <a:sym typeface="+mn-ea"/>
              </a:rPr>
              <a:t>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长模式分页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段式内存管理被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基本禁用</a:t>
            </a:r>
            <a:r>
              <a:rPr lang="zh-CN" altLang="en-US" sz="2000">
                <a:sym typeface="+mn-ea"/>
              </a:rPr>
              <a:t>（段基址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0，段长度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无限大）。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有效地址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线性地址，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页表被扩展为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64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位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寻址方法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[63:57]怎么没翻译？为什么只翻译最后</a:t>
            </a:r>
            <a:r>
              <a:rPr lang="en-US" altLang="zh-CN" sz="2000">
                <a:sym typeface="+mn-ea"/>
              </a:rPr>
              <a:t>57</a:t>
            </a:r>
            <a:r>
              <a:rPr lang="zh-CN" altLang="en-US" sz="2000">
                <a:sym typeface="+mn-ea"/>
              </a:rPr>
              <a:t>位？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）长模式分页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224155" y="3310255"/>
            <a:ext cx="9366250" cy="1670685"/>
            <a:chOff x="396" y="4143"/>
            <a:chExt cx="14750" cy="2631"/>
          </a:xfrm>
        </p:grpSpPr>
        <p:sp>
          <p:nvSpPr>
            <p:cNvPr id="82" name="圆角矩形 81"/>
            <p:cNvSpPr/>
            <p:nvPr/>
          </p:nvSpPr>
          <p:spPr>
            <a:xfrm>
              <a:off x="1719" y="6375"/>
              <a:ext cx="1969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[56:48]</a:t>
              </a:r>
              <a:endParaRPr lang="en-US" altLang="zh-CN"/>
            </a:p>
          </p:txBody>
        </p:sp>
        <p:sp>
          <p:nvSpPr>
            <p:cNvPr id="120" name="圆角矩形 119"/>
            <p:cNvSpPr/>
            <p:nvPr/>
          </p:nvSpPr>
          <p:spPr>
            <a:xfrm>
              <a:off x="396" y="4143"/>
              <a:ext cx="1154" cy="396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CR3</a:t>
              </a:r>
              <a:endParaRPr lang="en-US" altLang="zh-CN"/>
            </a:p>
          </p:txBody>
        </p:sp>
        <p:cxnSp>
          <p:nvCxnSpPr>
            <p:cNvPr id="63" name="直接箭头连接符 62"/>
            <p:cNvCxnSpPr>
              <a:stCxn id="120" idx="3"/>
            </p:cNvCxnSpPr>
            <p:nvPr/>
          </p:nvCxnSpPr>
          <p:spPr>
            <a:xfrm>
              <a:off x="1550" y="4341"/>
              <a:ext cx="1065" cy="7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圆角矩形 63"/>
            <p:cNvSpPr/>
            <p:nvPr/>
          </p:nvSpPr>
          <p:spPr>
            <a:xfrm>
              <a:off x="2534" y="4338"/>
              <a:ext cx="1154" cy="173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4711" y="4348"/>
              <a:ext cx="1154" cy="1734"/>
            </a:xfrm>
            <a:prstGeom prst="roundRect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3687" y="6378"/>
              <a:ext cx="2178" cy="396"/>
            </a:xfrm>
            <a:prstGeom prst="roundRect">
              <a:avLst/>
            </a:prstGeom>
            <a:solidFill>
              <a:srgbClr val="00B0F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[47:39]</a:t>
              </a:r>
              <a:endParaRPr lang="en-US" altLang="zh-CN"/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12398" y="6375"/>
              <a:ext cx="1435" cy="396"/>
            </a:xfrm>
            <a:prstGeom prst="round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[11:0]</a:t>
              </a:r>
              <a:endParaRPr lang="en-US" altLang="zh-CN"/>
            </a:p>
          </p:txBody>
        </p:sp>
        <p:cxnSp>
          <p:nvCxnSpPr>
            <p:cNvPr id="70" name="肘形连接符 69"/>
            <p:cNvCxnSpPr>
              <a:endCxn id="71" idx="1"/>
            </p:cNvCxnSpPr>
            <p:nvPr/>
          </p:nvCxnSpPr>
          <p:spPr>
            <a:xfrm rot="16200000">
              <a:off x="1835" y="5669"/>
              <a:ext cx="1021" cy="376"/>
            </a:xfrm>
            <a:prstGeom prst="bentConnector2">
              <a:avLst/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圆角矩形 70"/>
            <p:cNvSpPr/>
            <p:nvPr/>
          </p:nvSpPr>
          <p:spPr>
            <a:xfrm>
              <a:off x="2534" y="5149"/>
              <a:ext cx="1153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72" name="肘形连接符 71"/>
            <p:cNvCxnSpPr>
              <a:stCxn id="71" idx="3"/>
            </p:cNvCxnSpPr>
            <p:nvPr/>
          </p:nvCxnSpPr>
          <p:spPr>
            <a:xfrm flipV="1">
              <a:off x="3687" y="4358"/>
              <a:ext cx="1167" cy="989"/>
            </a:xfrm>
            <a:prstGeom prst="bentConnector3">
              <a:avLst>
                <a:gd name="adj1" fmla="val 23479"/>
              </a:avLst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/>
            <p:nvPr/>
          </p:nvCxnSpPr>
          <p:spPr>
            <a:xfrm rot="16200000">
              <a:off x="3828" y="5495"/>
              <a:ext cx="1328" cy="438"/>
            </a:xfrm>
            <a:prstGeom prst="bentConnector2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圆角矩形 73"/>
            <p:cNvSpPr/>
            <p:nvPr/>
          </p:nvSpPr>
          <p:spPr>
            <a:xfrm>
              <a:off x="4711" y="4849"/>
              <a:ext cx="1153" cy="39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5" name="加号 74"/>
            <p:cNvSpPr/>
            <p:nvPr/>
          </p:nvSpPr>
          <p:spPr>
            <a:xfrm>
              <a:off x="12756" y="4707"/>
              <a:ext cx="720" cy="720"/>
            </a:xfrm>
            <a:prstGeom prst="mathPlus">
              <a:avLst/>
            </a:prstGeom>
            <a:solidFill>
              <a:srgbClr val="D02F35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3992" y="4582"/>
              <a:ext cx="1155" cy="930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78" name="直接箭头连接符 77"/>
            <p:cNvCxnSpPr/>
            <p:nvPr/>
          </p:nvCxnSpPr>
          <p:spPr>
            <a:xfrm>
              <a:off x="13476" y="5048"/>
              <a:ext cx="501" cy="1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flipV="1">
              <a:off x="13112" y="5427"/>
              <a:ext cx="8" cy="948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12398" y="5044"/>
              <a:ext cx="474" cy="5"/>
            </a:xfrm>
            <a:prstGeom prst="straightConnector1">
              <a:avLst/>
            </a:prstGeom>
            <a:ln w="63500">
              <a:solidFill>
                <a:srgbClr val="00206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圆角矩形 14"/>
            <p:cNvSpPr/>
            <p:nvPr/>
          </p:nvSpPr>
          <p:spPr>
            <a:xfrm>
              <a:off x="396" y="6368"/>
              <a:ext cx="1323" cy="396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[63:57]</a:t>
              </a:r>
              <a:endParaRPr lang="en-US" altLang="zh-CN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6888" y="4345"/>
              <a:ext cx="1154" cy="1734"/>
            </a:xfrm>
            <a:prstGeom prst="roundRect">
              <a:avLst/>
            </a:prstGeom>
            <a:solidFill>
              <a:srgbClr val="00B0F0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5864" y="6375"/>
              <a:ext cx="2178" cy="396"/>
            </a:xfrm>
            <a:prstGeom prst="round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[38:30]</a:t>
              </a:r>
              <a:endParaRPr lang="en-US" altLang="zh-CN"/>
            </a:p>
          </p:txBody>
        </p:sp>
        <p:cxnSp>
          <p:nvCxnSpPr>
            <p:cNvPr id="84" name="肘形连接符 83"/>
            <p:cNvCxnSpPr>
              <a:stCxn id="74" idx="3"/>
            </p:cNvCxnSpPr>
            <p:nvPr/>
          </p:nvCxnSpPr>
          <p:spPr>
            <a:xfrm flipV="1">
              <a:off x="5864" y="4355"/>
              <a:ext cx="1167" cy="692"/>
            </a:xfrm>
            <a:prstGeom prst="bentConnector3">
              <a:avLst>
                <a:gd name="adj1" fmla="val 25192"/>
              </a:avLst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肘形连接符 84"/>
            <p:cNvCxnSpPr>
              <a:endCxn id="86" idx="1"/>
            </p:cNvCxnSpPr>
            <p:nvPr/>
          </p:nvCxnSpPr>
          <p:spPr>
            <a:xfrm rot="16200000">
              <a:off x="6075" y="5564"/>
              <a:ext cx="1173" cy="454"/>
            </a:xfrm>
            <a:prstGeom prst="bentConnector2">
              <a:avLst/>
            </a:prstGeom>
            <a:ln w="63500">
              <a:solidFill>
                <a:srgbClr val="7030A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圆角矩形 85"/>
            <p:cNvSpPr/>
            <p:nvPr/>
          </p:nvSpPr>
          <p:spPr>
            <a:xfrm>
              <a:off x="6889" y="5007"/>
              <a:ext cx="1153" cy="396"/>
            </a:xfrm>
            <a:prstGeom prst="roundRect">
              <a:avLst/>
            </a:prstGeom>
            <a:solidFill>
              <a:srgbClr val="7030A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9066" y="4345"/>
              <a:ext cx="1154" cy="1734"/>
            </a:xfrm>
            <a:prstGeom prst="round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8042" y="6375"/>
              <a:ext cx="2178" cy="396"/>
            </a:xfrm>
            <a:prstGeom prst="roundRect">
              <a:avLst/>
            </a:prstGeom>
            <a:solidFill>
              <a:schemeClr val="accent2">
                <a:lumMod val="7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[29:21]</a:t>
              </a:r>
              <a:endParaRPr lang="en-US" altLang="zh-CN"/>
            </a:p>
          </p:txBody>
        </p:sp>
        <p:cxnSp>
          <p:nvCxnSpPr>
            <p:cNvPr id="89" name="肘形连接符 88"/>
            <p:cNvCxnSpPr>
              <a:stCxn id="66" idx="3"/>
            </p:cNvCxnSpPr>
            <p:nvPr/>
          </p:nvCxnSpPr>
          <p:spPr>
            <a:xfrm flipV="1">
              <a:off x="8042" y="4358"/>
              <a:ext cx="1143" cy="854"/>
            </a:xfrm>
            <a:prstGeom prst="bentConnector3">
              <a:avLst>
                <a:gd name="adj1" fmla="val 28171"/>
              </a:avLst>
            </a:prstGeom>
            <a:ln w="63500">
              <a:solidFill>
                <a:srgbClr val="7030A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肘形连接符 89"/>
            <p:cNvCxnSpPr>
              <a:endCxn id="91" idx="1"/>
            </p:cNvCxnSpPr>
            <p:nvPr/>
          </p:nvCxnSpPr>
          <p:spPr>
            <a:xfrm rot="16200000">
              <a:off x="8333" y="5642"/>
              <a:ext cx="1028" cy="438"/>
            </a:xfrm>
            <a:prstGeom prst="bentConnector2">
              <a:avLst/>
            </a:prstGeom>
            <a:ln w="63500">
              <a:solidFill>
                <a:schemeClr val="accent2">
                  <a:lumMod val="75000"/>
                  <a:alpha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圆角矩形 90"/>
            <p:cNvSpPr/>
            <p:nvPr/>
          </p:nvSpPr>
          <p:spPr>
            <a:xfrm>
              <a:off x="9066" y="5149"/>
              <a:ext cx="1153" cy="396"/>
            </a:xfrm>
            <a:prstGeom prst="roundRect">
              <a:avLst/>
            </a:prstGeom>
            <a:solidFill>
              <a:schemeClr val="accent2">
                <a:lumMod val="7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92" name="圆角矩形 91"/>
            <p:cNvSpPr/>
            <p:nvPr/>
          </p:nvSpPr>
          <p:spPr>
            <a:xfrm>
              <a:off x="11244" y="4348"/>
              <a:ext cx="1154" cy="1734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表项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10220" y="6378"/>
              <a:ext cx="2178" cy="396"/>
            </a:xfrm>
            <a:prstGeom prst="roundRect">
              <a:avLst/>
            </a:prstGeom>
            <a:solidFill>
              <a:srgbClr val="002060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[20:12]</a:t>
              </a:r>
              <a:endParaRPr lang="en-US" altLang="zh-CN"/>
            </a:p>
          </p:txBody>
        </p:sp>
        <p:cxnSp>
          <p:nvCxnSpPr>
            <p:cNvPr id="94" name="肘形连接符 93"/>
            <p:cNvCxnSpPr>
              <a:stCxn id="91" idx="3"/>
            </p:cNvCxnSpPr>
            <p:nvPr/>
          </p:nvCxnSpPr>
          <p:spPr>
            <a:xfrm flipV="1">
              <a:off x="10219" y="4358"/>
              <a:ext cx="1126" cy="989"/>
            </a:xfrm>
            <a:prstGeom prst="bentConnector3">
              <a:avLst>
                <a:gd name="adj1" fmla="val 25133"/>
              </a:avLst>
            </a:prstGeom>
            <a:ln w="63500">
              <a:solidFill>
                <a:schemeClr val="accent2">
                  <a:lumMod val="75000"/>
                  <a:alpha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/>
            <p:nvPr/>
          </p:nvCxnSpPr>
          <p:spPr>
            <a:xfrm rot="16200000">
              <a:off x="10361" y="5495"/>
              <a:ext cx="1328" cy="438"/>
            </a:xfrm>
            <a:prstGeom prst="bentConnector2">
              <a:avLst/>
            </a:prstGeom>
            <a:ln w="63500">
              <a:solidFill>
                <a:srgbClr val="00206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圆角矩形 95"/>
            <p:cNvSpPr/>
            <p:nvPr/>
          </p:nvSpPr>
          <p:spPr>
            <a:xfrm>
              <a:off x="11244" y="4849"/>
              <a:ext cx="1153" cy="396"/>
            </a:xfrm>
            <a:prstGeom prst="roundRect">
              <a:avLst/>
            </a:prstGeom>
            <a:solidFill>
              <a:srgbClr val="00206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2694940" y="5445125"/>
            <a:ext cx="5095240" cy="487680"/>
            <a:chOff x="5434" y="8364"/>
            <a:chExt cx="8024" cy="768"/>
          </a:xfrm>
        </p:grpSpPr>
        <p:sp>
          <p:nvSpPr>
            <p:cNvPr id="103" name="圆角矩形 102"/>
            <p:cNvSpPr/>
            <p:nvPr/>
          </p:nvSpPr>
          <p:spPr>
            <a:xfrm>
              <a:off x="838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页表</a:t>
              </a:r>
              <a:endParaRPr lang="zh-CN" altLang="en-US"/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11316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物理地址</a:t>
              </a:r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543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线性</a:t>
              </a:r>
              <a:r>
                <a:rPr lang="zh-CN" altLang="en-US"/>
                <a:t>地址</a:t>
              </a:r>
              <a:endParaRPr lang="zh-CN" altLang="en-US"/>
            </a:p>
          </p:txBody>
        </p:sp>
        <p:cxnSp>
          <p:nvCxnSpPr>
            <p:cNvPr id="109" name="直接箭头连接符 108"/>
            <p:cNvCxnSpPr>
              <a:stCxn id="102" idx="3"/>
              <a:endCxn id="103" idx="1"/>
            </p:cNvCxnSpPr>
            <p:nvPr/>
          </p:nvCxnSpPr>
          <p:spPr>
            <a:xfrm>
              <a:off x="7576" y="8748"/>
              <a:ext cx="808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103" idx="3"/>
              <a:endCxn id="104" idx="1"/>
            </p:cNvCxnSpPr>
            <p:nvPr/>
          </p:nvCxnSpPr>
          <p:spPr>
            <a:xfrm>
              <a:off x="10526" y="8748"/>
              <a:ext cx="79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规范地址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x86-64规定，虚拟地址空间是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不连续的</a:t>
            </a:r>
            <a:r>
              <a:rPr lang="en-US" altLang="zh-CN" sz="2000">
                <a:sym typeface="+mn-ea"/>
              </a:rPr>
              <a:t>，而是分成高低两个部分。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其高部分是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0xFF00_0000_0000_0000到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0xFFFF_FFFF_FFFF_FFFF</a:t>
            </a:r>
            <a:r>
              <a:rPr lang="en-US" altLang="zh-CN" sz="2000">
                <a:sym typeface="+mn-ea"/>
              </a:rPr>
              <a:t>，其低		部分则是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0x0000_0000_0000_0000到0x00FF_FFFF_FFFF_FFFF</a:t>
            </a:r>
            <a:r>
              <a:rPr lang="zh-CN" altLang="en-US" sz="2000">
                <a:sym typeface="+mn-ea"/>
              </a:rPr>
              <a:t>。虚拟地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址在翻译时掐掉</a:t>
            </a:r>
            <a:r>
              <a:rPr lang="en-US" sz="2000">
                <a:sym typeface="+mn-ea"/>
              </a:rPr>
              <a:t>[63:57]</a:t>
            </a:r>
            <a:r>
              <a:rPr lang="zh-CN" altLang="en-US" sz="2000">
                <a:sym typeface="+mn-ea"/>
              </a:rPr>
              <a:t>位，然后只翻译后面的</a:t>
            </a:r>
            <a:r>
              <a:rPr lang="en-US" altLang="zh-CN" sz="2000">
                <a:sym typeface="+mn-ea"/>
              </a:rPr>
              <a:t>[56:0]</a:t>
            </a:r>
            <a:r>
              <a:rPr lang="zh-CN" altLang="en-US" sz="2000">
                <a:sym typeface="+mn-ea"/>
              </a:rPr>
              <a:t>位，而且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[63:57]		位必须和[56]位一样</a:t>
            </a:r>
            <a:r>
              <a:rPr lang="zh-CN" altLang="en-US" sz="2000">
                <a:sym typeface="+mn-ea"/>
              </a:rPr>
              <a:t>。例如，如果虚拟地址第</a:t>
            </a:r>
            <a:r>
              <a:rPr lang="en-US" altLang="zh-CN" sz="2000">
                <a:sym typeface="+mn-ea"/>
              </a:rPr>
              <a:t>[56]</a:t>
            </a:r>
            <a:r>
              <a:rPr lang="zh-CN" altLang="en-US" sz="2000">
                <a:sym typeface="+mn-ea"/>
              </a:rPr>
              <a:t>位是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</a:t>
            </a:r>
            <a:r>
              <a:rPr lang="en-US" sz="2000">
                <a:sym typeface="+mn-ea"/>
              </a:rPr>
              <a:t>[63:57]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也必须都是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不落在这两个范围内的地址都是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不规范的非法地址</a:t>
            </a:r>
            <a:r>
              <a:rPr lang="zh-CN" altLang="en-US" sz="2000">
                <a:sym typeface="+mn-ea"/>
              </a:rPr>
              <a:t>，不查询页表，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直接按错误处理。实践中，我们一般让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内核使用高地址，用户程序		使用低地址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zh-CN" altLang="en-US" sz="2000" b="1">
                <a:solidFill>
                  <a:srgbClr val="9C0B15"/>
                </a:solidFill>
              </a:rPr>
              <a:t>规范地址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861435" y="3849370"/>
            <a:ext cx="3004820" cy="104902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0xFFFF_FFFF_FFFF_FFFF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0xFF00_0000_0000_0000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861435" y="5543550"/>
            <a:ext cx="3004820" cy="104902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0x00FF_FFFF_FFFF_FFFF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0x0000_0000_0000_0000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861435" y="4898390"/>
            <a:ext cx="3004185" cy="64516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空白区域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右箭头标注 6"/>
          <p:cNvSpPr/>
          <p:nvPr/>
        </p:nvSpPr>
        <p:spPr>
          <a:xfrm>
            <a:off x="2043430" y="4026535"/>
            <a:ext cx="1690370" cy="69469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46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内核空间</a:t>
            </a:r>
            <a:endParaRPr lang="zh-CN" altLang="en-US"/>
          </a:p>
        </p:txBody>
      </p:sp>
      <p:sp>
        <p:nvSpPr>
          <p:cNvPr id="8" name="右箭头标注 7"/>
          <p:cNvSpPr/>
          <p:nvPr>
            <p:custDataLst>
              <p:tags r:id="rId5"/>
            </p:custDataLst>
          </p:nvPr>
        </p:nvSpPr>
        <p:spPr>
          <a:xfrm flipH="1">
            <a:off x="7008495" y="5720715"/>
            <a:ext cx="1692910" cy="69469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46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用户空间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）分页机制</a:t>
            </a:r>
            <a:r>
              <a:rPr lang="zh-CN" altLang="en-US" sz="2000" b="1">
                <a:solidFill>
                  <a:srgbClr val="9C0B15"/>
                </a:solidFill>
              </a:rPr>
              <a:t>详解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CR0	</a:t>
            </a:r>
            <a:r>
              <a:rPr lang="zh-CN" altLang="en-US" sz="2000">
                <a:sym typeface="+mn-ea"/>
              </a:rPr>
              <a:t>控制CPU的一些重要的工作模式，其中就包括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分页机制是否开启</a:t>
            </a:r>
            <a:r>
              <a:rPr lang="zh-CN" altLang="en-US" sz="2000">
                <a:sym typeface="+mn-ea"/>
              </a:rPr>
              <a:t>，以及CPU</a:t>
            </a:r>
            <a:r>
              <a:rPr lang="zh-CN" altLang="en-US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运作在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保护模式还是实模式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第0位PE（</a:t>
            </a:r>
            <a:r>
              <a:rPr lang="en-US" altLang="zh-CN" sz="2000">
                <a:sym typeface="+mn-ea"/>
              </a:rPr>
              <a:t>Protection Enable</a:t>
            </a:r>
            <a:r>
              <a:rPr lang="zh-CN" altLang="en-US" sz="2000">
                <a:sym typeface="+mn-ea"/>
              </a:rPr>
              <a:t>）决定了CPU是否处于保护模式。如果是，那么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就有内核模式和用户模式的区分，否则就没有。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第31位PG（</a:t>
            </a:r>
            <a:r>
              <a:rPr lang="en-US" altLang="zh-CN" sz="2000">
                <a:sym typeface="+mn-ea"/>
              </a:rPr>
              <a:t>Paging</a:t>
            </a:r>
            <a:r>
              <a:rPr lang="zh-CN" altLang="en-US" sz="2000">
                <a:sym typeface="+mn-ea"/>
              </a:rPr>
              <a:t>）决定了分页机制的开启与否。如果不开启，就只有分段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可用。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CR3	</a:t>
            </a:r>
            <a:r>
              <a:rPr lang="zh-CN" altLang="en-US" sz="2000">
                <a:sym typeface="+mn-ea"/>
              </a:rPr>
              <a:t>放置页表的最高层的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物理地址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它是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进程切换的核心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进程切换就是修改CR3，使其指向不同的页表</a:t>
            </a:r>
            <a:r>
              <a:rPr lang="zh-CN" altLang="en-US" sz="2000">
                <a:sym typeface="+mn-ea"/>
              </a:rPr>
              <a:t>。在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位下，它的低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位用来存放</a:t>
            </a:r>
            <a:r>
              <a:rPr lang="en-US" altLang="zh-CN" sz="2000">
                <a:sym typeface="+mn-ea"/>
              </a:rPr>
              <a:t>PCID</a:t>
            </a:r>
            <a:r>
              <a:rPr lang="zh-CN" altLang="en-US" sz="2000">
                <a:sym typeface="+mn-ea"/>
              </a:rPr>
              <a:t>。后面</a:t>
            </a:r>
            <a:r>
              <a:rPr lang="zh-CN" altLang="en-US" sz="2000">
                <a:sym typeface="+mn-ea"/>
              </a:rPr>
              <a:t>详讲。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6765" y="1310005"/>
            <a:ext cx="8489315" cy="11137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6300" y="4721225"/>
            <a:ext cx="8311515" cy="12306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）分页机制</a:t>
            </a:r>
            <a:r>
              <a:rPr lang="zh-CN" altLang="en-US" sz="2000" b="1">
                <a:solidFill>
                  <a:srgbClr val="9C0B15"/>
                </a:solidFill>
              </a:rPr>
              <a:t>详解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CR4	</a:t>
            </a:r>
            <a:r>
              <a:rPr lang="zh-CN" altLang="en-US" sz="2000">
                <a:sym typeface="+mn-ea"/>
              </a:rPr>
              <a:t>对</a:t>
            </a:r>
            <a:r>
              <a:rPr lang="en-US" altLang="zh-CN" sz="2000">
                <a:sym typeface="+mn-ea"/>
              </a:rPr>
              <a:t>CR0</a:t>
            </a:r>
            <a:r>
              <a:rPr lang="zh-CN" altLang="en-US" sz="2000">
                <a:sym typeface="+mn-ea"/>
              </a:rPr>
              <a:t>的一个</a:t>
            </a:r>
            <a:r>
              <a:rPr lang="zh-CN" altLang="en-US" sz="2000">
                <a:sym typeface="+mn-ea"/>
              </a:rPr>
              <a:t>补充。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位P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E（</a:t>
            </a:r>
            <a:r>
              <a:rPr lang="en-US" altLang="zh-CN" sz="2000">
                <a:sym typeface="+mn-ea"/>
              </a:rPr>
              <a:t>Physical Address Extension</a:t>
            </a:r>
            <a:r>
              <a:rPr lang="zh-CN" altLang="en-US" sz="2000">
                <a:sym typeface="+mn-ea"/>
              </a:rPr>
              <a:t>）决定了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是否开启物理地址扩展并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允许访问多于</a:t>
            </a:r>
            <a:r>
              <a:rPr lang="en-US" altLang="zh-CN" sz="2000">
                <a:sym typeface="+mn-ea"/>
              </a:rPr>
              <a:t>32</a:t>
            </a:r>
            <a:r>
              <a:rPr lang="zh-CN" altLang="en-US" sz="2000">
                <a:sym typeface="+mn-ea"/>
              </a:rPr>
              <a:t>位的物理地址空间，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否则就只能安装4GiB物理内存</a:t>
            </a:r>
            <a:r>
              <a:rPr lang="zh-CN" altLang="en-US" sz="2000">
                <a:sym typeface="+mn-ea"/>
              </a:rPr>
              <a:t>。当然要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开启它。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第</a:t>
            </a:r>
            <a:r>
              <a:rPr lang="en-US" altLang="zh-CN" sz="2000">
                <a:sym typeface="+mn-ea"/>
              </a:rPr>
              <a:t>7</a:t>
            </a:r>
            <a:r>
              <a:rPr lang="zh-CN" altLang="en-US" sz="2000">
                <a:sym typeface="+mn-ea"/>
              </a:rPr>
              <a:t>位PG</a:t>
            </a:r>
            <a:r>
              <a:rPr lang="en-US" altLang="zh-CN" sz="2000">
                <a:sym typeface="+mn-ea"/>
              </a:rPr>
              <a:t>E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Page Global Enable</a:t>
            </a:r>
            <a:r>
              <a:rPr lang="zh-CN" altLang="en-US" sz="2000">
                <a:sym typeface="+mn-ea"/>
              </a:rPr>
              <a:t>）决定了是否允许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全局页</a:t>
            </a:r>
            <a:r>
              <a:rPr lang="zh-CN" altLang="en-US" sz="2000">
                <a:sym typeface="+mn-ea"/>
              </a:rPr>
              <a:t>。我们一般开启它。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后面详</a:t>
            </a:r>
            <a:r>
              <a:rPr lang="zh-CN" altLang="en-US" sz="2000">
                <a:sym typeface="+mn-ea"/>
              </a:rPr>
              <a:t>讲。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LA57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57-bit Linear Address</a:t>
            </a:r>
            <a:r>
              <a:rPr lang="zh-CN" altLang="en-US" sz="2000">
                <a:sym typeface="+mn-ea"/>
              </a:rPr>
              <a:t>）决定是否使用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57位的虚拟地址翻译</a:t>
            </a:r>
            <a:r>
              <a:rPr lang="zh-CN" altLang="en-US" sz="2000">
                <a:sym typeface="+mn-ea"/>
              </a:rPr>
              <a:t>。如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果不开启就是</a:t>
            </a:r>
            <a:r>
              <a:rPr lang="en-US" altLang="zh-CN" sz="2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位。这里我们当然开启</a:t>
            </a:r>
            <a:r>
              <a:rPr lang="zh-CN" altLang="en-US" sz="2000">
                <a:sym typeface="+mn-ea"/>
              </a:rPr>
              <a:t>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第17位PCIDE（Process-Context IDentifiers Enable）决定是否使用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地址空间编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号</a:t>
            </a:r>
            <a:r>
              <a:rPr lang="zh-CN" altLang="en-US" sz="2000">
                <a:sym typeface="+mn-ea"/>
              </a:rPr>
              <a:t>。后面详讲。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2615" y="1080135"/>
            <a:ext cx="8858250" cy="1571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PML5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Map Level 5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PML5	</a:t>
            </a:r>
            <a:r>
              <a:rPr lang="zh-CN" altLang="en-US" sz="2000">
                <a:sym typeface="+mn-ea"/>
              </a:rPr>
              <a:t>最顶层的页目录。它的每个条目占据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57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256TiB</a:t>
            </a:r>
            <a:r>
              <a:rPr lang="zh-CN" altLang="en-US" sz="2000">
                <a:sym typeface="+mn-ea"/>
              </a:rPr>
              <a:t>内存空间，总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计</a:t>
            </a:r>
            <a:r>
              <a:rPr lang="en-US" altLang="zh-CN" sz="2000">
                <a:sym typeface="+mn-ea"/>
              </a:rPr>
              <a:t>128PiB</a:t>
            </a:r>
            <a:r>
              <a:rPr lang="zh-CN" altLang="en-US" sz="2000">
                <a:sym typeface="+mn-ea"/>
              </a:rPr>
              <a:t>虚拟地址</a:t>
            </a:r>
            <a:r>
              <a:rPr lang="zh-CN" altLang="en-US" sz="2000">
                <a:sym typeface="+mn-ea"/>
              </a:rPr>
              <a:t>空间。每个条目的结构</a:t>
            </a:r>
            <a:r>
              <a:rPr lang="zh-CN" altLang="en-US" sz="2000">
                <a:sym typeface="+mn-ea"/>
              </a:rPr>
              <a:t>如下：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P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Present</a:t>
            </a:r>
            <a:r>
              <a:rPr lang="zh-CN" altLang="en-US" sz="2000">
                <a:sym typeface="+mn-ea"/>
              </a:rPr>
              <a:t>）标记表项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是否存在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，该条目</a:t>
            </a:r>
            <a:r>
              <a:rPr lang="zh-CN" altLang="en-US" sz="2000">
                <a:sym typeface="+mn-ea"/>
              </a:rPr>
              <a:t>无效。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Read/Write</a:t>
            </a:r>
            <a:r>
              <a:rPr lang="zh-CN" altLang="en-US" sz="2000">
                <a:sym typeface="+mn-ea"/>
              </a:rPr>
              <a:t>）决定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读写控制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，那么该条目下辖的一切页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目录中的一切页都仅可读不可写。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63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XD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Execute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en-US" altLang="zh-CN" sz="2000">
                <a:sym typeface="+mn-ea"/>
              </a:rPr>
              <a:t>Disable</a:t>
            </a:r>
            <a:r>
              <a:rPr lang="zh-CN" altLang="en-US" sz="2000">
                <a:sym typeface="+mn-ea"/>
              </a:rPr>
              <a:t>）决定了这些页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是否允许被执行</a:t>
            </a:r>
            <a:r>
              <a:rPr lang="zh-CN" altLang="en-US" sz="2000">
                <a:sym typeface="+mn-ea"/>
              </a:rPr>
              <a:t>；如果为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，仅可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读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写</a:t>
            </a:r>
            <a:r>
              <a:rPr lang="zh-CN" altLang="en-US" sz="2000">
                <a:sym typeface="+mn-ea"/>
              </a:rPr>
              <a:t>但不可执行。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US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User/Supervisor</a:t>
            </a:r>
            <a:r>
              <a:rPr lang="zh-CN" altLang="en-US" sz="2000">
                <a:sym typeface="+mn-ea"/>
              </a:rPr>
              <a:t>）决定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特权模式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，用户模式不允许访问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该条目下辖的一切页目录中的一切页，也即这是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被映射到内核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空间的页面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备注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这里</a:t>
            </a:r>
            <a:r>
              <a:rPr lang="en-US" altLang="zh-CN" sz="2000">
                <a:sym typeface="+mn-ea"/>
              </a:rPr>
              <a:t>M</a:t>
            </a:r>
            <a:r>
              <a:rPr lang="zh-CN" altLang="en-US" sz="2000">
                <a:sym typeface="+mn-ea"/>
              </a:rPr>
              <a:t>是指机器的物理地址空间的位数。为节约成本，</a:t>
            </a:r>
            <a:r>
              <a:rPr lang="en-US" altLang="zh-CN" sz="2000">
                <a:sym typeface="+mn-ea"/>
              </a:rPr>
              <a:t>M</a:t>
            </a:r>
            <a:r>
              <a:rPr lang="zh-CN" altLang="en-US" sz="2000">
                <a:sym typeface="+mn-ea"/>
              </a:rPr>
              <a:t>最大只有</a:t>
            </a:r>
            <a:r>
              <a:rPr lang="en-US" altLang="zh-CN" sz="2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位。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274320" y="1744345"/>
          <a:ext cx="9277985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1159867"/>
                <a:gridCol w="2899251"/>
                <a:gridCol w="1159867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PML4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PML4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Map Level 4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PML4	</a:t>
            </a:r>
            <a:r>
              <a:rPr lang="zh-CN" altLang="en-US" sz="2000">
                <a:sym typeface="+mn-ea"/>
              </a:rPr>
              <a:t>中间高层的页目录。它的每个条目占据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512GiB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一样。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WT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Write-Through</a:t>
            </a:r>
            <a:r>
              <a:rPr lang="zh-CN" altLang="en-US" sz="2000">
                <a:sym typeface="+mn-ea"/>
              </a:rPr>
              <a:t>）控制这些页的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写回策略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，强制写透，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否则可以</a:t>
            </a:r>
            <a:r>
              <a:rPr lang="zh-CN" altLang="en-US" sz="2000">
                <a:sym typeface="+mn-ea"/>
              </a:rPr>
              <a:t>使用写回。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CD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Cache</a:t>
            </a:r>
            <a:r>
              <a:rPr lang="zh-CN" altLang="en-US" sz="2000">
                <a:sym typeface="+mn-ea"/>
              </a:rPr>
              <a:t>）决定了这些页的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缓存策略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，这些页不可</a:t>
            </a:r>
            <a:r>
              <a:rPr lang="zh-CN" altLang="en-US" sz="2000">
                <a:sym typeface="+mn-ea"/>
              </a:rPr>
              <a:t>缓存。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Accessed</a:t>
            </a:r>
            <a:r>
              <a:rPr lang="zh-CN" altLang="en-US" sz="2000">
                <a:sym typeface="+mn-ea"/>
              </a:rPr>
              <a:t>）是一个辅助位，若翻译时用到过这个条目，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硬件将它置	1</a:t>
            </a:r>
            <a:r>
              <a:rPr lang="zh-CN" altLang="en-US" sz="2000">
                <a:sym typeface="+mn-ea"/>
              </a:rPr>
              <a:t>。这在实现</a:t>
            </a:r>
            <a:r>
              <a:rPr lang="en-US" altLang="zh-CN" sz="2000">
                <a:sym typeface="+mn-ea"/>
              </a:rPr>
              <a:t>LRU</a:t>
            </a:r>
            <a:r>
              <a:rPr lang="zh-CN" altLang="en-US" sz="2000">
                <a:sym typeface="+mn-ea"/>
              </a:rPr>
              <a:t>等策略时非常有用（为什么？）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如果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的条目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位为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，但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的条目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位为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，拿到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后，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面的页的默认权限是</a:t>
            </a:r>
            <a:r>
              <a:rPr lang="zh-CN" altLang="en-US" sz="2000">
                <a:sym typeface="+mn-ea"/>
              </a:rPr>
              <a:t>什么？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与逻辑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在翻译过程中，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只要某一层的权限是不存在的，那么该权限就视为不存在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1744345"/>
          <a:ext cx="9277985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1159867"/>
                <a:gridCol w="2899251"/>
                <a:gridCol w="1159867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PDPT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PDPT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Directory P</a:t>
            </a:r>
            <a:r>
              <a:rPr lang="en-US" altLang="zh-CN" sz="2000" b="1">
                <a:solidFill>
                  <a:srgbClr val="9C0B15"/>
                </a:solidFill>
              </a:rPr>
              <a:t>ointer Table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PDPT	</a:t>
            </a:r>
            <a:r>
              <a:rPr lang="zh-CN" altLang="en-US" sz="2000">
                <a:sym typeface="+mn-ea"/>
              </a:rPr>
              <a:t>中间中层的页目录。它的每个条目占据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39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1GiB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一样；但这里多出了</a:t>
            </a:r>
            <a:r>
              <a:rPr lang="en-US" altLang="zh-CN" sz="2000">
                <a:sym typeface="+mn-ea"/>
              </a:rPr>
              <a:t>G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PS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三个</a:t>
            </a:r>
            <a:r>
              <a:rPr lang="zh-CN" altLang="en-US" sz="2000">
                <a:sym typeface="+mn-ea"/>
              </a:rPr>
              <a:t>位。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第7位PS（Page Size）决定这个条目是对应一个下级页目录还是对应一个超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级页（Super Page）。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如果为1，该条目将映射一个1GiB的页，且PGD表物理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地址处保存的就是这个巨型页的物理地址</a:t>
            </a:r>
            <a:r>
              <a:rPr lang="zh-CN" altLang="en-US" sz="2000">
                <a:sym typeface="+mn-ea"/>
              </a:rPr>
              <a:t>，它必须与</a:t>
            </a:r>
            <a:r>
              <a:rPr lang="en-US" altLang="zh-CN" sz="2000">
                <a:sym typeface="+mn-ea"/>
              </a:rPr>
              <a:t>1GB</a:t>
            </a:r>
            <a:r>
              <a:rPr lang="zh-CN" altLang="en-US" sz="2000">
                <a:sym typeface="+mn-ea"/>
              </a:rPr>
              <a:t>物理对齐（也即</a:t>
            </a:r>
            <a:r>
              <a:rPr lang="zh-CN" altLang="en-US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[29:13]</a:t>
            </a:r>
            <a:r>
              <a:rPr lang="zh-CN" altLang="en-US" sz="2000">
                <a:sym typeface="+mn-ea"/>
              </a:rPr>
              <a:t>必须为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）；地址翻译到此就结束了。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在PS为1的前提下，如果该页是一个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全局映射</a:t>
            </a:r>
            <a:r>
              <a:rPr lang="zh-CN" altLang="en-US" sz="2000">
                <a:sym typeface="+mn-ea"/>
              </a:rPr>
              <a:t>，则可将第8位G（Global）置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位。一旦该位置位，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在填充CR3时若TLB中有该页的项，则该项不被清除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第5位D（Dirty）</a:t>
            </a:r>
            <a:r>
              <a:rPr lang="zh-CN" altLang="en-US" sz="2000">
                <a:sym typeface="+mn-ea"/>
              </a:rPr>
              <a:t>是一个辅助位，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若CPU写过这个页，硬件将它置1</a:t>
            </a:r>
            <a:r>
              <a:rPr lang="zh-CN" altLang="en-US" sz="2000">
                <a:sym typeface="+mn-ea"/>
              </a:rPr>
              <a:t>。这个位		和A位有何不同？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如允许映射一个</a:t>
            </a:r>
            <a:r>
              <a:rPr lang="en-US" altLang="zh-CN" sz="2000">
                <a:sym typeface="+mn-ea"/>
              </a:rPr>
              <a:t>1GiB</a:t>
            </a:r>
            <a:r>
              <a:rPr lang="zh-CN" altLang="en-US" sz="2000">
                <a:sym typeface="+mn-ea"/>
              </a:rPr>
              <a:t>的大超级页有什么好处？为什么在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处没有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这个</a:t>
            </a:r>
            <a:r>
              <a:rPr lang="zh-CN" altLang="en-US" sz="2000">
                <a:sym typeface="+mn-ea"/>
              </a:rPr>
              <a:t>选项？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1744345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983105"/>
                <a:gridCol w="827088"/>
                <a:gridCol w="339408"/>
                <a:gridCol w="568702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PGD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超级页（</a:t>
            </a:r>
            <a:r>
              <a:rPr lang="en-US" altLang="zh-CN" sz="2000" b="1">
                <a:solidFill>
                  <a:srgbClr val="9C0B15"/>
                </a:solidFill>
              </a:rPr>
              <a:t>Super </a:t>
            </a:r>
            <a:r>
              <a:rPr lang="en-US" altLang="zh-CN" sz="2000" b="1">
                <a:solidFill>
                  <a:srgbClr val="9C0B15"/>
                </a:solidFill>
              </a:rPr>
              <a:t>Page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超级页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在页式内存管理中，中间级别的页目录有时也被设计为允许直接映射一个巨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大的页，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这个页的大小一般是下级页目录的全部大小</a:t>
            </a:r>
            <a:r>
              <a:rPr lang="zh-CN" altLang="en-US" sz="2000">
                <a:sym typeface="+mn-ea"/>
              </a:rPr>
              <a:t>。这使得系统中可以出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现多种页大小，进一步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节约了系统页表存储空间和翻译时间</a:t>
            </a:r>
            <a:r>
              <a:rPr lang="zh-CN" altLang="en-US" sz="2000">
                <a:sym typeface="+mn-ea"/>
              </a:rPr>
              <a:t>，也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节省了TLB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条目</a:t>
            </a:r>
            <a:r>
              <a:rPr lang="zh-CN" altLang="en-US" sz="2000">
                <a:sym typeface="+mn-ea"/>
              </a:rPr>
              <a:t>。对于某些应用程序而言，分配超级页能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大大提升它们的性能，因为同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样的快表条目数量能覆盖大得多的内存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代价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超级页并非没有代价。首先失去的是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翻译的灵活性</a:t>
            </a:r>
            <a:r>
              <a:rPr lang="zh-CN" altLang="en-US" sz="2000">
                <a:sym typeface="+mn-ea"/>
              </a:rPr>
              <a:t>；一个超级页内部的地址，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无论是虚拟地址还是物理地址，都必须是连贯的。如果一个应用程序非超级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页不用，当系统中只剩下零碎的小页面时就无法给它分配了。这就会造成巨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大量</a:t>
            </a:r>
            <a:r>
              <a:rPr lang="zh-CN" altLang="en-US" sz="2000">
                <a:sym typeface="+mn-ea"/>
              </a:rPr>
              <a:t>的外部碎片。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此外，硬件也必须调整以适应这一变化，这会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增加成本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为何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不提供超级页，从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才开始提供？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PMLx</a:t>
            </a:r>
            <a:r>
              <a:rPr lang="en-US" altLang="zh-CN" sz="2000">
                <a:sym typeface="+mn-ea"/>
              </a:rPr>
              <a:t>	PML5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的单个表项太大了。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的一个表项覆盖</a:t>
            </a:r>
            <a:r>
              <a:rPr lang="en-US" altLang="zh-CN" sz="2000">
                <a:sym typeface="+mn-ea"/>
              </a:rPr>
              <a:t>256TiB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的单个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表项覆盖</a:t>
            </a:r>
            <a:r>
              <a:rPr lang="en-US" altLang="zh-CN" sz="2000">
                <a:sym typeface="+mn-ea"/>
              </a:rPr>
              <a:t>512GiB</a:t>
            </a:r>
            <a:r>
              <a:rPr lang="zh-CN" altLang="en-US" sz="2000">
                <a:sym typeface="+mn-ea"/>
              </a:rPr>
              <a:t>。至少在目前，难以想象什么应用程序会需要这么巨大的超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级页，因此为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节约成本</a:t>
            </a:r>
            <a:r>
              <a:rPr lang="zh-CN" altLang="en-US" sz="2000">
                <a:sym typeface="+mn-ea"/>
              </a:rPr>
              <a:t>起见现有硬件并不支持</a:t>
            </a:r>
            <a:r>
              <a:rPr lang="zh-CN" altLang="en-US" sz="2000">
                <a:sym typeface="+mn-ea"/>
              </a:rPr>
              <a:t>它们。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全局页（</a:t>
            </a:r>
            <a:r>
              <a:rPr lang="en-US" altLang="zh-CN" sz="2000" b="1">
                <a:solidFill>
                  <a:srgbClr val="9C0B15"/>
                </a:solidFill>
              </a:rPr>
              <a:t>Global </a:t>
            </a:r>
            <a:r>
              <a:rPr lang="en-US" altLang="zh-CN" sz="2000" b="1">
                <a:solidFill>
                  <a:srgbClr val="9C0B15"/>
                </a:solidFill>
              </a:rPr>
              <a:t>Page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TLB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清空的问题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在操作系统的语境下，</a:t>
            </a:r>
            <a:r>
              <a:rPr lang="zh-CN" altLang="en-US" sz="2000">
                <a:sym typeface="+mn-ea"/>
              </a:rPr>
              <a:t>内核会被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映射到每个进程的高地址（映射为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仅内核模式可访问）</a:t>
            </a:r>
            <a:r>
              <a:rPr lang="zh-CN" altLang="en-US" sz="2000">
                <a:sym typeface="+mn-ea"/>
              </a:rPr>
              <a:t>，且和进程共享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每次进程切换时，TLB都		需要被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冲刷，那么属于内核的条目就也被清空了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不过，因为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内核映射到每个进程的高地址的方法是一致的</a:t>
            </a:r>
            <a:r>
              <a:rPr lang="zh-CN" altLang="en-US" sz="2000">
                <a:sym typeface="+mn-ea"/>
              </a:rPr>
              <a:t>，实际上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没有这样做的必要；在不同进程之间，虽然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进程的页面映射和工作		集会改变</a:t>
            </a:r>
            <a:r>
              <a:rPr lang="zh-CN" altLang="en-US" sz="2000">
                <a:sym typeface="+mn-ea"/>
              </a:rPr>
              <a:t>，但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内核的页面映射和工作集并不会变化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全局页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为了能够在切换进程时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不清除那些属于内核（或需要跨进程共享）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的页面的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TLB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条目</a:t>
            </a:r>
            <a:r>
              <a:rPr lang="zh-CN" altLang="en-US" sz="2000">
                <a:sym typeface="+mn-ea"/>
              </a:rPr>
              <a:t>，现代处理器都加入了全局页的机制。首先，在</a:t>
            </a:r>
            <a:r>
              <a:rPr lang="zh-CN" altLang="en-US" sz="2000">
                <a:sym typeface="+mn-ea"/>
              </a:rPr>
              <a:t>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射内核的页面时，一律将</a:t>
            </a:r>
            <a:r>
              <a:rPr lang="en-US" altLang="zh-CN" sz="2000">
                <a:sym typeface="+mn-ea"/>
              </a:rPr>
              <a:t>G</a:t>
            </a:r>
            <a:r>
              <a:rPr lang="zh-CN" altLang="en-US" sz="2000">
                <a:sym typeface="+mn-ea"/>
              </a:rPr>
              <a:t>位置位，将它们映射为全局页面，这样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它们的条目就不会在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冲刷时被清空；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冲刷仅仅清理那些非全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局页的条目，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内核的条目则得到跨进程保留</a:t>
            </a:r>
            <a:r>
              <a:rPr lang="zh-CN" altLang="en-US" sz="2000">
                <a:sym typeface="+mn-ea"/>
              </a:rPr>
              <a:t>，提高了内核运行的效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备注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将页面标记为全局页仅仅是一个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TLB清空豁免</a:t>
            </a:r>
            <a:r>
              <a:rPr lang="zh-CN" altLang="en-US" sz="2000">
                <a:sym typeface="+mn-ea"/>
              </a:rPr>
              <a:t>，这并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不能阻止它在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TLB已满时被其它页替换掉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全局页机制可以看作一种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优化</a:t>
            </a:r>
            <a:r>
              <a:rPr lang="zh-CN" altLang="en-US" sz="2000">
                <a:sym typeface="+mn-ea"/>
              </a:rPr>
              <a:t>，它使内核的工作集和应用程序的在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同一个地址空间</a:t>
            </a:r>
            <a:r>
              <a:rPr lang="zh-CN" altLang="en-US" sz="2000">
                <a:sym typeface="+mn-ea"/>
              </a:rPr>
              <a:t>内的工作集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得以分离</a:t>
            </a:r>
            <a:r>
              <a:rPr lang="zh-CN" altLang="en-US" sz="2000">
                <a:sym typeface="+mn-ea"/>
              </a:rPr>
              <a:t>，并在需要清理其中一个时不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干扰另一个。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PGD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Directory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en-US" altLang="zh-CN" sz="2000" b="1">
                <a:solidFill>
                  <a:srgbClr val="9C0B15"/>
                </a:solidFill>
              </a:rPr>
              <a:t>/PT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Table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PGD	</a:t>
            </a:r>
            <a:r>
              <a:rPr lang="zh-CN" altLang="en-US" sz="2000">
                <a:sym typeface="+mn-ea"/>
              </a:rPr>
              <a:t>中间低层的页目录。它的每个条目占据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30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>
                <a:sym typeface="+mn-ea"/>
              </a:rPr>
              <a:t>MiB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一样。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PT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最底层的页目录。</a:t>
            </a:r>
            <a:r>
              <a:rPr lang="zh-CN" altLang="en-US" sz="2000">
                <a:sym typeface="+mn-ea"/>
              </a:rPr>
              <a:t>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21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一样，除了此时无</a:t>
            </a:r>
            <a:r>
              <a:rPr lang="en-US" altLang="zh-CN" sz="2000">
                <a:sym typeface="+mn-ea"/>
              </a:rPr>
              <a:t>PS</a:t>
            </a:r>
            <a:r>
              <a:rPr lang="zh-CN" altLang="en-US" sz="2000">
                <a:sym typeface="+mn-ea"/>
              </a:rPr>
              <a:t>位外（因为这个页目录已经是最低级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别，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不会再存在更低级别的页目录了</a:t>
            </a:r>
            <a:r>
              <a:rPr lang="zh-CN" altLang="en-US" sz="2000">
                <a:sym typeface="+mn-ea"/>
              </a:rPr>
              <a:t>）。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2054860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983105"/>
                <a:gridCol w="827088"/>
                <a:gridCol w="339408"/>
                <a:gridCol w="568702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PT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274320" y="5181600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590040"/>
                <a:gridCol w="863600"/>
                <a:gridCol w="540385"/>
                <a:gridCol w="724278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页物理地址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跨进程工作集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在前面讲过，一个应用程序的功能可能由多个进程互相通信完成。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而且，一个线程可以在多个应用程序之间迁移。如果这种通信或迁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移频繁发生，不同进程的执行可能会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频繁交替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然而，每一次切换进程都会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彻底清除TLB的内容（除了内核的全局页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面）</a:t>
            </a:r>
            <a:r>
              <a:rPr lang="zh-CN" altLang="en-US" sz="2000">
                <a:sym typeface="+mn-ea"/>
              </a:rPr>
              <a:t>。这就不可避免地对性能造成</a:t>
            </a:r>
            <a:r>
              <a:rPr lang="zh-CN" altLang="en-US" sz="2000">
                <a:sym typeface="+mn-ea"/>
              </a:rPr>
              <a:t>负面影响。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设上图中的两个线程在切换间仅各访问两次内存（不在同一个页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上），且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有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个表项。命中时访存延迟为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，否则为</a:t>
            </a:r>
            <a:r>
              <a:rPr lang="en-US" altLang="zh-CN" sz="2000">
                <a:sym typeface="+mn-ea"/>
              </a:rPr>
              <a:t>100</a:t>
            </a:r>
            <a:r>
              <a:rPr lang="zh-CN" altLang="en-US" sz="2000">
                <a:sym typeface="+mn-ea"/>
              </a:rPr>
              <a:t>，问：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最大利用率</a:t>
            </a:r>
            <a:r>
              <a:rPr lang="zh-CN" altLang="en-US" sz="2000">
                <a:sym typeface="+mn-ea"/>
              </a:rPr>
              <a:t>是多少？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）两个线程在同一个进程内可以节约</a:t>
            </a:r>
            <a:r>
              <a:rPr lang="zh-CN" altLang="en-US" sz="2000">
                <a:sym typeface="+mn-ea"/>
              </a:rPr>
              <a:t>多少访存延迟？</a:t>
            </a:r>
            <a:endParaRPr lang="zh-CN" altLang="en-US" sz="200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078220" y="2614930"/>
            <a:ext cx="2298700" cy="266255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地址空间编号（</a:t>
            </a:r>
            <a:r>
              <a:rPr lang="en-US" altLang="zh-CN" sz="2000" b="1">
                <a:solidFill>
                  <a:srgbClr val="9C0B15"/>
                </a:solidFill>
              </a:rPr>
              <a:t>Address Space ID/Process Context ID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2786380" y="2614930"/>
            <a:ext cx="2298700" cy="266255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0" name="任意多边形 59"/>
          <p:cNvSpPr/>
          <p:nvPr>
            <p:custDataLst>
              <p:tags r:id="rId4"/>
            </p:custDataLst>
          </p:nvPr>
        </p:nvSpPr>
        <p:spPr>
          <a:xfrm>
            <a:off x="7065645" y="3192145"/>
            <a:ext cx="324485" cy="186182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5"/>
            </p:custDataLst>
          </p:nvPr>
        </p:nvSpPr>
        <p:spPr>
          <a:xfrm>
            <a:off x="3773170" y="3192145"/>
            <a:ext cx="324485" cy="186182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>
            <p:custDataLst>
              <p:tags r:id="rId6"/>
            </p:custDataLst>
          </p:nvPr>
        </p:nvCxnSpPr>
        <p:spPr>
          <a:xfrm flipV="1">
            <a:off x="4264660" y="3284855"/>
            <a:ext cx="2862580" cy="952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7"/>
            </p:custDataLst>
          </p:nvPr>
        </p:nvCxnSpPr>
        <p:spPr>
          <a:xfrm flipH="1">
            <a:off x="3935730" y="3751580"/>
            <a:ext cx="301815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8"/>
            </p:custDataLst>
          </p:nvPr>
        </p:nvCxnSpPr>
        <p:spPr>
          <a:xfrm flipV="1">
            <a:off x="4237355" y="4245610"/>
            <a:ext cx="289052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9"/>
            </p:custDataLst>
          </p:nvPr>
        </p:nvCxnSpPr>
        <p:spPr>
          <a:xfrm flipH="1" flipV="1">
            <a:off x="4182110" y="4775200"/>
            <a:ext cx="2917825" cy="1016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地址空间编号（</a:t>
            </a:r>
            <a:r>
              <a:rPr lang="en-US" altLang="zh-CN" sz="2000" b="1">
                <a:solidFill>
                  <a:srgbClr val="9C0B15"/>
                </a:solidFill>
              </a:rPr>
              <a:t>Address Space ID/Process Context ID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工作集共存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如果能够在切换进程时，保留上一个进程的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内容就可以让它们的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工作集共存了。但是，简单地这样做会导致两个进程的条目在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同时存在，从而破坏进程的边界。如果能够发明一种机制，让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仅属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于当前进程的TLB条目发挥作用</a:t>
            </a:r>
            <a:r>
              <a:rPr lang="zh-CN" altLang="en-US" sz="2000">
                <a:sym typeface="+mn-ea"/>
              </a:rPr>
              <a:t>，而其它进程的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条目不发挥作用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就好了。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地址空间编号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一种能使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不同进程的TLB条目共存，但仅使当前进程的条目生效</a:t>
            </a:r>
            <a:r>
              <a:rPr lang="zh-CN" altLang="en-US" sz="2000">
                <a:sym typeface="+mn-ea"/>
              </a:rPr>
              <a:t>的手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段。不同的进程被赋予了不同的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编号</a:t>
            </a:r>
            <a:r>
              <a:rPr lang="zh-CN" altLang="en-US" sz="2000">
                <a:sym typeface="+mn-ea"/>
              </a:rPr>
              <a:t>，在切换其页表时被一起装入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CR3</a:t>
            </a:r>
            <a:r>
              <a:rPr lang="zh-CN" altLang="en-US" sz="2000">
                <a:sym typeface="+mn-ea"/>
              </a:rPr>
              <a:t>寄存器。在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条目填充时，该编号被一起填充进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；同时，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有编号与CR3中的编号相同的TLB条目才起效，其余条目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视为无效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407285" y="517334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939540" y="517334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ASID=0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407285" y="552767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939540" y="552767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ASID=1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2407285" y="588200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39540" y="588200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ASID=0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2407285" y="623633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3939540" y="623633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ASID=1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9165" y="517334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1"/>
            </p:custDataLst>
          </p:nvPr>
        </p:nvSpPr>
        <p:spPr>
          <a:xfrm>
            <a:off x="7551420" y="517334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2"/>
            </p:custDataLst>
          </p:nvPr>
        </p:nvSpPr>
        <p:spPr>
          <a:xfrm>
            <a:off x="6019165" y="552767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13"/>
            </p:custDataLst>
          </p:nvPr>
        </p:nvSpPr>
        <p:spPr>
          <a:xfrm>
            <a:off x="7551420" y="552767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ASID=1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14"/>
            </p:custDataLst>
          </p:nvPr>
        </p:nvSpPr>
        <p:spPr>
          <a:xfrm>
            <a:off x="6019165" y="588200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5"/>
            </p:custDataLst>
          </p:nvPr>
        </p:nvSpPr>
        <p:spPr>
          <a:xfrm>
            <a:off x="7551420" y="588200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16"/>
            </p:custDataLst>
          </p:nvPr>
        </p:nvSpPr>
        <p:spPr>
          <a:xfrm>
            <a:off x="6019165" y="623633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8" name="矩形 67"/>
          <p:cNvSpPr/>
          <p:nvPr>
            <p:custDataLst>
              <p:tags r:id="rId17"/>
            </p:custDataLst>
          </p:nvPr>
        </p:nvSpPr>
        <p:spPr>
          <a:xfrm>
            <a:off x="7551420" y="623633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ASID=1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70" name="矩形 69"/>
          <p:cNvSpPr/>
          <p:nvPr>
            <p:custDataLst>
              <p:tags r:id="rId18"/>
            </p:custDataLst>
          </p:nvPr>
        </p:nvSpPr>
        <p:spPr>
          <a:xfrm>
            <a:off x="6380480" y="3778885"/>
            <a:ext cx="2298700" cy="1224280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>
            <p:custDataLst>
              <p:tags r:id="rId19"/>
            </p:custDataLst>
          </p:nvPr>
        </p:nvSpPr>
        <p:spPr>
          <a:xfrm>
            <a:off x="2786380" y="3778885"/>
            <a:ext cx="2298700" cy="1224280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2" name="任意多边形 71"/>
          <p:cNvSpPr/>
          <p:nvPr>
            <p:custDataLst>
              <p:tags r:id="rId20"/>
            </p:custDataLst>
          </p:nvPr>
        </p:nvSpPr>
        <p:spPr>
          <a:xfrm>
            <a:off x="7367905" y="4116705"/>
            <a:ext cx="324485" cy="78359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21"/>
            </p:custDataLst>
          </p:nvPr>
        </p:nvSpPr>
        <p:spPr>
          <a:xfrm>
            <a:off x="3773170" y="4116070"/>
            <a:ext cx="324485" cy="78422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15" y="609600"/>
            <a:ext cx="95237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高效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应当节约内存空间，少产生内外碎片。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快速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应当很快完成分配，</a:t>
            </a:r>
            <a:r>
              <a:rPr lang="zh-CN" altLang="en-US" sz="2000">
                <a:sym typeface="+mn-ea"/>
              </a:rPr>
              <a:t>少浪费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时间。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除去</a:t>
            </a:r>
            <a:r>
              <a:rPr lang="zh-CN" altLang="en-US" sz="2000">
                <a:sym typeface="+mn-ea"/>
              </a:rPr>
              <a:t>这两点之外，还有什么别的</a:t>
            </a:r>
            <a:r>
              <a:rPr lang="zh-CN" altLang="en-US" sz="2000">
                <a:sym typeface="+mn-ea"/>
              </a:rPr>
              <a:t>标准？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可移植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可以在很多操作系统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软件环境中上移植和</a:t>
            </a:r>
            <a:r>
              <a:rPr lang="zh-CN" altLang="en-US" sz="2000">
                <a:sym typeface="+mn-ea"/>
              </a:rPr>
              <a:t>使用。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可配置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参数应当可以调整以适应具体的</a:t>
            </a:r>
            <a:r>
              <a:rPr lang="zh-CN" altLang="en-US" sz="2000">
                <a:sym typeface="+mn-ea"/>
              </a:rPr>
              <a:t>部署环境。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局部性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尽量将那些一起使用的内存段分配到靠近的地址，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>
                <a:sym typeface="+mn-ea"/>
              </a:rPr>
              <a:t>以减小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缺失和</a:t>
            </a:r>
            <a:r>
              <a:rPr lang="zh-CN" altLang="en-US" sz="2000">
                <a:sym typeface="+mn-ea"/>
              </a:rPr>
              <a:t>缺页。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错误探测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尽量能够探测到内存</a:t>
            </a:r>
            <a:r>
              <a:rPr lang="zh-CN" altLang="en-US" sz="2000">
                <a:sym typeface="+mn-ea"/>
              </a:rPr>
              <a:t>错误。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结论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对高效和快速的追求决定了我们必须使用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动态分区法</a:t>
            </a:r>
            <a:r>
              <a:rPr lang="zh-CN" altLang="en-US" sz="2000">
                <a:sym typeface="+mn-ea"/>
              </a:rPr>
              <a:t>。但是，简单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的策略是必然无法满足以上追求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进程内空间分配的</a:t>
            </a:r>
            <a:r>
              <a:rPr lang="zh-CN" altLang="en-US" sz="2000" b="1">
                <a:solidFill>
                  <a:srgbClr val="9C0B15"/>
                </a:solidFill>
              </a:rPr>
              <a:t>指导原则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https://gee.cs.oswego.edu/dl/html/malloc.html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dlmalloc		</a:t>
            </a:r>
            <a:r>
              <a:rPr lang="en-US" altLang="zh-CN" sz="2000">
                <a:sym typeface="+mn-ea"/>
              </a:rPr>
              <a:t>malloc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Unix</a:t>
            </a:r>
            <a:r>
              <a:rPr lang="zh-CN" altLang="en-US" sz="2000">
                <a:sym typeface="+mn-ea"/>
              </a:rPr>
              <a:t>等系统中的默认实现。由</a:t>
            </a:r>
            <a:r>
              <a:rPr lang="en-US" altLang="zh-CN" sz="2000">
                <a:sym typeface="+mn-ea"/>
              </a:rPr>
              <a:t>Doug Lea</a:t>
            </a:r>
            <a:r>
              <a:rPr lang="zh-CN" altLang="en-US" sz="2000">
                <a:sym typeface="+mn-ea"/>
              </a:rPr>
              <a:t>于</a:t>
            </a:r>
            <a:r>
              <a:rPr lang="en-US" altLang="zh-CN" sz="2000">
                <a:sym typeface="+mn-ea"/>
              </a:rPr>
              <a:t>1987</a:t>
            </a:r>
            <a:r>
              <a:rPr lang="zh-CN" altLang="en-US" sz="2000">
                <a:sym typeface="+mn-ea"/>
              </a:rPr>
              <a:t>年发表，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因此得名。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性质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一种动态分区分配器，在很多场景下有不错的空间性能和时间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性能，并能在很多其它次要性质上有不错的表现。</a:t>
            </a:r>
            <a:endParaRPr lang="en-US" altLang="zh-CN" sz="2000"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2916555" y="2892425"/>
            <a:ext cx="3954145" cy="36290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r>
              <a:rPr lang="zh-CN" altLang="en-US" sz="2000" b="1">
                <a:solidFill>
                  <a:srgbClr val="9C0B15"/>
                </a:solidFill>
              </a:rPr>
              <a:t>对</a:t>
            </a:r>
            <a:r>
              <a:rPr lang="zh-CN" altLang="en-US" sz="2000" b="1">
                <a:solidFill>
                  <a:srgbClr val="9C0B15"/>
                </a:solidFill>
              </a:rPr>
              <a:t>空闲内存块的</a:t>
            </a:r>
            <a:r>
              <a:rPr lang="zh-CN" altLang="en-US" sz="2000" b="1">
                <a:solidFill>
                  <a:srgbClr val="9C0B15"/>
                </a:solidFill>
              </a:rPr>
              <a:t>表示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为何使用双向</a:t>
            </a:r>
            <a:r>
              <a:rPr lang="zh-CN" altLang="en-US" sz="2000">
                <a:sym typeface="+mn-ea"/>
              </a:rPr>
              <a:t>循环链表？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空闲块的大小为何在首尾各出现一次？尾部那次可以不要</a:t>
            </a:r>
            <a:r>
              <a:rPr lang="zh-CN" altLang="en-US" sz="2000">
                <a:sym typeface="+mn-ea"/>
              </a:rPr>
              <a:t>吗？</a:t>
            </a:r>
            <a:endParaRPr lang="zh-CN" altLang="en-US" sz="2000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34915" y="843915"/>
            <a:ext cx="139065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状态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=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空闲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361055" y="1216025"/>
            <a:ext cx="306451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指向下一个空闲块的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指针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361055" y="1588135"/>
            <a:ext cx="306451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指向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上一个空闲块的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指针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361055" y="2949575"/>
            <a:ext cx="3064510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空闲块的大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小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6"/>
            </p:custDataLst>
          </p:nvPr>
        </p:nvSpPr>
        <p:spPr>
          <a:xfrm>
            <a:off x="3361055" y="843915"/>
            <a:ext cx="167449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空闲块的大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小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7"/>
            </p:custDataLst>
          </p:nvPr>
        </p:nvSpPr>
        <p:spPr>
          <a:xfrm>
            <a:off x="3361055" y="1960245"/>
            <a:ext cx="3064510" cy="98933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1248410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9"/>
            </p:custDataLst>
          </p:nvPr>
        </p:nvSpPr>
        <p:spPr>
          <a:xfrm>
            <a:off x="1248410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0"/>
            </p:custDataLst>
          </p:nvPr>
        </p:nvSpPr>
        <p:spPr>
          <a:xfrm>
            <a:off x="1248410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4126865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4126865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3"/>
            </p:custDataLst>
          </p:nvPr>
        </p:nvSpPr>
        <p:spPr>
          <a:xfrm>
            <a:off x="4126865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矩形 64"/>
          <p:cNvSpPr/>
          <p:nvPr>
            <p:custDataLst>
              <p:tags r:id="rId14"/>
            </p:custDataLst>
          </p:nvPr>
        </p:nvSpPr>
        <p:spPr>
          <a:xfrm>
            <a:off x="6971665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6" name="矩形 65"/>
          <p:cNvSpPr/>
          <p:nvPr>
            <p:custDataLst>
              <p:tags r:id="rId15"/>
            </p:custDataLst>
          </p:nvPr>
        </p:nvSpPr>
        <p:spPr>
          <a:xfrm>
            <a:off x="6971665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16"/>
            </p:custDataLst>
          </p:nvPr>
        </p:nvSpPr>
        <p:spPr>
          <a:xfrm>
            <a:off x="6971665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8" name="直接箭头连接符 67"/>
          <p:cNvCxnSpPr/>
          <p:nvPr>
            <p:custDataLst>
              <p:tags r:id="rId17"/>
            </p:custDataLst>
          </p:nvPr>
        </p:nvCxnSpPr>
        <p:spPr>
          <a:xfrm>
            <a:off x="2796540" y="4211955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18"/>
            </p:custDataLst>
          </p:nvPr>
        </p:nvCxnSpPr>
        <p:spPr>
          <a:xfrm>
            <a:off x="5659120" y="4211955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>
            <p:custDataLst>
              <p:tags r:id="rId19"/>
            </p:custDataLst>
          </p:nvPr>
        </p:nvCxnSpPr>
        <p:spPr>
          <a:xfrm flipH="1" flipV="1">
            <a:off x="5659120" y="4438650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>
            <p:custDataLst>
              <p:tags r:id="rId20"/>
            </p:custDataLst>
          </p:nvPr>
        </p:nvCxnSpPr>
        <p:spPr>
          <a:xfrm flipH="1" flipV="1">
            <a:off x="2796540" y="4440555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21"/>
            </p:custDataLst>
          </p:nvPr>
        </p:nvCxnSpPr>
        <p:spPr>
          <a:xfrm>
            <a:off x="8503920" y="4211955"/>
            <a:ext cx="92837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22"/>
            </p:custDataLst>
          </p:nvPr>
        </p:nvCxnSpPr>
        <p:spPr>
          <a:xfrm flipH="1">
            <a:off x="8503920" y="4431665"/>
            <a:ext cx="864235" cy="508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23"/>
            </p:custDataLst>
          </p:nvPr>
        </p:nvCxnSpPr>
        <p:spPr>
          <a:xfrm>
            <a:off x="333375" y="4220845"/>
            <a:ext cx="92837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>
            <p:custDataLst>
              <p:tags r:id="rId24"/>
            </p:custDataLst>
          </p:nvPr>
        </p:nvCxnSpPr>
        <p:spPr>
          <a:xfrm flipH="1">
            <a:off x="332105" y="4445635"/>
            <a:ext cx="916305" cy="381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25"/>
            </p:custDataLst>
          </p:nvPr>
        </p:nvCxnSpPr>
        <p:spPr>
          <a:xfrm>
            <a:off x="3361055" y="3382645"/>
            <a:ext cx="775335" cy="747395"/>
          </a:xfrm>
          <a:prstGeom prst="straightConnector1">
            <a:avLst/>
          </a:prstGeom>
          <a:ln w="38100">
            <a:solidFill>
              <a:srgbClr val="D02F3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26"/>
            </p:custDataLst>
          </p:nvPr>
        </p:nvCxnSpPr>
        <p:spPr>
          <a:xfrm flipH="1">
            <a:off x="5664200" y="3352800"/>
            <a:ext cx="768350" cy="777240"/>
          </a:xfrm>
          <a:prstGeom prst="straightConnector1">
            <a:avLst/>
          </a:prstGeom>
          <a:ln w="38100">
            <a:solidFill>
              <a:srgbClr val="D02F3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>
            <p:custDataLst>
              <p:tags r:id="rId27"/>
            </p:custDataLst>
          </p:nvPr>
        </p:nvCxnSpPr>
        <p:spPr>
          <a:xfrm>
            <a:off x="6432550" y="1402080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>
            <p:custDataLst>
              <p:tags r:id="rId28"/>
            </p:custDataLst>
          </p:nvPr>
        </p:nvCxnSpPr>
        <p:spPr>
          <a:xfrm flipH="1" flipV="1">
            <a:off x="2075815" y="1772920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r>
              <a:rPr lang="zh-CN" altLang="en-US" sz="2000" b="1">
                <a:solidFill>
                  <a:srgbClr val="9C0B15"/>
                </a:solidFill>
              </a:rPr>
              <a:t>对空闲内存块的</a:t>
            </a:r>
            <a:r>
              <a:rPr lang="zh-CN" altLang="en-US" sz="2000" b="1">
                <a:solidFill>
                  <a:srgbClr val="9C0B15"/>
                </a:solidFill>
              </a:rPr>
              <a:t>组织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最小粒度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dlmalloc规定，一个内存块最小是16字节。如果小于16字节，就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不再切割，</a:t>
            </a:r>
            <a:r>
              <a:rPr lang="zh-CN" altLang="en-US" sz="2000"/>
              <a:t>放任它们成为内部</a:t>
            </a:r>
            <a:r>
              <a:rPr lang="zh-CN" altLang="en-US" sz="2000"/>
              <a:t>碎片。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块队列</a:t>
            </a:r>
            <a:r>
              <a:rPr lang="en-US" altLang="zh-CN" sz="2000"/>
              <a:t>		dlmalloc</a:t>
            </a:r>
            <a:r>
              <a:rPr lang="zh-CN" altLang="en-US" sz="2000"/>
              <a:t>将空闲块按照其大小分成</a:t>
            </a:r>
            <a:r>
              <a:rPr lang="en-US" altLang="zh-CN" sz="2000"/>
              <a:t>127</a:t>
            </a:r>
            <a:r>
              <a:rPr lang="zh-CN" altLang="en-US" sz="2000"/>
              <a:t>个队列，从最小的</a:t>
            </a:r>
            <a:r>
              <a:rPr lang="en-US" altLang="zh-CN" sz="2000"/>
              <a:t>16</a:t>
            </a:r>
            <a:r>
              <a:rPr lang="zh-CN" altLang="en-US" sz="2000"/>
              <a:t>一直到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最大的</a:t>
            </a:r>
            <a:r>
              <a:rPr lang="en-US" altLang="zh-CN" sz="2000"/>
              <a:t>2</a:t>
            </a:r>
            <a:r>
              <a:rPr lang="en-US" altLang="zh-CN" sz="2000" baseline="30000"/>
              <a:t>31</a:t>
            </a:r>
            <a:r>
              <a:rPr lang="zh-CN" altLang="en-US" sz="2000"/>
              <a:t>。</a:t>
            </a:r>
            <a:r>
              <a:rPr lang="en-US" altLang="zh-CN" sz="2000"/>
              <a:t>16-512</a:t>
            </a:r>
            <a:r>
              <a:rPr lang="zh-CN" altLang="en-US" sz="2000"/>
              <a:t>号队列按照</a:t>
            </a:r>
            <a:r>
              <a:rPr lang="en-US" altLang="zh-CN" sz="2000"/>
              <a:t>8</a:t>
            </a:r>
            <a:r>
              <a:rPr lang="zh-CN" altLang="en-US" sz="2000"/>
              <a:t>字节的</a:t>
            </a:r>
            <a:r>
              <a:rPr lang="zh-CN" altLang="en-US" sz="2000">
                <a:solidFill>
                  <a:srgbClr val="9C0B15"/>
                </a:solidFill>
              </a:rPr>
              <a:t>等间距展开</a:t>
            </a:r>
            <a:r>
              <a:rPr lang="zh-CN" altLang="en-US" sz="2000"/>
              <a:t>，且每个队列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中空闲块的大小必须等于队列号。从</a:t>
            </a:r>
            <a:r>
              <a:rPr lang="en-US" altLang="zh-CN" sz="2000"/>
              <a:t>576</a:t>
            </a:r>
            <a:r>
              <a:rPr lang="zh-CN" altLang="en-US" sz="2000"/>
              <a:t>号队列开始，队列按照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指数间距展开</a:t>
            </a:r>
            <a:r>
              <a:rPr lang="zh-CN" altLang="en-US" sz="2000"/>
              <a:t>，且每个队列中空闲块的大小都必须</a:t>
            </a:r>
            <a:r>
              <a:rPr lang="zh-CN" altLang="en-US" sz="2000">
                <a:solidFill>
                  <a:srgbClr val="9C0B15"/>
                </a:solidFill>
              </a:rPr>
              <a:t>大于本队列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号，但小于下一个队列号</a:t>
            </a:r>
            <a:r>
              <a:rPr lang="zh-CN" altLang="en-US" sz="2000"/>
              <a:t>；内存块按照</a:t>
            </a:r>
            <a:r>
              <a:rPr lang="zh-CN" altLang="en-US" sz="2000">
                <a:solidFill>
                  <a:srgbClr val="9C0B15"/>
                </a:solidFill>
              </a:rPr>
              <a:t>从小到大</a:t>
            </a:r>
            <a:r>
              <a:rPr lang="zh-CN" altLang="en-US" sz="2000"/>
              <a:t>登记在</a:t>
            </a:r>
            <a:r>
              <a:rPr lang="zh-CN" altLang="en-US" sz="2000"/>
              <a:t>队列中。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问题一</a:t>
            </a:r>
            <a:r>
              <a:rPr lang="en-US" altLang="zh-CN" sz="2000"/>
              <a:t>		</a:t>
            </a:r>
            <a:r>
              <a:rPr lang="zh-CN" altLang="en-US" sz="2000"/>
              <a:t>为何放任比最小粒度小的内存</a:t>
            </a:r>
            <a:r>
              <a:rPr lang="zh-CN" altLang="en-US" sz="2000"/>
              <a:t>块成为内部</a:t>
            </a:r>
            <a:r>
              <a:rPr lang="zh-CN" altLang="en-US" sz="2000"/>
              <a:t>碎片？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问题二</a:t>
            </a:r>
            <a:r>
              <a:rPr lang="en-US" altLang="zh-CN" sz="2000"/>
              <a:t>		</a:t>
            </a:r>
            <a:r>
              <a:rPr lang="zh-CN" altLang="en-US" sz="2000"/>
              <a:t>为何要设计多个队列，且小队列和大队列的规则</a:t>
            </a:r>
            <a:r>
              <a:rPr lang="zh-CN" altLang="en-US" sz="2000"/>
              <a:t>不同？</a:t>
            </a:r>
            <a:endParaRPr lang="zh-CN" altLang="en-US" sz="2000"/>
          </a:p>
        </p:txBody>
      </p:sp>
      <p:grpSp>
        <p:nvGrpSpPr>
          <p:cNvPr id="17" name="组合 16"/>
          <p:cNvGrpSpPr/>
          <p:nvPr/>
        </p:nvGrpSpPr>
        <p:grpSpPr>
          <a:xfrm>
            <a:off x="1296670" y="1581785"/>
            <a:ext cx="617855" cy="516890"/>
            <a:chOff x="3017" y="4237"/>
            <a:chExt cx="2412" cy="1866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74" name="矩形 73"/>
          <p:cNvSpPr/>
          <p:nvPr>
            <p:custDataLst>
              <p:tags r:id="rId5"/>
            </p:custDataLst>
          </p:nvPr>
        </p:nvSpPr>
        <p:spPr>
          <a:xfrm>
            <a:off x="12966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16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矩形 80"/>
          <p:cNvSpPr/>
          <p:nvPr>
            <p:custDataLst>
              <p:tags r:id="rId6"/>
            </p:custDataLst>
          </p:nvPr>
        </p:nvSpPr>
        <p:spPr>
          <a:xfrm>
            <a:off x="191516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24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2" name="矩形 81"/>
          <p:cNvSpPr/>
          <p:nvPr>
            <p:custDataLst>
              <p:tags r:id="rId7"/>
            </p:custDataLst>
          </p:nvPr>
        </p:nvSpPr>
        <p:spPr>
          <a:xfrm>
            <a:off x="253365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32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8"/>
            </p:custDataLst>
          </p:nvPr>
        </p:nvSpPr>
        <p:spPr>
          <a:xfrm>
            <a:off x="415163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512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4" name="矩形 83"/>
          <p:cNvSpPr/>
          <p:nvPr>
            <p:custDataLst>
              <p:tags r:id="rId9"/>
            </p:custDataLst>
          </p:nvPr>
        </p:nvSpPr>
        <p:spPr>
          <a:xfrm>
            <a:off x="477012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576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5" name="矩形 84"/>
          <p:cNvSpPr/>
          <p:nvPr>
            <p:custDataLst>
              <p:tags r:id="rId10"/>
            </p:custDataLst>
          </p:nvPr>
        </p:nvSpPr>
        <p:spPr>
          <a:xfrm>
            <a:off x="538861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640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矩形 85"/>
          <p:cNvSpPr/>
          <p:nvPr>
            <p:custDataLst>
              <p:tags r:id="rId11"/>
            </p:custDataLst>
          </p:nvPr>
        </p:nvSpPr>
        <p:spPr>
          <a:xfrm>
            <a:off x="74815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zh-CN" baseline="30000">
                <a:solidFill>
                  <a:schemeClr val="tx1"/>
                </a:solidFill>
                <a:sym typeface="+mn-ea"/>
              </a:rPr>
              <a:t>31</a:t>
            </a:r>
            <a:endParaRPr lang="en-US" altLang="zh-CN" baseline="30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296670" y="2502535"/>
            <a:ext cx="617855" cy="516890"/>
            <a:chOff x="3017" y="4237"/>
            <a:chExt cx="2412" cy="1866"/>
          </a:xfrm>
        </p:grpSpPr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9" name="矩形 88"/>
            <p:cNvSpPr/>
            <p:nvPr>
              <p:custDataLst>
                <p:tags r:id="rId1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1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534285" y="1581785"/>
            <a:ext cx="617855" cy="516890"/>
            <a:chOff x="3017" y="4237"/>
            <a:chExt cx="2412" cy="1866"/>
          </a:xfrm>
        </p:grpSpPr>
        <p:sp>
          <p:nvSpPr>
            <p:cNvPr id="96" name="矩形 95"/>
            <p:cNvSpPr/>
            <p:nvPr>
              <p:custDataLst>
                <p:tags r:id="rId15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7" name="矩形 96"/>
            <p:cNvSpPr/>
            <p:nvPr>
              <p:custDataLst>
                <p:tags r:id="rId16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17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770755" y="1581785"/>
            <a:ext cx="617855" cy="516890"/>
            <a:chOff x="3017" y="4237"/>
            <a:chExt cx="2412" cy="1866"/>
          </a:xfrm>
        </p:grpSpPr>
        <p:sp>
          <p:nvSpPr>
            <p:cNvPr id="100" name="矩形 99"/>
            <p:cNvSpPr/>
            <p:nvPr>
              <p:custDataLst>
                <p:tags r:id="rId18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1" name="矩形 100"/>
            <p:cNvSpPr/>
            <p:nvPr>
              <p:custDataLst>
                <p:tags r:id="rId19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20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770120" y="2502535"/>
            <a:ext cx="617855" cy="516890"/>
            <a:chOff x="3017" y="4237"/>
            <a:chExt cx="2412" cy="1866"/>
          </a:xfrm>
        </p:grpSpPr>
        <p:sp>
          <p:nvSpPr>
            <p:cNvPr id="104" name="矩形 103"/>
            <p:cNvSpPr/>
            <p:nvPr>
              <p:custDataLst>
                <p:tags r:id="rId21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22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6" name="矩形 105"/>
            <p:cNvSpPr/>
            <p:nvPr>
              <p:custDataLst>
                <p:tags r:id="rId23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7481570" y="1581785"/>
            <a:ext cx="617855" cy="516890"/>
            <a:chOff x="3017" y="4237"/>
            <a:chExt cx="2412" cy="1866"/>
          </a:xfrm>
        </p:grpSpPr>
        <p:sp>
          <p:nvSpPr>
            <p:cNvPr id="108" name="矩形 107"/>
            <p:cNvSpPr/>
            <p:nvPr>
              <p:custDataLst>
                <p:tags r:id="rId24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9" name="矩形 108"/>
            <p:cNvSpPr/>
            <p:nvPr>
              <p:custDataLst>
                <p:tags r:id="rId25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26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111" name="直接箭头连接符 110"/>
          <p:cNvCxnSpPr>
            <a:stCxn id="74" idx="2"/>
          </p:cNvCxnSpPr>
          <p:nvPr>
            <p:custDataLst>
              <p:tags r:id="rId27"/>
            </p:custDataLst>
          </p:nvPr>
        </p:nvCxnSpPr>
        <p:spPr>
          <a:xfrm>
            <a:off x="1605915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>
            <p:custDataLst>
              <p:tags r:id="rId28"/>
            </p:custDataLst>
          </p:nvPr>
        </p:nvCxnSpPr>
        <p:spPr>
          <a:xfrm>
            <a:off x="1605915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>
            <p:custDataLst>
              <p:tags r:id="rId29"/>
            </p:custDataLst>
          </p:nvPr>
        </p:nvCxnSpPr>
        <p:spPr>
          <a:xfrm>
            <a:off x="284353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>
            <p:custDataLst>
              <p:tags r:id="rId30"/>
            </p:custDataLst>
          </p:nvPr>
        </p:nvCxnSpPr>
        <p:spPr>
          <a:xfrm>
            <a:off x="508000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>
            <p:custDataLst>
              <p:tags r:id="rId31"/>
            </p:custDataLst>
          </p:nvPr>
        </p:nvCxnSpPr>
        <p:spPr>
          <a:xfrm>
            <a:off x="5080000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>
            <p:custDataLst>
              <p:tags r:id="rId32"/>
            </p:custDataLst>
          </p:nvPr>
        </p:nvCxnSpPr>
        <p:spPr>
          <a:xfrm>
            <a:off x="779018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>
            <p:custDataLst>
              <p:tags r:id="rId33"/>
            </p:custDataLst>
          </p:nvPr>
        </p:nvSpPr>
        <p:spPr>
          <a:xfrm>
            <a:off x="3152140" y="737235"/>
            <a:ext cx="999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34"/>
            </p:custDataLst>
          </p:nvPr>
        </p:nvSpPr>
        <p:spPr>
          <a:xfrm>
            <a:off x="6007100" y="737235"/>
            <a:ext cx="147383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伙伴分配器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按照一系列不同大小的队列组织空闲块的分配器。它一般采取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最好适配法</a:t>
            </a:r>
            <a:r>
              <a:rPr lang="zh-CN" altLang="en-US" sz="2000"/>
              <a:t>进行内存分</a:t>
            </a:r>
            <a:r>
              <a:rPr lang="zh-CN" altLang="en-US" sz="2000"/>
              <a:t>配。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内存块的拆分</a:t>
            </a:r>
            <a:r>
              <a:rPr lang="en-US" altLang="zh-CN" sz="2000"/>
              <a:t>	</a:t>
            </a:r>
            <a:r>
              <a:rPr lang="zh-CN" altLang="en-US" sz="2000"/>
              <a:t>当分配时，从</a:t>
            </a:r>
            <a:r>
              <a:rPr lang="zh-CN" altLang="en-US" sz="2000">
                <a:solidFill>
                  <a:srgbClr val="9C0B15"/>
                </a:solidFill>
              </a:rPr>
              <a:t>可能满足分配的队列（要分配</a:t>
            </a:r>
            <a:r>
              <a:rPr lang="en-US" altLang="zh-CN" sz="2000">
                <a:solidFill>
                  <a:srgbClr val="9C0B15"/>
                </a:solidFill>
              </a:rPr>
              <a:t>610</a:t>
            </a:r>
            <a:r>
              <a:rPr lang="zh-CN" altLang="en-US" sz="2000">
                <a:solidFill>
                  <a:srgbClr val="9C0B15"/>
                </a:solidFill>
              </a:rPr>
              <a:t>字节，需要查询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哪个队列？）</a:t>
            </a:r>
            <a:r>
              <a:rPr lang="zh-CN" altLang="en-US" sz="2000"/>
              <a:t>开始查询合适的空闲块，一直到找到该空闲块为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止。对该空闲块进行</a:t>
            </a:r>
            <a:r>
              <a:rPr lang="zh-CN" altLang="en-US" sz="2000">
                <a:solidFill>
                  <a:srgbClr val="9C0B15"/>
                </a:solidFill>
              </a:rPr>
              <a:t>拆分</a:t>
            </a:r>
            <a:r>
              <a:rPr lang="zh-CN" altLang="en-US" sz="2000"/>
              <a:t>，分配合适的大小，再将剩余部分挂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回合适的</a:t>
            </a:r>
            <a:r>
              <a:rPr lang="zh-CN" altLang="en-US" sz="2000"/>
              <a:t>队列。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内存块的合并</a:t>
            </a:r>
            <a:r>
              <a:rPr lang="en-US" altLang="zh-CN" sz="2000"/>
              <a:t>	</a:t>
            </a:r>
            <a:r>
              <a:rPr lang="zh-CN" altLang="en-US" sz="2000"/>
              <a:t>当释放时，查询空闲块前后两个内存块的状态。只要其中任何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一个也是空闲的，就将它们</a:t>
            </a:r>
            <a:r>
              <a:rPr lang="zh-CN" altLang="en-US" sz="2000">
                <a:solidFill>
                  <a:srgbClr val="9C0B15"/>
                </a:solidFill>
              </a:rPr>
              <a:t>合并</a:t>
            </a:r>
            <a:r>
              <a:rPr lang="zh-CN" altLang="en-US" sz="2000"/>
              <a:t>进这个空闲块，然后将这个大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空闲块挂回合适的</a:t>
            </a:r>
            <a:r>
              <a:rPr lang="zh-CN" altLang="en-US" sz="2000"/>
              <a:t>队列。</a:t>
            </a:r>
            <a:endParaRPr lang="zh-CN" altLang="en-US" sz="2000"/>
          </a:p>
        </p:txBody>
      </p:sp>
      <p:grpSp>
        <p:nvGrpSpPr>
          <p:cNvPr id="17" name="组合 16"/>
          <p:cNvGrpSpPr/>
          <p:nvPr/>
        </p:nvGrpSpPr>
        <p:grpSpPr>
          <a:xfrm>
            <a:off x="1296670" y="1581785"/>
            <a:ext cx="617855" cy="516890"/>
            <a:chOff x="3017" y="4237"/>
            <a:chExt cx="2412" cy="1866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74" name="矩形 73"/>
          <p:cNvSpPr/>
          <p:nvPr>
            <p:custDataLst>
              <p:tags r:id="rId5"/>
            </p:custDataLst>
          </p:nvPr>
        </p:nvSpPr>
        <p:spPr>
          <a:xfrm>
            <a:off x="12966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16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矩形 80"/>
          <p:cNvSpPr/>
          <p:nvPr>
            <p:custDataLst>
              <p:tags r:id="rId6"/>
            </p:custDataLst>
          </p:nvPr>
        </p:nvSpPr>
        <p:spPr>
          <a:xfrm>
            <a:off x="191516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24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2" name="矩形 81"/>
          <p:cNvSpPr/>
          <p:nvPr>
            <p:custDataLst>
              <p:tags r:id="rId7"/>
            </p:custDataLst>
          </p:nvPr>
        </p:nvSpPr>
        <p:spPr>
          <a:xfrm>
            <a:off x="253365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32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8"/>
            </p:custDataLst>
          </p:nvPr>
        </p:nvSpPr>
        <p:spPr>
          <a:xfrm>
            <a:off x="415163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512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4" name="矩形 83"/>
          <p:cNvSpPr/>
          <p:nvPr>
            <p:custDataLst>
              <p:tags r:id="rId9"/>
            </p:custDataLst>
          </p:nvPr>
        </p:nvSpPr>
        <p:spPr>
          <a:xfrm>
            <a:off x="477012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576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5" name="矩形 84"/>
          <p:cNvSpPr/>
          <p:nvPr>
            <p:custDataLst>
              <p:tags r:id="rId10"/>
            </p:custDataLst>
          </p:nvPr>
        </p:nvSpPr>
        <p:spPr>
          <a:xfrm>
            <a:off x="538861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640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矩形 85"/>
          <p:cNvSpPr/>
          <p:nvPr>
            <p:custDataLst>
              <p:tags r:id="rId11"/>
            </p:custDataLst>
          </p:nvPr>
        </p:nvSpPr>
        <p:spPr>
          <a:xfrm>
            <a:off x="74815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zh-CN" baseline="30000">
                <a:solidFill>
                  <a:schemeClr val="tx1"/>
                </a:solidFill>
                <a:sym typeface="+mn-ea"/>
              </a:rPr>
              <a:t>31</a:t>
            </a:r>
            <a:endParaRPr lang="en-US" altLang="zh-CN" baseline="30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296670" y="2502535"/>
            <a:ext cx="617855" cy="516890"/>
            <a:chOff x="3017" y="4237"/>
            <a:chExt cx="2412" cy="1866"/>
          </a:xfrm>
        </p:grpSpPr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9" name="矩形 88"/>
            <p:cNvSpPr/>
            <p:nvPr>
              <p:custDataLst>
                <p:tags r:id="rId1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1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534285" y="1581785"/>
            <a:ext cx="617855" cy="516890"/>
            <a:chOff x="3017" y="4237"/>
            <a:chExt cx="2412" cy="1866"/>
          </a:xfrm>
        </p:grpSpPr>
        <p:sp>
          <p:nvSpPr>
            <p:cNvPr id="96" name="矩形 95"/>
            <p:cNvSpPr/>
            <p:nvPr>
              <p:custDataLst>
                <p:tags r:id="rId15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7" name="矩形 96"/>
            <p:cNvSpPr/>
            <p:nvPr>
              <p:custDataLst>
                <p:tags r:id="rId16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17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770755" y="1581785"/>
            <a:ext cx="617855" cy="516890"/>
            <a:chOff x="3017" y="4237"/>
            <a:chExt cx="2412" cy="1866"/>
          </a:xfrm>
        </p:grpSpPr>
        <p:sp>
          <p:nvSpPr>
            <p:cNvPr id="100" name="矩形 99"/>
            <p:cNvSpPr/>
            <p:nvPr>
              <p:custDataLst>
                <p:tags r:id="rId18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1" name="矩形 100"/>
            <p:cNvSpPr/>
            <p:nvPr>
              <p:custDataLst>
                <p:tags r:id="rId19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20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770120" y="2502535"/>
            <a:ext cx="617855" cy="516890"/>
            <a:chOff x="3017" y="4237"/>
            <a:chExt cx="2412" cy="1866"/>
          </a:xfrm>
        </p:grpSpPr>
        <p:sp>
          <p:nvSpPr>
            <p:cNvPr id="104" name="矩形 103"/>
            <p:cNvSpPr/>
            <p:nvPr>
              <p:custDataLst>
                <p:tags r:id="rId21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22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6" name="矩形 105"/>
            <p:cNvSpPr/>
            <p:nvPr>
              <p:custDataLst>
                <p:tags r:id="rId23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7481570" y="1581785"/>
            <a:ext cx="617855" cy="516890"/>
            <a:chOff x="3017" y="4237"/>
            <a:chExt cx="2412" cy="1866"/>
          </a:xfrm>
        </p:grpSpPr>
        <p:sp>
          <p:nvSpPr>
            <p:cNvPr id="108" name="矩形 107"/>
            <p:cNvSpPr/>
            <p:nvPr>
              <p:custDataLst>
                <p:tags r:id="rId24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9" name="矩形 108"/>
            <p:cNvSpPr/>
            <p:nvPr>
              <p:custDataLst>
                <p:tags r:id="rId25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26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111" name="直接箭头连接符 110"/>
          <p:cNvCxnSpPr>
            <a:stCxn id="74" idx="2"/>
          </p:cNvCxnSpPr>
          <p:nvPr>
            <p:custDataLst>
              <p:tags r:id="rId27"/>
            </p:custDataLst>
          </p:nvPr>
        </p:nvCxnSpPr>
        <p:spPr>
          <a:xfrm>
            <a:off x="1605915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>
            <p:custDataLst>
              <p:tags r:id="rId28"/>
            </p:custDataLst>
          </p:nvPr>
        </p:nvCxnSpPr>
        <p:spPr>
          <a:xfrm>
            <a:off x="1605915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>
            <p:custDataLst>
              <p:tags r:id="rId29"/>
            </p:custDataLst>
          </p:nvPr>
        </p:nvCxnSpPr>
        <p:spPr>
          <a:xfrm>
            <a:off x="284353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>
            <p:custDataLst>
              <p:tags r:id="rId30"/>
            </p:custDataLst>
          </p:nvPr>
        </p:nvCxnSpPr>
        <p:spPr>
          <a:xfrm>
            <a:off x="508000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>
            <p:custDataLst>
              <p:tags r:id="rId31"/>
            </p:custDataLst>
          </p:nvPr>
        </p:nvCxnSpPr>
        <p:spPr>
          <a:xfrm>
            <a:off x="5080000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>
            <p:custDataLst>
              <p:tags r:id="rId32"/>
            </p:custDataLst>
          </p:nvPr>
        </p:nvCxnSpPr>
        <p:spPr>
          <a:xfrm>
            <a:off x="779018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>
            <p:custDataLst>
              <p:tags r:id="rId33"/>
            </p:custDataLst>
          </p:nvPr>
        </p:nvSpPr>
        <p:spPr>
          <a:xfrm>
            <a:off x="3152140" y="737235"/>
            <a:ext cx="999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34"/>
            </p:custDataLst>
          </p:nvPr>
        </p:nvSpPr>
        <p:spPr>
          <a:xfrm>
            <a:off x="6007100" y="737235"/>
            <a:ext cx="147383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问题一</a:t>
            </a:r>
            <a:r>
              <a:rPr lang="en-US" altLang="zh-CN" sz="2000"/>
              <a:t>		</a:t>
            </a:r>
            <a:r>
              <a:rPr lang="zh-CN" altLang="en-US" sz="2000"/>
              <a:t>伙伴分配器的时间复杂度是多少</a:t>
            </a:r>
            <a:r>
              <a:rPr lang="zh-CN" altLang="en-US" sz="2000">
                <a:sym typeface="+mn-ea"/>
              </a:rPr>
              <a:t>（考虑分配和释放）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分配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找到合适的内存块是O(logk)</a:t>
            </a:r>
            <a:r>
              <a:rPr lang="zh-CN" altLang="en-US" sz="2000"/>
              <a:t>，切割是</a:t>
            </a:r>
            <a:r>
              <a:rPr lang="en-US" altLang="zh-CN" sz="2000"/>
              <a:t>O(1)</a:t>
            </a:r>
            <a:r>
              <a:rPr lang="zh-CN" altLang="en-US" sz="2000"/>
              <a:t>，把内存块插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回</a:t>
            </a:r>
            <a:r>
              <a:rPr lang="en-US" altLang="zh-CN" sz="2000"/>
              <a:t>512</a:t>
            </a:r>
            <a:r>
              <a:rPr lang="zh-CN" altLang="en-US" sz="2000"/>
              <a:t>以内的队列也是</a:t>
            </a:r>
            <a:r>
              <a:rPr lang="en-US" altLang="zh-CN" sz="2000"/>
              <a:t>O(1)</a:t>
            </a:r>
            <a:r>
              <a:rPr lang="zh-CN" altLang="en-US" sz="2000"/>
              <a:t>，把内存块插回</a:t>
            </a:r>
            <a:r>
              <a:rPr lang="zh-CN" altLang="en-US" sz="2000">
                <a:sym typeface="+mn-ea"/>
              </a:rPr>
              <a:t>合适</a:t>
            </a:r>
            <a:r>
              <a:rPr lang="zh-CN" altLang="en-US" sz="2000"/>
              <a:t>的队列是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/>
              <a:t>O(logk)</a:t>
            </a:r>
            <a:r>
              <a:rPr lang="zh-CN" altLang="en-US" sz="2000"/>
              <a:t>，</a:t>
            </a:r>
            <a:r>
              <a:rPr lang="en-US" altLang="zh-CN" sz="2000"/>
              <a:t>k</a:t>
            </a:r>
            <a:r>
              <a:rPr lang="zh-CN" altLang="en-US" sz="2000"/>
              <a:t>是队列的</a:t>
            </a:r>
            <a:r>
              <a:rPr lang="zh-CN" altLang="en-US" sz="2000"/>
              <a:t>平均长度。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释放</a:t>
            </a:r>
            <a:r>
              <a:rPr lang="en-US" altLang="zh-CN" sz="2000"/>
              <a:t>	</a:t>
            </a:r>
            <a:r>
              <a:rPr lang="zh-CN" altLang="en-US" sz="2000"/>
              <a:t>合并是</a:t>
            </a:r>
            <a:r>
              <a:rPr lang="en-US" altLang="zh-CN" sz="2000"/>
              <a:t>O(1)</a:t>
            </a:r>
            <a:r>
              <a:rPr lang="zh-CN" altLang="en-US" sz="2000"/>
              <a:t>，</a:t>
            </a:r>
            <a:r>
              <a:rPr lang="zh-CN" altLang="en-US" sz="2000">
                <a:sym typeface="+mn-ea"/>
              </a:rPr>
              <a:t>把内存块插回</a:t>
            </a:r>
            <a:r>
              <a:rPr lang="zh-CN" altLang="en-US" sz="2000">
                <a:sym typeface="+mn-ea"/>
              </a:rPr>
              <a:t>合适的队列是</a:t>
            </a:r>
            <a:r>
              <a:rPr lang="en-US" altLang="zh-CN" sz="2000">
                <a:sym typeface="+mn-ea"/>
              </a:rPr>
              <a:t>O(logk)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总之，伙伴分配器的时间复杂度是</a:t>
            </a:r>
            <a:r>
              <a:rPr lang="en-US" altLang="zh-CN" sz="2000">
                <a:sym typeface="+mn-ea"/>
              </a:rPr>
              <a:t>O(logk)</a:t>
            </a:r>
            <a:r>
              <a:rPr lang="zh-CN" altLang="en-US" sz="2000">
                <a:sym typeface="+mn-ea"/>
              </a:rPr>
              <a:t>。虽然</a:t>
            </a:r>
            <a:r>
              <a:rPr lang="en-US" altLang="zh-CN" sz="2000">
                <a:sym typeface="+mn-ea"/>
              </a:rPr>
              <a:t>k</a:t>
            </a:r>
            <a:r>
              <a:rPr lang="zh-CN" altLang="en-US" sz="2000">
                <a:sym typeface="+mn-ea"/>
              </a:rPr>
              <a:t>与内存块总数</a:t>
            </a:r>
            <a:r>
              <a:rPr lang="en-US" altLang="zh-CN" sz="2000">
                <a:sym typeface="+mn-ea"/>
              </a:rPr>
              <a:t>n		</a:t>
            </a:r>
            <a:r>
              <a:rPr lang="zh-CN" altLang="en-US" sz="2000">
                <a:sym typeface="+mn-ea"/>
              </a:rPr>
              <a:t>成正比，但由于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队列很多，k一般很小</a:t>
            </a:r>
            <a:r>
              <a:rPr lang="zh-CN" altLang="en-US" sz="2000">
                <a:sym typeface="+mn-ea"/>
              </a:rPr>
              <a:t>，总的时间复杂度在实践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中接近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>
                <a:sym typeface="+mn-ea"/>
              </a:rPr>
              <a:t>。不过，伙伴分配器在极限场合仍是可以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恶化到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O(logn)</a:t>
            </a:r>
            <a:r>
              <a:rPr lang="zh-CN" altLang="en-US" sz="2000">
                <a:sym typeface="+mn-ea"/>
              </a:rPr>
              <a:t>的；关于严格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TLSF分配器</a:t>
            </a:r>
            <a:r>
              <a:rPr lang="zh-CN" altLang="en-US" sz="2000">
                <a:sym typeface="+mn-ea"/>
              </a:rPr>
              <a:t>，我们留到后面讲解。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优化</a:t>
            </a:r>
            <a:r>
              <a:rPr lang="en-US" altLang="zh-CN" sz="2000"/>
              <a:t>		</a:t>
            </a:r>
            <a:r>
              <a:rPr lang="zh-CN" altLang="en-US" sz="2000"/>
              <a:t>在分配时，伙伴分配器需要从最小可能的队列开始，一个个查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询队列中是否有空闲块。由于队列的数目是有限的，原则上讲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这个操作仍然是</a:t>
            </a:r>
            <a:r>
              <a:rPr lang="en-US" altLang="zh-CN" sz="2000"/>
              <a:t>O(1)</a:t>
            </a:r>
            <a:r>
              <a:rPr lang="zh-CN" altLang="en-US" sz="2000"/>
              <a:t>的。但绝大多数内存分配都需要经过这个过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程，因此在实践中它需要被最优化。我们往往会维持一个</a:t>
            </a:r>
            <a:r>
              <a:rPr lang="zh-CN" altLang="en-US" sz="2000">
                <a:solidFill>
                  <a:srgbClr val="9C0B15"/>
                </a:solidFill>
              </a:rPr>
              <a:t>位图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其中的每一位都对应一个队列。</a:t>
            </a:r>
            <a:r>
              <a:rPr lang="zh-CN" altLang="en-US" sz="2000">
                <a:solidFill>
                  <a:srgbClr val="9C0B15"/>
                </a:solidFill>
              </a:rPr>
              <a:t>当队列中有块时，这个位置位，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没有块时这个位清零</a:t>
            </a:r>
            <a:r>
              <a:rPr lang="zh-CN" altLang="en-US" sz="2000"/>
              <a:t>。这样，只要查询该位图就能够确定对应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的队列中是否有</a:t>
            </a:r>
            <a:r>
              <a:rPr lang="zh-CN" altLang="en-US" sz="2000"/>
              <a:t>空闲块了。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问题二</a:t>
            </a:r>
            <a:r>
              <a:rPr lang="en-US" altLang="zh-CN" sz="2000"/>
              <a:t>		</a:t>
            </a:r>
            <a:r>
              <a:rPr lang="zh-CN" altLang="en-US" sz="2000"/>
              <a:t>我们都知道最优适配法会导致大量的小内存碎片。为何</a:t>
            </a:r>
            <a:r>
              <a:rPr lang="en-US" altLang="zh-CN" sz="2000"/>
              <a:t>dlmalloc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不担心</a:t>
            </a:r>
            <a:r>
              <a:rPr lang="zh-CN" altLang="en-US" sz="2000"/>
              <a:t>这一点？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最小大小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低于某个最小大小的空闲块将作为内部碎片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因为为它们创建任何管理数据结构都是不合算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的。这也是为何动态分区法在实践中有内部碎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片的根本</a:t>
            </a:r>
            <a:r>
              <a:rPr lang="zh-CN" altLang="en-US" sz="2000"/>
              <a:t>原因。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专用队列</a:t>
            </a:r>
            <a:r>
              <a:rPr lang="en-US" altLang="zh-CN" sz="2000"/>
              <a:t>	</a:t>
            </a:r>
            <a:r>
              <a:rPr lang="zh-CN" altLang="en-US" sz="2000"/>
              <a:t>小队列是专门为</a:t>
            </a:r>
            <a:r>
              <a:rPr lang="zh-CN" altLang="en-US" sz="2000">
                <a:sym typeface="+mn-ea"/>
              </a:rPr>
              <a:t>频繁发生的</a:t>
            </a:r>
            <a:r>
              <a:rPr lang="zh-CN" altLang="en-US" sz="2000"/>
              <a:t>小内存请求设计的，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它们的大小是确切大小。这一来保障了小内存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分配的</a:t>
            </a:r>
            <a:r>
              <a:rPr lang="zh-CN" altLang="en-US" sz="2000">
                <a:solidFill>
                  <a:srgbClr val="9C0B15"/>
                </a:solidFill>
              </a:rPr>
              <a:t>时间复杂度</a:t>
            </a:r>
            <a:r>
              <a:rPr lang="zh-CN" altLang="en-US" sz="2000"/>
              <a:t>，二来保障了不会产生任何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>
                <a:solidFill>
                  <a:srgbClr val="9C0B15"/>
                </a:solidFill>
              </a:rPr>
              <a:t>无法利用的外部碎片</a:t>
            </a:r>
            <a:r>
              <a:rPr lang="zh-CN" altLang="en-US" sz="2000"/>
              <a:t>。如果某分配切分后的空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闲块不正好是某个小队列的大小，那么就干脆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多切给该分配一些，直到空闲块等于某个队列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的大小为止。多切的部分就作为内部碎片。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问题三</a:t>
            </a:r>
            <a:r>
              <a:rPr lang="en-US" altLang="zh-CN" sz="2000"/>
              <a:t>		</a:t>
            </a:r>
            <a:r>
              <a:rPr lang="zh-CN" altLang="en-US" sz="2000"/>
              <a:t>小队列的间距选择和最小队列的大小选择需要权衡</a:t>
            </a:r>
            <a:r>
              <a:rPr lang="zh-CN" altLang="en-US" sz="2000"/>
              <a:t>什么因素？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问题四</a:t>
            </a:r>
            <a:r>
              <a:rPr lang="en-US" altLang="zh-CN" sz="2000"/>
              <a:t>		</a:t>
            </a:r>
            <a:r>
              <a:rPr lang="zh-CN" altLang="en-US" sz="2000"/>
              <a:t>考虑到内存分配器的这种特性，我们写程序需要</a:t>
            </a:r>
            <a:r>
              <a:rPr lang="zh-CN" altLang="en-US" sz="2000"/>
              <a:t>注意什么？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向系统要</a:t>
            </a:r>
            <a:r>
              <a:rPr lang="zh-CN" altLang="en-US" sz="2000" b="1">
                <a:solidFill>
                  <a:srgbClr val="9C0B15"/>
                </a:solidFill>
              </a:rPr>
              <a:t>更多页面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程序间隔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前面讲过，在Unix系统中，</a:t>
            </a:r>
            <a:r>
              <a:rPr lang="zh-CN" altLang="en-US" sz="2000">
                <a:solidFill>
                  <a:srgbClr val="9C0B15"/>
                </a:solidFill>
              </a:rPr>
              <a:t>堆段并非一次分配出去的，否则就太</a:t>
            </a:r>
            <a:r>
              <a:rPr lang="zh-CN" altLang="en-US" sz="2000" b="1">
                <a:solidFill>
                  <a:srgbClr val="9C0B15"/>
                </a:solidFill>
              </a:rPr>
              <a:t>Program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浪费内存</a:t>
            </a:r>
            <a:r>
              <a:rPr lang="zh-CN" altLang="en-US" sz="2000"/>
              <a:t>。实际使用的是一种</a:t>
            </a:r>
            <a:r>
              <a:rPr lang="en-US" altLang="zh-CN" sz="2000"/>
              <a:t>“</a:t>
            </a:r>
            <a:r>
              <a:rPr lang="zh-CN" altLang="en-US" sz="2000"/>
              <a:t>程序间隔</a:t>
            </a:r>
            <a:r>
              <a:rPr lang="en-US" altLang="zh-CN" sz="2000"/>
              <a:t>”</a:t>
            </a:r>
            <a:r>
              <a:rPr lang="zh-CN" altLang="en-US" sz="2000"/>
              <a:t>机制：系统认为数据段</a:t>
            </a:r>
            <a:r>
              <a:rPr lang="zh-CN" altLang="en-US" sz="2000" b="1">
                <a:solidFill>
                  <a:srgbClr val="9C0B15"/>
                </a:solidFill>
              </a:rPr>
              <a:t>Break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和栈段之间的</a:t>
            </a:r>
            <a:r>
              <a:rPr lang="en-US" altLang="zh-CN" sz="2000"/>
              <a:t>“</a:t>
            </a:r>
            <a:r>
              <a:rPr lang="zh-CN" altLang="en-US" sz="2000"/>
              <a:t>间隔</a:t>
            </a:r>
            <a:r>
              <a:rPr lang="en-US" altLang="zh-CN" sz="2000"/>
              <a:t>”</a:t>
            </a:r>
            <a:r>
              <a:rPr lang="zh-CN" altLang="en-US" sz="2000"/>
              <a:t>全都是堆段，其中映射了内存的部分记载在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/>
              <a:t>start_brk</a:t>
            </a:r>
            <a:r>
              <a:rPr lang="zh-CN" altLang="en-US" sz="2000"/>
              <a:t>和</a:t>
            </a:r>
            <a:r>
              <a:rPr lang="en-US" altLang="zh-CN" sz="2000"/>
              <a:t>end_brk</a:t>
            </a:r>
            <a:r>
              <a:rPr lang="zh-CN" altLang="en-US" sz="2000"/>
              <a:t>两个变量中。当进程内分配器将两者间内存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用完，便要</a:t>
            </a:r>
            <a:r>
              <a:rPr lang="zh-CN" altLang="en-US" sz="2000">
                <a:solidFill>
                  <a:srgbClr val="9C0B15"/>
                </a:solidFill>
              </a:rPr>
              <a:t>请求操作系统向上移动end_brk</a:t>
            </a:r>
            <a:r>
              <a:rPr lang="zh-CN" altLang="en-US" sz="2000"/>
              <a:t>，从而将更多内存加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入堆段。这</a:t>
            </a:r>
            <a:r>
              <a:rPr lang="zh-CN" altLang="en-US" sz="2000">
                <a:solidFill>
                  <a:srgbClr val="9C0B15"/>
                </a:solidFill>
              </a:rPr>
              <a:t>使用sbrk系统调用完成</a:t>
            </a:r>
            <a:r>
              <a:rPr lang="zh-CN" altLang="en-US" sz="2000"/>
              <a:t>。一旦</a:t>
            </a:r>
            <a:r>
              <a:rPr lang="en-US" altLang="zh-CN" sz="2000"/>
              <a:t>end_brk</a:t>
            </a:r>
            <a:r>
              <a:rPr lang="zh-CN" altLang="en-US" sz="2000"/>
              <a:t>上移，一般就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不会下移回来了（为什么？），因此</a:t>
            </a:r>
            <a:r>
              <a:rPr lang="zh-CN" altLang="en-US" sz="2000">
                <a:solidFill>
                  <a:srgbClr val="9C0B15"/>
                </a:solidFill>
              </a:rPr>
              <a:t>不到万不得已是不会上移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end_brk的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sbrk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扩张堆的实际大小，从操作系统请求更多内存</a:t>
            </a:r>
            <a:r>
              <a:rPr lang="zh-CN" altLang="en-US" sz="2000">
                <a:sym typeface="+mn-ea"/>
              </a:rPr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函数原型</a:t>
            </a:r>
            <a:r>
              <a:rPr lang="en-US" altLang="zh-CN" sz="2000">
                <a:sym typeface="+mn-ea"/>
              </a:rPr>
              <a:t>	</a:t>
            </a:r>
            <a:r>
              <a:rPr sz="2000">
                <a:sym typeface="+mn-ea"/>
              </a:rPr>
              <a:t>void* sbrk(intptr_t increment)</a:t>
            </a:r>
            <a:endParaRPr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参数</a:t>
            </a:r>
            <a:r>
              <a:rPr lang="zh-CN" altLang="en-US" sz="2000">
                <a:sym typeface="+mn-ea"/>
              </a:rPr>
              <a:t>		</a:t>
            </a:r>
            <a:r>
              <a:rPr sz="2000">
                <a:sym typeface="+mn-ea"/>
              </a:rPr>
              <a:t>intptr_t increment</a:t>
            </a:r>
            <a:r>
              <a:rPr lang="en-US" sz="2000">
                <a:sym typeface="+mn-ea"/>
              </a:rPr>
              <a:t> - </a:t>
            </a:r>
            <a:r>
              <a:rPr lang="zh-CN" altLang="en-US" sz="2000">
                <a:sym typeface="+mn-ea"/>
              </a:rPr>
              <a:t>向上移动的</a:t>
            </a:r>
            <a:r>
              <a:rPr lang="zh-CN" altLang="en-US" sz="2000">
                <a:sym typeface="+mn-ea"/>
              </a:rPr>
              <a:t>字节数。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返回值</a:t>
            </a:r>
            <a:r>
              <a:rPr lang="en-US" altLang="zh-CN" sz="2000">
                <a:sym typeface="+mn-ea"/>
              </a:rPr>
              <a:t>		void* - 指向</a:t>
            </a:r>
            <a:r>
              <a:rPr lang="zh-CN" altLang="en-US" sz="2000">
                <a:sym typeface="+mn-ea"/>
              </a:rPr>
              <a:t>原</a:t>
            </a:r>
            <a:r>
              <a:rPr lang="en-US" altLang="zh-CN" sz="2000">
                <a:sym typeface="+mn-ea"/>
              </a:rPr>
              <a:t>end_brk</a:t>
            </a:r>
            <a:r>
              <a:rPr lang="zh-CN" altLang="en-US" sz="2000">
                <a:sym typeface="+mn-ea"/>
              </a:rPr>
              <a:t>的指针</a:t>
            </a:r>
            <a:r>
              <a:rPr lang="en-US" altLang="zh-CN" sz="2000">
                <a:sym typeface="+mn-ea"/>
              </a:rPr>
              <a:t>。</a:t>
            </a:r>
            <a:endParaRPr lang="zh-CN" altLang="en-US" sz="200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016500" y="755650"/>
            <a:ext cx="1930400" cy="1113790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" name="右箭头标注 7"/>
          <p:cNvSpPr/>
          <p:nvPr>
            <p:custDataLst>
              <p:tags r:id="rId3"/>
            </p:custDataLst>
          </p:nvPr>
        </p:nvSpPr>
        <p:spPr>
          <a:xfrm>
            <a:off x="2628900" y="166751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start_brk</a:t>
            </a:r>
            <a:endParaRPr lang="en-US" altLang="zh-CN"/>
          </a:p>
        </p:txBody>
      </p:sp>
      <p:sp>
        <p:nvSpPr>
          <p:cNvPr id="9" name="右箭头标注 8"/>
          <p:cNvSpPr/>
          <p:nvPr>
            <p:custDataLst>
              <p:tags r:id="rId4"/>
            </p:custDataLst>
          </p:nvPr>
        </p:nvSpPr>
        <p:spPr>
          <a:xfrm>
            <a:off x="2628900" y="10363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end_brk</a:t>
            </a:r>
            <a:endParaRPr lang="en-US" altLang="zh-CN"/>
          </a:p>
        </p:txBody>
      </p:sp>
      <p:cxnSp>
        <p:nvCxnSpPr>
          <p:cNvPr id="15" name="直接箭头连接符 14"/>
          <p:cNvCxnSpPr>
            <a:stCxn id="9" idx="3"/>
          </p:cNvCxnSpPr>
          <p:nvPr>
            <p:custDataLst>
              <p:tags r:id="rId5"/>
            </p:custDataLst>
          </p:nvPr>
        </p:nvCxnSpPr>
        <p:spPr>
          <a:xfrm flipV="1">
            <a:off x="4499610" y="1237615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6"/>
            </p:custDataLst>
          </p:nvPr>
        </p:nvCxnSpPr>
        <p:spPr>
          <a:xfrm flipV="1">
            <a:off x="4499610" y="1869440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>
            <p:custDataLst>
              <p:tags r:id="rId7"/>
            </p:custDataLst>
          </p:nvPr>
        </p:nvCxnSpPr>
        <p:spPr>
          <a:xfrm flipV="1">
            <a:off x="7302500" y="1242060"/>
            <a:ext cx="2540" cy="58483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其他优化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就近分配	Locality Preservation</a:t>
            </a: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我们希望时间上连续的内存分配在空间上也尽量连续。因此，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在最优适配法的基础上允许一个例外：</a:t>
            </a:r>
            <a:r>
              <a:rPr lang="zh-CN" altLang="en-US" sz="2000">
                <a:solidFill>
                  <a:srgbClr val="9C0B15"/>
                </a:solidFill>
              </a:rPr>
              <a:t>如果上次分配所在的空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闲块还能响应这次分配，我们仍然用那个空闲块分配</a:t>
            </a:r>
            <a:r>
              <a:rPr lang="zh-CN" altLang="en-US" sz="2000"/>
              <a:t>，直到它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不再能响应分配，此时再按照最优适配法选择</a:t>
            </a:r>
            <a:r>
              <a:rPr lang="zh-CN" altLang="en-US" sz="2000"/>
              <a:t>空闲块。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荒野保护	Wilderness Protection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在那些只具备</a:t>
            </a:r>
            <a:r>
              <a:rPr lang="en-US" altLang="zh-CN" sz="2000"/>
              <a:t>sbrk</a:t>
            </a:r>
            <a:r>
              <a:rPr lang="zh-CN" altLang="en-US" sz="2000"/>
              <a:t>（或</a:t>
            </a:r>
            <a:r>
              <a:rPr lang="en-US" altLang="zh-CN" sz="2000"/>
              <a:t>/</a:t>
            </a:r>
            <a:r>
              <a:rPr lang="zh-CN" altLang="en-US" sz="2000"/>
              <a:t>和</a:t>
            </a:r>
            <a:r>
              <a:rPr lang="en-US" altLang="zh-CN" sz="2000"/>
              <a:t>brk</a:t>
            </a:r>
            <a:r>
              <a:rPr lang="zh-CN" altLang="en-US" sz="2000"/>
              <a:t>）调用的系统中，</a:t>
            </a:r>
            <a:r>
              <a:rPr lang="zh-CN" altLang="en-US" sz="2000">
                <a:solidFill>
                  <a:srgbClr val="9C0B15"/>
                </a:solidFill>
              </a:rPr>
              <a:t>只有最高地址的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内存块是允许扩张的</a:t>
            </a:r>
            <a:r>
              <a:rPr lang="zh-CN" altLang="en-US" sz="2000"/>
              <a:t>。无论那个内存块的实际大小有多适合当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前的这次分配，我们都希望</a:t>
            </a:r>
            <a:r>
              <a:rPr lang="zh-CN" altLang="en-US" sz="2000">
                <a:solidFill>
                  <a:srgbClr val="9C0B15"/>
                </a:solidFill>
              </a:rPr>
              <a:t>推迟那个内存块的分配</a:t>
            </a:r>
            <a:r>
              <a:rPr lang="zh-CN" altLang="en-US" sz="2000"/>
              <a:t>，直到系统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中的其它内存块都被分配为止；否则有可能让</a:t>
            </a:r>
            <a:r>
              <a:rPr lang="en-US" altLang="zh-CN" sz="2000"/>
              <a:t>end_brk</a:t>
            </a:r>
            <a:r>
              <a:rPr lang="zh-CN" altLang="en-US" sz="2000"/>
              <a:t>不必要地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增加。（问题：你能想出一种这样的</a:t>
            </a:r>
            <a:r>
              <a:rPr lang="zh-CN" altLang="en-US" sz="2000"/>
              <a:t>场景吗？）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操作缓存	Operation Caching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很多操作可以</a:t>
            </a:r>
            <a:r>
              <a:rPr lang="zh-CN" altLang="en-US" sz="2000">
                <a:solidFill>
                  <a:srgbClr val="9C0B15"/>
                </a:solidFill>
              </a:rPr>
              <a:t>一次做很多，或者推迟到不得不做</a:t>
            </a:r>
            <a:r>
              <a:rPr lang="zh-CN" altLang="en-US" sz="2000"/>
              <a:t>。在分配小块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时，可以一次将一个大块裂成多个小块，而不是在每次分配中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采取分割。在合并时也是这样，等到小块多了再去合并，而非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每次都立即合并，这样如果小块在释放后又被立即分配，</a:t>
            </a:r>
            <a:r>
              <a:rPr lang="zh-CN" altLang="en-US" sz="2000">
                <a:solidFill>
                  <a:srgbClr val="9C0B15"/>
                </a:solidFill>
              </a:rPr>
              <a:t>平摊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开销</a:t>
            </a:r>
            <a:r>
              <a:rPr lang="zh-CN" altLang="en-US" sz="2000"/>
              <a:t>就小</a:t>
            </a:r>
            <a:r>
              <a:rPr lang="zh-CN" altLang="en-US" sz="2000"/>
              <a:t>很多。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Linux进程间内存分配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原则</a:t>
            </a:r>
            <a:r>
              <a:rPr lang="en-US" altLang="zh-CN" sz="2000"/>
              <a:t>		</a:t>
            </a:r>
            <a:r>
              <a:rPr lang="zh-CN" altLang="en-US" sz="2000"/>
              <a:t>保证程序都能得到足够的</a:t>
            </a:r>
            <a:r>
              <a:rPr lang="zh-CN" altLang="en-US" sz="2000"/>
              <a:t>内存正常运行。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一旦程序</a:t>
            </a:r>
            <a:r>
              <a:rPr lang="en-US" altLang="zh-CN" sz="2000"/>
              <a:t>malloc</a:t>
            </a:r>
            <a:r>
              <a:rPr lang="zh-CN" altLang="en-US" sz="2000"/>
              <a:t>分配失败，程序就很可能必须要终止。</a:t>
            </a:r>
            <a:r>
              <a:rPr lang="en-US" altLang="zh-CN" sz="2000"/>
              <a:t>malloc</a:t>
            </a:r>
            <a:r>
              <a:rPr lang="zh-CN" altLang="en-US" sz="2000"/>
              <a:t>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堆内存不够时最终会调用</a:t>
            </a:r>
            <a:r>
              <a:rPr lang="en-US" altLang="zh-CN" sz="2000"/>
              <a:t>sbrk</a:t>
            </a:r>
            <a:r>
              <a:rPr lang="zh-CN" altLang="en-US" sz="2000"/>
              <a:t>；那意味着，</a:t>
            </a:r>
            <a:r>
              <a:rPr lang="zh-CN" altLang="en-US" sz="2000">
                <a:solidFill>
                  <a:srgbClr val="9C0B15"/>
                </a:solidFill>
              </a:rPr>
              <a:t>总是要满足程序的所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有sbrk请求，不然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malloc就会失败</a:t>
            </a:r>
            <a:r>
              <a:rPr lang="zh-CN" altLang="en-US" sz="2000"/>
              <a:t>。但是，系统的内存总是有限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的；</a:t>
            </a:r>
            <a:r>
              <a:rPr lang="zh-CN" altLang="en-US" sz="2000">
                <a:solidFill>
                  <a:srgbClr val="9C0B15"/>
                </a:solidFill>
              </a:rPr>
              <a:t>哪怕考虑请求分页，这个量也还是有限的</a:t>
            </a:r>
            <a:r>
              <a:rPr lang="zh-CN" altLang="en-US" sz="2000"/>
              <a:t>（想象一个进程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不断循环分配内存）。此时怎么处理这个</a:t>
            </a:r>
            <a:r>
              <a:rPr lang="zh-CN" altLang="en-US" sz="2000"/>
              <a:t>问题？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limits.conf</a:t>
            </a:r>
            <a:r>
              <a:rPr lang="en-US" altLang="zh-CN" sz="2000"/>
              <a:t>	</a:t>
            </a:r>
            <a:r>
              <a:rPr lang="zh-CN" altLang="en-US" sz="2000"/>
              <a:t>一个配置文件，限制某个用户（的所有程序）的总资源用量，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其中就包括了内存用量。一旦程序企图分配超过这个数量的资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源，分配就会被拒绝。当然，如果程序分配的资源比这个少，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那么</a:t>
            </a:r>
            <a:r>
              <a:rPr lang="zh-CN" altLang="en-US" sz="2000">
                <a:solidFill>
                  <a:srgbClr val="9C0B15"/>
                </a:solidFill>
              </a:rPr>
              <a:t>操作系统在物理资源耗尽之前都总会满足程序的需求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内存分配的原则看起来很简单。它和</a:t>
            </a:r>
            <a:r>
              <a:rPr lang="en-US" altLang="zh-CN" sz="2000"/>
              <a:t>CPU</a:t>
            </a:r>
            <a:r>
              <a:rPr lang="zh-CN" altLang="en-US" sz="2000"/>
              <a:t>分配有什么相同点和不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同</a:t>
            </a:r>
            <a:r>
              <a:rPr lang="zh-CN" altLang="en-US" sz="2000"/>
              <a:t>点？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ulimit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ulimit</a:t>
            </a:r>
            <a:r>
              <a:rPr lang="zh-CN" altLang="en-US" sz="2000" b="1">
                <a:solidFill>
                  <a:srgbClr val="9C0B15"/>
                </a:solidFill>
              </a:rPr>
              <a:t>命令</a:t>
            </a:r>
            <a:r>
              <a:rPr lang="en-US" altLang="zh-CN" sz="2000"/>
              <a:t>	</a:t>
            </a:r>
            <a:r>
              <a:rPr lang="zh-CN" altLang="en-US" sz="2000"/>
              <a:t>用来查看与设置各项限制的命令行命令。除了</a:t>
            </a:r>
            <a:r>
              <a:rPr lang="en-US" altLang="zh-CN" sz="2000"/>
              <a:t>-u</a:t>
            </a:r>
            <a:r>
              <a:rPr lang="zh-CN" altLang="en-US" sz="2000"/>
              <a:t>之外，其余的限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制都是对某一个进程而言</a:t>
            </a:r>
            <a:r>
              <a:rPr lang="zh-CN" altLang="en-US" sz="2000"/>
              <a:t>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与内存用量有关的限制有如下</a:t>
            </a:r>
            <a:r>
              <a:rPr lang="zh-CN" altLang="en-US" sz="2000"/>
              <a:t>几个：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-d</a:t>
            </a:r>
            <a:r>
              <a:rPr lang="en-US" altLang="zh-CN" sz="2000"/>
              <a:t>	</a:t>
            </a:r>
            <a:r>
              <a:rPr lang="zh-CN" altLang="en-US" sz="2000"/>
              <a:t>限制进程</a:t>
            </a:r>
            <a:r>
              <a:rPr lang="zh-CN" altLang="en-US" sz="2000"/>
              <a:t>的数据段</a:t>
            </a:r>
            <a:r>
              <a:rPr lang="zh-CN" altLang="en-US" sz="2000"/>
              <a:t>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-l</a:t>
            </a:r>
            <a:r>
              <a:rPr lang="en-US" altLang="zh-CN" sz="2000"/>
              <a:t>	</a:t>
            </a:r>
            <a:r>
              <a:rPr lang="zh-CN" altLang="en-US" sz="2000"/>
              <a:t>限制进程的工作集（不会被请求分页</a:t>
            </a:r>
            <a:r>
              <a:rPr lang="zh-CN" altLang="en-US" sz="2000"/>
              <a:t>替换出去）</a:t>
            </a:r>
            <a:r>
              <a:rPr lang="zh-CN" altLang="en-US" sz="2000"/>
              <a:t>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-m</a:t>
            </a:r>
            <a:r>
              <a:rPr lang="en-US" altLang="zh-CN" sz="2000"/>
              <a:t>	</a:t>
            </a:r>
            <a:r>
              <a:rPr lang="zh-CN" altLang="en-US" sz="2000"/>
              <a:t>限制进程的</a:t>
            </a:r>
            <a:r>
              <a:rPr lang="zh-CN" altLang="en-US" sz="2000"/>
              <a:t>总内存</a:t>
            </a:r>
            <a:r>
              <a:rPr lang="zh-CN" altLang="en-US" sz="2000"/>
              <a:t>用量。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-s</a:t>
            </a:r>
            <a:r>
              <a:rPr lang="en-US" altLang="zh-CN" sz="2000"/>
              <a:t>	</a:t>
            </a:r>
            <a:r>
              <a:rPr lang="zh-CN" altLang="en-US" sz="2000"/>
              <a:t>限制</a:t>
            </a:r>
            <a:r>
              <a:rPr lang="zh-CN" altLang="en-US" sz="2000">
                <a:sym typeface="+mn-ea"/>
              </a:rPr>
              <a:t>进程的栈</a:t>
            </a:r>
            <a:r>
              <a:rPr lang="zh-CN" altLang="en-US" sz="2000">
                <a:sym typeface="+mn-ea"/>
              </a:rPr>
              <a:t>大小。</a:t>
            </a: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74645" y="1661795"/>
            <a:ext cx="4038600" cy="2933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OOM Killer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如果物理资源耗尽，或者达到了</a:t>
            </a:r>
            <a:r>
              <a:rPr lang="en-US" altLang="zh-CN" sz="2000"/>
              <a:t>limit</a:t>
            </a:r>
            <a:r>
              <a:rPr lang="zh-CN" altLang="en-US" sz="2000"/>
              <a:t>，</a:t>
            </a:r>
            <a:r>
              <a:rPr lang="zh-CN" altLang="en-US" sz="2000"/>
              <a:t>怎么办？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OOM Killer</a:t>
            </a:r>
            <a:r>
              <a:rPr lang="en-US" altLang="zh-CN" sz="2000"/>
              <a:t>	</a:t>
            </a:r>
            <a:r>
              <a:rPr lang="zh-CN" altLang="en-US" sz="2000"/>
              <a:t>一旦内存耗尽，</a:t>
            </a:r>
            <a:r>
              <a:rPr lang="en-US" altLang="zh-CN" sz="2000"/>
              <a:t>Linux</a:t>
            </a:r>
            <a:r>
              <a:rPr lang="zh-CN" altLang="en-US" sz="2000"/>
              <a:t>内核会调用</a:t>
            </a:r>
            <a:r>
              <a:rPr lang="en-US" altLang="zh-CN" sz="2000"/>
              <a:t>OOM</a:t>
            </a:r>
            <a:r>
              <a:rPr lang="zh-CN" altLang="en-US" sz="2000"/>
              <a:t>（</a:t>
            </a:r>
            <a:r>
              <a:rPr lang="en-US" altLang="zh-CN" sz="2000"/>
              <a:t>Out of Memory</a:t>
            </a:r>
            <a:r>
              <a:rPr lang="zh-CN" altLang="en-US" sz="2000"/>
              <a:t>）</a:t>
            </a:r>
            <a:r>
              <a:rPr lang="en-US" altLang="zh-CN" sz="2000"/>
              <a:t> Killer</a:t>
            </a:r>
            <a:r>
              <a:rPr lang="zh-CN" altLang="en-US" sz="2000"/>
              <a:t>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杀死一些进程，强制回收它们的</a:t>
            </a:r>
            <a:r>
              <a:rPr lang="zh-CN" altLang="en-US" sz="2000"/>
              <a:t>资源。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选择的标准</a:t>
            </a:r>
            <a:r>
              <a:rPr lang="en-US" altLang="zh-CN" sz="2000"/>
              <a:t>	</a:t>
            </a: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）杀死的总进程数量应当</a:t>
            </a:r>
            <a:r>
              <a:rPr lang="zh-CN" altLang="en-US" sz="2000">
                <a:solidFill>
                  <a:srgbClr val="9C0B15"/>
                </a:solidFill>
              </a:rPr>
              <a:t>尽可能小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）优先杀死</a:t>
            </a:r>
            <a:r>
              <a:rPr lang="zh-CN" altLang="en-US" sz="2000"/>
              <a:t>那些</a:t>
            </a:r>
            <a:r>
              <a:rPr lang="zh-CN" altLang="en-US" sz="2000">
                <a:solidFill>
                  <a:srgbClr val="9C0B15"/>
                </a:solidFill>
              </a:rPr>
              <a:t>占内存多</a:t>
            </a:r>
            <a:r>
              <a:rPr lang="zh-CN" altLang="en-US" sz="2000"/>
              <a:t>的进程。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）不要杀死那些</a:t>
            </a:r>
            <a:r>
              <a:rPr lang="zh-CN" altLang="en-US" sz="2000">
                <a:solidFill>
                  <a:srgbClr val="9C0B15"/>
                </a:solidFill>
              </a:rPr>
              <a:t>系统关键进程</a:t>
            </a:r>
            <a:r>
              <a:rPr lang="zh-CN" altLang="en-US" sz="2000"/>
              <a:t>，以及</a:t>
            </a:r>
            <a:r>
              <a:rPr lang="zh-CN" altLang="en-US" sz="2000">
                <a:solidFill>
                  <a:srgbClr val="9C0B15"/>
                </a:solidFill>
              </a:rPr>
              <a:t>用户指定</a:t>
            </a:r>
            <a:r>
              <a:rPr lang="zh-CN" altLang="en-US" sz="2000">
                <a:solidFill>
                  <a:srgbClr val="9C0B15"/>
                </a:solidFill>
              </a:rPr>
              <a:t>保护的进程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配置文件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/>
              <a:t>OOM Killer</a:t>
            </a:r>
            <a:r>
              <a:rPr lang="zh-CN" altLang="en-US" sz="2000"/>
              <a:t>的配置文件中，用户可以指定一些进程。</a:t>
            </a:r>
            <a:r>
              <a:rPr lang="en-US" altLang="zh-CN" sz="2000"/>
              <a:t>OOM Killer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会尽量选择在那些进程之外的进程来</a:t>
            </a:r>
            <a:r>
              <a:rPr lang="zh-CN" altLang="en-US" sz="2000"/>
              <a:t>杀死。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当然，也可以选择禁用</a:t>
            </a:r>
            <a:r>
              <a:rPr lang="en-US" altLang="zh-CN" sz="2000"/>
              <a:t>OOM Killer</a:t>
            </a:r>
            <a:r>
              <a:rPr lang="zh-CN" altLang="en-US" sz="2000"/>
              <a:t>，此时系统在内存不足时将直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接挂起或者崩溃。相比之下，</a:t>
            </a:r>
            <a:r>
              <a:rPr lang="en-US" altLang="zh-CN" sz="2000"/>
              <a:t>OOM Killer</a:t>
            </a:r>
            <a:r>
              <a:rPr lang="zh-CN" altLang="en-US" sz="2000"/>
              <a:t>只是杀死某个进程，比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整个系统的崩溃还是来得</a:t>
            </a:r>
            <a:r>
              <a:rPr lang="zh-CN" altLang="en-US" sz="2000"/>
              <a:t>要好。</a:t>
            </a:r>
            <a:endParaRPr lang="zh-CN" altLang="en-US" sz="2000"/>
          </a:p>
          <a:p>
            <a:pPr algn="l"/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超级页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HugeTLB</a:t>
            </a:r>
            <a:r>
              <a:rPr lang="en-US" altLang="zh-CN" sz="2000"/>
              <a:t>	Linux</a:t>
            </a:r>
            <a:r>
              <a:rPr lang="zh-CN" altLang="en-US" sz="2000"/>
              <a:t>提供了</a:t>
            </a:r>
            <a:r>
              <a:rPr lang="en-US" altLang="zh-CN" sz="2000"/>
              <a:t>HugeTLB</a:t>
            </a:r>
            <a:r>
              <a:rPr lang="zh-CN" altLang="en-US" sz="2000"/>
              <a:t>机制来支持超级页。这个机制并不很灵活，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它是最直接的想法的体现：如果随着系统的运行，外部碎片越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来越多、超级页越来越少，那么就在系统启动时</a:t>
            </a:r>
            <a:r>
              <a:rPr lang="zh-CN" altLang="en-US" sz="2000">
                <a:solidFill>
                  <a:srgbClr val="9C0B15"/>
                </a:solidFill>
              </a:rPr>
              <a:t>预留一定数量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的超级页，并在程序请求时将这些页分配给它们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hugepagesz</a:t>
            </a:r>
            <a:r>
              <a:rPr lang="en-US" altLang="zh-CN" sz="2000"/>
              <a:t>	</a:t>
            </a:r>
            <a:r>
              <a:rPr lang="zh-CN" altLang="en-US" sz="2000"/>
              <a:t>要保留的超级页的大小。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</a:t>
            </a:r>
            <a:r>
              <a:rPr lang="en-US" altLang="zh-CN" sz="2000"/>
              <a:t>x86-64</a:t>
            </a:r>
            <a:r>
              <a:rPr lang="zh-CN" altLang="en-US" sz="2000"/>
              <a:t>上，可以是</a:t>
            </a:r>
            <a:r>
              <a:rPr lang="en-US" altLang="zh-CN" sz="2000"/>
              <a:t>2MB</a:t>
            </a:r>
            <a:endParaRPr lang="en-US" alt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或</a:t>
            </a:r>
            <a:r>
              <a:rPr lang="en-US" altLang="zh-CN" sz="2000"/>
              <a:t>1GB</a:t>
            </a:r>
            <a:r>
              <a:rPr lang="zh-CN" altLang="en-US" sz="2000"/>
              <a:t>，默认是</a:t>
            </a:r>
            <a:r>
              <a:rPr lang="en-US" altLang="zh-CN" sz="2000"/>
              <a:t>2MB</a:t>
            </a:r>
            <a:r>
              <a:rPr lang="zh-CN" altLang="en-US" sz="2000"/>
              <a:t>。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hugepages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要保留的超级页的数量。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mmap</a:t>
            </a:r>
            <a:r>
              <a:rPr lang="en-US" altLang="zh-CN" sz="2000"/>
              <a:t>		</a:t>
            </a:r>
            <a:r>
              <a:rPr lang="zh-CN" altLang="en-US" sz="2000"/>
              <a:t>超级页可以通过</a:t>
            </a:r>
            <a:r>
              <a:rPr lang="zh-CN" altLang="en-US" sz="2000">
                <a:solidFill>
                  <a:srgbClr val="9C0B15"/>
                </a:solidFill>
              </a:rPr>
              <a:t>mmap系统调用</a:t>
            </a:r>
            <a:r>
              <a:rPr lang="zh-CN" altLang="en-US" sz="2000"/>
              <a:t>映射到进程中</a:t>
            </a:r>
            <a:r>
              <a:rPr lang="zh-CN" altLang="en-US" sz="2000"/>
              <a:t>加以使用。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内存紧缩</a:t>
            </a:r>
            <a:r>
              <a:rPr lang="en-US" altLang="zh-CN" sz="2000"/>
              <a:t>	</a:t>
            </a:r>
            <a:r>
              <a:rPr lang="zh-CN" altLang="en-US" sz="2000"/>
              <a:t>在产生外部碎片时，如果用户仍然请求超级页，那么操作系统</a:t>
            </a:r>
            <a:r>
              <a:rPr lang="en-US" altLang="zh-CN" sz="2000" b="1">
                <a:solidFill>
                  <a:srgbClr val="9C0B15"/>
                </a:solidFill>
              </a:rPr>
              <a:t>Memory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会使用一种叫做存储紧缩的技术，</a:t>
            </a:r>
            <a:r>
              <a:rPr lang="zh-CN" altLang="en-US" sz="2000">
                <a:solidFill>
                  <a:srgbClr val="9C0B15"/>
                </a:solidFill>
              </a:rPr>
              <a:t>将正在使用的那些小物理页</a:t>
            </a:r>
            <a:r>
              <a:rPr lang="en-US" altLang="zh-CN" sz="2000" b="1">
                <a:solidFill>
                  <a:srgbClr val="9C0B15"/>
                </a:solidFill>
              </a:rPr>
              <a:t>Compaction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</a:t>
            </a:r>
            <a:r>
              <a:rPr lang="zh-CN" altLang="en-US" sz="2000">
                <a:solidFill>
                  <a:srgbClr val="9C0B15"/>
                </a:solidFill>
              </a:rPr>
              <a:t>行迁移，从而留出整片的大页空间</a:t>
            </a:r>
            <a:r>
              <a:rPr lang="zh-CN" altLang="en-US" sz="2000">
                <a:sym typeface="+mn-ea"/>
              </a:rPr>
              <a:t>（类似于磁盘碎片整理）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透明大页</a:t>
            </a:r>
            <a:r>
              <a:rPr lang="en-US" altLang="zh-CN" sz="2000"/>
              <a:t>	</a:t>
            </a:r>
            <a:r>
              <a:rPr lang="zh-CN" altLang="en-US" sz="2000"/>
              <a:t>最新的</a:t>
            </a:r>
            <a:r>
              <a:rPr lang="en-US" altLang="zh-CN" sz="2000"/>
              <a:t>Linux</a:t>
            </a:r>
            <a:r>
              <a:rPr lang="zh-CN" altLang="en-US" sz="2000"/>
              <a:t>内核在有余力时会</a:t>
            </a:r>
            <a:r>
              <a:rPr lang="zh-CN" altLang="en-US" sz="2000">
                <a:solidFill>
                  <a:srgbClr val="9C0B15"/>
                </a:solidFill>
              </a:rPr>
              <a:t>主动给应用程序分配尽量大的页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甚至会</a:t>
            </a:r>
            <a:r>
              <a:rPr lang="zh-CN" altLang="en-US" sz="2000">
                <a:solidFill>
                  <a:srgbClr val="9C0B15"/>
                </a:solidFill>
              </a:rPr>
              <a:t>在后台进行自动的内存紧缩</a:t>
            </a:r>
            <a:r>
              <a:rPr lang="zh-CN" altLang="en-US" sz="2000"/>
              <a:t>，以提高</a:t>
            </a:r>
            <a:r>
              <a:rPr lang="en-US" altLang="zh-CN" sz="2000"/>
              <a:t>TLB</a:t>
            </a:r>
            <a:r>
              <a:rPr lang="zh-CN" altLang="en-US" sz="2000"/>
              <a:t>的利用率。这一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切对应用程序都是透明</a:t>
            </a:r>
            <a:r>
              <a:rPr lang="zh-CN" altLang="en-US" sz="2000"/>
              <a:t>的。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2815" b="5778"/>
          <a:stretch>
            <a:fillRect/>
          </a:stretch>
        </p:blipFill>
        <p:spPr>
          <a:xfrm>
            <a:off x="5374640" y="2471420"/>
            <a:ext cx="3752850" cy="1019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物理内存的</a:t>
            </a:r>
            <a:r>
              <a:rPr lang="zh-CN" altLang="en-US" sz="2000" b="1">
                <a:solidFill>
                  <a:srgbClr val="9C0B15"/>
                </a:solidFill>
              </a:rPr>
              <a:t>区域特性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区域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在某些架构中，部分范围的物理内存可能有一些</a:t>
            </a:r>
            <a:r>
              <a:rPr lang="zh-CN" altLang="en-US" sz="2000">
                <a:solidFill>
                  <a:srgbClr val="9C0B15"/>
                </a:solidFill>
              </a:rPr>
              <a:t>特殊用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途</a:t>
            </a:r>
            <a:r>
              <a:rPr lang="zh-CN" altLang="en-US" sz="2000"/>
              <a:t>。Linux使用Zone的概念来管理这些</a:t>
            </a:r>
            <a:r>
              <a:rPr lang="zh-CN" altLang="en-US" sz="2000"/>
              <a:t>物理内存区域。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ZONE_DMA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可以用于</a:t>
            </a:r>
            <a:r>
              <a:rPr lang="en-US" altLang="zh-CN" sz="2000"/>
              <a:t>DMA</a:t>
            </a:r>
            <a:r>
              <a:rPr lang="zh-CN" altLang="en-US" sz="2000"/>
              <a:t>的内存。</a:t>
            </a:r>
            <a:r>
              <a:rPr lang="en-US" altLang="zh-CN" sz="2000"/>
              <a:t>0-16MiB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ZONE_NORMAL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内核可以正常使用的常规内存范围。</a:t>
            </a:r>
            <a:r>
              <a:rPr lang="en-US" altLang="zh-CN" sz="2000"/>
              <a:t>16-896MiB</a:t>
            </a:r>
            <a:r>
              <a:rPr lang="zh-CN" altLang="en-US" sz="2000"/>
              <a:t>。这一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部分在映射到内核时与其虚拟地址存在</a:t>
            </a:r>
            <a:r>
              <a:rPr lang="zh-CN" altLang="en-US" sz="2000">
                <a:solidFill>
                  <a:srgbClr val="9C0B15"/>
                </a:solidFill>
              </a:rPr>
              <a:t>线性映射关系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因此根据其虚拟地址，减去一个差值就可以得到其物理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地址。因此，页表等常常放在这个内存区域；</a:t>
            </a:r>
            <a:r>
              <a:rPr lang="zh-CN" altLang="en-US" sz="2000">
                <a:solidFill>
                  <a:srgbClr val="9C0B15"/>
                </a:solidFill>
              </a:rPr>
              <a:t>在加载页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表到CR3寄存器的时候，只要将虚拟地址减去那个差值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加载进去即可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除</a:t>
            </a:r>
            <a:r>
              <a:rPr lang="en-US" altLang="zh-CN" sz="2000"/>
              <a:t>Linux</a:t>
            </a:r>
            <a:r>
              <a:rPr lang="zh-CN" altLang="en-US" sz="2000"/>
              <a:t>之外，很多操作系统内核为了方便都这样做。它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们都有两个函数</a:t>
            </a:r>
            <a:r>
              <a:rPr lang="zh-CN" altLang="en-US" sz="2000">
                <a:solidFill>
                  <a:srgbClr val="9C0B15"/>
                </a:solidFill>
              </a:rPr>
              <a:t>pa2va和va2pa</a:t>
            </a:r>
            <a:r>
              <a:rPr lang="zh-CN" altLang="en-US" sz="2000"/>
              <a:t>专门负责地址的转换。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ZONE_HIGHMEM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内核不能直接使用的高端内存，</a:t>
            </a:r>
            <a:r>
              <a:rPr lang="en-US" altLang="zh-CN" sz="2000"/>
              <a:t>896MiB</a:t>
            </a:r>
            <a:r>
              <a:rPr lang="zh-CN" altLang="en-US" sz="2000"/>
              <a:t>以上。这些物理</a:t>
            </a:r>
            <a:r>
              <a:rPr lang="zh-CN" altLang="en-US" sz="2000" b="1">
                <a:solidFill>
                  <a:srgbClr val="9C0B15"/>
                </a:solidFill>
              </a:rPr>
              <a:t>（仅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32位存在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内存映射到内核中时</a:t>
            </a:r>
            <a:r>
              <a:rPr lang="zh-CN" altLang="en-US" sz="2000">
                <a:solidFill>
                  <a:srgbClr val="9C0B15"/>
                </a:solidFill>
              </a:rPr>
              <a:t>共用一些虚拟地址</a:t>
            </a:r>
            <a:r>
              <a:rPr lang="zh-CN" altLang="en-US" sz="2000"/>
              <a:t>，</a:t>
            </a:r>
            <a:r>
              <a:rPr lang="zh-CN" sz="2000">
                <a:sym typeface="+mn-ea"/>
              </a:rPr>
              <a:t>因此没有线性</a:t>
            </a:r>
            <a:r>
              <a:rPr lang="en-US" altLang="zh-CN" sz="2000">
                <a:sym typeface="+mn-ea"/>
              </a:rPr>
              <a:t>			</a:t>
            </a:r>
            <a:r>
              <a:rPr lang="zh-CN" sz="2000">
                <a:sym typeface="+mn-ea"/>
              </a:rPr>
              <a:t>对应关系</a:t>
            </a:r>
            <a:r>
              <a:rPr lang="zh-CN" altLang="en-US" sz="2000"/>
              <a:t>。这个区域在</a:t>
            </a:r>
            <a:r>
              <a:rPr lang="en-US" altLang="zh-CN" sz="2000"/>
              <a:t>64</a:t>
            </a:r>
            <a:r>
              <a:rPr lang="zh-CN" altLang="en-US" sz="2000"/>
              <a:t>位上不存在，因为</a:t>
            </a:r>
            <a:r>
              <a:rPr lang="zh-CN" altLang="en-US" sz="2000">
                <a:solidFill>
                  <a:srgbClr val="9C0B15"/>
                </a:solidFill>
              </a:rPr>
              <a:t>64位的虚拟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地址空间足够大，可以给所有物理内存提供线性映射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x86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上的</a:t>
            </a:r>
            <a:r>
              <a:rPr lang="zh-CN" altLang="en-US" sz="2000" b="1">
                <a:solidFill>
                  <a:srgbClr val="9C0B15"/>
                </a:solidFill>
              </a:rPr>
              <a:t>物理地址空间组织（</a:t>
            </a:r>
            <a:r>
              <a:rPr lang="en-US" altLang="zh-CN" sz="2000" b="1">
                <a:solidFill>
                  <a:srgbClr val="9C0B15"/>
                </a:solidFill>
              </a:rPr>
              <a:t>32</a:t>
            </a:r>
            <a:r>
              <a:rPr lang="zh-CN" altLang="en-US" sz="2000" b="1">
                <a:solidFill>
                  <a:srgbClr val="9C0B15"/>
                </a:solidFill>
              </a:rPr>
              <a:t>位）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788785" y="4311015"/>
            <a:ext cx="1930400" cy="237299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3GB+896M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内核线性映射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3GB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487805" y="5776595"/>
            <a:ext cx="1930400" cy="9074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16M</a:t>
            </a:r>
            <a:endParaRPr lang="en-US" altLang="zh-CN"/>
          </a:p>
          <a:p>
            <a:pPr algn="ctr"/>
            <a:r>
              <a:rPr lang="en-US" altLang="zh-CN"/>
              <a:t>ZONE_DMA</a:t>
            </a:r>
            <a:endParaRPr lang="en-US" altLang="zh-CN"/>
          </a:p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487805" y="4311650"/>
            <a:ext cx="1930400" cy="146558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896M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ZONE_NORMAL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16M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5"/>
            </p:custDataLst>
          </p:nvPr>
        </p:nvSpPr>
        <p:spPr>
          <a:xfrm>
            <a:off x="1487805" y="833755"/>
            <a:ext cx="1930400" cy="3477260"/>
          </a:xfrm>
          <a:prstGeom prst="rect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4GB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ZONE_HIGHMEM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896M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6788785" y="2884170"/>
            <a:ext cx="1930400" cy="142748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4GB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内核高端映射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3GB+896M</a:t>
            </a:r>
            <a:endParaRPr lang="en-US" altLang="zh-CN"/>
          </a:p>
        </p:txBody>
      </p:sp>
      <p:cxnSp>
        <p:nvCxnSpPr>
          <p:cNvPr id="63" name="直接连接符 62"/>
          <p:cNvCxnSpPr/>
          <p:nvPr>
            <p:custDataLst>
              <p:tags r:id="rId7"/>
            </p:custDataLst>
          </p:nvPr>
        </p:nvCxnSpPr>
        <p:spPr>
          <a:xfrm>
            <a:off x="3413125" y="826770"/>
            <a:ext cx="3364230" cy="204978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8"/>
            </p:custDataLst>
          </p:nvPr>
        </p:nvCxnSpPr>
        <p:spPr>
          <a:xfrm>
            <a:off x="3432810" y="4318635"/>
            <a:ext cx="3354070" cy="9525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>
            <a:off x="3422650" y="6682740"/>
            <a:ext cx="3364230" cy="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48505" y="5408930"/>
            <a:ext cx="112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线性映射</a:t>
            </a:r>
            <a:endParaRPr lang="zh-CN" altLang="en-US" b="1"/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455795" y="315087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选择性映射</a:t>
            </a:r>
            <a:endParaRPr lang="zh-CN" altLang="en-US" b="1"/>
          </a:p>
        </p:txBody>
      </p:sp>
      <p:sp>
        <p:nvSpPr>
          <p:cNvPr id="73" name="左箭头标注 72"/>
          <p:cNvSpPr/>
          <p:nvPr>
            <p:custDataLst>
              <p:tags r:id="rId11"/>
            </p:custDataLst>
          </p:nvPr>
        </p:nvSpPr>
        <p:spPr>
          <a:xfrm>
            <a:off x="5739130" y="833755"/>
            <a:ext cx="2980055" cy="1404620"/>
          </a:xfrm>
          <a:prstGeom prst="leftArrowCallout">
            <a:avLst>
              <a:gd name="adj1" fmla="val 17527"/>
              <a:gd name="adj2" fmla="val 19337"/>
              <a:gd name="adj3" fmla="val 16836"/>
              <a:gd name="adj4" fmla="val 83891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64</a:t>
            </a:r>
            <a:r>
              <a:rPr lang="zh-CN" altLang="en-US"/>
              <a:t>位系统不需要选择性映射任何东西，因为内核虚拟地址空间是足够大的，可以将整个物理地址空间</a:t>
            </a:r>
            <a:r>
              <a:rPr lang="en-US" altLang="zh-CN"/>
              <a:t>1:1</a:t>
            </a:r>
            <a:r>
              <a:rPr lang="zh-CN" altLang="en-US"/>
              <a:t>映射。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物理内存的不</a:t>
            </a:r>
            <a:r>
              <a:rPr lang="zh-CN" altLang="en-US" sz="2000" b="1">
                <a:solidFill>
                  <a:srgbClr val="9C0B15"/>
                </a:solidFill>
              </a:rPr>
              <a:t>对称特性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非对称访问	Non-Uniform Memory Access，NUMA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/>
              <a:t>		</a:t>
            </a:r>
            <a:r>
              <a:rPr lang="zh-CN" altLang="en-US" sz="2000"/>
              <a:t>在基于前端总线（</a:t>
            </a:r>
            <a:r>
              <a:rPr lang="en-US" altLang="zh-CN" sz="2000"/>
              <a:t>Front Side Bus</a:t>
            </a:r>
            <a:r>
              <a:rPr lang="zh-CN" altLang="en-US" sz="2000"/>
              <a:t>，</a:t>
            </a:r>
            <a:r>
              <a:rPr lang="en-US" altLang="zh-CN" sz="2000"/>
              <a:t>FSB</a:t>
            </a:r>
            <a:r>
              <a:rPr lang="zh-CN" altLang="en-US" sz="2000"/>
              <a:t>）结构的传统计算机上，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任何一个</a:t>
            </a:r>
            <a:r>
              <a:rPr lang="en-US" altLang="zh-CN" sz="2000"/>
              <a:t>CPU</a:t>
            </a:r>
            <a:r>
              <a:rPr lang="zh-CN" altLang="en-US" sz="2000"/>
              <a:t>到任何一个内存单元的访问延迟都是一样的。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 UMA                                                                        NUMA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这意味着，</a:t>
            </a:r>
            <a:r>
              <a:rPr lang="zh-CN" altLang="en-US" sz="2000">
                <a:sym typeface="+mn-ea"/>
              </a:rPr>
              <a:t>哪怕</a:t>
            </a:r>
            <a:r>
              <a:rPr lang="zh-CN" altLang="en-US" sz="2000"/>
              <a:t>对于同一个</a:t>
            </a:r>
            <a:r>
              <a:rPr lang="en-US" altLang="zh-CN" sz="2000"/>
              <a:t>CPU</a:t>
            </a:r>
            <a:r>
              <a:rPr lang="zh-CN" altLang="en-US" sz="2000"/>
              <a:t>，访问不同的物理内存地址，其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延迟也是不同的。要最大化性能，在分配内存时必须考虑到这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一点。</a:t>
            </a:r>
            <a:r>
              <a:rPr lang="en-US" altLang="zh-CN" sz="2000"/>
              <a:t>Linux</a:t>
            </a:r>
            <a:r>
              <a:rPr lang="zh-CN" altLang="en-US" sz="2000"/>
              <a:t>通过</a:t>
            </a:r>
            <a:r>
              <a:rPr lang="zh-CN" altLang="en-US" sz="2000">
                <a:solidFill>
                  <a:srgbClr val="9C0B15"/>
                </a:solidFill>
              </a:rPr>
              <a:t>mem_policy系统调用</a:t>
            </a:r>
            <a:r>
              <a:rPr lang="zh-CN" altLang="en-US" sz="2000"/>
              <a:t>允许应用程序</a:t>
            </a:r>
            <a:r>
              <a:rPr lang="zh-CN" altLang="en-US" sz="2000">
                <a:solidFill>
                  <a:srgbClr val="9C0B15"/>
                </a:solidFill>
              </a:rPr>
              <a:t>指定自己的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内存分配在哪个物理位置</a:t>
            </a:r>
            <a:r>
              <a:rPr lang="zh-CN" altLang="en-US" sz="2000"/>
              <a:t>，再配合线程的</a:t>
            </a:r>
            <a:r>
              <a:rPr lang="zh-CN" altLang="en-US" sz="2000">
                <a:solidFill>
                  <a:srgbClr val="9C0B15"/>
                </a:solidFill>
              </a:rPr>
              <a:t>CPU亲和性设置</a:t>
            </a:r>
            <a:r>
              <a:rPr lang="zh-CN" altLang="en-US" sz="2000"/>
              <a:t>来最小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化访存延迟，从而最大化</a:t>
            </a:r>
            <a:r>
              <a:rPr lang="zh-CN" altLang="en-US" sz="2000"/>
              <a:t>性能。</a:t>
            </a:r>
            <a:endParaRPr lang="zh-CN" altLang="en-US" sz="2000"/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1146175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13995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16230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" name="肘形连接符 6"/>
          <p:cNvCxnSpPr>
            <a:stCxn id="28" idx="2"/>
            <a:endCxn id="9" idx="1"/>
          </p:cNvCxnSpPr>
          <p:nvPr/>
        </p:nvCxnSpPr>
        <p:spPr>
          <a:xfrm rot="5400000" flipV="1">
            <a:off x="1471295" y="2912110"/>
            <a:ext cx="704215" cy="621030"/>
          </a:xfrm>
          <a:prstGeom prst="bentConnector2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6" idx="2"/>
            <a:endCxn id="9" idx="3"/>
          </p:cNvCxnSpPr>
          <p:nvPr/>
        </p:nvCxnSpPr>
        <p:spPr>
          <a:xfrm rot="5400000">
            <a:off x="2845435" y="2891155"/>
            <a:ext cx="704215" cy="662940"/>
          </a:xfrm>
          <a:prstGeom prst="bentConnector2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133600" y="3388995"/>
            <a:ext cx="732155" cy="37211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北桥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7" name="直接连接符 16"/>
          <p:cNvCxnSpPr>
            <a:stCxn id="5" idx="2"/>
            <a:endCxn id="9" idx="0"/>
          </p:cNvCxnSpPr>
          <p:nvPr/>
        </p:nvCxnSpPr>
        <p:spPr>
          <a:xfrm flipH="1">
            <a:off x="2499995" y="2870835"/>
            <a:ext cx="6350" cy="51816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1146175" y="4279265"/>
            <a:ext cx="2748280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0" name="直接连接符 59"/>
          <p:cNvCxnSpPr/>
          <p:nvPr>
            <p:custDataLst>
              <p:tags r:id="rId7"/>
            </p:custDataLst>
          </p:nvPr>
        </p:nvCxnSpPr>
        <p:spPr>
          <a:xfrm flipH="1">
            <a:off x="2499995" y="3761105"/>
            <a:ext cx="6350" cy="51816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2499995" y="3836035"/>
            <a:ext cx="539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FSB</a:t>
            </a:r>
            <a:endParaRPr lang="en-US" altLang="zh-CN"/>
          </a:p>
        </p:txBody>
      </p:sp>
      <p:sp>
        <p:nvSpPr>
          <p:cNvPr id="62" name="矩形 61"/>
          <p:cNvSpPr/>
          <p:nvPr>
            <p:custDataLst>
              <p:tags r:id="rId8"/>
            </p:custDataLst>
          </p:nvPr>
        </p:nvSpPr>
        <p:spPr>
          <a:xfrm>
            <a:off x="614045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9"/>
            </p:custDataLst>
          </p:nvPr>
        </p:nvSpPr>
        <p:spPr>
          <a:xfrm>
            <a:off x="6878955" y="3575050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0"/>
            </p:custDataLst>
          </p:nvPr>
        </p:nvSpPr>
        <p:spPr>
          <a:xfrm>
            <a:off x="761111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11"/>
            </p:custDataLst>
          </p:nvPr>
        </p:nvSpPr>
        <p:spPr>
          <a:xfrm>
            <a:off x="5006975" y="249872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12"/>
            </p:custDataLst>
          </p:nvPr>
        </p:nvSpPr>
        <p:spPr>
          <a:xfrm>
            <a:off x="8722360" y="249872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3" name="直接连接符 72"/>
          <p:cNvCxnSpPr>
            <a:stCxn id="69" idx="3"/>
            <a:endCxn id="62" idx="1"/>
          </p:cNvCxnSpPr>
          <p:nvPr/>
        </p:nvCxnSpPr>
        <p:spPr>
          <a:xfrm>
            <a:off x="5745480" y="2684780"/>
            <a:ext cx="394970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4" idx="3"/>
            <a:endCxn id="72" idx="1"/>
          </p:cNvCxnSpPr>
          <p:nvPr>
            <p:custDataLst>
              <p:tags r:id="rId13"/>
            </p:custDataLst>
          </p:nvPr>
        </p:nvCxnSpPr>
        <p:spPr>
          <a:xfrm>
            <a:off x="8343265" y="2684780"/>
            <a:ext cx="379095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14"/>
            </p:custDataLst>
          </p:nvPr>
        </p:nvSpPr>
        <p:spPr>
          <a:xfrm>
            <a:off x="6878955" y="427926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6" name="直接连接符 75"/>
          <p:cNvCxnSpPr>
            <a:stCxn id="63" idx="2"/>
            <a:endCxn id="75" idx="0"/>
          </p:cNvCxnSpPr>
          <p:nvPr>
            <p:custDataLst>
              <p:tags r:id="rId15"/>
            </p:custDataLst>
          </p:nvPr>
        </p:nvCxnSpPr>
        <p:spPr>
          <a:xfrm>
            <a:off x="7245350" y="3947160"/>
            <a:ext cx="3175" cy="332105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2" idx="2"/>
            <a:endCxn id="63" idx="1"/>
          </p:cNvCxnSpPr>
          <p:nvPr>
            <p:custDataLst>
              <p:tags r:id="rId16"/>
            </p:custDataLst>
          </p:nvPr>
        </p:nvCxnSpPr>
        <p:spPr>
          <a:xfrm>
            <a:off x="6506845" y="2870835"/>
            <a:ext cx="372110" cy="89027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64" idx="2"/>
            <a:endCxn id="63" idx="3"/>
          </p:cNvCxnSpPr>
          <p:nvPr>
            <p:custDataLst>
              <p:tags r:id="rId17"/>
            </p:custDataLst>
          </p:nvPr>
        </p:nvCxnSpPr>
        <p:spPr>
          <a:xfrm flipH="1">
            <a:off x="7611110" y="2870835"/>
            <a:ext cx="366395" cy="89027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64" idx="1"/>
            <a:endCxn id="62" idx="3"/>
          </p:cNvCxnSpPr>
          <p:nvPr>
            <p:custDataLst>
              <p:tags r:id="rId18"/>
            </p:custDataLst>
          </p:nvPr>
        </p:nvCxnSpPr>
        <p:spPr>
          <a:xfrm flipH="1">
            <a:off x="6872605" y="2684780"/>
            <a:ext cx="738505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右箭头 80"/>
          <p:cNvSpPr/>
          <p:nvPr/>
        </p:nvSpPr>
        <p:spPr>
          <a:xfrm>
            <a:off x="3961765" y="3322320"/>
            <a:ext cx="979170" cy="485775"/>
          </a:xfrm>
          <a:prstGeom prst="rightArrow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/proc/meminfo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在</a:t>
            </a:r>
            <a:r>
              <a:rPr lang="en-US" altLang="zh-CN" sz="2000"/>
              <a:t>/proc/meminfo</a:t>
            </a:r>
            <a:r>
              <a:rPr lang="zh-CN" altLang="en-US" sz="2000"/>
              <a:t>下可以看到系统当前的内存资源消耗。</a:t>
            </a:r>
            <a:endParaRPr lang="zh-CN" altLang="en-US" sz="2000"/>
          </a:p>
          <a:p>
            <a:pPr algn="ctr"/>
            <a:r>
              <a:rPr lang="zh-CN" altLang="en-US" sz="2000"/>
              <a:t>有关</a:t>
            </a:r>
            <a:r>
              <a:rPr lang="en-US" altLang="zh-CN" sz="2000"/>
              <a:t>proc</a:t>
            </a:r>
            <a:r>
              <a:rPr lang="zh-CN" altLang="en-US" sz="2000"/>
              <a:t>（伪）文件系统，我们在后面再做</a:t>
            </a:r>
            <a:r>
              <a:rPr lang="zh-CN" altLang="en-US" sz="2000"/>
              <a:t>讲解。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49908"/>
          <a:stretch>
            <a:fillRect/>
          </a:stretch>
        </p:blipFill>
        <p:spPr>
          <a:xfrm>
            <a:off x="923925" y="1875790"/>
            <a:ext cx="3752850" cy="44754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t="50100"/>
          <a:stretch>
            <a:fillRect/>
          </a:stretch>
        </p:blipFill>
        <p:spPr>
          <a:xfrm>
            <a:off x="5013325" y="1875790"/>
            <a:ext cx="3752850" cy="44583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原则</a:t>
            </a:r>
            <a:r>
              <a:rPr lang="en-US" altLang="zh-CN" sz="2000"/>
              <a:t>		</a:t>
            </a:r>
            <a:r>
              <a:rPr lang="zh-CN" altLang="en-US" sz="2000"/>
              <a:t>提高内存的</a:t>
            </a:r>
            <a:r>
              <a:rPr lang="zh-CN" altLang="en-US" sz="2000">
                <a:solidFill>
                  <a:srgbClr val="9C0B15"/>
                </a:solidFill>
              </a:rPr>
              <a:t>利用率</a:t>
            </a:r>
            <a:r>
              <a:rPr lang="zh-CN" altLang="en-US" sz="2000"/>
              <a:t>，满足尽量多程序的内存分配，最大程度</a:t>
            </a:r>
            <a:r>
              <a:rPr lang="zh-CN" altLang="en-US" sz="2000">
                <a:solidFill>
                  <a:srgbClr val="9C0B15"/>
                </a:solidFill>
              </a:rPr>
              <a:t>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少缺页异常的数量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理想策略</a:t>
            </a:r>
            <a:r>
              <a:rPr lang="en-US" altLang="zh-CN" sz="2000"/>
              <a:t>	</a:t>
            </a:r>
            <a:r>
              <a:rPr lang="zh-CN" altLang="en-US" sz="2000"/>
              <a:t>如果能实现</a:t>
            </a:r>
            <a:r>
              <a:rPr lang="en-US" altLang="zh-CN" sz="2000"/>
              <a:t>FIFO</a:t>
            </a:r>
            <a:r>
              <a:rPr lang="zh-CN" altLang="en-US" sz="2000"/>
              <a:t>、</a:t>
            </a:r>
            <a:r>
              <a:rPr lang="en-US" altLang="zh-CN" sz="2000"/>
              <a:t>LRU</a:t>
            </a:r>
            <a:r>
              <a:rPr lang="zh-CN" altLang="en-US" sz="2000"/>
              <a:t>或者</a:t>
            </a:r>
            <a:r>
              <a:rPr lang="en-US" altLang="zh-CN" sz="2000"/>
              <a:t>LFU</a:t>
            </a:r>
            <a:r>
              <a:rPr lang="zh-CN" altLang="en-US" sz="2000"/>
              <a:t>就好了。当然，</a:t>
            </a:r>
            <a:r>
              <a:rPr lang="en-US" altLang="zh-CN" sz="2000"/>
              <a:t>LRU</a:t>
            </a:r>
            <a:r>
              <a:rPr lang="zh-CN" altLang="en-US" sz="2000"/>
              <a:t>和</a:t>
            </a:r>
            <a:r>
              <a:rPr lang="en-US" altLang="zh-CN" sz="2000"/>
              <a:t>LFU</a:t>
            </a:r>
            <a:r>
              <a:rPr lang="zh-CN" altLang="en-US" sz="2000"/>
              <a:t>又比</a:t>
            </a:r>
            <a:r>
              <a:rPr lang="en-US" altLang="zh-CN" sz="2000"/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好。如果都不行，就只能实现</a:t>
            </a:r>
            <a:r>
              <a:rPr lang="en-US" altLang="zh-CN" sz="2000"/>
              <a:t>RANDOM</a:t>
            </a:r>
            <a:r>
              <a:rPr lang="zh-CN" altLang="en-US" sz="2000"/>
              <a:t>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硬件机制</a:t>
            </a:r>
            <a:r>
              <a:rPr lang="en-US" altLang="zh-CN" sz="2000"/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缺页异常</a:t>
            </a:r>
            <a:r>
              <a:rPr lang="en-US" altLang="zh-CN" sz="2000"/>
              <a:t>	</a:t>
            </a:r>
            <a:r>
              <a:rPr lang="zh-CN" altLang="en-US" sz="2000"/>
              <a:t>当页表中没有某个页时，产生操作系统可截获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并处理的异常。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访问位A	</a:t>
            </a:r>
            <a:r>
              <a:rPr lang="zh-CN" altLang="en-US" sz="2000"/>
              <a:t>当某个页被访问，其页表的访问位会被硬件置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位。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脏位D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当某个页被实际写入（内容遭修改），其页表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的脏位会被硬件置位。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用这些硬件机制怎么实现</a:t>
            </a:r>
            <a:r>
              <a:rPr lang="en-US" altLang="zh-CN" sz="2000"/>
              <a:t>FIFO</a:t>
            </a:r>
            <a:r>
              <a:rPr lang="zh-CN" altLang="en-US" sz="2000"/>
              <a:t>、</a:t>
            </a:r>
            <a:r>
              <a:rPr lang="en-US" altLang="zh-CN" sz="2000"/>
              <a:t>LRU</a:t>
            </a:r>
            <a:r>
              <a:rPr lang="zh-CN" altLang="en-US" sz="2000"/>
              <a:t>或</a:t>
            </a:r>
            <a:r>
              <a:rPr lang="en-US" altLang="zh-CN" sz="2000"/>
              <a:t>LFU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LFU</a:t>
            </a:r>
            <a:r>
              <a:rPr lang="en-US" altLang="zh-CN" sz="2000"/>
              <a:t>		</a:t>
            </a:r>
            <a:r>
              <a:rPr lang="zh-CN" sz="2000"/>
              <a:t>不太好实现，因为</a:t>
            </a:r>
            <a:r>
              <a:rPr lang="zh-CN" altLang="en-US" sz="2000">
                <a:solidFill>
                  <a:srgbClr val="9C0B15"/>
                </a:solidFill>
              </a:rPr>
              <a:t>硬件没给我们提供访问频次计数</a:t>
            </a:r>
            <a:r>
              <a:rPr lang="zh-CN" altLang="en-US" sz="2000"/>
              <a:t>。如果要实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现的话，就必须在每次访问内存时候软件介入注明自己访问哪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些位置，这是不现实的。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LRU</a:t>
            </a:r>
            <a:r>
              <a:rPr lang="en-US" altLang="zh-CN" sz="2000"/>
              <a:t>		</a:t>
            </a:r>
            <a:r>
              <a:rPr lang="zh-CN" sz="2000"/>
              <a:t>也不太好实现。</a:t>
            </a:r>
            <a:r>
              <a:rPr lang="en-US" altLang="zh-CN" sz="2000"/>
              <a:t>LRU</a:t>
            </a:r>
            <a:r>
              <a:rPr lang="zh-CN" altLang="en-US" sz="2000"/>
              <a:t>要求我们给</a:t>
            </a:r>
            <a:r>
              <a:rPr lang="zh-CN" altLang="en-US" sz="2000">
                <a:solidFill>
                  <a:srgbClr val="9C0B15"/>
                </a:solidFill>
              </a:rPr>
              <a:t>每个页面提供一个计时器，记录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其上一次访问以来经过了多少时间</a:t>
            </a:r>
            <a:r>
              <a:rPr lang="zh-CN" altLang="en-US" sz="2000"/>
              <a:t>。硬件上没给我们提供这种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计时器；考虑到页面的数量，软件实现也不现实。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更要命的是，</a:t>
            </a:r>
            <a:r>
              <a:rPr lang="en-US" altLang="zh-CN" sz="2000"/>
              <a:t>LFU</a:t>
            </a:r>
            <a:r>
              <a:rPr lang="zh-CN" altLang="en-US" sz="2000"/>
              <a:t>和</a:t>
            </a:r>
            <a:r>
              <a:rPr lang="en-US" altLang="zh-CN" sz="2000"/>
              <a:t>LRU</a:t>
            </a:r>
            <a:r>
              <a:rPr lang="zh-CN" altLang="en-US" sz="2000"/>
              <a:t>都要求在每次页面替换时</a:t>
            </a:r>
            <a:r>
              <a:rPr lang="zh-CN" altLang="en-US" sz="2000">
                <a:solidFill>
                  <a:srgbClr val="9C0B15"/>
                </a:solidFill>
              </a:rPr>
              <a:t>扫描所有页面，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然后找到那个频次最小或者访问经过时间最长的页面</a:t>
            </a:r>
            <a:r>
              <a:rPr lang="zh-CN" altLang="en-US" sz="2000"/>
              <a:t>。这就更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不现实了。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LFU和LRU策略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因为缺乏相应的机制</a:t>
            </a:r>
            <a:r>
              <a:rPr lang="zh-CN" altLang="en-US" sz="2000">
                <a:sym typeface="+mn-ea"/>
              </a:rPr>
              <a:t>，都实现不了。那只能求助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于</a:t>
            </a:r>
            <a:r>
              <a:rPr lang="en-US" altLang="zh-CN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策略了。</a:t>
            </a:r>
            <a:r>
              <a:rPr lang="zh-CN" altLang="en-US" sz="2000">
                <a:solidFill>
                  <a:srgbClr val="9C0B15"/>
                </a:solidFill>
              </a:rPr>
              <a:t>FIFO策略需要哪些硬件机制</a:t>
            </a:r>
            <a:r>
              <a:rPr lang="zh-CN" altLang="en-US" sz="2000"/>
              <a:t>？它好实现吗？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en-US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肯定是能实现的。把页面组织成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一个链表或者环形缓冲区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然后先进先出就可以，效率很高。</a:t>
            </a:r>
            <a:endParaRPr lang="zh-CN" altLang="en-US" sz="2000"/>
          </a:p>
        </p:txBody>
      </p:sp>
      <p:grpSp>
        <p:nvGrpSpPr>
          <p:cNvPr id="65" name="组合 64"/>
          <p:cNvGrpSpPr/>
          <p:nvPr/>
        </p:nvGrpSpPr>
        <p:grpSpPr>
          <a:xfrm>
            <a:off x="896620" y="6225540"/>
            <a:ext cx="7919720" cy="372110"/>
            <a:chOff x="1412" y="9804"/>
            <a:chExt cx="12472" cy="586"/>
          </a:xfrm>
        </p:grpSpPr>
        <p:sp>
          <p:nvSpPr>
            <p:cNvPr id="6" name="矩形 5"/>
            <p:cNvSpPr/>
            <p:nvPr/>
          </p:nvSpPr>
          <p:spPr>
            <a:xfrm>
              <a:off x="4232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357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607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2732" y="9804"/>
              <a:ext cx="1153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412" y="9804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5" name="直接箭头连接符 24"/>
            <p:cNvCxnSpPr>
              <a:endCxn id="28" idx="1"/>
            </p:cNvCxnSpPr>
            <p:nvPr/>
          </p:nvCxnSpPr>
          <p:spPr>
            <a:xfrm>
              <a:off x="7509" y="10097"/>
              <a:ext cx="97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482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0" name="直接箭头连接符 59"/>
            <p:cNvCxnSpPr>
              <a:stCxn id="28" idx="3"/>
              <a:endCxn id="7" idx="1"/>
            </p:cNvCxnSpPr>
            <p:nvPr/>
          </p:nvCxnSpPr>
          <p:spPr>
            <a:xfrm>
              <a:off x="9635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6" idx="3"/>
              <a:endCxn id="5" idx="1"/>
            </p:cNvCxnSpPr>
            <p:nvPr/>
          </p:nvCxnSpPr>
          <p:spPr>
            <a:xfrm>
              <a:off x="5385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7" idx="3"/>
              <a:endCxn id="8" idx="1"/>
            </p:cNvCxnSpPr>
            <p:nvPr/>
          </p:nvCxnSpPr>
          <p:spPr>
            <a:xfrm>
              <a:off x="11760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3260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但是</a:t>
            </a:r>
            <a:r>
              <a:rPr lang="en-US" altLang="zh-CN" sz="2000"/>
              <a:t>		</a:t>
            </a:r>
            <a:r>
              <a:rPr lang="en-US" sz="2000"/>
              <a:t>FIFO</a:t>
            </a:r>
            <a:r>
              <a:rPr lang="zh-CN" altLang="en-US" sz="2000"/>
              <a:t>本质上没有利用程序的局部性，没有栈式性质，会产生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Belady</a:t>
            </a:r>
            <a:r>
              <a:rPr lang="zh-CN" altLang="en-US" sz="2000"/>
              <a:t>异常。它比</a:t>
            </a:r>
            <a:r>
              <a:rPr lang="en-US" altLang="zh-CN" sz="2000"/>
              <a:t>RANDOM</a:t>
            </a:r>
            <a:r>
              <a:rPr lang="zh-CN" altLang="en-US" sz="2000"/>
              <a:t>好得有限。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我们能否利用每个页的访问位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和脏位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来优化</a:t>
            </a:r>
            <a:r>
              <a:rPr lang="en-US" altLang="zh-CN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算法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访问位A	</a:t>
            </a:r>
            <a:r>
              <a:rPr lang="zh-CN" altLang="en-US" sz="2000">
                <a:sym typeface="+mn-ea"/>
              </a:rPr>
              <a:t>访问位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是可以利用的。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如果我们在按FIFO规则淘汰页面时找到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一个访问位A不为0的页面，我们是把它的访问位清零后再塞到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队列开头去，直到我们找到一个访问位为0的页面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为止</a:t>
            </a:r>
            <a:r>
              <a:rPr lang="zh-CN" altLang="en-US" sz="2000">
                <a:sym typeface="+mn-ea"/>
              </a:rPr>
              <a:t>，这说明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它在被塞进队列里后自始至终都没被访问过，可以淘汰。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这样，就等于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给FIFO算法加上了一点LRU性质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一个加入队列的页如果没有被访问，经过几轮回转后被淘汰？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二次机会法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两次。第一次是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位被清零，第二次才是真正的淘汰。因此该方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法又称二次机会法。它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也称CLOCK法，因为扫描是轮转进行的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69240" y="4053840"/>
            <a:ext cx="9125585" cy="1055370"/>
            <a:chOff x="424" y="6539"/>
            <a:chExt cx="14371" cy="1662"/>
          </a:xfrm>
        </p:grpSpPr>
        <p:sp>
          <p:nvSpPr>
            <p:cNvPr id="6" name="矩形 5"/>
            <p:cNvSpPr/>
            <p:nvPr/>
          </p:nvSpPr>
          <p:spPr>
            <a:xfrm>
              <a:off x="4232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357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607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3643" y="7615"/>
              <a:ext cx="1153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24" y="7615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5" name="直接箭头连接符 24"/>
            <p:cNvCxnSpPr>
              <a:endCxn id="28" idx="1"/>
            </p:cNvCxnSpPr>
            <p:nvPr/>
          </p:nvCxnSpPr>
          <p:spPr>
            <a:xfrm>
              <a:off x="7509" y="7908"/>
              <a:ext cx="97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482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0" name="直接箭头连接符 59"/>
            <p:cNvCxnSpPr>
              <a:stCxn id="28" idx="3"/>
              <a:endCxn id="7" idx="1"/>
            </p:cNvCxnSpPr>
            <p:nvPr/>
          </p:nvCxnSpPr>
          <p:spPr>
            <a:xfrm>
              <a:off x="9635" y="7908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6" idx="3"/>
              <a:endCxn id="5" idx="1"/>
            </p:cNvCxnSpPr>
            <p:nvPr/>
          </p:nvCxnSpPr>
          <p:spPr>
            <a:xfrm>
              <a:off x="5385" y="7908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7" idx="3"/>
              <a:endCxn id="8" idx="1"/>
            </p:cNvCxnSpPr>
            <p:nvPr/>
          </p:nvCxnSpPr>
          <p:spPr>
            <a:xfrm>
              <a:off x="11760" y="7908"/>
              <a:ext cx="188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15" idx="3"/>
            </p:cNvCxnSpPr>
            <p:nvPr/>
          </p:nvCxnSpPr>
          <p:spPr>
            <a:xfrm>
              <a:off x="2272" y="7908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12404" y="7328"/>
              <a:ext cx="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4" name="肘形连接符 3"/>
            <p:cNvCxnSpPr>
              <a:stCxn id="7" idx="3"/>
              <a:endCxn id="6" idx="1"/>
            </p:cNvCxnSpPr>
            <p:nvPr>
              <p:custDataLst>
                <p:tags r:id="rId2"/>
              </p:custDataLst>
            </p:nvPr>
          </p:nvCxnSpPr>
          <p:spPr>
            <a:xfrm flipH="1">
              <a:off x="4232" y="7908"/>
              <a:ext cx="7528" cy="5"/>
            </a:xfrm>
            <a:prstGeom prst="bentConnector5">
              <a:avLst>
                <a:gd name="adj1" fmla="val -4981"/>
                <a:gd name="adj2" fmla="val -16740000"/>
                <a:gd name="adj3" fmla="val 107651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7075" y="6539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en-US" altLang="zh-CN"/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2486" y="7333"/>
              <a:ext cx="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A=1</a:t>
              </a:r>
              <a:endParaRPr lang="en-US" altLang="zh-CN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48000" y="32296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	</a:t>
            </a:r>
            <a:endParaRPr lang="en-US" altLang="zh-CN" sz="2000">
              <a:sym typeface="+mn-ea"/>
            </a:endParaRPr>
          </a:p>
        </p:txBody>
      </p:sp>
      <p:sp>
        <p:nvSpPr>
          <p:cNvPr id="66" name="右箭头标注 65"/>
          <p:cNvSpPr/>
          <p:nvPr/>
        </p:nvSpPr>
        <p:spPr>
          <a:xfrm>
            <a:off x="269240" y="2720975"/>
            <a:ext cx="1901825" cy="1701800"/>
          </a:xfrm>
          <a:prstGeom prst="rightArrowCallout">
            <a:avLst>
              <a:gd name="adj1" fmla="val 11764"/>
              <a:gd name="adj2" fmla="val 14886"/>
              <a:gd name="adj3" fmla="val 14253"/>
              <a:gd name="adj4" fmla="val 8503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这种带有</a:t>
            </a:r>
            <a:r>
              <a:rPr lang="en-US" altLang="zh-CN"/>
              <a:t>LRU“</a:t>
            </a:r>
            <a:r>
              <a:rPr lang="zh-CN" altLang="en-US"/>
              <a:t>味</a:t>
            </a:r>
            <a:r>
              <a:rPr lang="en-US" altLang="zh-CN"/>
              <a:t>”</a:t>
            </a:r>
            <a:r>
              <a:rPr lang="zh-CN" altLang="en-US"/>
              <a:t>但又并非严格</a:t>
            </a:r>
            <a:r>
              <a:rPr lang="en-US" altLang="zh-CN"/>
              <a:t>LRU</a:t>
            </a:r>
            <a:r>
              <a:rPr lang="zh-CN" altLang="en-US"/>
              <a:t>的都可以称为伪（</a:t>
            </a:r>
            <a:r>
              <a:rPr lang="en-US" altLang="zh-CN"/>
              <a:t>P</a:t>
            </a:r>
            <a:r>
              <a:rPr lang="en-US" altLang="zh-CN"/>
              <a:t>seudo</a:t>
            </a:r>
            <a:r>
              <a:rPr lang="zh-CN" altLang="en-US"/>
              <a:t>）</a:t>
            </a:r>
            <a:r>
              <a:rPr lang="en-US" altLang="zh-CN"/>
              <a:t>LRU</a:t>
            </a:r>
            <a:r>
              <a:rPr lang="zh-CN" altLang="en-US"/>
              <a:t>，即</a:t>
            </a:r>
            <a:r>
              <a:rPr lang="en-US" altLang="zh-CN"/>
              <a:t>P-LRU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8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二次机会法的优化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我们仅仅利用了访问位</a:t>
            </a:r>
            <a:r>
              <a:rPr lang="en-US" altLang="zh-CN" sz="2000"/>
              <a:t>A</a:t>
            </a:r>
            <a:r>
              <a:rPr lang="zh-CN" altLang="en-US" sz="2000"/>
              <a:t>，脏位</a:t>
            </a:r>
            <a:r>
              <a:rPr lang="en-US" altLang="zh-CN" sz="2000"/>
              <a:t>D</a:t>
            </a:r>
            <a:r>
              <a:rPr lang="zh-CN" altLang="en-US" sz="2000"/>
              <a:t>没利用</a:t>
            </a:r>
            <a:r>
              <a:rPr lang="zh-CN" altLang="en-US" sz="2000">
                <a:sym typeface="+mn-ea"/>
              </a:rPr>
              <a:t>。如何利用它？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脏位D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标志着页面是否被修改过。很多程序换入页面（比如</a:t>
            </a:r>
            <a:r>
              <a:rPr lang="en-US" altLang="zh-CN" sz="2000">
                <a:sym typeface="+mn-ea"/>
              </a:rPr>
              <a:t>.text		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.rodata</a:t>
            </a:r>
            <a:r>
              <a:rPr lang="zh-CN" altLang="en-US" sz="2000">
                <a:sym typeface="+mn-ea"/>
              </a:rPr>
              <a:t>）时，只是读取，并不修改它们，因此脏位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不置位。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这样，在把页面换出时，就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不需要将它们的内容写进外存</a:t>
            </a:r>
            <a:r>
              <a:rPr lang="zh-CN" altLang="en-US" sz="2000">
                <a:sym typeface="+mn-ea"/>
              </a:rPr>
              <a:t>，因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为外存上那个副本仍然是和内存中一样的。这就把页面交换的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开销减小了一半。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观察</a:t>
            </a:r>
            <a:r>
              <a:rPr lang="en-US" altLang="zh-CN" sz="2000">
                <a:sym typeface="+mn-ea"/>
              </a:rPr>
              <a:t>		D==1</a:t>
            </a:r>
            <a:r>
              <a:rPr lang="zh-CN" altLang="en-US" sz="2000">
                <a:sym typeface="+mn-ea"/>
              </a:rPr>
              <a:t>的页面要替换，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开销是D==0的页面的一倍</a:t>
            </a:r>
            <a:r>
              <a:rPr lang="zh-CN" altLang="en-US" sz="2000">
                <a:sym typeface="+mn-ea"/>
              </a:rPr>
              <a:t>。况且，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序写了某个页面，未来很可能要读它</a:t>
            </a:r>
            <a:r>
              <a:rPr lang="zh-CN" altLang="en-US" sz="2000">
                <a:sym typeface="+mn-ea"/>
              </a:rPr>
              <a:t>。因此我们不是很情愿替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换</a:t>
            </a:r>
            <a:r>
              <a:rPr lang="en-US" altLang="zh-CN" sz="2000">
                <a:sym typeface="+mn-ea"/>
              </a:rPr>
              <a:t>D==1</a:t>
            </a:r>
            <a:r>
              <a:rPr lang="zh-CN" altLang="en-US" sz="2000">
                <a:sym typeface="+mn-ea"/>
              </a:rPr>
              <a:t>的那些页面。</a:t>
            </a:r>
            <a:endParaRPr lang="zh-CN" altLang="en-US" sz="2000">
              <a:sym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90500" y="3416300"/>
            <a:ext cx="9264015" cy="1543685"/>
            <a:chOff x="300" y="4877"/>
            <a:chExt cx="14589" cy="2431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410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3"/>
              </p:custDataLst>
            </p:nvPr>
          </p:nvSpPr>
          <p:spPr>
            <a:xfrm>
              <a:off x="835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4"/>
              </p:custDataLst>
            </p:nvPr>
          </p:nvSpPr>
          <p:spPr>
            <a:xfrm>
              <a:off x="13005" y="508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保存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-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5"/>
              </p:custDataLst>
            </p:nvPr>
          </p:nvSpPr>
          <p:spPr>
            <a:xfrm>
              <a:off x="300" y="5953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0" name="矩形 69"/>
            <p:cNvSpPr/>
            <p:nvPr>
              <p:custDataLst>
                <p:tags r:id="rId6"/>
              </p:custDataLst>
            </p:nvPr>
          </p:nvSpPr>
          <p:spPr>
            <a:xfrm>
              <a:off x="6233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1" name="直接箭头连接符 70"/>
            <p:cNvCxnSpPr>
              <a:stCxn id="70" idx="3"/>
              <a:endCxn id="66" idx="1"/>
            </p:cNvCxnSpPr>
            <p:nvPr>
              <p:custDataLst>
                <p:tags r:id="rId7"/>
              </p:custDataLst>
            </p:nvPr>
          </p:nvCxnSpPr>
          <p:spPr>
            <a:xfrm>
              <a:off x="7386" y="6246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64" idx="3"/>
              <a:endCxn id="65" idx="1"/>
            </p:cNvCxnSpPr>
            <p:nvPr>
              <p:custDataLst>
                <p:tags r:id="rId8"/>
              </p:custDataLst>
            </p:nvPr>
          </p:nvCxnSpPr>
          <p:spPr>
            <a:xfrm>
              <a:off x="5261" y="6246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stCxn id="66" idx="3"/>
            </p:cNvCxnSpPr>
            <p:nvPr>
              <p:custDataLst>
                <p:tags r:id="rId9"/>
              </p:custDataLst>
            </p:nvPr>
          </p:nvCxnSpPr>
          <p:spPr>
            <a:xfrm flipV="1">
              <a:off x="9511" y="5380"/>
              <a:ext cx="3494" cy="866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8" idx="3"/>
            </p:cNvCxnSpPr>
            <p:nvPr>
              <p:custDataLst>
                <p:tags r:id="rId10"/>
              </p:custDataLst>
            </p:nvPr>
          </p:nvCxnSpPr>
          <p:spPr>
            <a:xfrm>
              <a:off x="2148" y="6246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>
              <p:custDataLst>
                <p:tags r:id="rId11"/>
              </p:custDataLst>
            </p:nvPr>
          </p:nvSpPr>
          <p:spPr>
            <a:xfrm>
              <a:off x="10117" y="5671"/>
              <a:ext cx="8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76" name="肘形连接符 75"/>
            <p:cNvCxnSpPr>
              <a:stCxn id="66" idx="3"/>
              <a:endCxn id="64" idx="1"/>
            </p:cNvCxnSpPr>
            <p:nvPr>
              <p:custDataLst>
                <p:tags r:id="rId12"/>
              </p:custDataLst>
            </p:nvPr>
          </p:nvCxnSpPr>
          <p:spPr>
            <a:xfrm flipH="1">
              <a:off x="4108" y="6246"/>
              <a:ext cx="5403" cy="5"/>
            </a:xfrm>
            <a:prstGeom prst="bentConnector5">
              <a:avLst>
                <a:gd name="adj1" fmla="val -6941"/>
                <a:gd name="adj2" fmla="val -16760000"/>
                <a:gd name="adj3" fmla="val 106941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>
              <p:custDataLst>
                <p:tags r:id="rId13"/>
              </p:custDataLst>
            </p:nvPr>
          </p:nvSpPr>
          <p:spPr>
            <a:xfrm>
              <a:off x="6039" y="4877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en-US" altLang="zh-CN"/>
            </a:p>
          </p:txBody>
        </p:sp>
        <p:sp>
          <p:nvSpPr>
            <p:cNvPr id="78" name="文本框 77"/>
            <p:cNvSpPr txBox="1"/>
            <p:nvPr>
              <p:custDataLst>
                <p:tags r:id="rId14"/>
              </p:custDataLst>
            </p:nvPr>
          </p:nvSpPr>
          <p:spPr>
            <a:xfrm>
              <a:off x="2362" y="5741"/>
              <a:ext cx="93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A=1</a:t>
              </a:r>
              <a:endParaRPr lang="en-US" altLang="zh-CN"/>
            </a:p>
            <a:p>
              <a:r>
                <a:rPr lang="en-US" altLang="zh-CN"/>
                <a:t>D=0</a:t>
              </a:r>
              <a:endParaRPr lang="en-US" altLang="zh-CN"/>
            </a:p>
          </p:txBody>
        </p:sp>
        <p:sp>
          <p:nvSpPr>
            <p:cNvPr id="79" name="矩形 78"/>
            <p:cNvSpPr/>
            <p:nvPr>
              <p:custDataLst>
                <p:tags r:id="rId15"/>
              </p:custDataLst>
            </p:nvPr>
          </p:nvSpPr>
          <p:spPr>
            <a:xfrm>
              <a:off x="13005" y="6722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仅换入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80" name="肘形连接符 79"/>
            <p:cNvCxnSpPr>
              <a:stCxn id="66" idx="3"/>
              <a:endCxn id="79" idx="1"/>
            </p:cNvCxnSpPr>
            <p:nvPr>
              <p:custDataLst>
                <p:tags r:id="rId16"/>
              </p:custDataLst>
            </p:nvPr>
          </p:nvCxnSpPr>
          <p:spPr>
            <a:xfrm>
              <a:off x="9511" y="6246"/>
              <a:ext cx="3494" cy="769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7"/>
              </p:custDataLst>
            </p:nvPr>
          </p:nvSpPr>
          <p:spPr>
            <a:xfrm>
              <a:off x="11474" y="4877"/>
              <a:ext cx="10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D==1</a:t>
              </a:r>
              <a:endParaRPr lang="en-US" altLang="zh-CN"/>
            </a:p>
          </p:txBody>
        </p:sp>
        <p:sp>
          <p:nvSpPr>
            <p:cNvPr id="82" name="文本框 81"/>
            <p:cNvSpPr txBox="1"/>
            <p:nvPr>
              <p:custDataLst>
                <p:tags r:id="rId18"/>
              </p:custDataLst>
            </p:nvPr>
          </p:nvSpPr>
          <p:spPr>
            <a:xfrm>
              <a:off x="11474" y="6435"/>
              <a:ext cx="10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D==0</a:t>
              </a:r>
              <a:endParaRPr lang="en-US" altLang="zh-CN"/>
            </a:p>
          </p:txBody>
        </p:sp>
      </p:grpSp>
    </p:spTree>
    <p:custDataLst>
      <p:tags r:id="rId19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8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“</a:t>
            </a:r>
            <a:r>
              <a:rPr lang="zh-CN" altLang="en-US" sz="2000" b="1">
                <a:solidFill>
                  <a:srgbClr val="9C0B15"/>
                </a:solidFill>
              </a:rPr>
              <a:t>三次机会法</a:t>
            </a:r>
            <a:r>
              <a:rPr lang="en-US" altLang="zh-CN" sz="2000" b="1">
                <a:solidFill>
                  <a:srgbClr val="9C0B15"/>
                </a:solidFill>
              </a:rPr>
              <a:t>”</a:t>
            </a:r>
            <a:r>
              <a:rPr lang="zh-CN" altLang="en-US" sz="2000" b="1">
                <a:solidFill>
                  <a:srgbClr val="9C0B15"/>
                </a:solidFill>
              </a:rPr>
              <a:t>（非标准称呼）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解决方案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对</a:t>
            </a:r>
            <a:r>
              <a:rPr lang="en-US" altLang="zh-CN" sz="2000">
                <a:sym typeface="+mn-ea"/>
              </a:rPr>
              <a:t>D==1</a:t>
            </a:r>
            <a:r>
              <a:rPr lang="zh-CN" altLang="en-US" sz="2000">
                <a:sym typeface="+mn-ea"/>
              </a:rPr>
              <a:t>的页面，我们甚至可以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再多给一次机会</a:t>
            </a:r>
            <a:r>
              <a:rPr lang="zh-CN" altLang="en-US" sz="2000">
                <a:sym typeface="+mn-ea"/>
              </a:rPr>
              <a:t>，将其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位清零，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在其它地方记录下它的实际修改状态</a:t>
            </a:r>
            <a:r>
              <a:rPr lang="zh-CN" altLang="en-US" sz="2000">
                <a:sym typeface="+mn-ea"/>
              </a:rPr>
              <a:t>（因为我们把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位置</a:t>
            </a:r>
            <a:r>
              <a:rPr lang="en-US" altLang="zh-CN" sz="2000">
                <a:sym typeface="+mn-ea"/>
              </a:rPr>
              <a:t>0		</a:t>
            </a:r>
            <a:r>
              <a:rPr lang="zh-CN" altLang="en-US" sz="2000">
                <a:sym typeface="+mn-ea"/>
              </a:rPr>
              <a:t>了），然后再插到链表开头。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这就相当于最多给了一个页面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三次机会</a:t>
            </a:r>
            <a:r>
              <a:rPr lang="zh-CN" altLang="en-US" sz="2000">
                <a:sym typeface="+mn-ea"/>
              </a:rPr>
              <a:t>，更贴近实际了。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之前讨论都的是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主存储器满</a:t>
            </a:r>
            <a:r>
              <a:rPr lang="zh-CN" altLang="en-US" sz="2000">
                <a:sym typeface="+mn-ea"/>
              </a:rPr>
              <a:t>时的页面替换情况，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任何一个进程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退出，它的所有页面都被立即释放并调配给其它进程，从而保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证内存的利用率</a:t>
            </a:r>
            <a:r>
              <a:rPr lang="zh-CN" altLang="en-US" sz="2000">
                <a:sym typeface="+mn-ea"/>
              </a:rPr>
              <a:t>。但在现代计算机中，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物理页面往往是有剩的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这时候，</a:t>
            </a:r>
            <a:r>
              <a:rPr lang="zh-CN" altLang="en-US" sz="2000">
                <a:sym typeface="+mn-ea"/>
              </a:rPr>
              <a:t>如果一</a:t>
            </a:r>
            <a:r>
              <a:rPr lang="zh-CN" altLang="en-US" sz="2000">
                <a:sym typeface="+mn-ea"/>
              </a:rPr>
              <a:t>个</a:t>
            </a:r>
            <a:r>
              <a:rPr lang="zh-CN" altLang="en-US" sz="2000">
                <a:sym typeface="+mn-ea"/>
              </a:rPr>
              <a:t>进程退出，它的页面就要立刻被回收吗？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提示：考虑程序加载的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动态链接库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1620" y="2541270"/>
            <a:ext cx="9264015" cy="2099310"/>
            <a:chOff x="300" y="4002"/>
            <a:chExt cx="14589" cy="3306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410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3"/>
              </p:custDataLst>
            </p:nvPr>
          </p:nvSpPr>
          <p:spPr>
            <a:xfrm>
              <a:off x="13005" y="508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保存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-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4"/>
              </p:custDataLst>
            </p:nvPr>
          </p:nvSpPr>
          <p:spPr>
            <a:xfrm>
              <a:off x="300" y="5953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3" name="肘形连接符 72"/>
            <p:cNvCxnSpPr>
              <a:stCxn id="64" idx="3"/>
            </p:cNvCxnSpPr>
            <p:nvPr>
              <p:custDataLst>
                <p:tags r:id="rId5"/>
              </p:custDataLst>
            </p:nvPr>
          </p:nvCxnSpPr>
          <p:spPr>
            <a:xfrm flipV="1">
              <a:off x="5261" y="5380"/>
              <a:ext cx="7744" cy="866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8" idx="3"/>
            </p:cNvCxnSpPr>
            <p:nvPr>
              <p:custDataLst>
                <p:tags r:id="rId6"/>
              </p:custDataLst>
            </p:nvPr>
          </p:nvCxnSpPr>
          <p:spPr>
            <a:xfrm>
              <a:off x="2148" y="6246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>
              <p:custDataLst>
                <p:tags r:id="rId7"/>
              </p:custDataLst>
            </p:nvPr>
          </p:nvSpPr>
          <p:spPr>
            <a:xfrm>
              <a:off x="6085" y="5671"/>
              <a:ext cx="11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D==0</a:t>
              </a:r>
              <a:endParaRPr lang="en-US" altLang="zh-CN"/>
            </a:p>
          </p:txBody>
        </p:sp>
        <p:cxnSp>
          <p:nvCxnSpPr>
            <p:cNvPr id="76" name="肘形连接符 75"/>
            <p:cNvCxnSpPr>
              <a:stCxn id="64" idx="3"/>
              <a:endCxn id="64" idx="1"/>
            </p:cNvCxnSpPr>
            <p:nvPr>
              <p:custDataLst>
                <p:tags r:id="rId8"/>
              </p:custDataLst>
            </p:nvPr>
          </p:nvCxnSpPr>
          <p:spPr>
            <a:xfrm flipH="1">
              <a:off x="4108" y="6246"/>
              <a:ext cx="1153" cy="5"/>
            </a:xfrm>
            <a:prstGeom prst="bentConnector5">
              <a:avLst>
                <a:gd name="adj1" fmla="val -47267"/>
                <a:gd name="adj2" fmla="val -15520000"/>
                <a:gd name="adj3" fmla="val 152645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>
              <p:custDataLst>
                <p:tags r:id="rId9"/>
              </p:custDataLst>
            </p:nvPr>
          </p:nvSpPr>
          <p:spPr>
            <a:xfrm>
              <a:off x="3718" y="4912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D==1: D=0</a:t>
              </a:r>
              <a:endParaRPr lang="en-US" altLang="zh-CN"/>
            </a:p>
          </p:txBody>
        </p:sp>
        <p:sp>
          <p:nvSpPr>
            <p:cNvPr id="78" name="文本框 77"/>
            <p:cNvSpPr txBox="1"/>
            <p:nvPr>
              <p:custDataLst>
                <p:tags r:id="rId10"/>
              </p:custDataLst>
            </p:nvPr>
          </p:nvSpPr>
          <p:spPr>
            <a:xfrm>
              <a:off x="2148" y="5741"/>
              <a:ext cx="122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A=1</a:t>
              </a:r>
              <a:endParaRPr lang="en-US" altLang="zh-CN"/>
            </a:p>
            <a:p>
              <a:pPr algn="ctr"/>
              <a:r>
                <a:rPr lang="en-US" altLang="zh-CN"/>
                <a:t>D=0/1</a:t>
              </a:r>
              <a:endParaRPr lang="zh-CN" altLang="en-US"/>
            </a:p>
          </p:txBody>
        </p:sp>
        <p:sp>
          <p:nvSpPr>
            <p:cNvPr id="79" name="矩形 78"/>
            <p:cNvSpPr/>
            <p:nvPr>
              <p:custDataLst>
                <p:tags r:id="rId11"/>
              </p:custDataLst>
            </p:nvPr>
          </p:nvSpPr>
          <p:spPr>
            <a:xfrm>
              <a:off x="13005" y="6722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仅换入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80" name="肘形连接符 79"/>
            <p:cNvCxnSpPr>
              <a:stCxn id="64" idx="3"/>
              <a:endCxn id="79" idx="1"/>
            </p:cNvCxnSpPr>
            <p:nvPr>
              <p:custDataLst>
                <p:tags r:id="rId12"/>
              </p:custDataLst>
            </p:nvPr>
          </p:nvCxnSpPr>
          <p:spPr>
            <a:xfrm>
              <a:off x="5261" y="6246"/>
              <a:ext cx="7744" cy="769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3"/>
              </p:custDataLst>
            </p:nvPr>
          </p:nvSpPr>
          <p:spPr>
            <a:xfrm>
              <a:off x="9476" y="4800"/>
              <a:ext cx="32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换入后曾经</a:t>
              </a:r>
              <a:r>
                <a:rPr lang="en-US" altLang="zh-CN"/>
                <a:t>D==1</a:t>
              </a:r>
              <a:r>
                <a:rPr lang="zh-CN" altLang="en-US"/>
                <a:t>过</a:t>
              </a:r>
              <a:endParaRPr lang="zh-CN" altLang="en-US"/>
            </a:p>
          </p:txBody>
        </p:sp>
        <p:cxnSp>
          <p:nvCxnSpPr>
            <p:cNvPr id="4" name="肘形连接符 3"/>
            <p:cNvCxnSpPr>
              <a:stCxn id="64" idx="3"/>
              <a:endCxn id="64" idx="1"/>
            </p:cNvCxnSpPr>
            <p:nvPr>
              <p:custDataLst>
                <p:tags r:id="rId14"/>
              </p:custDataLst>
            </p:nvPr>
          </p:nvCxnSpPr>
          <p:spPr>
            <a:xfrm flipH="1">
              <a:off x="4108" y="6246"/>
              <a:ext cx="1153" cy="5"/>
            </a:xfrm>
            <a:prstGeom prst="bentConnector5">
              <a:avLst>
                <a:gd name="adj1" fmla="val -190546"/>
                <a:gd name="adj2" fmla="val -34360000"/>
                <a:gd name="adj3" fmla="val 152558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>
              <p:custDataLst>
                <p:tags r:id="rId15"/>
              </p:custDataLst>
            </p:nvPr>
          </p:nvSpPr>
          <p:spPr>
            <a:xfrm>
              <a:off x="4550" y="4002"/>
              <a:ext cx="19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16"/>
              </p:custDataLst>
            </p:nvPr>
          </p:nvSpPr>
          <p:spPr>
            <a:xfrm>
              <a:off x="7783" y="5666"/>
              <a:ext cx="11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sp>
          <p:nvSpPr>
            <p:cNvPr id="7" name="文本框 6"/>
            <p:cNvSpPr txBox="1"/>
            <p:nvPr>
              <p:custDataLst>
                <p:tags r:id="rId17"/>
              </p:custDataLst>
            </p:nvPr>
          </p:nvSpPr>
          <p:spPr>
            <a:xfrm>
              <a:off x="9569" y="6435"/>
              <a:ext cx="30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换入后</a:t>
              </a:r>
              <a:r>
                <a:rPr lang="en-US" altLang="zh-CN"/>
                <a:t>D</a:t>
              </a:r>
              <a:r>
                <a:rPr lang="zh-CN"/>
                <a:t>一直为</a:t>
              </a:r>
              <a:r>
                <a:rPr lang="en-US" altLang="zh-CN"/>
                <a:t>0</a:t>
              </a:r>
              <a:endParaRPr lang="en-US" altLang="zh-CN"/>
            </a:p>
          </p:txBody>
        </p:sp>
      </p:grpSp>
    </p:spTree>
    <p:custDataLst>
      <p:tags r:id="rId18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页面共用</a:t>
            </a:r>
            <a:r>
              <a:rPr lang="en-US" altLang="zh-CN" sz="2000"/>
              <a:t>	</a:t>
            </a:r>
            <a:r>
              <a:rPr lang="zh-CN" sz="2000"/>
              <a:t>两个进程可以</a:t>
            </a:r>
            <a:r>
              <a:rPr lang="zh-CN" altLang="en-US" sz="2000">
                <a:solidFill>
                  <a:srgbClr val="9C0B15"/>
                </a:solidFill>
              </a:rPr>
              <a:t>安全地共用一些只读页面，哪怕它们不知道这些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页面被共用</a:t>
            </a:r>
            <a:r>
              <a:rPr lang="zh-CN" altLang="en-US" sz="2000"/>
              <a:t>：</a:t>
            </a:r>
            <a:r>
              <a:rPr lang="zh-CN" altLang="en-US" sz="2000">
                <a:sym typeface="+mn-ea"/>
              </a:rPr>
              <a:t>比如，</a:t>
            </a:r>
            <a:r>
              <a:rPr lang="zh-CN" altLang="en-US" sz="2000"/>
              <a:t>两个程序都加载了某个（使用位置无关代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码的）动态链接库，但其</a:t>
            </a:r>
            <a:r>
              <a:rPr lang="en-US" altLang="zh-CN" sz="2000"/>
              <a:t>.text</a:t>
            </a:r>
            <a:r>
              <a:rPr lang="zh-CN" altLang="en-US" sz="2000"/>
              <a:t>段和</a:t>
            </a:r>
            <a:r>
              <a:rPr lang="en-US" altLang="zh-CN" sz="2000"/>
              <a:t>.rodata</a:t>
            </a:r>
            <a:r>
              <a:rPr lang="zh-CN" altLang="en-US" sz="2000"/>
              <a:t>段皆只需加载一份，并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被两个进程的虚拟地址空间同时引用。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换言之，如果一个进程加载过某些只读页面，</a:t>
            </a:r>
            <a:r>
              <a:rPr lang="zh-CN" altLang="en-US" sz="2000">
                <a:solidFill>
                  <a:srgbClr val="9C0B15"/>
                </a:solidFill>
              </a:rPr>
              <a:t>其它进程再加载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同样的页面</a:t>
            </a:r>
            <a:r>
              <a:rPr lang="zh-CN" altLang="en-US" sz="2000">
                <a:solidFill>
                  <a:srgbClr val="9C0B15"/>
                </a:solidFill>
              </a:rPr>
              <a:t>时就只需要将同样的物理页面添加进自己的映射，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不需要再分配新的物理内存了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页面缓存</a:t>
            </a:r>
            <a:r>
              <a:rPr lang="en-US" altLang="zh-CN" sz="2000"/>
              <a:t>	</a:t>
            </a:r>
            <a:r>
              <a:rPr lang="zh-CN" altLang="en-US" sz="2000"/>
              <a:t>进程退出时，操作系统</a:t>
            </a:r>
            <a:r>
              <a:rPr lang="zh-CN" altLang="en-US" sz="2000">
                <a:solidFill>
                  <a:srgbClr val="9C0B15"/>
                </a:solidFill>
              </a:rPr>
              <a:t>并不会立刻释放它的物理内存页</a:t>
            </a:r>
            <a:r>
              <a:rPr lang="zh-CN" altLang="en-US" sz="2000"/>
              <a:t>（</a:t>
            </a:r>
            <a:r>
              <a:rPr lang="zh-CN" altLang="en-US" sz="2000">
                <a:sym typeface="+mn-ea"/>
              </a:rPr>
              <a:t>尤其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是那些包含动态链接库的页面</a:t>
            </a:r>
            <a:r>
              <a:rPr lang="zh-CN" altLang="en-US" sz="2000"/>
              <a:t>），</a:t>
            </a:r>
            <a:r>
              <a:rPr lang="zh-CN" altLang="en-US" sz="2000">
                <a:solidFill>
                  <a:srgbClr val="9C0B15"/>
                </a:solidFill>
              </a:rPr>
              <a:t>即便它们没有被任何其它进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程引用</a:t>
            </a:r>
            <a:r>
              <a:rPr lang="zh-CN" altLang="en-US" sz="2000"/>
              <a:t>。这是考虑到</a:t>
            </a:r>
            <a:r>
              <a:rPr lang="zh-CN" altLang="en-US" sz="2000">
                <a:solidFill>
                  <a:srgbClr val="9C0B15"/>
                </a:solidFill>
              </a:rPr>
              <a:t>长期调度的工作集：一个刚退出的程序可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能在不远的未来被再次启动，而且刚引用过的动态链接库在很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靠近的未来可能会再次被引用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这样，如果另一个用到了同样内容页面的进程被启动，它就可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以</a:t>
            </a:r>
            <a:r>
              <a:rPr lang="zh-CN" altLang="en-US" sz="2000">
                <a:solidFill>
                  <a:srgbClr val="9C0B15"/>
                </a:solidFill>
              </a:rPr>
              <a:t>直接拿着之前加载好的页面使用</a:t>
            </a:r>
            <a:r>
              <a:rPr lang="zh-CN" altLang="en-US" sz="2000"/>
              <a:t>，而非再产生缺页异常了。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上述机制减少了强制缺失还是容量缺失？你能想出几个非常有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利于上述机制发挥的</a:t>
            </a:r>
            <a:r>
              <a:rPr lang="zh-CN" altLang="en-US" sz="2000">
                <a:solidFill>
                  <a:srgbClr val="9C0B15"/>
                </a:solidFill>
              </a:rPr>
              <a:t>具体场景</a:t>
            </a:r>
            <a:r>
              <a:rPr lang="zh-CN" altLang="en-US" sz="2000"/>
              <a:t>吗？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提示：软件编译、文档编辑、游戏娱乐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页面共用和缓存要怎么加入到页面替换策略中？进程请求新页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面，或者分页时要调入页面，优先替换掉哪些页面？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直觉</a:t>
            </a:r>
            <a:r>
              <a:rPr lang="en-US" altLang="zh-CN" sz="2000"/>
              <a:t>		</a:t>
            </a:r>
            <a:r>
              <a:rPr lang="zh-CN" altLang="en-US" sz="2000"/>
              <a:t>被多个进程共</a:t>
            </a:r>
            <a:r>
              <a:rPr lang="zh-CN" sz="2000">
                <a:sym typeface="+mn-ea"/>
              </a:rPr>
              <a:t>用</a:t>
            </a:r>
            <a:r>
              <a:rPr lang="zh-CN" altLang="en-US" sz="2000"/>
              <a:t>的那些页面</a:t>
            </a:r>
            <a:r>
              <a:rPr lang="zh-CN" altLang="en-US" sz="2000">
                <a:solidFill>
                  <a:srgbClr val="9C0B15"/>
                </a:solidFill>
              </a:rPr>
              <a:t>影响面很广</a:t>
            </a:r>
            <a:r>
              <a:rPr lang="zh-CN" altLang="en-US" sz="2000"/>
              <a:t>，一旦把它们替换出去，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对多个进程都造成影响。另外，</a:t>
            </a:r>
            <a:r>
              <a:rPr lang="zh-CN" altLang="en-US" sz="2000">
                <a:solidFill>
                  <a:srgbClr val="9C0B15"/>
                </a:solidFill>
              </a:rPr>
              <a:t>缓存中包含的是暂时没人引用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的库和数据</a:t>
            </a:r>
            <a:r>
              <a:rPr lang="zh-CN" altLang="en-US" sz="2000"/>
              <a:t>，因此优先替换掉它们比较好。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905" b="2699"/>
          <a:stretch>
            <a:fillRect/>
          </a:stretch>
        </p:blipFill>
        <p:spPr>
          <a:xfrm>
            <a:off x="2490470" y="2778125"/>
            <a:ext cx="5240655" cy="3923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https://elixir.bootlin.com/linux/v6.3-rc3/source/mm/vmscan.c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双队列</a:t>
            </a:r>
            <a:r>
              <a:rPr lang="en-US" altLang="zh-CN" sz="2000" b="1">
                <a:solidFill>
                  <a:srgbClr val="9C0B15"/>
                </a:solidFill>
              </a:rPr>
              <a:t>PLRU</a:t>
            </a:r>
            <a:r>
              <a:rPr lang="en-US" altLang="zh-CN" sz="2000"/>
              <a:t>	</a:t>
            </a:r>
            <a:r>
              <a:rPr lang="zh-CN" sz="2000"/>
              <a:t>维持两个队列，一个是活跃页所在的的队列，另一个是不活跃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的页所在的队列。当要淘汰页面时，从不活跃的页所在的队列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中进行淘汰。</a:t>
            </a:r>
            <a:r>
              <a:rPr lang="zh-CN" altLang="en-US" sz="2000">
                <a:solidFill>
                  <a:srgbClr val="9C0B15"/>
                </a:solidFill>
              </a:rPr>
              <a:t>活跃队列中的页总是慢慢地被淘汰进入不活跃的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队列，如果在不活跃的队列中它还是很久未访问，才会被淘汰</a:t>
            </a:r>
            <a:r>
              <a:rPr lang="zh-CN" sz="2000"/>
              <a:t>。</a:t>
            </a:r>
            <a:endParaRPr 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sz="2000"/>
              <a:t>当然，如果一个在不活跃队列中的页被访问到了，</a:t>
            </a:r>
            <a:r>
              <a:rPr lang="zh-CN" altLang="en-US" sz="2000">
                <a:solidFill>
                  <a:srgbClr val="9C0B15"/>
                </a:solidFill>
              </a:rPr>
              <a:t>它就立即被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提升到活跃队列去</a:t>
            </a:r>
            <a:r>
              <a:rPr lang="zh-CN" sz="2000"/>
              <a:t>。</a:t>
            </a:r>
            <a:endParaRPr lang="zh-CN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这看起来和单队列不是一样吗？无非把一个队列拆了两截。我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们还可以拆成更多截。</a:t>
            </a:r>
            <a:endParaRPr lang="zh-CN" altLang="en-US" sz="2000"/>
          </a:p>
        </p:txBody>
      </p:sp>
      <p:grpSp>
        <p:nvGrpSpPr>
          <p:cNvPr id="62" name="组合 61"/>
          <p:cNvGrpSpPr/>
          <p:nvPr/>
        </p:nvGrpSpPr>
        <p:grpSpPr>
          <a:xfrm>
            <a:off x="1981200" y="3145155"/>
            <a:ext cx="5490845" cy="2164080"/>
            <a:chOff x="3120" y="4643"/>
            <a:chExt cx="8647" cy="3408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6928" y="5829"/>
              <a:ext cx="2548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活跃页面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3"/>
              </p:custDataLst>
            </p:nvPr>
          </p:nvSpPr>
          <p:spPr>
            <a:xfrm>
              <a:off x="3120" y="5829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4"/>
              </p:custDataLst>
            </p:nvPr>
          </p:nvSpPr>
          <p:spPr>
            <a:xfrm>
              <a:off x="4968" y="5542"/>
              <a:ext cx="122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A=1</a:t>
              </a:r>
              <a:endParaRPr lang="en-US" altLang="zh-CN"/>
            </a:p>
          </p:txBody>
        </p:sp>
        <p:sp>
          <p:nvSpPr>
            <p:cNvPr id="79" name="矩形 78"/>
            <p:cNvSpPr/>
            <p:nvPr>
              <p:custDataLst>
                <p:tags r:id="rId5"/>
              </p:custDataLst>
            </p:nvPr>
          </p:nvSpPr>
          <p:spPr>
            <a:xfrm>
              <a:off x="3120" y="746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" name="肘形连接符 1"/>
            <p:cNvCxnSpPr>
              <a:stCxn id="64" idx="3"/>
              <a:endCxn id="64" idx="1"/>
            </p:cNvCxnSpPr>
            <p:nvPr>
              <p:custDataLst>
                <p:tags r:id="rId6"/>
              </p:custDataLst>
            </p:nvPr>
          </p:nvCxnSpPr>
          <p:spPr>
            <a:xfrm flipH="1">
              <a:off x="6928" y="6122"/>
              <a:ext cx="2548" cy="5"/>
            </a:xfrm>
            <a:prstGeom prst="bentConnector5">
              <a:avLst>
                <a:gd name="adj1" fmla="val -35321"/>
                <a:gd name="adj2" fmla="val -17380000"/>
                <a:gd name="adj3" fmla="val 127472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7250" y="4643"/>
              <a:ext cx="19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8"/>
              </p:custDataLst>
            </p:nvPr>
          </p:nvSpPr>
          <p:spPr>
            <a:xfrm>
              <a:off x="10635" y="5547"/>
              <a:ext cx="11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sp>
          <p:nvSpPr>
            <p:cNvPr id="9" name="矩形 8"/>
            <p:cNvSpPr/>
            <p:nvPr>
              <p:custDataLst>
                <p:tags r:id="rId9"/>
              </p:custDataLst>
            </p:nvPr>
          </p:nvSpPr>
          <p:spPr>
            <a:xfrm>
              <a:off x="6928" y="7465"/>
              <a:ext cx="2476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不活跃页面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15" name="肘形连接符 14"/>
            <p:cNvCxnSpPr>
              <a:stCxn id="64" idx="3"/>
              <a:endCxn id="9" idx="3"/>
            </p:cNvCxnSpPr>
            <p:nvPr>
              <p:custDataLst>
                <p:tags r:id="rId10"/>
              </p:custDataLst>
            </p:nvPr>
          </p:nvCxnSpPr>
          <p:spPr>
            <a:xfrm flipH="1">
              <a:off x="9404" y="6122"/>
              <a:ext cx="72" cy="1636"/>
            </a:xfrm>
            <a:prstGeom prst="bentConnector3">
              <a:avLst>
                <a:gd name="adj1" fmla="val -3287499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11"/>
              </p:custDataLst>
            </p:nvPr>
          </p:nvSpPr>
          <p:spPr>
            <a:xfrm>
              <a:off x="6298" y="6650"/>
              <a:ext cx="19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</a:t>
              </a:r>
              <a:r>
                <a:rPr lang="en-US"/>
                <a:t>1: </a:t>
              </a:r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25" name="肘形连接符 24"/>
            <p:cNvCxnSpPr>
              <a:stCxn id="9" idx="1"/>
              <a:endCxn id="64" idx="1"/>
            </p:cNvCxnSpPr>
            <p:nvPr>
              <p:custDataLst>
                <p:tags r:id="rId12"/>
              </p:custDataLst>
            </p:nvPr>
          </p:nvCxnSpPr>
          <p:spPr>
            <a:xfrm rot="10800000" flipH="1">
              <a:off x="6928" y="6122"/>
              <a:ext cx="5" cy="1636"/>
            </a:xfrm>
            <a:prstGeom prst="bentConnector3">
              <a:avLst>
                <a:gd name="adj1" fmla="val -1398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13"/>
              </p:custDataLst>
            </p:nvPr>
          </p:nvSpPr>
          <p:spPr>
            <a:xfrm>
              <a:off x="5061" y="7194"/>
              <a:ext cx="11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cxnSp>
          <p:nvCxnSpPr>
            <p:cNvPr id="28" name="直接箭头连接符 27"/>
            <p:cNvCxnSpPr>
              <a:endCxn id="64" idx="1"/>
            </p:cNvCxnSpPr>
            <p:nvPr>
              <p:custDataLst>
                <p:tags r:id="rId14"/>
              </p:custDataLst>
            </p:nvPr>
          </p:nvCxnSpPr>
          <p:spPr>
            <a:xfrm>
              <a:off x="4968" y="6122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9" idx="1"/>
            </p:cNvCxnSpPr>
            <p:nvPr>
              <p:custDataLst>
                <p:tags r:id="rId15"/>
              </p:custDataLst>
            </p:nvPr>
          </p:nvCxnSpPr>
          <p:spPr>
            <a:xfrm flipH="1">
              <a:off x="5004" y="7758"/>
              <a:ext cx="1924" cy="16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页面共用与缓存（</a:t>
            </a:r>
            <a:r>
              <a:rPr lang="en-US" altLang="zh-CN" sz="2000" b="1">
                <a:solidFill>
                  <a:srgbClr val="9C0B15"/>
                </a:solidFill>
              </a:rPr>
              <a:t>kswapd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https://elixir.bootlin.com/linux/v6.3-rc3/source/mm/vmscan.c#L7644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原因</a:t>
            </a:r>
            <a:r>
              <a:rPr lang="en-US" altLang="zh-CN" sz="2000"/>
              <a:t>	</a:t>
            </a:r>
            <a:r>
              <a:rPr lang="zh-CN" sz="2000">
                <a:sym typeface="+mn-ea"/>
              </a:rPr>
              <a:t>现实中的操作系统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都不是简单的二次机会法</a:t>
            </a:r>
            <a:r>
              <a:rPr lang="zh-CN" sz="2000">
                <a:sym typeface="+mn-ea"/>
              </a:rPr>
              <a:t>，而是针对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不同性质的页采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取不同的替换策略</a:t>
            </a:r>
            <a:r>
              <a:rPr lang="zh-CN" sz="2000">
                <a:sym typeface="+mn-ea"/>
              </a:rPr>
              <a:t>。比如，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更不情愿替换那些多进程共用的只读页，或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者更倾向于替换那些没进程使用的缓存页</a:t>
            </a:r>
            <a:r>
              <a:rPr lang="zh-CN" sz="2000">
                <a:sym typeface="+mn-ea"/>
              </a:rPr>
              <a:t>。这些策略都需要遍历队列，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还需要考虑一个页多久没有使用；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替换某种页的倾向性越高，能容忍它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不被访问的时间就越短。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使用多个队列后，</a:t>
            </a:r>
            <a:r>
              <a:rPr lang="zh-CN" altLang="en-US" sz="2000">
                <a:solidFill>
                  <a:srgbClr val="9C0B15"/>
                </a:solidFill>
              </a:rPr>
              <a:t>不同队列中的页的活跃度不同，相当于把页按照队列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分代。</a:t>
            </a:r>
            <a:r>
              <a:rPr lang="zh-CN" sz="2000"/>
              <a:t>对于不同的队列可采取不同的替换或</a:t>
            </a:r>
            <a:r>
              <a:rPr lang="zh-CN" sz="2000">
                <a:sym typeface="+mn-ea"/>
              </a:rPr>
              <a:t>升降级策</a:t>
            </a:r>
            <a:r>
              <a:rPr lang="zh-CN" sz="2000"/>
              <a:t>略；若定期记录访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sz="2000"/>
              <a:t>问位</a:t>
            </a:r>
            <a:r>
              <a:rPr lang="en-US" altLang="zh-CN" sz="2000"/>
              <a:t>A</a:t>
            </a:r>
            <a:r>
              <a:rPr lang="zh-CN" altLang="en-US" sz="2000"/>
              <a:t>的</a:t>
            </a:r>
            <a:r>
              <a:rPr lang="zh-CN" altLang="en-US" sz="2000"/>
              <a:t>置位频次，</a:t>
            </a:r>
            <a:r>
              <a:rPr lang="zh-CN" sz="2000"/>
              <a:t>甚至可具备一定的</a:t>
            </a:r>
            <a:r>
              <a:rPr lang="en-US" altLang="zh-CN" sz="2000"/>
              <a:t>LFU</a:t>
            </a:r>
            <a:r>
              <a:rPr lang="zh-CN" altLang="en-US" sz="2000"/>
              <a:t>性质</a:t>
            </a:r>
            <a:r>
              <a:rPr lang="zh-CN" sz="2000"/>
              <a:t>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197225" y="3820160"/>
            <a:ext cx="3726815" cy="37211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最活跃页面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3197225" y="4625340"/>
            <a:ext cx="372681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比较活跃页面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3197225" y="5430520"/>
            <a:ext cx="372681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不甚活跃页面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5"/>
            </p:custDataLst>
          </p:nvPr>
        </p:nvSpPr>
        <p:spPr>
          <a:xfrm>
            <a:off x="3197225" y="6235700"/>
            <a:ext cx="3726815" cy="372110"/>
          </a:xfrm>
          <a:prstGeom prst="rect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最不活跃页面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3" name="直接箭头连接符 62"/>
          <p:cNvCxnSpPr/>
          <p:nvPr>
            <p:custDataLst>
              <p:tags r:id="rId6"/>
            </p:custDataLst>
          </p:nvPr>
        </p:nvCxnSpPr>
        <p:spPr>
          <a:xfrm>
            <a:off x="1952625" y="400621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7"/>
            </p:custDataLst>
          </p:nvPr>
        </p:nvCxnSpPr>
        <p:spPr>
          <a:xfrm>
            <a:off x="1952625" y="481139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8"/>
            </p:custDataLst>
          </p:nvPr>
        </p:nvCxnSpPr>
        <p:spPr>
          <a:xfrm>
            <a:off x="1952625" y="561657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9"/>
            </p:custDataLst>
          </p:nvPr>
        </p:nvCxnSpPr>
        <p:spPr>
          <a:xfrm>
            <a:off x="1952625" y="6421120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10"/>
            </p:custDataLst>
          </p:nvPr>
        </p:nvCxnSpPr>
        <p:spPr>
          <a:xfrm>
            <a:off x="6924040" y="6421120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>
            <p:custDataLst>
              <p:tags r:id="rId11"/>
            </p:custDataLst>
          </p:nvPr>
        </p:nvSpPr>
        <p:spPr>
          <a:xfrm>
            <a:off x="7221220" y="6052820"/>
            <a:ext cx="65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淘汰</a:t>
            </a:r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12"/>
            </p:custDataLst>
          </p:nvPr>
        </p:nvSpPr>
        <p:spPr>
          <a:xfrm>
            <a:off x="1835150" y="605282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缓存页面</a:t>
            </a:r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13"/>
            </p:custDataLst>
          </p:nvPr>
        </p:nvSpPr>
        <p:spPr>
          <a:xfrm>
            <a:off x="1835150" y="444309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常规页面</a:t>
            </a:r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14"/>
            </p:custDataLst>
          </p:nvPr>
        </p:nvSpPr>
        <p:spPr>
          <a:xfrm>
            <a:off x="1835150" y="363791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共用页面</a:t>
            </a:r>
            <a:endParaRPr lang="zh-CN" altLang="en-US"/>
          </a:p>
        </p:txBody>
      </p:sp>
      <p:cxnSp>
        <p:nvCxnSpPr>
          <p:cNvPr id="80" name="直接箭头连接符 79"/>
          <p:cNvCxnSpPr>
            <a:stCxn id="4" idx="2"/>
            <a:endCxn id="7" idx="0"/>
          </p:cNvCxnSpPr>
          <p:nvPr>
            <p:custDataLst>
              <p:tags r:id="rId15"/>
            </p:custDataLst>
          </p:nvPr>
        </p:nvCxnSpPr>
        <p:spPr>
          <a:xfrm>
            <a:off x="5060950" y="419227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>
            <p:custDataLst>
              <p:tags r:id="rId16"/>
            </p:custDataLst>
          </p:nvPr>
        </p:nvCxnSpPr>
        <p:spPr>
          <a:xfrm>
            <a:off x="5060950" y="580263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>
            <p:custDataLst>
              <p:tags r:id="rId17"/>
            </p:custDataLst>
          </p:nvPr>
        </p:nvCxnSpPr>
        <p:spPr>
          <a:xfrm>
            <a:off x="5060950" y="499745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18"/>
            </p:custDataLst>
          </p:nvPr>
        </p:nvSpPr>
        <p:spPr>
          <a:xfrm>
            <a:off x="1835150" y="524827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文件页面</a:t>
            </a:r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19"/>
            </p:custDataLst>
          </p:nvPr>
        </p:nvSpPr>
        <p:spPr>
          <a:xfrm>
            <a:off x="5131435" y="425704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20"/>
            </p:custDataLst>
          </p:nvPr>
        </p:nvSpPr>
        <p:spPr>
          <a:xfrm>
            <a:off x="5131435" y="506222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21"/>
            </p:custDataLst>
          </p:nvPr>
        </p:nvSpPr>
        <p:spPr>
          <a:xfrm>
            <a:off x="5131435" y="586740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页面替换的其它知识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分页文件</a:t>
            </a:r>
            <a:r>
              <a:rPr lang="en-US" altLang="zh-CN" sz="2000"/>
              <a:t>	Windows</a:t>
            </a:r>
            <a:r>
              <a:rPr lang="zh-CN" altLang="en-US" sz="2000"/>
              <a:t>将交换出来的页面组织成一个</a:t>
            </a:r>
            <a:r>
              <a:rPr lang="zh-CN" altLang="en-US" sz="2000">
                <a:solidFill>
                  <a:srgbClr val="9C0B15"/>
                </a:solidFill>
              </a:rPr>
              <a:t>文件pagefile.sys</a:t>
            </a:r>
            <a:r>
              <a:rPr lang="zh-CN" altLang="en-US" sz="2000"/>
              <a:t>放在文件</a:t>
            </a:r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vs.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系统上，称之为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分页文件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的做法则有不同，在硬盘上创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交换分区</a:t>
            </a:r>
            <a:r>
              <a:rPr lang="en-US" altLang="zh-CN" sz="2000"/>
              <a:t>	</a:t>
            </a:r>
            <a:r>
              <a:rPr lang="zh-CN" altLang="en-US" sz="2000">
                <a:sym typeface="+mn-ea"/>
              </a:rPr>
              <a:t>建一个连续的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分区swap</a:t>
            </a:r>
            <a:r>
              <a:rPr lang="zh-CN" altLang="en-US" sz="2000">
                <a:sym typeface="+mn-ea"/>
              </a:rPr>
              <a:t>来存放这些页面，称之为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交换分区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两种方法的目的是一致的，但组织形式有所不同。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分页文件和交换分区的优劣势各有哪些？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放到外存</a:t>
            </a:r>
            <a:r>
              <a:rPr lang="en-US" altLang="zh-CN" sz="2000"/>
              <a:t>	</a:t>
            </a:r>
            <a:r>
              <a:rPr lang="zh-CN" altLang="en-US" sz="2000"/>
              <a:t>传统上，操作系统会将交换出来的页面放进外存。但是实际观</a:t>
            </a:r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vs.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察可以发现，部分页面的内容的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重复性很高</a:t>
            </a:r>
            <a:r>
              <a:rPr lang="zh-CN" altLang="en-US" sz="2000">
                <a:sym typeface="+mn-ea"/>
              </a:rPr>
              <a:t>，因此可以将这些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内存压缩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页面</a:t>
            </a:r>
            <a:r>
              <a:rPr lang="zh-CN" altLang="en-US" sz="2000">
                <a:solidFill>
                  <a:srgbClr val="9C0B15"/>
                </a:solidFill>
              </a:rPr>
              <a:t>压缩一下，减小体积，然后仍然放在内存中</a:t>
            </a:r>
            <a:r>
              <a:rPr lang="zh-CN" altLang="en-US" sz="2000"/>
              <a:t>。当然，此时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它们无法被直接使用了，一旦被引用到，需要解压出来到真正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的物理页才能使用。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将页面压缩后放进内存与把它直接放到外存有什么优势和劣势？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你能想出结合这两方面优势的折中方案吗？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/>
          <a:srcRect l="1744" t="3898" r="1359" b="4639"/>
          <a:stretch>
            <a:fillRect/>
          </a:stretch>
        </p:blipFill>
        <p:spPr>
          <a:xfrm>
            <a:off x="1530985" y="2840990"/>
            <a:ext cx="6725285" cy="38830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页面替换的其它知识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r>
              <a:rPr lang="en-US" altLang="zh-CN" sz="2000" b="1">
                <a:solidFill>
                  <a:srgbClr val="9C0B15"/>
                </a:solidFill>
              </a:rPr>
              <a:t>非易失内存</a:t>
            </a:r>
            <a:r>
              <a:rPr lang="en-US" altLang="zh-CN" sz="2000"/>
              <a:t>	</a:t>
            </a:r>
            <a:r>
              <a:rPr lang="zh-CN" sz="2000"/>
              <a:t>目前有一些新存储技术，如</a:t>
            </a:r>
            <a:r>
              <a:rPr lang="zh-CN" altLang="en-US" sz="2000">
                <a:solidFill>
                  <a:srgbClr val="9C0B15"/>
                </a:solidFill>
              </a:rPr>
              <a:t>相变内存、忆阻器等</a:t>
            </a:r>
            <a:r>
              <a:rPr lang="zh-CN" sz="2000"/>
              <a:t>，它们具备</a:t>
            </a:r>
            <a:r>
              <a:rPr lang="zh-CN" altLang="en-US" sz="2000">
                <a:solidFill>
                  <a:srgbClr val="9C0B15"/>
                </a:solidFill>
              </a:rPr>
              <a:t>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快速随机访问的能力，只不过比传统内存稍慢；容量比内存远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要大，但比外存要小；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在断电后</a:t>
            </a:r>
            <a:r>
              <a:rPr lang="zh-CN" altLang="en-US" sz="2000">
                <a:solidFill>
                  <a:srgbClr val="9C0B15"/>
                </a:solidFill>
              </a:rPr>
              <a:t>它们的内容也像外存那样不丢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失</a:t>
            </a:r>
            <a:r>
              <a:rPr lang="zh-CN" sz="2000"/>
              <a:t>。</a:t>
            </a:r>
            <a:endParaRPr lang="zh-CN" sz="2000"/>
          </a:p>
          <a:p>
            <a:endParaRPr lang="zh-CN" altLang="en-US" sz="2000"/>
          </a:p>
          <a:p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从页面交换的角度出发，如何利用这些新存储器来提升系统性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能？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3.2 进程的基本操作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进程的操作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基本操作</a:t>
            </a:r>
            <a:endParaRPr lang="en-US" altLang="zh-CN" sz="2000" b="1">
              <a:solidFill>
                <a:srgbClr val="9C0B15"/>
              </a:solidFill>
            </a:endParaRPr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创建</a:t>
            </a:r>
            <a:r>
              <a:rPr lang="en-US" altLang="zh-CN" sz="2000"/>
              <a:t>		</a:t>
            </a:r>
            <a:r>
              <a:rPr lang="zh-CN" sz="2000"/>
              <a:t>通知操作系统建立一个新的虚拟地址空间。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销毁</a:t>
            </a:r>
            <a:r>
              <a:rPr lang="en-US" altLang="zh-CN" sz="2000"/>
              <a:t>		</a:t>
            </a:r>
            <a:r>
              <a:rPr lang="zh-CN" sz="2000"/>
              <a:t>通知操作系统销毁虚拟地址空间。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分配资源</a:t>
            </a:r>
            <a:r>
              <a:rPr lang="en-US" altLang="zh-CN" sz="2000"/>
              <a:t>	</a:t>
            </a:r>
            <a:r>
              <a:rPr lang="zh-CN" altLang="en-US" sz="2000"/>
              <a:t>给进程分配更多资源。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其它操作</a:t>
            </a:r>
            <a:endParaRPr lang="en-US" altLang="zh-CN" sz="2000" b="1">
              <a:solidFill>
                <a:srgbClr val="9C0B15"/>
              </a:solidFill>
            </a:endParaRPr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等待</a:t>
            </a:r>
            <a:r>
              <a:rPr lang="en-US" altLang="zh-CN" sz="2000"/>
              <a:t>		</a:t>
            </a:r>
            <a:r>
              <a:rPr lang="zh-CN" altLang="en-US" sz="2000"/>
              <a:t>等待另一个进程被销毁（也即其主线程终止）。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复制</a:t>
            </a:r>
            <a:r>
              <a:rPr lang="en-US" altLang="zh-CN" sz="2000"/>
              <a:t>		</a:t>
            </a:r>
            <a:r>
              <a:rPr lang="zh-CN" altLang="en-US" sz="2000"/>
              <a:t>产生一个当前进程的副本，或者加载其它程序覆盖当前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进程。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设置特权</a:t>
            </a:r>
            <a:r>
              <a:rPr lang="en-US" altLang="zh-CN" sz="2000"/>
              <a:t>	</a:t>
            </a:r>
            <a:r>
              <a:rPr lang="zh-CN" altLang="en-US" sz="2000"/>
              <a:t>赋予（</a:t>
            </a:r>
            <a:r>
              <a:rPr lang="en-US" altLang="zh-CN" sz="2000"/>
              <a:t>Grant</a:t>
            </a:r>
            <a:r>
              <a:rPr lang="zh-CN" altLang="en-US" sz="2000"/>
              <a:t>）或撤销（</a:t>
            </a:r>
            <a:r>
              <a:rPr lang="en-US" altLang="zh-CN" sz="2000"/>
              <a:t>Revoke</a:t>
            </a:r>
            <a:r>
              <a:rPr lang="zh-CN" altLang="en-US" sz="2000"/>
              <a:t>）进程的某些权限。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设置</a:t>
            </a:r>
            <a:r>
              <a:rPr lang="zh-CN" altLang="en-US" sz="2000" b="1">
                <a:solidFill>
                  <a:srgbClr val="9C0B15"/>
                </a:solidFill>
              </a:rPr>
              <a:t>策略</a:t>
            </a:r>
            <a:r>
              <a:rPr lang="en-US" altLang="zh-CN" sz="2000"/>
              <a:t>	</a:t>
            </a:r>
            <a:r>
              <a:rPr lang="zh-CN" altLang="en-US" sz="2000"/>
              <a:t>对进程</a:t>
            </a:r>
            <a:r>
              <a:rPr lang="zh-CN" altLang="en-US" sz="2000">
                <a:sym typeface="+mn-ea"/>
              </a:rPr>
              <a:t>设置</a:t>
            </a:r>
            <a:r>
              <a:rPr lang="zh-CN" altLang="en-US" sz="2000"/>
              <a:t>资源总量限制或资源分配优先级等等。不</a:t>
            </a:r>
            <a:r>
              <a:rPr lang="zh-CN" altLang="en-US" sz="2000">
                <a:sym typeface="+mn-ea"/>
              </a:rPr>
              <a:t>要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把这个优先级和线程的优先级搞混了，这里主要是指</a:t>
            </a:r>
            <a:r>
              <a:rPr lang="zh-CN" altLang="en-US" sz="2000">
                <a:sym typeface="+mn-ea"/>
              </a:rPr>
              <a:t>分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配物理内存（或其他空间资源）时是否优先照顾它的</a:t>
            </a:r>
            <a:r>
              <a:rPr lang="zh-CN" altLang="en-US" sz="2000">
                <a:sym typeface="+mn-ea"/>
              </a:rPr>
              <a:t>请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求。当然，也有以进程为单位一次性设置其全部线程优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先级的</a:t>
            </a:r>
            <a:r>
              <a:rPr lang="en-US" altLang="zh-CN" sz="2000"/>
              <a:t>API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3.2 进程的基本操作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进程接口实例</a:t>
            </a:r>
            <a:endParaRPr lang="zh-CN" altLang="en-US" sz="2000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33375" y="1059815"/>
          <a:ext cx="9121140" cy="580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8760"/>
                <a:gridCol w="3622040"/>
                <a:gridCol w="2720340"/>
              </a:tblGrid>
              <a:tr h="4800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Linux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  <a:sym typeface="+mn-ea"/>
                        </a:rPr>
                        <a:t>Windows</a:t>
                      </a:r>
                      <a:r>
                        <a:rPr lang="zh-CN" altLang="en-US" sz="1800">
                          <a:latin typeface="+mn-ea"/>
                          <a:cs typeface="+mn-ea"/>
                          <a:sym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功能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vfork+exec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函数族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Create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CreateProcessAsUser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创建进程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exit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ExitProcess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销毁进程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waitpid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/wait4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WaitForSingleObject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等待进程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fork/clone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Create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>
                          <a:latin typeface="+mn-ea"/>
                          <a:cs typeface="思源黑体 CN Regular" panose="020B0500000000000000" charset="-122"/>
                        </a:rPr>
                        <a:t>+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其它系统调用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复制进程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（继承用户权限）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capset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ptrace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mprotect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（继承用户权限）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SetSecurityInfo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SetProcessValidCallTargets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SetProcessDEPPolicy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设置特权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setrlimit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madvise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SetProcessWorkingSetSize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SetProcessAffinityMask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SetProcessPriorityBoost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SetProcessInformation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设置策略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46087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11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请简述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进程与可执行文件的联系与</a:t>
            </a:r>
            <a:r>
              <a:rPr lang="zh-CN" sz="4400">
                <a:sym typeface="+mn-ea"/>
              </a:rPr>
              <a:t>区别。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46087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12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请简述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页式内存管理中，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页大小的选择需要权衡哪些</a:t>
            </a:r>
            <a:r>
              <a:rPr lang="zh-CN" sz="4400">
                <a:sym typeface="+mn-ea"/>
              </a:rPr>
              <a:t>方面。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3256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13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随机页面替换算法会导致</a:t>
            </a:r>
            <a:r>
              <a:rPr lang="en-US" altLang="zh-CN" sz="4400">
                <a:sym typeface="+mn-ea"/>
              </a:rPr>
              <a:t>Belady</a:t>
            </a:r>
            <a:r>
              <a:rPr lang="zh-CN" altLang="en-US" sz="4400">
                <a:sym typeface="+mn-ea"/>
              </a:rPr>
              <a:t>异常吗？为什么？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36968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zh-CN" sz="2000">
                <a:sym typeface="+mn-ea"/>
              </a:rPr>
              <a:t> 为什么</a:t>
            </a:r>
            <a:r>
              <a:rPr lang="en-US" altLang="zh-CN" sz="2000">
                <a:sym typeface="+mn-ea"/>
              </a:rPr>
              <a:t>end_brk</a:t>
            </a:r>
            <a:r>
              <a:rPr lang="zh-CN" altLang="en-US" sz="2000">
                <a:sym typeface="+mn-ea"/>
              </a:rPr>
              <a:t>一旦增加，一般是不会回落的？你能想出一种场景，如果不进行荒野保护，会导致不必要的</a:t>
            </a:r>
            <a:r>
              <a:rPr lang="en-US" altLang="zh-CN" sz="2000">
                <a:sym typeface="+mn-ea"/>
              </a:rPr>
              <a:t>brk</a:t>
            </a:r>
            <a:r>
              <a:rPr lang="zh-CN" altLang="en-US" sz="2000">
                <a:sym typeface="+mn-ea"/>
              </a:rPr>
              <a:t>上移</a:t>
            </a:r>
            <a:r>
              <a:rPr lang="zh-CN" altLang="en-US" sz="2000">
                <a:sym typeface="+mn-ea"/>
              </a:rPr>
              <a:t>吗？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>
                <a:sym typeface="+mn-ea"/>
              </a:rPr>
              <a:t> </a:t>
            </a:r>
            <a:r>
              <a:rPr lang="zh-CN" sz="2000">
                <a:sym typeface="+mn-ea"/>
              </a:rPr>
              <a:t>除了</a:t>
            </a:r>
            <a:r>
              <a:rPr lang="en-US" altLang="zh-CN" sz="2000">
                <a:sym typeface="+mn-ea"/>
              </a:rPr>
              <a:t>sbrk</a:t>
            </a:r>
            <a:r>
              <a:rPr lang="zh-CN" altLang="en-US" sz="2000">
                <a:sym typeface="+mn-ea"/>
              </a:rPr>
              <a:t>以外，还有什么方法能增加堆的大小</a:t>
            </a:r>
            <a:r>
              <a:rPr lang="zh-CN" sz="2000">
                <a:sym typeface="+mn-ea"/>
              </a:rPr>
              <a:t>？它与</a:t>
            </a:r>
            <a:r>
              <a:rPr lang="en-US" altLang="zh-CN" sz="2000">
                <a:sym typeface="+mn-ea"/>
              </a:rPr>
              <a:t>sbrk</a:t>
            </a:r>
            <a:r>
              <a:rPr lang="zh-CN" altLang="en-US" sz="2000">
                <a:sym typeface="+mn-ea"/>
              </a:rPr>
              <a:t>有何区别？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zh-CN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内核在运行时，本身的内核对象（如</a:t>
            </a:r>
            <a:r>
              <a:rPr lang="en-US" altLang="zh-CN" sz="2000">
                <a:sym typeface="+mn-ea"/>
              </a:rPr>
              <a:t>task_struct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mm_struct</a:t>
            </a:r>
            <a:r>
              <a:rPr lang="zh-CN" altLang="en-US" sz="2000">
                <a:sym typeface="+mn-ea"/>
              </a:rPr>
              <a:t>和页表等）也会消耗一定的内存，这些内存我们称之为内核内存。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最常见的内核内存的分配器叫什么名字？它是怎么设计的？</a:t>
            </a:r>
            <a:r>
              <a:rPr lang="zh-CN" altLang="en-US" sz="2000">
                <a:sym typeface="+mn-ea"/>
              </a:rPr>
              <a:t>它和</a:t>
            </a:r>
            <a:r>
              <a:rPr lang="en-US" altLang="zh-CN" sz="2000">
                <a:sym typeface="+mn-ea"/>
              </a:rPr>
              <a:t>dlmalloc</a:t>
            </a:r>
            <a:r>
              <a:rPr lang="zh-CN" altLang="en-US" sz="2000">
                <a:sym typeface="+mn-ea"/>
              </a:rPr>
              <a:t>有何异同？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zh-CN" sz="2000">
                <a:sym typeface="+mn-ea"/>
              </a:rPr>
              <a:t> 查询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源代码和相关资料，请简述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是如何管理其</a:t>
            </a:r>
            <a:r>
              <a:rPr lang="en-US" altLang="zh-CN" sz="2000">
                <a:sym typeface="+mn-ea"/>
              </a:rPr>
              <a:t>PCID</a:t>
            </a:r>
            <a:r>
              <a:rPr lang="zh-CN" altLang="en-US" sz="2000">
                <a:sym typeface="+mn-ea"/>
              </a:rPr>
              <a:t>的，并简述该机制如何能够</a:t>
            </a:r>
            <a:r>
              <a:rPr lang="zh-CN" altLang="en-US" sz="2000">
                <a:sym typeface="+mn-ea"/>
              </a:rPr>
              <a:t>帮助避免</a:t>
            </a:r>
            <a:r>
              <a:rPr lang="en-US" altLang="zh-CN" sz="2000">
                <a:sym typeface="+mn-ea"/>
              </a:rPr>
              <a:t>Meltdown</a:t>
            </a:r>
            <a:r>
              <a:rPr lang="zh-CN" altLang="en-US" sz="2000">
                <a:sym typeface="+mn-ea"/>
              </a:rPr>
              <a:t>漏洞。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zh-CN" sz="2000">
                <a:sym typeface="+mn-ea"/>
              </a:rPr>
              <a:t> 查找资料，说明</a:t>
            </a:r>
            <a:r>
              <a:rPr lang="en-US" altLang="zh-CN" sz="2000">
                <a:sym typeface="+mn-ea"/>
              </a:rPr>
              <a:t>CXL.mem</a:t>
            </a:r>
            <a:r>
              <a:rPr lang="zh-CN" altLang="en-US" sz="2000">
                <a:sym typeface="+mn-ea"/>
              </a:rPr>
              <a:t>协议的主要用途。由它组成的系统是</a:t>
            </a:r>
            <a:r>
              <a:rPr lang="en-US" altLang="zh-CN" sz="2000">
                <a:sym typeface="+mn-ea"/>
              </a:rPr>
              <a:t>UMA</a:t>
            </a:r>
            <a:r>
              <a:rPr lang="zh-CN" altLang="en-US" sz="2000">
                <a:sym typeface="+mn-ea"/>
              </a:rPr>
              <a:t>还是</a:t>
            </a:r>
            <a:r>
              <a:rPr lang="en-US" altLang="zh-CN" sz="2000">
                <a:sym typeface="+mn-ea"/>
              </a:rPr>
              <a:t>NUMA</a:t>
            </a:r>
            <a:r>
              <a:rPr lang="zh-CN" altLang="en-US" sz="2000">
                <a:sym typeface="+mn-ea"/>
              </a:rPr>
              <a:t>？为什么？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题目六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结合页面缓存机制，请解释为何将页面分配给新进程之前需要清零。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36968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题目七</a:t>
            </a:r>
            <a:r>
              <a:rPr lang="zh-CN" sz="2000">
                <a:sym typeface="+mn-ea"/>
              </a:rPr>
              <a:t> </a:t>
            </a:r>
            <a:r>
              <a:rPr lang="en-US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（或</a:t>
            </a:r>
            <a:r>
              <a:rPr lang="en-US" altLang="zh-CN" sz="2000">
                <a:sym typeface="+mn-ea"/>
              </a:rPr>
              <a:t>clone</a:t>
            </a:r>
            <a:r>
              <a:rPr lang="zh-CN" altLang="en-US" sz="2000">
                <a:sym typeface="+mn-ea"/>
              </a:rPr>
              <a:t>）系统调用是具体如何复制进程的？这和请求分页有何相似之处？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题目八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exec</a:t>
            </a:r>
            <a:r>
              <a:rPr lang="zh-CN" altLang="en-US" sz="2000">
                <a:sym typeface="+mn-ea"/>
              </a:rPr>
              <a:t>函数族具体包括哪些函数？它们之间的细节差异是什么？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题目九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中的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vfork</a:t>
            </a:r>
            <a:r>
              <a:rPr lang="zh-CN" altLang="en-US" sz="2000">
                <a:sym typeface="+mn-ea"/>
              </a:rPr>
              <a:t>有什么区别？为什么在调用</a:t>
            </a:r>
            <a:r>
              <a:rPr lang="en-US" altLang="zh-CN" sz="2000">
                <a:sym typeface="+mn-ea"/>
              </a:rPr>
              <a:t>exec</a:t>
            </a:r>
            <a:r>
              <a:rPr lang="zh-CN" altLang="en-US" sz="2000">
                <a:sym typeface="+mn-ea"/>
              </a:rPr>
              <a:t>函数族之前，我们惯用</a:t>
            </a:r>
            <a:r>
              <a:rPr lang="en-US" altLang="zh-CN" sz="2000">
                <a:sym typeface="+mn-ea"/>
              </a:rPr>
              <a:t>vfork</a:t>
            </a:r>
            <a:r>
              <a:rPr lang="zh-CN" altLang="en-US" sz="2000">
                <a:sym typeface="+mn-ea"/>
              </a:rPr>
              <a:t>而不是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查阅内存盘（</a:t>
            </a:r>
            <a:r>
              <a:rPr lang="en-US" altLang="zh-CN" sz="2000">
                <a:sym typeface="+mn-ea"/>
              </a:rPr>
              <a:t>RAMDISK</a:t>
            </a:r>
            <a:r>
              <a:rPr lang="zh-CN" altLang="en-US" sz="2000">
                <a:sym typeface="+mn-ea"/>
              </a:rPr>
              <a:t>）相关资料，并回答它与普通磁盘有什么异同点。将分页文件（</a:t>
            </a:r>
            <a:r>
              <a:rPr lang="en-US" altLang="zh-CN" sz="2000">
                <a:sym typeface="+mn-ea"/>
              </a:rPr>
              <a:t>pagefile.sys</a:t>
            </a:r>
            <a:r>
              <a:rPr lang="zh-CN" altLang="en-US" sz="2000">
                <a:sym typeface="+mn-ea"/>
              </a:rPr>
              <a:t>）放在内存盘上来加速其读写有意义吗？为什么？（可假设机器安装</a:t>
            </a:r>
            <a:r>
              <a:rPr lang="en-US" altLang="zh-CN" sz="2000">
                <a:sym typeface="+mn-ea"/>
              </a:rPr>
              <a:t>32GB</a:t>
            </a:r>
            <a:r>
              <a:rPr lang="zh-CN" altLang="en-US" sz="2000">
                <a:sym typeface="+mn-ea"/>
              </a:rPr>
              <a:t>物理内存，并分别考虑安装</a:t>
            </a:r>
            <a:r>
              <a:rPr lang="en-US" altLang="zh-CN" sz="2000">
                <a:sym typeface="+mn-ea"/>
              </a:rPr>
              <a:t>32</a:t>
            </a:r>
            <a:r>
              <a:rPr lang="zh-CN" altLang="en-US" sz="2000">
                <a:sym typeface="+mn-ea"/>
              </a:rPr>
              <a:t>位和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位系统的情况。）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题目十一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请简述</a:t>
            </a:r>
            <a:r>
              <a:rPr lang="zh-CN" altLang="en-US" sz="2000">
                <a:sym typeface="+mn-ea"/>
              </a:rPr>
              <a:t>如何通过</a:t>
            </a:r>
            <a:r>
              <a:rPr lang="en-US" altLang="zh-CN" sz="2000">
                <a:sym typeface="+mn-ea"/>
              </a:rPr>
              <a:t>madvise</a:t>
            </a:r>
            <a:r>
              <a:rPr lang="zh-CN" altLang="en-US" sz="2000">
                <a:sym typeface="+mn-ea"/>
              </a:rPr>
              <a:t>系统调用</a:t>
            </a:r>
            <a:r>
              <a:rPr lang="zh-CN" altLang="en-US" sz="2000">
                <a:sym typeface="+mn-ea"/>
              </a:rPr>
              <a:t>提高请求分页系统的性能。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题目十二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查询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中进程树的概念，并说明系统中的其它进程是如何由</a:t>
            </a:r>
            <a:r>
              <a:rPr lang="en-US" altLang="zh-CN" sz="2000">
                <a:sym typeface="+mn-ea"/>
              </a:rPr>
              <a:t>init</a:t>
            </a:r>
            <a:r>
              <a:rPr lang="zh-CN" altLang="en-US" sz="2000">
                <a:sym typeface="+mn-ea"/>
              </a:rPr>
              <a:t>进程产生的，以及父进程提早退出后留下的僵尸子进程是如何由</a:t>
            </a:r>
            <a:r>
              <a:rPr lang="en-US" altLang="zh-CN" sz="2000">
                <a:sym typeface="+mn-ea"/>
              </a:rPr>
              <a:t>init</a:t>
            </a:r>
            <a:r>
              <a:rPr lang="zh-CN" altLang="en-US" sz="2000">
                <a:sym typeface="+mn-ea"/>
              </a:rPr>
              <a:t>收尾的。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IMING" val="|0.6|0.8|1.2|0.9|0.6|1.1|0.7|0.6|0.8|0.4|1"/>
</p:tagLst>
</file>

<file path=ppt/tags/tag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IMING" val="|0.6|0.8|1.2|0.9|0.6|1.1|0.7|0.6|0.8|0.4|1"/>
</p:tagLst>
</file>

<file path=ppt/tags/tag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0.xml><?xml version="1.0" encoding="utf-8"?>
<p:tagLst xmlns:p="http://schemas.openxmlformats.org/presentationml/2006/main">
  <p:tag name="KSO_WM_UNIT_TABLE_BEAUTIFY" val="smartTable{a8b21506-2bba-49b1-9e39-8012d08ce0ce}"/>
  <p:tag name="TABLE_ENDDRAG_ORIGIN_RECT" val="726*190"/>
  <p:tag name="TABLE_ENDDRAG_RECT" val="26*53*726*190"/>
  <p:tag name="KSO_WM_BEAUTIFY_FLAG" val=""/>
</p:tagLst>
</file>

<file path=ppt/tags/tag11.xml><?xml version="1.0" encoding="utf-8"?>
<p:tagLst xmlns:p="http://schemas.openxmlformats.org/presentationml/2006/main">
  <p:tag name="KSO_WM_BEAUTIFY_FLAG" val=""/>
  <p:tag name="KSO_WM_UNIT_PLACING_PICTURE_USER_VIEWPORT" val="{&quot;height&quot;:4137,&quot;width&quot;:14537}"/>
</p:tagLst>
</file>

<file path=ppt/tags/tag12.xml><?xml version="1.0" encoding="utf-8"?>
<p:tagLst xmlns:p="http://schemas.openxmlformats.org/presentationml/2006/main">
  <p:tag name="TIMING" val="|0.6|0.8|1.2|0.9|0.6|1.1|0.7|0.6|0.8|0.4|1"/>
</p:tagLst>
</file>

<file path=ppt/tags/tag1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IMING" val="|0.6|0.8|1.2|0.9|0.6|1.1|0.7|0.6|0.8|0.4|1"/>
</p:tagLst>
</file>

<file path=ppt/tags/tag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.xml><?xml version="1.0" encoding="utf-8"?>
<p:tagLst xmlns:p="http://schemas.openxmlformats.org/presentationml/2006/main">
  <p:tag name="TIMING" val="|0.6|0.8|1.2|0.9|0.6|1.1|0.7|0.6|0.8|0.4|1"/>
</p:tagLst>
</file>

<file path=ppt/tags/tag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.xml><?xml version="1.0" encoding="utf-8"?>
<p:tagLst xmlns:p="http://schemas.openxmlformats.org/presentationml/2006/main">
  <p:tag name="TIMING" val="|0.6|0.8|1.2|0.9|0.6|1.1|0.7|0.6|0.8|0.4|1"/>
</p:tagLst>
</file>

<file path=ppt/tags/tag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TIMING" val="|0.6|0.8|1.2|0.9|0.6|1.1|0.7|0.6|0.8|0.4|1"/>
</p:tagLst>
</file>

<file path=ppt/tags/tag4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TIMING" val="|0.6|0.8|1.2|0.9|0.6|1.1|0.7|0.6|0.8|0.4|1"/>
</p:tagLst>
</file>

<file path=ppt/tags/tag6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1.xml><?xml version="1.0" encoding="utf-8"?>
<p:tagLst xmlns:p="http://schemas.openxmlformats.org/presentationml/2006/main">
  <p:tag name="TIMING" val="|0.6|0.8|1.2|0.9|0.6|1.1|0.7|0.6|0.8|0.4|1"/>
</p:tagLst>
</file>

<file path=ppt/tags/tag6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3.xml><?xml version="1.0" encoding="utf-8"?>
<p:tagLst xmlns:p="http://schemas.openxmlformats.org/presentationml/2006/main">
  <p:tag name="TIMING" val="|0.6|0.8|1.2|0.9|0.6|1.1|0.7|0.6|0.8|0.4|1"/>
</p:tagLst>
</file>

<file path=ppt/tags/tag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.xml><?xml version="1.0" encoding="utf-8"?>
<p:tagLst xmlns:p="http://schemas.openxmlformats.org/presentationml/2006/main">
  <p:tag name="TIMING" val="|0.6|0.8|1.2|0.9|0.6|1.1|0.7|0.6|0.8|0.4|1"/>
</p:tagLst>
</file>

<file path=ppt/tags/tag6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67.xml><?xml version="1.0" encoding="utf-8"?>
<p:tagLst xmlns:p="http://schemas.openxmlformats.org/presentationml/2006/main">
  <p:tag name="TIMING" val="|0.6|0.8|1.2|0.9|0.6|1.1|0.7|0.6|0.8|0.4|1"/>
</p:tagLst>
</file>

<file path=ppt/tags/tag68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69.xml><?xml version="1.0" encoding="utf-8"?>
<p:tagLst xmlns:p="http://schemas.openxmlformats.org/presentationml/2006/main">
  <p:tag name="TIMING" val="|0.6|0.8|1.2|0.9|0.6|1.1|0.7|0.6|0.8|0.4|1"/>
</p:tagLst>
</file>

<file path=ppt/tags/tag70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1.xml><?xml version="1.0" encoding="utf-8"?>
<p:tagLst xmlns:p="http://schemas.openxmlformats.org/presentationml/2006/main">
  <p:tag name="TIMING" val="|0.6|0.8|1.2|0.9|0.6|1.1|0.7|0.6|0.8|0.4|1"/>
</p:tagLst>
</file>

<file path=ppt/tags/tag72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TIMING" val="|0.6|0.8|1.2|0.9|0.6|1.1|0.7|0.6|0.8|0.4|1"/>
</p:tagLst>
</file>

<file path=ppt/tags/tag78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TIMING" val="|0.6|0.8|1.2|0.9|0.6|1.1|0.7|0.6|0.8|0.4|1"/>
</p:tagLst>
</file>

<file path=ppt/tags/tag83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IMING" val="|0.6|0.8|1.2|0.9|0.6|1.1|0.7|0.6|0.8|0.4|1"/>
</p:tagLst>
</file>

<file path=ppt/tags/tag8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0.xml><?xml version="1.0" encoding="utf-8"?>
<p:tagLst xmlns:p="http://schemas.openxmlformats.org/presentationml/2006/main">
  <p:tag name="TIMING" val="|0.6|0.8|1.2|0.9|0.6|1.1|0.7|0.6|0.8|0.4|1"/>
</p:tagLst>
</file>

<file path=ppt/tags/tag9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3.xml><?xml version="1.0" encoding="utf-8"?>
<p:tagLst xmlns:p="http://schemas.openxmlformats.org/presentationml/2006/main">
  <p:tag name="TIMING" val="|0.6|0.8|1.2|0.9|0.6|1.1|0.7|0.6|0.8|0.4|1"/>
</p:tagLst>
</file>

<file path=ppt/tags/tag94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5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6.xml><?xml version="1.0" encoding="utf-8"?>
<p:tagLst xmlns:p="http://schemas.openxmlformats.org/presentationml/2006/main">
  <p:tag name="TIMING" val="|0.6|0.8|1.2|0.9|0.6|1.1|0.7|0.6|0.8|0.4|1"/>
</p:tagLst>
</file>

<file path=ppt/tags/tag9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8.xml><?xml version="1.0" encoding="utf-8"?>
<p:tagLst xmlns:p="http://schemas.openxmlformats.org/presentationml/2006/main">
  <p:tag name="TIMING" val="|0.6|0.8|1.2|0.9|0.6|1.1|0.7|0.6|0.8|0.4|1"/>
</p:tagLst>
</file>

<file path=ppt/tags/tag99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0.xml><?xml version="1.0" encoding="utf-8"?>
<p:tagLst xmlns:p="http://schemas.openxmlformats.org/presentationml/2006/main">
  <p:tag name="TIMING" val="|0.6|0.8|1.2|0.9|0.6|1.1|0.7|0.6|0.8|0.4|1"/>
</p:tagLst>
</file>

<file path=ppt/tags/tag10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103.xml><?xml version="1.0" encoding="utf-8"?>
<p:tagLst xmlns:p="http://schemas.openxmlformats.org/presentationml/2006/main">
  <p:tag name="KSO_WM_UNIT_TABLE_BEAUTIFY" val="smartTable{5e84f8a0-4d65-4535-9e8d-b7e310e535d5}"/>
  <p:tag name="TABLE_ENDDRAG_ORIGIN_RECT" val="730*147"/>
  <p:tag name="TABLE_ENDDRAG_RECT" val="27*23*730*147"/>
  <p:tag name="KSO_WM_BEAUTIFY_FLAG" val=""/>
</p:tagLst>
</file>

<file path=ppt/tags/tag104.xml><?xml version="1.0" encoding="utf-8"?>
<p:tagLst xmlns:p="http://schemas.openxmlformats.org/presentationml/2006/main">
  <p:tag name="TIMING" val="|0.6|0.8|1.2|0.9|0.6|1.1|0.7|0.6|0.8|0.4|1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TIMING" val="|0.6|0.8|1.2|0.9|0.6|1.1|0.7|0.6|0.8|0.4|1"/>
</p:tagLst>
</file>

<file path=ppt/tags/tag115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TIMING" val="|0.6|0.8|1.2|0.9|0.6|1.1|0.7|0.6|0.8|0.4|1"/>
</p:tagLst>
</file>

<file path=ppt/tags/tag13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38.xml><?xml version="1.0" encoding="utf-8"?>
<p:tagLst xmlns:p="http://schemas.openxmlformats.org/presentationml/2006/main">
  <p:tag name="TIMING" val="|0.6|0.8|1.2|0.9|0.6|1.1|0.7|0.6|0.8|0.4|1"/>
</p:tagLst>
</file>

<file path=ppt/tags/tag13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0.xml><?xml version="1.0" encoding="utf-8"?>
<p:tagLst xmlns:p="http://schemas.openxmlformats.org/presentationml/2006/main">
  <p:tag name="TIMING" val="|0.6|0.8|1.2|0.9|0.6|1.1|0.7|0.6|0.8|0.4|1"/>
</p:tagLst>
</file>

<file path=ppt/tags/tag14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TIMING" val="|0.6|0.8|1.2|0.9|0.6|1.1|0.7|0.6|0.8|0.4|1"/>
</p:tagLst>
</file>

<file path=ppt/tags/tag17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TIMING" val="|0.6|0.8|1.2|0.9|0.6|1.1|0.7|0.6|0.8|0.4|1"/>
</p:tagLst>
</file>

<file path=ppt/tags/tag2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IMING" val="|0.6|0.8|1.2|0.9|0.6|1.1|0.7|0.6|0.8|0.4|1"/>
</p:tagLst>
</file>

<file path=ppt/tags/tag2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1.xml><?xml version="1.0" encoding="utf-8"?>
<p:tagLst xmlns:p="http://schemas.openxmlformats.org/presentationml/2006/main">
  <p:tag name="TIMING" val="|0.6|0.8|1.2|0.9|0.6|1.1|0.7|0.6|0.8|0.4|1"/>
</p:tagLst>
</file>

<file path=ppt/tags/tag24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3.xml><?xml version="1.0" encoding="utf-8"?>
<p:tagLst xmlns:p="http://schemas.openxmlformats.org/presentationml/2006/main">
  <p:tag name="TIMING" val="|0.6|0.8|1.2|0.9|0.6|1.1|0.7|0.6|0.8|0.4|1"/>
</p:tagLst>
</file>

<file path=ppt/tags/tag24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TIMING" val="|0.6|0.8|1.2|0.9|0.6|1.1|0.7|0.6|0.8|0.4|1"/>
</p:tagLst>
</file>

<file path=ppt/tags/tag25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3.xml><?xml version="1.0" encoding="utf-8"?>
<p:tagLst xmlns:p="http://schemas.openxmlformats.org/presentationml/2006/main">
  <p:tag name="TIMING" val="|0.6|0.8|1.2|0.9|0.6|1.1|0.7|0.6|0.8|0.4|1"/>
</p:tagLst>
</file>

<file path=ppt/tags/tag25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5.xml><?xml version="1.0" encoding="utf-8"?>
<p:tagLst xmlns:p="http://schemas.openxmlformats.org/presentationml/2006/main">
  <p:tag name="TIMING" val="|0.6|0.8|1.2|0.9|0.6|1.1|0.7|0.6|0.8|0.4|1"/>
</p:tagLst>
</file>

<file path=ppt/tags/tag25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TIMING" val="|0.6|0.8|1.2|0.9|0.6|1.1|0.7|0.6|0.8|0.4|1"/>
</p:tagLst>
</file>

<file path=ppt/tags/tag2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0.xml><?xml version="1.0" encoding="utf-8"?>
<p:tagLst xmlns:p="http://schemas.openxmlformats.org/presentationml/2006/main">
  <p:tag name="TIMING" val="|0.6|0.8|1.2|0.9|0.6|1.1|0.7|0.6|0.8|0.4|1"/>
</p:tagLst>
</file>

<file path=ppt/tags/tag2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TIMING" val="|0.6|0.8|1.2|0.9|0.6|1.1|0.7|0.6|0.8|0.4|1"/>
</p:tagLst>
</file>

<file path=ppt/tags/tag2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5.xml><?xml version="1.0" encoding="utf-8"?>
<p:tagLst xmlns:p="http://schemas.openxmlformats.org/presentationml/2006/main">
  <p:tag name="TIMING" val="|0.6|0.8|1.2|0.9|0.6|1.1|0.7|0.6|0.8|0.4|1"/>
</p:tagLst>
</file>

<file path=ppt/tags/tag26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TIMING" val="|0.6|0.8|1.2|0.9|0.6|1.1|0.7|0.6|0.8|0.4|1"/>
</p:tagLst>
</file>

<file path=ppt/tags/tag27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TIMING" val="|0.6|0.8|1.2|0.9|0.6|1.1|0.7|0.6|0.8|0.4|1"/>
</p:tagLst>
</file>

<file path=ppt/tags/tag29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TIMING" val="|0.6|0.8|1.2|0.9|0.6|1.1|0.7|0.6|0.8|0.4|1"/>
</p:tagLst>
</file>

<file path=ppt/tags/tag30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2.xml><?xml version="1.0" encoding="utf-8"?>
<p:tagLst xmlns:p="http://schemas.openxmlformats.org/presentationml/2006/main">
  <p:tag name="TIMING" val="|0.6|0.8|1.2|0.9|0.6|1.1|0.7|0.6|0.8|0.4|1"/>
</p:tagLst>
</file>

<file path=ppt/tags/tag30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4.xml><?xml version="1.0" encoding="utf-8"?>
<p:tagLst xmlns:p="http://schemas.openxmlformats.org/presentationml/2006/main">
  <p:tag name="TIMING" val="|0.6|0.8|1.2|0.9|0.6|1.1|0.7|0.6|0.8|0.4|1"/>
</p:tagLst>
</file>

<file path=ppt/tags/tag3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TIMING" val="|0.6|0.8|1.2|0.9|0.6|1.1|0.7|0.6|0.8|0.4|1"/>
</p:tagLst>
</file>

<file path=ppt/tags/tag3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TIMING" val="|0.6|0.8|1.2|0.9|0.6|1.1|0.7|0.6|0.8|0.4|1"/>
</p:tagLst>
</file>

<file path=ppt/tags/tag3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TIMING" val="|0.6|0.8|1.2|0.9|0.6|1.1|0.7|0.6|0.8|0.4|1"/>
</p:tagLst>
</file>

<file path=ppt/tags/tag34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8.xml><?xml version="1.0" encoding="utf-8"?>
<p:tagLst xmlns:p="http://schemas.openxmlformats.org/presentationml/2006/main">
  <p:tag name="TIMING" val="|0.6|0.8|1.2|0.9|0.6|1.1|0.7|0.6|0.8|0.4|1"/>
</p:tagLst>
</file>

<file path=ppt/tags/tag3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0.xml><?xml version="1.0" encoding="utf-8"?>
<p:tagLst xmlns:p="http://schemas.openxmlformats.org/presentationml/2006/main">
  <p:tag name="TIMING" val="|0.6|0.8|1.2|0.9|0.6|1.1|0.7|0.6|0.8|0.4|1"/>
</p:tagLst>
</file>

<file path=ppt/tags/tag3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TIMING" val="|0.6|0.8|1.2|0.9|0.6|1.1|0.7|0.6|0.8|0.4|1"/>
</p:tagLst>
</file>

<file path=ppt/tags/tag3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TIMING" val="|0.6|0.8|1.2|0.9|0.6|1.1|0.7|0.6|0.8|0.4|1"/>
</p:tagLst>
</file>

<file path=ppt/tags/tag38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0.xml><?xml version="1.0" encoding="utf-8"?>
<p:tagLst xmlns:p="http://schemas.openxmlformats.org/presentationml/2006/main">
  <p:tag name="TIMING" val="|0.6|0.8|1.2|0.9|0.6|1.1|0.7|0.6|0.8|0.4|1"/>
</p:tagLst>
</file>

<file path=ppt/tags/tag39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2.xml><?xml version="1.0" encoding="utf-8"?>
<p:tagLst xmlns:p="http://schemas.openxmlformats.org/presentationml/2006/main">
  <p:tag name="TIMING" val="|0.6|0.8|1.2|0.9|0.6|1.1|0.7|0.6|0.8|0.4|1"/>
</p:tagLst>
</file>

<file path=ppt/tags/tag39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4.xml><?xml version="1.0" encoding="utf-8"?>
<p:tagLst xmlns:p="http://schemas.openxmlformats.org/presentationml/2006/main">
  <p:tag name="TIMING" val="|0.6|0.8|1.2|0.9|0.6|1.1|0.7|0.6|0.8|0.4|1"/>
</p:tagLst>
</file>

<file path=ppt/tags/tag39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6.xml><?xml version="1.0" encoding="utf-8"?>
<p:tagLst xmlns:p="http://schemas.openxmlformats.org/presentationml/2006/main">
  <p:tag name="KSO_WM_UNIT_TABLE_BEAUTIFY" val="smartTable{a8b21506-2bba-49b1-9e39-8012d08ce0ce}"/>
  <p:tag name="TABLE_ENDDRAG_ORIGIN_RECT" val="718*456"/>
  <p:tag name="TABLE_ENDDRAG_RECT" val="26*53*718*456"/>
  <p:tag name="KSO_WM_BEAUTIFY_FLAG" val=""/>
</p:tagLst>
</file>

<file path=ppt/tags/tag397.xml><?xml version="1.0" encoding="utf-8"?>
<p:tagLst xmlns:p="http://schemas.openxmlformats.org/presentationml/2006/main">
  <p:tag name="TIMING" val="|0.6|0.8|1.2|0.9|0.6|1.1|0.7|0.6|0.8|0.4|1"/>
</p:tagLst>
</file>

<file path=ppt/tags/tag39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9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400.xml><?xml version="1.0" encoding="utf-8"?>
<p:tagLst xmlns:p="http://schemas.openxmlformats.org/presentationml/2006/main">
  <p:tag name="TIMING" val="|0.6|0.8|1.2|0.9|0.6|1.1|0.7|0.6|0.8|0.4|1"/>
</p:tagLst>
</file>

<file path=ppt/tags/tag40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2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403.xml><?xml version="1.0" encoding="utf-8"?>
<p:tagLst xmlns:p="http://schemas.openxmlformats.org/presentationml/2006/main">
  <p:tag name="TIMING" val="|0.6|0.8|1.2|0.9|0.6|1.1|0.7|0.6|0.8|0.4|1"/>
</p:tagLst>
</file>

<file path=ppt/tags/tag40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5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406.xml><?xml version="1.0" encoding="utf-8"?>
<p:tagLst xmlns:p="http://schemas.openxmlformats.org/presentationml/2006/main">
  <p:tag name="TIMING" val="|0.6|0.8|1.2|0.9|0.6|1.1|0.7|0.6|0.8|0.4|1"/>
</p:tagLst>
</file>

<file path=ppt/tags/tag40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8.xml><?xml version="1.0" encoding="utf-8"?>
<p:tagLst xmlns:p="http://schemas.openxmlformats.org/presentationml/2006/main">
  <p:tag name="TIMING" val="|0.6|0.8|1.2|0.9|0.6|1.1|0.7|0.6|0.8|0.4|1"/>
</p:tagLst>
</file>

<file path=ppt/tags/tag40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10.xml><?xml version="1.0" encoding="utf-8"?>
<p:tagLst xmlns:p="http://schemas.openxmlformats.org/presentationml/2006/main">
  <p:tag name="TIMING" val="|0.6|0.8|1.2|0.9|0.6|1.1|0.7|0.6|0.8|0.4|1"/>
</p:tagLst>
</file>

<file path=ppt/tags/tag411.xml><?xml version="1.0" encoding="utf-8"?>
<p:tagLst xmlns:p="http://schemas.openxmlformats.org/presentationml/2006/main">
  <p:tag name="COMMONDATA" val="eyJoZGlkIjoiYWEwMGE1NWI5YzQ1ZTYxZmY0OTNkMmVjYzk0YWI1NTEifQ=="/>
  <p:tag name="KSO_WPP_MARK_KEY" val="b648bd06-0c48-48d1-88e9-75114c59f56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27483</Words>
  <Application>WPS 演示</Application>
  <PresentationFormat>宽屏</PresentationFormat>
  <Paragraphs>3208</Paragraphs>
  <Slides>61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1845</cp:revision>
  <dcterms:created xsi:type="dcterms:W3CDTF">2020-07-23T10:11:00Z</dcterms:created>
  <dcterms:modified xsi:type="dcterms:W3CDTF">2023-05-12T06:56:43Z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5A1EE12111F04212A09581045797DBEA</vt:lpwstr>
  </property>
</Properties>
</file>