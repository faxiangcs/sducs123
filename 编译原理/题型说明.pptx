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439" r:id="rId3"/>
    <p:sldId id="964" r:id="rId5"/>
    <p:sldId id="965" r:id="rId6"/>
    <p:sldId id="966" r:id="rId7"/>
    <p:sldId id="967" r:id="rId8"/>
    <p:sldId id="968" r:id="rId9"/>
    <p:sldId id="708" r:id="rId10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wei Zheng" initials="Y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D82"/>
    <a:srgbClr val="FFFFFF"/>
    <a:srgbClr val="1B998B"/>
    <a:srgbClr val="E84855"/>
    <a:srgbClr val="0070C0"/>
    <a:srgbClr val="4472C4"/>
    <a:srgbClr val="D2DEEF"/>
    <a:srgbClr val="EAEFF7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0" autoAdjust="0"/>
    <p:restoredTop sz="85970" autoAdjust="0"/>
  </p:normalViewPr>
  <p:slideViewPr>
    <p:cSldViewPr showGuides="1">
      <p:cViewPr varScale="1">
        <p:scale>
          <a:sx n="85" d="100"/>
          <a:sy n="85" d="100"/>
        </p:scale>
        <p:origin x="78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86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2280" y="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8932C-8C37-49E0-91E7-9B62CE34B1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7CF6E-9FB8-447C-91C7-AEBC91D8CB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D63082C-D9FC-4144-9E95-4F8267D7FCC9}" type="datetimeFigureOut">
              <a:rPr lang="en-US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en-US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latin typeface="Calibri" panose="020F050202020403020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D9548A5-B1AB-3F4F-9770-E08DEE99858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fld id="{358C0F6F-2FB0-3A4F-8E90-044F055463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9548A5-B1AB-3F4F-9770-E08DEE9985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9548A5-B1AB-3F4F-9770-E08DEE9985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9548A5-B1AB-3F4F-9770-E08DEE9985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9548A5-B1AB-3F4F-9770-E08DEE9985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9548A5-B1AB-3F4F-9770-E08DEE9985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fld id="{358C0F6F-2FB0-3A4F-8E90-044F055463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BY1306147 </a:t>
            </a:r>
            <a:r>
              <a:rPr lang="en-US" dirty="0" err="1"/>
              <a:t>张硕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06B08-2A05-4E4A-BB4F-B483A66EA091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4482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828F9-2628-9149-86BE-B70DE401120D}" type="slidenum">
              <a:rPr lang="en-US"/>
            </a:fld>
            <a:endParaRPr lang="en-US"/>
          </a:p>
        </p:txBody>
      </p:sp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0" y="-18673"/>
            <a:ext cx="9144000" cy="49505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5996985" y="80301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郑艳伟，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zhengyw@sdu.edu.cn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22777"/>
            <a:ext cx="1368152" cy="4265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51CB-2EA0-4CCE-BC1F-19C7633E45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874BC8-A9E1-416A-999A-738A0D0266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A51CB-2EA0-4CCE-BC1F-19C7633E45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74BC8-A9E1-416A-999A-738A0D0266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2501900"/>
            <a:ext cx="9144000" cy="1935163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530" name="Title 1"/>
          <p:cNvSpPr>
            <a:spLocks noGrp="1"/>
          </p:cNvSpPr>
          <p:nvPr>
            <p:ph type="ctrTitle"/>
          </p:nvPr>
        </p:nvSpPr>
        <p:spPr>
          <a:xfrm>
            <a:off x="0" y="2501900"/>
            <a:ext cx="9108504" cy="1935163"/>
          </a:xfrm>
        </p:spPr>
        <p:txBody>
          <a:bodyPr anchor="ctr" anchorCtr="1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" charset="-122"/>
              </a:rPr>
              <a:t>题型说明</a:t>
            </a:r>
            <a:endParaRPr lang="en-US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i" charset="-122"/>
            </a:endParaRPr>
          </a:p>
        </p:txBody>
      </p:sp>
      <p:sp>
        <p:nvSpPr>
          <p:cNvPr id="22531" name="Subtitle 2"/>
          <p:cNvSpPr>
            <a:spLocks noGrp="1"/>
          </p:cNvSpPr>
          <p:nvPr>
            <p:ph type="subTitle" idx="1"/>
          </p:nvPr>
        </p:nvSpPr>
        <p:spPr>
          <a:xfrm>
            <a:off x="2497578" y="4842481"/>
            <a:ext cx="1885950" cy="1159669"/>
          </a:xfrm>
        </p:spPr>
        <p:txBody>
          <a:bodyPr>
            <a:normAutofit lnSpcReduction="10000"/>
          </a:bodyPr>
          <a:lstStyle/>
          <a:p>
            <a:pPr algn="dist" eaLnBrk="1" hangingPunct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授课教师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algn="dist" eaLnBrk="1" hangingPunct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手机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algn="dist" eaLnBrk="1" hangingPunct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邮箱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6194" y="1815207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spc="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编译原理</a:t>
            </a:r>
            <a:endParaRPr lang="en-US" sz="2400" spc="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372725" y="571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矩形 2"/>
          <p:cNvSpPr/>
          <p:nvPr/>
        </p:nvSpPr>
        <p:spPr>
          <a:xfrm>
            <a:off x="4412883" y="4797152"/>
            <a:ext cx="3615501" cy="1188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defTabSz="685800" eaLnBrk="1" hangingPunct="1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：郑艳伟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defTabSz="685800" eaLnBrk="1" hangingPunct="1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18614002860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（微信同号）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defTabSz="685800" eaLnBrk="1" hangingPunct="1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zhengyw@sdu.edu.cn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02" y="297292"/>
            <a:ext cx="2832628" cy="899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55752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828F9-2628-9149-86BE-B70DE401120D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7504" y="359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179512" y="1052736"/>
            <a:ext cx="8856984" cy="4641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Tx/>
            </a:pP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注意：题型大致如此，但不保证完全一致！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一、简答与计算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画图表示编译过程的各阶段（必考）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其它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5-6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题，如</a:t>
            </a:r>
            <a:r>
              <a:rPr lang="zh-CN" altLang="en-US" sz="1800" b="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二义文法、短语和句柄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dirty="0">
                <a:highlight>
                  <a:srgbClr val="C0C0C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FA/</a:t>
            </a:r>
            <a:r>
              <a:rPr lang="zh-CN" altLang="en-US" sz="1800" b="0" dirty="0">
                <a:highlight>
                  <a:srgbClr val="C0C0C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正则表达式</a:t>
            </a:r>
            <a:r>
              <a:rPr lang="en-US" altLang="zh-CN" sz="1800" b="0" dirty="0">
                <a:highlight>
                  <a:srgbClr val="C0C0C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800" b="0" dirty="0">
                <a:highlight>
                  <a:srgbClr val="C0C0C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线性文法互转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、消除左递归、提左公因子、</a:t>
            </a:r>
            <a:r>
              <a:rPr lang="zh-CN" altLang="en-US" sz="1800" b="0" dirty="0">
                <a:highlight>
                  <a:srgbClr val="FF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后缀表达式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1800" b="0" dirty="0">
                <a:highlight>
                  <a:srgbClr val="C0C0C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符号表、运行时空间组织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等。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二、综合题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2.1 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词法分析：给定正规式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NFA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确定化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最小化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55752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828F9-2628-9149-86BE-B70DE401120D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7504" y="359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179512" y="1052736"/>
            <a:ext cx="8856984" cy="328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Tx/>
            </a:pP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注意：题型大致如此，但不保证完全一致！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二、综合题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2.2 LL(1)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分析，给出文法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First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否则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Follow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LL(1)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分析表（可能涉及消除二义文法冲突）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识别句子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55752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828F9-2628-9149-86BE-B70DE401120D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7504" y="359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179512" y="1052736"/>
            <a:ext cx="8856984" cy="469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Tx/>
            </a:pP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注意：题型大致如此，但不保证完全一致！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二、综合题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2.3 LR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分析，给出文法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构造拓广文法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构造拓广文法的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LR(0)/LR(1)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项目集规范族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LR(0)/LR(1)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分析表（可能涉及消除二义文法冲突）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识别句子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5875" indent="0">
              <a:lnSpc>
                <a:spcPct val="150000"/>
              </a:lnSpc>
              <a:spcBef>
                <a:spcPct val="20000"/>
              </a:spcBef>
              <a:buClrTx/>
            </a:pP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58775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2.4 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给出翻译模式和高级语言程序，翻译句子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ü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一般涉及多种类型句子的综合，也可能涉及声明语句填写符号表。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55752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828F9-2628-9149-86BE-B70DE401120D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7504" y="359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179512" y="1052736"/>
            <a:ext cx="8856984" cy="3284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Tx/>
            </a:pPr>
            <a:r>
              <a:rPr lang="zh-CN" altLang="en-US" sz="18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注意：题型大致如此，但不保证完全一致！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p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二、综合题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2.5 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给出基本块代码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构造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写出优化后的中间代码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写出</a:t>
            </a:r>
            <a:r>
              <a:rPr lang="en-US" altLang="zh-CN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DAG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目标优化后的中间代码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717550">
              <a:lnSpc>
                <a:spcPct val="150000"/>
              </a:lnSpc>
              <a:spcBef>
                <a:spcPct val="20000"/>
              </a:spcBef>
              <a:buClrTx/>
              <a:buFont typeface="+mj-ea"/>
              <a:buAutoNum type="circleNumDbPlain"/>
            </a:pPr>
            <a:r>
              <a:rPr lang="zh-CN" altLang="en-US" sz="1800" b="0">
                <a:highlight>
                  <a:srgbClr val="C0C0C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根据变量活跃性和寄存器信息，写出目标代码</a:t>
            </a:r>
            <a:endParaRPr lang="zh-CN" altLang="en-US" sz="1800" b="0" dirty="0">
              <a:highlight>
                <a:srgbClr val="C0C0C0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55752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高分秘诀</a:t>
            </a:r>
            <a:endParaRPr lang="zh-CN" altLang="en-US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828F9-2628-9149-86BE-B70DE401120D}" type="slidenum">
              <a:rPr lang="en-US" smtClean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7504" y="359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题型说明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179512" y="1268760"/>
            <a:ext cx="8856984" cy="337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20000"/>
              </a:spcBef>
              <a:buClrTx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　陈康肃公善射，当世无双 ，公亦以此自矜。尝射于家圃，有卖油翁释担而立，睨之久而不去。见其发矢十中八九，但微颔之。</a:t>
            </a: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20000"/>
              </a:spcBef>
              <a:buClrTx/>
            </a:pP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　康肃问曰：“汝亦知射乎？吾射不亦精乎？”翁曰：“无他， 但手熟尔。”康肃忿然曰：“尔安敢轻吾射！”翁曰：“以我酌油知之。”乃取一葫芦置于地，以钱覆其口，徐以杓酌油沥之，自钱孔入，而钱不湿。因曰：“我亦</a:t>
            </a:r>
            <a:r>
              <a:rPr lang="zh-CN" altLang="en-US" sz="3600" b="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无他，惟手熟尔。</a:t>
            </a:r>
            <a:r>
              <a:rPr lang="zh-CN" altLang="en-US" sz="18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”康肃笑而遣之。</a:t>
            </a:r>
            <a:endParaRPr lang="en-US" altLang="zh-CN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2501900"/>
            <a:ext cx="9144000" cy="1935163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2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2530" name="Title 1"/>
          <p:cNvSpPr>
            <a:spLocks noGrp="1"/>
          </p:cNvSpPr>
          <p:nvPr>
            <p:ph type="ctrTitle"/>
          </p:nvPr>
        </p:nvSpPr>
        <p:spPr>
          <a:xfrm>
            <a:off x="0" y="2501900"/>
            <a:ext cx="9108504" cy="1935163"/>
          </a:xfrm>
        </p:spPr>
        <p:txBody>
          <a:bodyPr anchor="ctr" anchorCtr="1"/>
          <a:lstStyle/>
          <a:p>
            <a:pPr algn="l"/>
            <a:r>
              <a:rPr lang="en-US" altLang="zh-CN" b="1" dirty="0">
                <a:solidFill>
                  <a:schemeClr val="bg1"/>
                </a:solidFill>
                <a:latin typeface="Vladimir Script" panose="03050402040407070305" pitchFamily="66" charset="0"/>
                <a:ea typeface="微软雅黑" panose="020B0503020204020204" pitchFamily="34" charset="-122"/>
                <a:cs typeface="Hei" charset="-122"/>
              </a:rPr>
              <a:t>The End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" charset="-122"/>
              </a:rPr>
              <a:t>     </a:t>
            </a:r>
            <a:b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" charset="-122"/>
              </a:rPr>
            </a:b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" charset="-122"/>
              </a:rPr>
              <a:t>             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" charset="-122"/>
              </a:rPr>
              <a:t>谢谢</a:t>
            </a:r>
            <a:endParaRPr lang="en-US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i" charset="-122"/>
            </a:endParaRPr>
          </a:p>
        </p:txBody>
      </p:sp>
      <p:sp>
        <p:nvSpPr>
          <p:cNvPr id="22531" name="Subtitle 2"/>
          <p:cNvSpPr>
            <a:spLocks noGrp="1"/>
          </p:cNvSpPr>
          <p:nvPr>
            <p:ph type="subTitle" idx="1"/>
          </p:nvPr>
        </p:nvSpPr>
        <p:spPr>
          <a:xfrm>
            <a:off x="2497578" y="4842481"/>
            <a:ext cx="1885950" cy="1159669"/>
          </a:xfrm>
        </p:spPr>
        <p:txBody>
          <a:bodyPr>
            <a:normAutofit lnSpcReduction="10000"/>
          </a:bodyPr>
          <a:lstStyle/>
          <a:p>
            <a:pPr algn="dist" eaLnBrk="1" hangingPunct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授课教师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algn="dist" eaLnBrk="1" hangingPunct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手机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algn="dist" eaLnBrk="1" hangingPunct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邮箱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6194" y="1815207"/>
            <a:ext cx="698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spc="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题型说明</a:t>
            </a:r>
            <a:endParaRPr lang="en-US" sz="2400" spc="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372725" y="571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矩形 2"/>
          <p:cNvSpPr/>
          <p:nvPr/>
        </p:nvSpPr>
        <p:spPr>
          <a:xfrm>
            <a:off x="4412883" y="4797152"/>
            <a:ext cx="3615501" cy="1188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defTabSz="685800" eaLnBrk="1" hangingPunct="1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：郑艳伟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defTabSz="685800" eaLnBrk="1" hangingPunct="1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18614002860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（微信同号）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defTabSz="685800" eaLnBrk="1" hangingPunct="1"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zhengyw@sdu.edu.cn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02" y="297292"/>
            <a:ext cx="2832628" cy="899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commondata" val="eyJoZGlkIjoiNWI3ZGMxZGQ1ZjllNWJmMGQwOGY0YWE1ODM0ZjAyMmQ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miter lim="800000"/>
        </a:ln>
      </a:spPr>
      <a:bodyPr wrap="none" anchor="ctr"/>
      <a:lstStyle>
        <a:defPPr algn="l" eaLnBrk="1" hangingPunct="1">
          <a:defRPr b="0" i="1" smtClean="0">
            <a:latin typeface="Cambria Math" panose="02040503050406030204" pitchFamily="18" charset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WPS 演示</Application>
  <PresentationFormat>全屏显示(4:3)</PresentationFormat>
  <Paragraphs>94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Cambria Math</vt:lpstr>
      <vt:lpstr>微软雅黑</vt:lpstr>
      <vt:lpstr>Hei</vt:lpstr>
      <vt:lpstr>黑体</vt:lpstr>
      <vt:lpstr>Times New Roman</vt:lpstr>
      <vt:lpstr>Vladimir Script</vt:lpstr>
      <vt:lpstr>等线</vt:lpstr>
      <vt:lpstr>Arial Unicode MS</vt:lpstr>
      <vt:lpstr>等线 Light</vt:lpstr>
      <vt:lpstr>自定义设计方案</vt:lpstr>
      <vt:lpstr>题型说明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End                        谢谢</vt:lpstr>
    </vt:vector>
  </TitlesOfParts>
  <Company>DADI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lsk</dc:creator>
  <cp:keywords>计算机学院</cp:keywords>
  <cp:lastModifiedBy>　</cp:lastModifiedBy>
  <cp:revision>3490</cp:revision>
  <dcterms:created xsi:type="dcterms:W3CDTF">2013-05-22T02:15:00Z</dcterms:created>
  <dcterms:modified xsi:type="dcterms:W3CDTF">2024-06-26T02:48:47Z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BA04E5585B9E4B289F6D05ACA4779CAF_12</vt:lpwstr>
  </property>
</Properties>
</file>